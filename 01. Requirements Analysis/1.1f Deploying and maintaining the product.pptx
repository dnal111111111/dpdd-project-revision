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entation.xml" ContentType="application/vnd.openxmlformats-officedocument.presentationml.presentation.main+xml"/>
  <Override PartName="/ppt/slides/slide15.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8"/>
  </p:notesMasterIdLst>
  <p:sldIdLst>
    <p:sldId id="345" r:id="rId3"/>
    <p:sldId id="322" r:id="rId4"/>
    <p:sldId id="364" r:id="rId5"/>
    <p:sldId id="368" r:id="rId6"/>
    <p:sldId id="369" r:id="rId7"/>
    <p:sldId id="370" r:id="rId8"/>
    <p:sldId id="371" r:id="rId9"/>
    <p:sldId id="372" r:id="rId10"/>
    <p:sldId id="373" r:id="rId11"/>
    <p:sldId id="374" r:id="rId12"/>
    <p:sldId id="375" r:id="rId13"/>
    <p:sldId id="376" r:id="rId14"/>
    <p:sldId id="377" r:id="rId15"/>
    <p:sldId id="378" r:id="rId16"/>
    <p:sldId id="367" r:id="rId17"/>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54" autoAdjust="0"/>
    <p:restoredTop sz="73932" autoAdjust="0"/>
  </p:normalViewPr>
  <p:slideViewPr>
    <p:cSldViewPr>
      <p:cViewPr varScale="1">
        <p:scale>
          <a:sx n="78" d="100"/>
          <a:sy n="78" d="100"/>
        </p:scale>
        <p:origin x="1722" y="84"/>
      </p:cViewPr>
      <p:guideLst>
        <p:guide orient="horz" pos="2341"/>
        <p:guide pos="2880"/>
      </p:guideLst>
    </p:cSldViewPr>
  </p:slideViewPr>
  <p:notesTextViewPr>
    <p:cViewPr>
      <p:scale>
        <a:sx n="100" d="100"/>
        <a:sy n="100" d="100"/>
      </p:scale>
      <p:origin x="0" y="0"/>
    </p:cViewPr>
  </p:notesTextViewPr>
  <p:notesViewPr>
    <p:cSldViewPr>
      <p:cViewPr varScale="1">
        <p:scale>
          <a:sx n="53" d="100"/>
          <a:sy n="53" d="100"/>
        </p:scale>
        <p:origin x="-1794"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8940A51-201F-2351-71C6-B4FD2B9FBF3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B280B3D8-857A-E746-A934-C8A0952AE45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40675924-EEC4-D767-C865-94CF2594D5B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74F066F8-E822-4AF1-D553-2CB8587DFFE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975CFB8E-8328-555A-29DF-6FF2C823828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AC11D630-E80E-F54B-C9ED-F09AE6E6C2DE}"/>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6DB2A87-D564-4DE6-835A-A71E29C50696}"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3286854D-B51F-B122-51DB-5E26BFC45B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AF7C91B-4A08-45C7-A46E-E6AC2E382243}"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A7EDD4AF-2AEA-F1F8-E122-8EFAB0172635}"/>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6C3F1A77-2241-F733-7948-98E44C391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94DD1E1-ED0D-B386-06D9-8C9CF5044D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3480C6-0629-47C8-A81C-DDE0A03AE4E0}" type="slidenum">
              <a:rPr lang="en-GB" altLang="en-US" smtClean="0"/>
              <a:pPr>
                <a:spcBef>
                  <a:spcPct val="0"/>
                </a:spcBef>
              </a:pPr>
              <a:t>2</a:t>
            </a:fld>
            <a:endParaRPr lang="en-GB" altLang="en-US"/>
          </a:p>
        </p:txBody>
      </p:sp>
      <p:sp>
        <p:nvSpPr>
          <p:cNvPr id="19459" name="Rectangle 2">
            <a:extLst>
              <a:ext uri="{FF2B5EF4-FFF2-40B4-BE49-F238E27FC236}">
                <a16:creationId xmlns:a16="http://schemas.microsoft.com/office/drawing/2014/main" id="{9FAE4266-AEE9-6BDB-09BF-77CAC2D71605}"/>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B93BBDD6-34F8-6A82-09F6-645A72AFB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Arial" panose="020B0604020202020204" pitchFamily="34" charset="0"/>
              <a:buNone/>
            </a:pPr>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32D6C-04EB-9872-856B-188F077F919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D00B0A0-3142-3EFE-8F0A-AF9DD98C6B02}"/>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131C3B01-2955-6126-DD31-A376486920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1248B560-F751-3CF0-C73E-B05AC84DF8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3</a:t>
            </a:fld>
            <a:endParaRPr lang="en-GB" altLang="en-US"/>
          </a:p>
        </p:txBody>
      </p:sp>
    </p:spTree>
    <p:extLst>
      <p:ext uri="{BB962C8B-B14F-4D97-AF65-F5344CB8AC3E}">
        <p14:creationId xmlns:p14="http://schemas.microsoft.com/office/powerpoint/2010/main" val="3878873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4E972-553A-EDC8-7A4D-700C2204717F}"/>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288E7F01-D937-5212-FD8D-A73A02BCDC46}"/>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882E7A90-7BDD-FF0D-3877-B7337B2E23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0" kern="1200" dirty="0">
                <a:solidFill>
                  <a:schemeClr val="tx1"/>
                </a:solidFill>
                <a:effectLst/>
                <a:latin typeface="Arial" pitchFamily="34" charset="0"/>
                <a:ea typeface="+mn-ea"/>
                <a:cs typeface="Arial" pitchFamily="34" charset="0"/>
              </a:rPr>
              <a:t>Ship Your Product! Let's Build An Installer In Visual Studio</a:t>
            </a:r>
            <a:endParaRPr lang="en-GB" dirty="0"/>
          </a:p>
          <a:p>
            <a:r>
              <a:rPr lang="en-GB" dirty="0"/>
              <a:t>https://www.youtube.com/watch?v=R7ak_c_ElJw</a:t>
            </a:r>
          </a:p>
        </p:txBody>
      </p:sp>
      <p:sp>
        <p:nvSpPr>
          <p:cNvPr id="19460" name="Slide Number Placeholder 3">
            <a:extLst>
              <a:ext uri="{FF2B5EF4-FFF2-40B4-BE49-F238E27FC236}">
                <a16:creationId xmlns:a16="http://schemas.microsoft.com/office/drawing/2014/main" id="{0FF88850-B006-ABF3-B876-F63C44AE43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4</a:t>
            </a:fld>
            <a:endParaRPr lang="en-GB" altLang="en-US"/>
          </a:p>
        </p:txBody>
      </p:sp>
    </p:spTree>
    <p:extLst>
      <p:ext uri="{BB962C8B-B14F-4D97-AF65-F5344CB8AC3E}">
        <p14:creationId xmlns:p14="http://schemas.microsoft.com/office/powerpoint/2010/main" val="1678717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ABEC4-ED1C-0D45-1940-A4CC9ACD9ABB}"/>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6ECC7F8-29FF-F423-9431-E0F88CE87600}"/>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BCA75057-961E-C890-DAF7-5A5A304DE5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AABCF198-B41D-F8F1-8963-B26CB03996F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5</a:t>
            </a:fld>
            <a:endParaRPr lang="en-GB" altLang="en-US"/>
          </a:p>
        </p:txBody>
      </p:sp>
    </p:spTree>
    <p:extLst>
      <p:ext uri="{BB962C8B-B14F-4D97-AF65-F5344CB8AC3E}">
        <p14:creationId xmlns:p14="http://schemas.microsoft.com/office/powerpoint/2010/main" val="1087152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A2A5A-983A-FAB3-6EEF-E57440A24ACD}"/>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C361105D-7261-2C63-5257-8CCA71C38933}"/>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0D92E293-22A4-3894-75D1-FCC97F6BC95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https://www.youtube.com/watch?v=CZPEWct3k5g</a:t>
            </a:r>
          </a:p>
          <a:p>
            <a:r>
              <a:rPr lang="en-GB" dirty="0"/>
              <a:t>https://www.youtube.com/watch?v=fGMqakS_Z_E</a:t>
            </a:r>
          </a:p>
          <a:p>
            <a:endParaRPr lang="en-GB" dirty="0"/>
          </a:p>
          <a:p>
            <a:endParaRPr lang="en-GB" dirty="0"/>
          </a:p>
          <a:p>
            <a:r>
              <a:rPr lang="en-GB" b="1" dirty="0"/>
              <a:t>Bug Fixing</a:t>
            </a:r>
            <a:endParaRPr lang="en-GB" dirty="0"/>
          </a:p>
          <a:p>
            <a:r>
              <a:rPr lang="en-GB" dirty="0"/>
              <a:t>Identifying, diagnosing, and fixing defects or errors reported by users or discovered through testing.</a:t>
            </a:r>
          </a:p>
          <a:p>
            <a:r>
              <a:rPr lang="en-GB" b="1" dirty="0"/>
              <a:t>Managing Technical Debt</a:t>
            </a:r>
            <a:endParaRPr lang="en-GB" dirty="0"/>
          </a:p>
          <a:p>
            <a:r>
              <a:rPr lang="en-GB" dirty="0"/>
              <a:t>Over time, shortcuts or quick fixes accumulate, making the codebase harder to understand and modify.</a:t>
            </a:r>
          </a:p>
          <a:p>
            <a:r>
              <a:rPr lang="en-GB" b="1" dirty="0"/>
              <a:t>Handling Changing Requirements</a:t>
            </a:r>
            <a:endParaRPr lang="en-GB" dirty="0"/>
          </a:p>
          <a:p>
            <a:r>
              <a:rPr lang="en-GB" dirty="0"/>
              <a:t>Users’ needs evolve, or new business goals arise, requiring updates and new features.</a:t>
            </a:r>
          </a:p>
          <a:p>
            <a:r>
              <a:rPr lang="en-GB" b="1" dirty="0"/>
              <a:t>Compatibility Issues</a:t>
            </a:r>
            <a:endParaRPr lang="en-GB" dirty="0"/>
          </a:p>
          <a:p>
            <a:r>
              <a:rPr lang="en-GB" dirty="0"/>
              <a:t>Ensuring the software continues to work with new versions of operating systems, browsers, hardware, or third-party services/APIs.</a:t>
            </a:r>
          </a:p>
          <a:p>
            <a:r>
              <a:rPr lang="en-GB" b="1" dirty="0"/>
              <a:t>Performance Optimization</a:t>
            </a:r>
            <a:endParaRPr lang="en-GB" dirty="0"/>
          </a:p>
          <a:p>
            <a:r>
              <a:rPr lang="en-GB" dirty="0"/>
              <a:t>Addressing slowdowns or resource inefficiencies that appear as the software scales or changes.</a:t>
            </a:r>
          </a:p>
          <a:p>
            <a:r>
              <a:rPr lang="en-GB" b="1" dirty="0"/>
              <a:t>Security Vulnerabilities</a:t>
            </a:r>
            <a:endParaRPr lang="en-GB" dirty="0"/>
          </a:p>
          <a:p>
            <a:r>
              <a:rPr lang="en-GB" dirty="0"/>
              <a:t>Continuously updating the software to patch security holes and protect against new threats.</a:t>
            </a:r>
          </a:p>
          <a:p>
            <a:r>
              <a:rPr lang="en-GB" b="1" dirty="0"/>
              <a:t>Documentation Updates</a:t>
            </a:r>
            <a:endParaRPr lang="en-GB" dirty="0"/>
          </a:p>
          <a:p>
            <a:r>
              <a:rPr lang="en-GB" dirty="0"/>
              <a:t>Keeping user manuals, code comments, and system documentation accurate and current.</a:t>
            </a:r>
          </a:p>
          <a:p>
            <a:r>
              <a:rPr lang="en-GB" b="1" dirty="0"/>
              <a:t>Regression Testing</a:t>
            </a:r>
            <a:endParaRPr lang="en-GB" dirty="0"/>
          </a:p>
          <a:p>
            <a:r>
              <a:rPr lang="en-GB" dirty="0"/>
              <a:t>Verifying that changes or fixes don’t break existing functionality.</a:t>
            </a:r>
          </a:p>
          <a:p>
            <a:r>
              <a:rPr lang="en-GB" b="1" dirty="0"/>
              <a:t>Dependency Management</a:t>
            </a:r>
            <a:endParaRPr lang="en-GB" dirty="0"/>
          </a:p>
          <a:p>
            <a:r>
              <a:rPr lang="en-GB" dirty="0"/>
              <a:t>Handling updates or deprecations in third-party libraries, frameworks, or tools the software relies on.</a:t>
            </a:r>
          </a:p>
          <a:p>
            <a:r>
              <a:rPr lang="en-GB" b="1" dirty="0"/>
              <a:t>Knowledge Transfer and Team Turnover</a:t>
            </a:r>
            <a:endParaRPr lang="en-GB" dirty="0"/>
          </a:p>
          <a:p>
            <a:r>
              <a:rPr lang="en-GB" dirty="0"/>
              <a:t>Ensuring that new developers can understand and work on the software effectively despite changes in team composition.</a:t>
            </a:r>
          </a:p>
          <a:p>
            <a:r>
              <a:rPr lang="en-GB" b="1" dirty="0"/>
              <a:t>User Support and Feedback Handling</a:t>
            </a:r>
            <a:endParaRPr lang="en-GB" dirty="0"/>
          </a:p>
          <a:p>
            <a:r>
              <a:rPr lang="en-GB" dirty="0"/>
              <a:t>Responding to user issues and incorporating feedback into future maintenance cycles.</a:t>
            </a:r>
          </a:p>
          <a:p>
            <a:r>
              <a:rPr lang="en-GB" b="1" dirty="0"/>
              <a:t>Resource Constraints</a:t>
            </a:r>
            <a:endParaRPr lang="en-GB" dirty="0"/>
          </a:p>
          <a:p>
            <a:r>
              <a:rPr lang="en-GB" dirty="0"/>
              <a:t>Balancing maintenance needs with budget, time, and staffing limitations</a:t>
            </a:r>
          </a:p>
          <a:p>
            <a:endParaRPr lang="en-GB" dirty="0"/>
          </a:p>
        </p:txBody>
      </p:sp>
      <p:sp>
        <p:nvSpPr>
          <p:cNvPr id="19460" name="Slide Number Placeholder 3">
            <a:extLst>
              <a:ext uri="{FF2B5EF4-FFF2-40B4-BE49-F238E27FC236}">
                <a16:creationId xmlns:a16="http://schemas.microsoft.com/office/drawing/2014/main" id="{E0876AEF-F799-002E-A28A-61282CFCEEF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6</a:t>
            </a:fld>
            <a:endParaRPr lang="en-GB" altLang="en-US"/>
          </a:p>
        </p:txBody>
      </p:sp>
    </p:spTree>
    <p:extLst>
      <p:ext uri="{BB962C8B-B14F-4D97-AF65-F5344CB8AC3E}">
        <p14:creationId xmlns:p14="http://schemas.microsoft.com/office/powerpoint/2010/main" val="2782847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354A9-4AA8-BB66-50F9-273ABCFDF8E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653F077D-49E5-C4FE-DF38-E511467644DC}"/>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8F6046A4-DC61-27F9-4F8A-53889A16F7C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https://www.beyondtrust.com/blog/entry/what-is-it-support-your-technical-support-tools-and-service-desk-explained</a:t>
            </a:r>
          </a:p>
          <a:p>
            <a:r>
              <a:rPr lang="en-GB" dirty="0"/>
              <a:t>https://www.youtube.com/watch?v=c3QfSmKo4QA</a:t>
            </a:r>
          </a:p>
          <a:p>
            <a:endParaRPr lang="en-GB" dirty="0"/>
          </a:p>
        </p:txBody>
      </p:sp>
      <p:sp>
        <p:nvSpPr>
          <p:cNvPr id="19460" name="Slide Number Placeholder 3">
            <a:extLst>
              <a:ext uri="{FF2B5EF4-FFF2-40B4-BE49-F238E27FC236}">
                <a16:creationId xmlns:a16="http://schemas.microsoft.com/office/drawing/2014/main" id="{39D0079B-F4EE-BDB8-D763-AA12D5F2E6E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7</a:t>
            </a:fld>
            <a:endParaRPr lang="en-GB" altLang="en-US"/>
          </a:p>
        </p:txBody>
      </p:sp>
    </p:spTree>
    <p:extLst>
      <p:ext uri="{BB962C8B-B14F-4D97-AF65-F5344CB8AC3E}">
        <p14:creationId xmlns:p14="http://schemas.microsoft.com/office/powerpoint/2010/main" val="2621886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E496D-B208-9FAD-3075-5C3B65E12AB4}"/>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EA031743-8181-E9AC-43A3-E2976376589D}"/>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CF417E0F-AD1B-BD4A-4AE3-9FAB41F1E56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2C61B977-4544-91AD-BE70-A144652434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8</a:t>
            </a:fld>
            <a:endParaRPr lang="en-GB" altLang="en-US"/>
          </a:p>
        </p:txBody>
      </p:sp>
    </p:spTree>
    <p:extLst>
      <p:ext uri="{BB962C8B-B14F-4D97-AF65-F5344CB8AC3E}">
        <p14:creationId xmlns:p14="http://schemas.microsoft.com/office/powerpoint/2010/main" val="3564619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1EBFC-33A3-F51F-2A45-9569C723EF1F}"/>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12D234B-2E3F-4E36-10B7-7C5E8D1E36F0}"/>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CC9F3A6B-918D-08A4-BE81-62FFDFF78C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https://www.youtube.com/watch?v=koyhK1G9haU</a:t>
            </a:r>
          </a:p>
          <a:p>
            <a:endParaRPr lang="en-GB" dirty="0"/>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0" kern="1200" dirty="0">
                <a:solidFill>
                  <a:schemeClr val="tx1"/>
                </a:solidFill>
                <a:effectLst/>
                <a:latin typeface="Arial" pitchFamily="34" charset="0"/>
                <a:ea typeface="+mn-ea"/>
                <a:cs typeface="Arial" pitchFamily="34" charset="0"/>
              </a:rPr>
              <a:t>ASP.NET CORE MVC | Beginner Tutorial | Emergency Bug Fix #!!!</a:t>
            </a:r>
            <a:endParaRPr lang="en-GB" dirty="0"/>
          </a:p>
          <a:p>
            <a:r>
              <a:rPr lang="en-GB" dirty="0"/>
              <a:t>https://www.youtube.com/watch?v=77O_g-el_Is</a:t>
            </a:r>
          </a:p>
        </p:txBody>
      </p:sp>
      <p:sp>
        <p:nvSpPr>
          <p:cNvPr id="19460" name="Slide Number Placeholder 3">
            <a:extLst>
              <a:ext uri="{FF2B5EF4-FFF2-40B4-BE49-F238E27FC236}">
                <a16:creationId xmlns:a16="http://schemas.microsoft.com/office/drawing/2014/main" id="{3FB7E7DB-5C14-AD2E-7339-51B40F44E8B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9</a:t>
            </a:fld>
            <a:endParaRPr lang="en-GB" altLang="en-US"/>
          </a:p>
        </p:txBody>
      </p:sp>
    </p:spTree>
    <p:extLst>
      <p:ext uri="{BB962C8B-B14F-4D97-AF65-F5344CB8AC3E}">
        <p14:creationId xmlns:p14="http://schemas.microsoft.com/office/powerpoint/2010/main" val="3650978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8E493-14D9-C597-C881-F3A8E8D48AB1}"/>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CBBA7FC7-0528-6AD0-701A-627FF1B45E5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1D71A95B-5674-BA4C-6024-5FFF3677AA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F9895B11-B2EF-DDC6-2CCB-6EC658966F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10</a:t>
            </a:fld>
            <a:endParaRPr lang="en-GB" altLang="en-US"/>
          </a:p>
        </p:txBody>
      </p:sp>
    </p:spTree>
    <p:extLst>
      <p:ext uri="{BB962C8B-B14F-4D97-AF65-F5344CB8AC3E}">
        <p14:creationId xmlns:p14="http://schemas.microsoft.com/office/powerpoint/2010/main" val="3234349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62323-4880-457B-0597-4C3EEAACFE4F}"/>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DD99B22-525A-EC14-ADC0-F9CE16BA7A9B}"/>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7A1FA2FF-2927-6B0F-428C-461B0E3AFA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79A307AF-C897-851B-D149-818126DFC6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11</a:t>
            </a:fld>
            <a:endParaRPr lang="en-GB" altLang="en-US"/>
          </a:p>
        </p:txBody>
      </p:sp>
    </p:spTree>
    <p:extLst>
      <p:ext uri="{BB962C8B-B14F-4D97-AF65-F5344CB8AC3E}">
        <p14:creationId xmlns:p14="http://schemas.microsoft.com/office/powerpoint/2010/main" val="2505469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231B6-C414-D50B-A936-45490D48945F}"/>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7F04F02-21AF-98A8-BC1A-CC6101C16B4A}"/>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E47C5893-5F87-5A84-D779-8C45AE48CF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https://www.linkedin.com/pulse/value-creation-digital-products-services-canvas-markus-anding</a:t>
            </a:r>
          </a:p>
        </p:txBody>
      </p:sp>
      <p:sp>
        <p:nvSpPr>
          <p:cNvPr id="19460" name="Slide Number Placeholder 3">
            <a:extLst>
              <a:ext uri="{FF2B5EF4-FFF2-40B4-BE49-F238E27FC236}">
                <a16:creationId xmlns:a16="http://schemas.microsoft.com/office/drawing/2014/main" id="{609CFE19-D131-6C97-440C-1664F9C2E2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12</a:t>
            </a:fld>
            <a:endParaRPr lang="en-GB" altLang="en-US"/>
          </a:p>
        </p:txBody>
      </p:sp>
    </p:spTree>
    <p:extLst>
      <p:ext uri="{BB962C8B-B14F-4D97-AF65-F5344CB8AC3E}">
        <p14:creationId xmlns:p14="http://schemas.microsoft.com/office/powerpoint/2010/main" val="1745876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2A4E0-5EA2-CC86-69B6-91FD12F049D4}"/>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95E9C50-64B8-9EC4-DE8A-2FA946EDF6A7}"/>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B5441277-EF55-24FB-AD48-7C42F99273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81441802-8E25-80DD-0ACC-D801661A5E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13</a:t>
            </a:fld>
            <a:endParaRPr lang="en-GB" altLang="en-US"/>
          </a:p>
        </p:txBody>
      </p:sp>
    </p:spTree>
    <p:extLst>
      <p:ext uri="{BB962C8B-B14F-4D97-AF65-F5344CB8AC3E}">
        <p14:creationId xmlns:p14="http://schemas.microsoft.com/office/powerpoint/2010/main" val="2492450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1CFE7-9BAC-92A1-8911-FD1FEA8E0796}"/>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EEFA0842-B317-2E05-C079-17A799AA824C}"/>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C0530003-B3FA-F484-B044-FB034052B3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br>
              <a:rPr lang="en-GB" dirty="0"/>
            </a:br>
            <a:r>
              <a:rPr lang="en-GB" sz="1200" b="1" i="0" kern="1200" dirty="0">
                <a:solidFill>
                  <a:schemeClr val="tx1"/>
                </a:solidFill>
                <a:effectLst/>
                <a:latin typeface="Arial" pitchFamily="34" charset="0"/>
                <a:ea typeface="+mn-ea"/>
                <a:cs typeface="Arial" pitchFamily="34" charset="0"/>
              </a:rPr>
              <a:t>The EASIEST Way To Build Your Mobile App In 30 Minutes (No Code)</a:t>
            </a:r>
            <a:endParaRPr lang="en-GB" dirty="0"/>
          </a:p>
          <a:p>
            <a:r>
              <a:rPr lang="en-GB" dirty="0"/>
              <a:t>https://www.youtube.com/watch?v=kqzAaESkNdo</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0" kern="1200" dirty="0" err="1">
                <a:solidFill>
                  <a:schemeClr val="tx1"/>
                </a:solidFill>
                <a:effectLst/>
                <a:latin typeface="Arial" pitchFamily="34" charset="0"/>
                <a:ea typeface="+mn-ea"/>
                <a:cs typeface="Arial" pitchFamily="34" charset="0"/>
              </a:rPr>
              <a:t>Thunkable</a:t>
            </a:r>
            <a:r>
              <a:rPr lang="en-GB" sz="1200" b="1" i="0" kern="1200" dirty="0">
                <a:solidFill>
                  <a:schemeClr val="tx1"/>
                </a:solidFill>
                <a:effectLst/>
                <a:latin typeface="Arial" pitchFamily="34" charset="0"/>
                <a:ea typeface="+mn-ea"/>
                <a:cs typeface="Arial" pitchFamily="34" charset="0"/>
              </a:rPr>
              <a:t> App Making Tutorial for Beginners | Build Your Own Mobile Apps Without Code (Demo)</a:t>
            </a:r>
            <a:endParaRPr lang="en-GB" dirty="0"/>
          </a:p>
          <a:p>
            <a:r>
              <a:rPr lang="en-GB" dirty="0"/>
              <a:t>https://www.youtube.com/watch?v=3NZtmKv6ph0</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0" kern="1200" dirty="0" err="1">
                <a:solidFill>
                  <a:schemeClr val="tx1"/>
                </a:solidFill>
                <a:effectLst/>
                <a:latin typeface="Arial" pitchFamily="34" charset="0"/>
                <a:ea typeface="+mn-ea"/>
                <a:cs typeface="Arial" pitchFamily="34" charset="0"/>
              </a:rPr>
              <a:t>Thunkable</a:t>
            </a:r>
            <a:r>
              <a:rPr lang="en-GB" sz="1200" b="1" i="0" kern="1200" dirty="0">
                <a:solidFill>
                  <a:schemeClr val="tx1"/>
                </a:solidFill>
                <a:effectLst/>
                <a:latin typeface="Arial" pitchFamily="34" charset="0"/>
                <a:ea typeface="+mn-ea"/>
                <a:cs typeface="Arial" pitchFamily="34" charset="0"/>
              </a:rPr>
              <a:t> 1.5. Share and Publish an App</a:t>
            </a:r>
            <a:endParaRPr lang="en-GB" dirty="0"/>
          </a:p>
          <a:p>
            <a:r>
              <a:rPr lang="en-GB" dirty="0"/>
              <a:t>https://www.youtube.com/watch?v=d_PXXbWdJCo</a:t>
            </a:r>
          </a:p>
          <a:p>
            <a:endParaRPr lang="en-GB" dirty="0"/>
          </a:p>
          <a:p>
            <a:br>
              <a:rPr lang="en-GB" dirty="0"/>
            </a:br>
            <a:r>
              <a:rPr lang="en-GB" sz="1200" b="1" i="0" kern="1200" dirty="0">
                <a:solidFill>
                  <a:schemeClr val="tx1"/>
                </a:solidFill>
                <a:effectLst/>
                <a:latin typeface="Arial" pitchFamily="34" charset="0"/>
                <a:ea typeface="+mn-ea"/>
                <a:cs typeface="Arial" pitchFamily="34" charset="0"/>
              </a:rPr>
              <a:t>Design, Develop, Debug, and Deploy Your </a:t>
            </a:r>
            <a:r>
              <a:rPr lang="en-GB" sz="1200" b="1" i="0" kern="1200" dirty="0" err="1">
                <a:solidFill>
                  <a:schemeClr val="tx1"/>
                </a:solidFill>
                <a:effectLst/>
                <a:latin typeface="Arial" pitchFamily="34" charset="0"/>
                <a:ea typeface="+mn-ea"/>
                <a:cs typeface="Arial" pitchFamily="34" charset="0"/>
              </a:rPr>
              <a:t>Thunkable</a:t>
            </a:r>
            <a:r>
              <a:rPr lang="en-GB" sz="1200" b="1" i="0" kern="1200" dirty="0">
                <a:solidFill>
                  <a:schemeClr val="tx1"/>
                </a:solidFill>
                <a:effectLst/>
                <a:latin typeface="Arial" pitchFamily="34" charset="0"/>
                <a:ea typeface="+mn-ea"/>
                <a:cs typeface="Arial" pitchFamily="34" charset="0"/>
              </a:rPr>
              <a:t> App: An Overview (3 of 3)</a:t>
            </a:r>
            <a:endParaRPr lang="en-GB" dirty="0"/>
          </a:p>
          <a:p>
            <a:r>
              <a:rPr lang="en-GB" dirty="0"/>
              <a:t>https://www.youtube.com/watch?v=e3AXnMVitXM</a:t>
            </a:r>
          </a:p>
        </p:txBody>
      </p:sp>
      <p:sp>
        <p:nvSpPr>
          <p:cNvPr id="32772" name="Slide Number Placeholder 3">
            <a:extLst>
              <a:ext uri="{FF2B5EF4-FFF2-40B4-BE49-F238E27FC236}">
                <a16:creationId xmlns:a16="http://schemas.microsoft.com/office/drawing/2014/main" id="{AD189570-8D3D-0501-4036-DFF797FE3B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66E82B-6047-4B9A-811C-5485D60B65B8}" type="slidenum">
              <a:rPr lang="en-GB" altLang="en-US" smtClean="0"/>
              <a:pPr/>
              <a:t>14</a:t>
            </a:fld>
            <a:endParaRPr lang="en-GB" altLang="en-US"/>
          </a:p>
        </p:txBody>
      </p:sp>
    </p:spTree>
    <p:extLst>
      <p:ext uri="{BB962C8B-B14F-4D97-AF65-F5344CB8AC3E}">
        <p14:creationId xmlns:p14="http://schemas.microsoft.com/office/powerpoint/2010/main" val="3070773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1CFE7-9BAC-92A1-8911-FD1FEA8E0796}"/>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EEFA0842-B317-2E05-C079-17A799AA824C}"/>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C0530003-B3FA-F484-B044-FB034052B3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1" dirty="0"/>
              <a:t>Time:</a:t>
            </a:r>
            <a:r>
              <a:rPr lang="en-GB" dirty="0"/>
              <a:t> 60–90 minutes (including presentations)</a:t>
            </a:r>
            <a:br>
              <a:rPr lang="en-GB" dirty="0"/>
            </a:br>
            <a:endParaRPr lang="en-GB" dirty="0"/>
          </a:p>
          <a:p>
            <a:r>
              <a:rPr lang="en-GB" b="1" dirty="0"/>
              <a:t>Purpose of the Activity</a:t>
            </a:r>
          </a:p>
          <a:p>
            <a:r>
              <a:rPr lang="en-GB" dirty="0"/>
              <a:t>Apply the </a:t>
            </a:r>
            <a:r>
              <a:rPr lang="en-GB" b="1" dirty="0"/>
              <a:t>core stages of product design</a:t>
            </a:r>
            <a:r>
              <a:rPr lang="en-GB" dirty="0"/>
              <a:t> in a practical, team-based challenge</a:t>
            </a:r>
          </a:p>
          <a:p>
            <a:r>
              <a:rPr lang="en-GB" dirty="0"/>
              <a:t>Strengthen your skills in </a:t>
            </a:r>
            <a:r>
              <a:rPr lang="en-GB" b="1" dirty="0"/>
              <a:t>problem-solving, planning, design thinking, and communication</a:t>
            </a:r>
            <a:endParaRPr lang="en-GB" dirty="0"/>
          </a:p>
          <a:p>
            <a:r>
              <a:rPr lang="en-GB" dirty="0"/>
              <a:t>Understand how designers and developers turn ideas into working products</a:t>
            </a:r>
          </a:p>
          <a:p>
            <a:endParaRPr lang="en-GB" dirty="0"/>
          </a:p>
          <a:p>
            <a:endParaRPr lang="en-GB" dirty="0"/>
          </a:p>
        </p:txBody>
      </p:sp>
      <p:sp>
        <p:nvSpPr>
          <p:cNvPr id="32772" name="Slide Number Placeholder 3">
            <a:extLst>
              <a:ext uri="{FF2B5EF4-FFF2-40B4-BE49-F238E27FC236}">
                <a16:creationId xmlns:a16="http://schemas.microsoft.com/office/drawing/2014/main" id="{AD189570-8D3D-0501-4036-DFF797FE3B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66E82B-6047-4B9A-811C-5485D60B65B8}" type="slidenum">
              <a:rPr lang="en-GB" altLang="en-US" smtClean="0"/>
              <a:pPr/>
              <a:t>15</a:t>
            </a:fld>
            <a:endParaRPr lang="en-GB" altLang="en-US"/>
          </a:p>
        </p:txBody>
      </p:sp>
    </p:spTree>
    <p:extLst>
      <p:ext uri="{BB962C8B-B14F-4D97-AF65-F5344CB8AC3E}">
        <p14:creationId xmlns:p14="http://schemas.microsoft.com/office/powerpoint/2010/main" val="3070773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7810480-5ECB-BE87-58F2-A360C2C46151}"/>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00EA3AFF-358A-33A6-DEE8-58A6CC08022F}"/>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AEF0B258-F8AE-51A1-4410-D5988A977085}"/>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F530CAED-1744-ACF9-76BA-4F49ADE2E195}"/>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11C4AD0B-BCCD-DDF6-D6B8-3C7EF96688B3}"/>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EBF9E7C4-36E9-B353-CFEE-63935B65C939}"/>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9C615290-51F2-89BA-91D4-3E9E1C94446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68F637F3-1CFD-F37D-6BB7-2F941BDD9073}"/>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36F9B091-71A7-A578-D31F-69DC6C1898F6}"/>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E9529A3F-D0CC-2872-9695-C20454AE92B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74CEED1C-466E-C63E-0433-0A4779C35D36}"/>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A84E402D-E460-1685-E2AD-09F35FE9B132}"/>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ECBE94BF-49CC-A36E-AA69-68E1D83672D6}"/>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256218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E2FBF1F4-BFFF-A3B3-1F2A-87802D682FF9}"/>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4CAE9D0-28B5-ABC5-9AAF-66C831B9D2E9}"/>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F052FBC-CFBA-25ED-6E3F-5FE2E540B83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C7FA066-CA49-4154-8229-AEE565484061}" type="slidenum">
              <a:rPr lang="en-US" altLang="en-US"/>
              <a:pPr>
                <a:defRPr/>
              </a:pPr>
              <a:t>‹#›</a:t>
            </a:fld>
            <a:endParaRPr lang="en-US" altLang="en-US"/>
          </a:p>
        </p:txBody>
      </p:sp>
    </p:spTree>
    <p:extLst>
      <p:ext uri="{BB962C8B-B14F-4D97-AF65-F5344CB8AC3E}">
        <p14:creationId xmlns:p14="http://schemas.microsoft.com/office/powerpoint/2010/main" val="4068472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195B97E7-C65B-0657-F08B-2CE5FF0C725E}"/>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5EF6BDE-FBD2-812C-4C6B-79D1F2311AC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4228EBA-1B5D-D071-427A-674FE56ACC9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FC81816-4314-4942-BF52-621C2956052E}" type="slidenum">
              <a:rPr lang="en-US" altLang="en-US"/>
              <a:pPr>
                <a:defRPr/>
              </a:pPr>
              <a:t>‹#›</a:t>
            </a:fld>
            <a:endParaRPr lang="en-US" altLang="en-US"/>
          </a:p>
        </p:txBody>
      </p:sp>
    </p:spTree>
    <p:extLst>
      <p:ext uri="{BB962C8B-B14F-4D97-AF65-F5344CB8AC3E}">
        <p14:creationId xmlns:p14="http://schemas.microsoft.com/office/powerpoint/2010/main" val="658414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FACD645D-12E7-88CB-87CF-6C7837A5F99C}"/>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B5CE3A2-9405-7B89-7B1B-768B33B59AE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B468623B-024A-1FDE-EAF1-DD056BB7748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470E24D-D6C3-411D-A3D5-2E70EB9C69AD}" type="slidenum">
              <a:rPr lang="en-US" altLang="en-US"/>
              <a:pPr>
                <a:defRPr/>
              </a:pPr>
              <a:t>‹#›</a:t>
            </a:fld>
            <a:endParaRPr lang="en-US" altLang="en-US"/>
          </a:p>
        </p:txBody>
      </p:sp>
    </p:spTree>
    <p:extLst>
      <p:ext uri="{BB962C8B-B14F-4D97-AF65-F5344CB8AC3E}">
        <p14:creationId xmlns:p14="http://schemas.microsoft.com/office/powerpoint/2010/main" val="1559293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28038F72-D80F-C0AE-35EC-EED3B3C48902}"/>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CE0DF27D-8CE0-50AB-5783-55C0262A2844}"/>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2031FD85-94F1-3025-73B8-2DEA60C7A59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56A4DB9-C831-460C-B5AC-600D0EDA1D81}" type="slidenum">
              <a:rPr lang="en-US" altLang="en-US"/>
              <a:pPr>
                <a:defRPr/>
              </a:pPr>
              <a:t>‹#›</a:t>
            </a:fld>
            <a:endParaRPr lang="en-US" altLang="en-US"/>
          </a:p>
        </p:txBody>
      </p:sp>
    </p:spTree>
    <p:extLst>
      <p:ext uri="{BB962C8B-B14F-4D97-AF65-F5344CB8AC3E}">
        <p14:creationId xmlns:p14="http://schemas.microsoft.com/office/powerpoint/2010/main" val="2984004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DDAC0BDE-56E6-5888-5425-19CEAB1F98F2}"/>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6108F2EA-921C-BC5E-210D-0CEDDC33EF0B}"/>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1938DC64-0E0B-9E40-2AEB-0FF810F56E6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032A1E8-2368-4792-8E4C-0608C616614C}" type="slidenum">
              <a:rPr lang="en-US" altLang="en-US"/>
              <a:pPr>
                <a:defRPr/>
              </a:pPr>
              <a:t>‹#›</a:t>
            </a:fld>
            <a:endParaRPr lang="en-US" altLang="en-US"/>
          </a:p>
        </p:txBody>
      </p:sp>
    </p:spTree>
    <p:extLst>
      <p:ext uri="{BB962C8B-B14F-4D97-AF65-F5344CB8AC3E}">
        <p14:creationId xmlns:p14="http://schemas.microsoft.com/office/powerpoint/2010/main" val="2368990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F3F14EE0-EBD6-D6DA-A9E5-EC13E32AC220}"/>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001C9496-8095-A124-5646-484544CF7CC1}"/>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36BE1709-17D9-E6E3-5ABB-E4B30B153841}"/>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729AF96-B952-46EC-BF3B-07E3BB25340A}" type="slidenum">
              <a:rPr lang="en-US" altLang="en-US"/>
              <a:pPr>
                <a:defRPr/>
              </a:pPr>
              <a:t>‹#›</a:t>
            </a:fld>
            <a:endParaRPr lang="en-US" altLang="en-US"/>
          </a:p>
        </p:txBody>
      </p:sp>
    </p:spTree>
    <p:extLst>
      <p:ext uri="{BB962C8B-B14F-4D97-AF65-F5344CB8AC3E}">
        <p14:creationId xmlns:p14="http://schemas.microsoft.com/office/powerpoint/2010/main" val="1385716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05AB5C6-BD50-A6BF-B5FE-22C8E407ADCD}"/>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5A7603A1-5900-D00D-4D8B-08F208B8C01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44C9998E-4D02-1C08-708F-DECA68A7A85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0C78E55-6717-4E6B-9F78-CE359F379F1E}" type="slidenum">
              <a:rPr lang="en-US" altLang="en-US"/>
              <a:pPr>
                <a:defRPr/>
              </a:pPr>
              <a:t>‹#›</a:t>
            </a:fld>
            <a:endParaRPr lang="en-US" altLang="en-US"/>
          </a:p>
        </p:txBody>
      </p:sp>
    </p:spTree>
    <p:extLst>
      <p:ext uri="{BB962C8B-B14F-4D97-AF65-F5344CB8AC3E}">
        <p14:creationId xmlns:p14="http://schemas.microsoft.com/office/powerpoint/2010/main" val="2085929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63948DC-6D8B-6569-DA51-FDF05F577159}"/>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27E2FDE-24F3-07D0-AEFF-4CB105FDFAA7}"/>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8985341-E5D8-3F30-BFAE-8830A58E0E8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A8F0B2A-B223-426C-816D-62612E31A5A9}" type="slidenum">
              <a:rPr lang="en-US" altLang="en-US"/>
              <a:pPr>
                <a:defRPr/>
              </a:pPr>
              <a:t>‹#›</a:t>
            </a:fld>
            <a:endParaRPr lang="en-US" altLang="en-US"/>
          </a:p>
        </p:txBody>
      </p:sp>
    </p:spTree>
    <p:extLst>
      <p:ext uri="{BB962C8B-B14F-4D97-AF65-F5344CB8AC3E}">
        <p14:creationId xmlns:p14="http://schemas.microsoft.com/office/powerpoint/2010/main" val="108365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89353A6-EA69-6442-57C0-88AA9F8813B0}"/>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3C72383-4845-DC68-9243-081EF763980B}"/>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D30F085-A0EC-C47B-DA3C-BFEA3439592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C239488-D800-4312-B8E5-3AF7F2140D42}" type="slidenum">
              <a:rPr lang="en-US" altLang="en-US"/>
              <a:pPr>
                <a:defRPr/>
              </a:pPr>
              <a:t>‹#›</a:t>
            </a:fld>
            <a:endParaRPr lang="en-US" altLang="en-US"/>
          </a:p>
        </p:txBody>
      </p:sp>
    </p:spTree>
    <p:extLst>
      <p:ext uri="{BB962C8B-B14F-4D97-AF65-F5344CB8AC3E}">
        <p14:creationId xmlns:p14="http://schemas.microsoft.com/office/powerpoint/2010/main" val="400387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964B57A7-5304-4B74-E062-42790573BB34}"/>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EE7DAE4-5415-A8BB-9266-22D89E2C2F0D}"/>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639206F7-B389-1394-207F-70B202F0541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B506300-EC2B-4410-BAC1-029937E7BA4C}" type="slidenum">
              <a:rPr lang="en-US" altLang="en-US"/>
              <a:pPr>
                <a:defRPr/>
              </a:pPr>
              <a:t>‹#›</a:t>
            </a:fld>
            <a:endParaRPr lang="en-US" altLang="en-US"/>
          </a:p>
        </p:txBody>
      </p:sp>
    </p:spTree>
    <p:extLst>
      <p:ext uri="{BB962C8B-B14F-4D97-AF65-F5344CB8AC3E}">
        <p14:creationId xmlns:p14="http://schemas.microsoft.com/office/powerpoint/2010/main" val="318269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58BE732-F038-221C-983A-85EDF89C445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A212D868-F7C7-433D-CEC8-BF70F92640DA}"/>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3FF7FE1B-A3AC-CC37-9DA6-8FEFD1060921}"/>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048631EF-4B04-3AC7-9DEA-E9A9D9196A4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00AA0BA8-3CE6-8861-96EB-BC4665E4CA82}"/>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746C408B-8C65-C11C-F154-EA06B87D0AFD}"/>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A3EC4121-1BDD-A77C-2AF6-CFC21BF1D794}"/>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7004D551-9CD0-3404-6B1D-0EE5258A727C}"/>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75CBDE54-9BAF-9128-48E8-350C0154B1BD}"/>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A89C34F5-B039-A826-E05B-929D398CE957}"/>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23DF1A86-7E14-A3D0-EE1F-1D860A85C694}"/>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F6B49424-7492-3521-6B6C-71AC3935C9F2}"/>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202321B8-1831-0921-413C-4B8F441F1380}"/>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5327ECCC-955A-4CC1-B570-8D3B1F26AC5A}" type="slidenum">
              <a:rPr lang="en-US" altLang="en-US"/>
              <a:pPr>
                <a:defRPr/>
              </a:pPr>
              <a:t>‹#›</a:t>
            </a:fld>
            <a:endParaRPr lang="en-US" altLang="en-US"/>
          </a:p>
        </p:txBody>
      </p:sp>
    </p:spTree>
    <p:extLst>
      <p:ext uri="{BB962C8B-B14F-4D97-AF65-F5344CB8AC3E}">
        <p14:creationId xmlns:p14="http://schemas.microsoft.com/office/powerpoint/2010/main" val="2342449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E2EBB6AC-FA83-9165-EB13-97F6867853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96AD3C7-BB8A-E8C6-6A4A-2BAECCE801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5E43890-5611-4E4D-27B3-507F3FB773F8}"/>
              </a:ext>
            </a:extLst>
          </p:cNvPr>
          <p:cNvSpPr>
            <a:spLocks noGrp="1" noChangeArrowheads="1"/>
          </p:cNvSpPr>
          <p:nvPr>
            <p:ph type="sldNum" sz="quarter" idx="12"/>
          </p:nvPr>
        </p:nvSpPr>
        <p:spPr>
          <a:ln/>
        </p:spPr>
        <p:txBody>
          <a:bodyPr/>
          <a:lstStyle>
            <a:lvl1pPr>
              <a:defRPr/>
            </a:lvl1pPr>
          </a:lstStyle>
          <a:p>
            <a:pPr>
              <a:defRPr/>
            </a:pPr>
            <a:fld id="{FF767D69-45F3-4FD5-A3C3-B99BBBA31BBD}" type="slidenum">
              <a:rPr lang="en-US" altLang="en-US"/>
              <a:pPr>
                <a:defRPr/>
              </a:pPr>
              <a:t>‹#›</a:t>
            </a:fld>
            <a:endParaRPr lang="en-US" altLang="en-US"/>
          </a:p>
        </p:txBody>
      </p:sp>
    </p:spTree>
    <p:extLst>
      <p:ext uri="{BB962C8B-B14F-4D97-AF65-F5344CB8AC3E}">
        <p14:creationId xmlns:p14="http://schemas.microsoft.com/office/powerpoint/2010/main" val="3578742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E3551835-1EB1-BE40-E14F-0DB9C8B0103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7FFF9D5-FCE7-7433-15F7-F01060F97B7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ABEA767-ED31-8429-9361-BD51593BF268}"/>
              </a:ext>
            </a:extLst>
          </p:cNvPr>
          <p:cNvSpPr>
            <a:spLocks noGrp="1" noChangeArrowheads="1"/>
          </p:cNvSpPr>
          <p:nvPr>
            <p:ph type="sldNum" sz="quarter" idx="12"/>
          </p:nvPr>
        </p:nvSpPr>
        <p:spPr>
          <a:ln/>
        </p:spPr>
        <p:txBody>
          <a:bodyPr/>
          <a:lstStyle>
            <a:lvl1pPr>
              <a:defRPr/>
            </a:lvl1pPr>
          </a:lstStyle>
          <a:p>
            <a:pPr>
              <a:defRPr/>
            </a:pPr>
            <a:fld id="{29BC801C-8383-4F07-ACD9-5073A90B612C}" type="slidenum">
              <a:rPr lang="en-US" altLang="en-US"/>
              <a:pPr>
                <a:defRPr/>
              </a:pPr>
              <a:t>‹#›</a:t>
            </a:fld>
            <a:endParaRPr lang="en-US" altLang="en-US"/>
          </a:p>
        </p:txBody>
      </p:sp>
    </p:spTree>
    <p:extLst>
      <p:ext uri="{BB962C8B-B14F-4D97-AF65-F5344CB8AC3E}">
        <p14:creationId xmlns:p14="http://schemas.microsoft.com/office/powerpoint/2010/main" val="4271162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D26AACF1-B63A-3DFC-1F61-3039DA6B10A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3826BBD-55C8-1989-390F-9D8BB3B20A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E08D2122-4961-52C1-A0A1-25B856B95E61}"/>
              </a:ext>
            </a:extLst>
          </p:cNvPr>
          <p:cNvSpPr>
            <a:spLocks noGrp="1" noChangeArrowheads="1"/>
          </p:cNvSpPr>
          <p:nvPr>
            <p:ph type="sldNum" sz="quarter" idx="12"/>
          </p:nvPr>
        </p:nvSpPr>
        <p:spPr>
          <a:ln/>
        </p:spPr>
        <p:txBody>
          <a:bodyPr/>
          <a:lstStyle>
            <a:lvl1pPr>
              <a:defRPr/>
            </a:lvl1pPr>
          </a:lstStyle>
          <a:p>
            <a:pPr>
              <a:defRPr/>
            </a:pPr>
            <a:fld id="{B7CFB11A-E562-49AA-80DC-C2571ABBF94D}" type="slidenum">
              <a:rPr lang="en-US" altLang="en-US"/>
              <a:pPr>
                <a:defRPr/>
              </a:pPr>
              <a:t>‹#›</a:t>
            </a:fld>
            <a:endParaRPr lang="en-US" altLang="en-US"/>
          </a:p>
        </p:txBody>
      </p:sp>
    </p:spTree>
    <p:extLst>
      <p:ext uri="{BB962C8B-B14F-4D97-AF65-F5344CB8AC3E}">
        <p14:creationId xmlns:p14="http://schemas.microsoft.com/office/powerpoint/2010/main" val="1811400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956C2847-55F0-DD56-5C8E-1231F2C1553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787D3154-3BC8-E8E2-AAD4-C364E9E8425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F0C017E7-C01B-0610-C669-C955CE07FABD}"/>
              </a:ext>
            </a:extLst>
          </p:cNvPr>
          <p:cNvSpPr>
            <a:spLocks noGrp="1" noChangeArrowheads="1"/>
          </p:cNvSpPr>
          <p:nvPr>
            <p:ph type="sldNum" sz="quarter" idx="12"/>
          </p:nvPr>
        </p:nvSpPr>
        <p:spPr>
          <a:ln/>
        </p:spPr>
        <p:txBody>
          <a:bodyPr/>
          <a:lstStyle>
            <a:lvl1pPr>
              <a:defRPr/>
            </a:lvl1pPr>
          </a:lstStyle>
          <a:p>
            <a:pPr>
              <a:defRPr/>
            </a:pPr>
            <a:fld id="{1F35F7B0-D026-4293-B387-BEA254A949BD}" type="slidenum">
              <a:rPr lang="en-US" altLang="en-US"/>
              <a:pPr>
                <a:defRPr/>
              </a:pPr>
              <a:t>‹#›</a:t>
            </a:fld>
            <a:endParaRPr lang="en-US" altLang="en-US"/>
          </a:p>
        </p:txBody>
      </p:sp>
    </p:spTree>
    <p:extLst>
      <p:ext uri="{BB962C8B-B14F-4D97-AF65-F5344CB8AC3E}">
        <p14:creationId xmlns:p14="http://schemas.microsoft.com/office/powerpoint/2010/main" val="2717326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00ECBADA-2525-B62F-7A70-A314EA8BEFE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0346302F-0967-F140-6DEA-624042BDEC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0B32ECB1-2364-7712-2F8E-EFAD5C1DC074}"/>
              </a:ext>
            </a:extLst>
          </p:cNvPr>
          <p:cNvSpPr>
            <a:spLocks noGrp="1" noChangeArrowheads="1"/>
          </p:cNvSpPr>
          <p:nvPr>
            <p:ph type="sldNum" sz="quarter" idx="12"/>
          </p:nvPr>
        </p:nvSpPr>
        <p:spPr>
          <a:ln/>
        </p:spPr>
        <p:txBody>
          <a:bodyPr/>
          <a:lstStyle>
            <a:lvl1pPr>
              <a:defRPr/>
            </a:lvl1pPr>
          </a:lstStyle>
          <a:p>
            <a:pPr>
              <a:defRPr/>
            </a:pPr>
            <a:fld id="{849B93AF-BFC4-493F-B243-EF000CB9545D}" type="slidenum">
              <a:rPr lang="en-US" altLang="en-US"/>
              <a:pPr>
                <a:defRPr/>
              </a:pPr>
              <a:t>‹#›</a:t>
            </a:fld>
            <a:endParaRPr lang="en-US" altLang="en-US"/>
          </a:p>
        </p:txBody>
      </p:sp>
    </p:spTree>
    <p:extLst>
      <p:ext uri="{BB962C8B-B14F-4D97-AF65-F5344CB8AC3E}">
        <p14:creationId xmlns:p14="http://schemas.microsoft.com/office/powerpoint/2010/main" val="1912880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EE7FD273-A0D2-D288-91BF-A5DA22EED21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7905A923-9AA7-BC26-4416-7870884694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DC3B1E04-B1C3-C195-C6D2-692162C5CF7A}"/>
              </a:ext>
            </a:extLst>
          </p:cNvPr>
          <p:cNvSpPr>
            <a:spLocks noGrp="1" noChangeArrowheads="1"/>
          </p:cNvSpPr>
          <p:nvPr>
            <p:ph type="sldNum" sz="quarter" idx="12"/>
          </p:nvPr>
        </p:nvSpPr>
        <p:spPr>
          <a:ln/>
        </p:spPr>
        <p:txBody>
          <a:bodyPr/>
          <a:lstStyle>
            <a:lvl1pPr>
              <a:defRPr/>
            </a:lvl1pPr>
          </a:lstStyle>
          <a:p>
            <a:pPr>
              <a:defRPr/>
            </a:pPr>
            <a:fld id="{552C8C92-F3C4-41A1-A272-FAD3D86FC32D}" type="slidenum">
              <a:rPr lang="en-US" altLang="en-US"/>
              <a:pPr>
                <a:defRPr/>
              </a:pPr>
              <a:t>‹#›</a:t>
            </a:fld>
            <a:endParaRPr lang="en-US" altLang="en-US"/>
          </a:p>
        </p:txBody>
      </p:sp>
    </p:spTree>
    <p:extLst>
      <p:ext uri="{BB962C8B-B14F-4D97-AF65-F5344CB8AC3E}">
        <p14:creationId xmlns:p14="http://schemas.microsoft.com/office/powerpoint/2010/main" val="39457909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577A97C1-F48E-66DD-52D0-E3E4D6541A1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96221AF-4EA4-7CA5-0B02-403ACB29D9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FBBC1B4-5118-0E12-A6FA-297F485E64A2}"/>
              </a:ext>
            </a:extLst>
          </p:cNvPr>
          <p:cNvSpPr>
            <a:spLocks noGrp="1" noChangeArrowheads="1"/>
          </p:cNvSpPr>
          <p:nvPr>
            <p:ph type="sldNum" sz="quarter" idx="12"/>
          </p:nvPr>
        </p:nvSpPr>
        <p:spPr>
          <a:ln/>
        </p:spPr>
        <p:txBody>
          <a:bodyPr/>
          <a:lstStyle>
            <a:lvl1pPr>
              <a:defRPr/>
            </a:lvl1pPr>
          </a:lstStyle>
          <a:p>
            <a:pPr>
              <a:defRPr/>
            </a:pPr>
            <a:fld id="{C87CC952-187B-420C-823A-0957A1D872BA}" type="slidenum">
              <a:rPr lang="en-US" altLang="en-US"/>
              <a:pPr>
                <a:defRPr/>
              </a:pPr>
              <a:t>‹#›</a:t>
            </a:fld>
            <a:endParaRPr lang="en-US" altLang="en-US"/>
          </a:p>
        </p:txBody>
      </p:sp>
    </p:spTree>
    <p:extLst>
      <p:ext uri="{BB962C8B-B14F-4D97-AF65-F5344CB8AC3E}">
        <p14:creationId xmlns:p14="http://schemas.microsoft.com/office/powerpoint/2010/main" val="32631926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9FA3A97C-2D58-EEFA-FE88-E7198426C48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6BA85AC-A44C-9B4D-3684-32D92A16AB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8612D42-88EC-4F56-DCEF-935F4C8A88BB}"/>
              </a:ext>
            </a:extLst>
          </p:cNvPr>
          <p:cNvSpPr>
            <a:spLocks noGrp="1" noChangeArrowheads="1"/>
          </p:cNvSpPr>
          <p:nvPr>
            <p:ph type="sldNum" sz="quarter" idx="12"/>
          </p:nvPr>
        </p:nvSpPr>
        <p:spPr>
          <a:ln/>
        </p:spPr>
        <p:txBody>
          <a:bodyPr/>
          <a:lstStyle>
            <a:lvl1pPr>
              <a:defRPr/>
            </a:lvl1pPr>
          </a:lstStyle>
          <a:p>
            <a:pPr>
              <a:defRPr/>
            </a:pPr>
            <a:fld id="{9715BFFA-586B-41EA-93C2-A393E68CCD90}" type="slidenum">
              <a:rPr lang="en-US" altLang="en-US"/>
              <a:pPr>
                <a:defRPr/>
              </a:pPr>
              <a:t>‹#›</a:t>
            </a:fld>
            <a:endParaRPr lang="en-US" altLang="en-US"/>
          </a:p>
        </p:txBody>
      </p:sp>
    </p:spTree>
    <p:extLst>
      <p:ext uri="{BB962C8B-B14F-4D97-AF65-F5344CB8AC3E}">
        <p14:creationId xmlns:p14="http://schemas.microsoft.com/office/powerpoint/2010/main" val="1673217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60BD873B-AA66-998A-294A-52F656B9990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19282D3-63D2-0502-B93C-DB95C92FA9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E504B96-0FF0-2E89-DFAD-6A0005370227}"/>
              </a:ext>
            </a:extLst>
          </p:cNvPr>
          <p:cNvSpPr>
            <a:spLocks noGrp="1" noChangeArrowheads="1"/>
          </p:cNvSpPr>
          <p:nvPr>
            <p:ph type="sldNum" sz="quarter" idx="12"/>
          </p:nvPr>
        </p:nvSpPr>
        <p:spPr>
          <a:ln/>
        </p:spPr>
        <p:txBody>
          <a:bodyPr/>
          <a:lstStyle>
            <a:lvl1pPr>
              <a:defRPr/>
            </a:lvl1pPr>
          </a:lstStyle>
          <a:p>
            <a:pPr>
              <a:defRPr/>
            </a:pPr>
            <a:fld id="{8C374F23-174C-4BC6-ABD9-92A28803ED65}" type="slidenum">
              <a:rPr lang="en-US" altLang="en-US"/>
              <a:pPr>
                <a:defRPr/>
              </a:pPr>
              <a:t>‹#›</a:t>
            </a:fld>
            <a:endParaRPr lang="en-US" altLang="en-US"/>
          </a:p>
        </p:txBody>
      </p:sp>
    </p:spTree>
    <p:extLst>
      <p:ext uri="{BB962C8B-B14F-4D97-AF65-F5344CB8AC3E}">
        <p14:creationId xmlns:p14="http://schemas.microsoft.com/office/powerpoint/2010/main" val="1706328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8DF6778D-C9BA-FDE6-E0DC-BEBA9643D4F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CF16D62-8A9F-EC79-37FD-49E13CE873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67F1255-9B56-F3F4-3618-DB1FB151A5F6}"/>
              </a:ext>
            </a:extLst>
          </p:cNvPr>
          <p:cNvSpPr>
            <a:spLocks noGrp="1" noChangeArrowheads="1"/>
          </p:cNvSpPr>
          <p:nvPr>
            <p:ph type="sldNum" sz="quarter" idx="12"/>
          </p:nvPr>
        </p:nvSpPr>
        <p:spPr>
          <a:ln/>
        </p:spPr>
        <p:txBody>
          <a:bodyPr/>
          <a:lstStyle>
            <a:lvl1pPr>
              <a:defRPr/>
            </a:lvl1pPr>
          </a:lstStyle>
          <a:p>
            <a:pPr>
              <a:defRPr/>
            </a:pPr>
            <a:fld id="{21A0EC92-9C02-4F18-9503-339AEB0637AD}" type="slidenum">
              <a:rPr lang="en-US" altLang="en-US"/>
              <a:pPr>
                <a:defRPr/>
              </a:pPr>
              <a:t>‹#›</a:t>
            </a:fld>
            <a:endParaRPr lang="en-US" altLang="en-US"/>
          </a:p>
        </p:txBody>
      </p:sp>
    </p:spTree>
    <p:extLst>
      <p:ext uri="{BB962C8B-B14F-4D97-AF65-F5344CB8AC3E}">
        <p14:creationId xmlns:p14="http://schemas.microsoft.com/office/powerpoint/2010/main" val="177793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D345E34-E467-7991-B2AF-73ED4FE19623}"/>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05615F89-67FA-18BB-54CC-1494E69CBFB6}"/>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C536EC21-8289-B48F-80BD-83B0CD94B0C5}"/>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BC04DC27-63D0-3D8D-3281-D351460C6D3D}"/>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A2D29420-F452-E089-A911-0930C3BFA7FF}"/>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76690800-EE9D-ADDF-DD3A-ABF42BC27FAF}"/>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1A6BA7B5-B51C-EA65-A7D9-A663DD263E41}"/>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0B7EB65F-68BB-567E-2181-5E000C6608A5}"/>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656CC82B-5F89-170B-DA89-463DCE6009BC}"/>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0A6E5069-418D-82BB-7BD4-79DBAA86756B}"/>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0DB11F4D-39C3-F6F1-42B5-94F30E61E058}"/>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23A2BDE6-4A4A-A6D6-D3F9-016479D9FFFF}"/>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5856" r:id="rId1"/>
    <p:sldLayoutId id="2147485857" r:id="rId2"/>
    <p:sldLayoutId id="2147485858" r:id="rId3"/>
    <p:sldLayoutId id="2147485859" r:id="rId4"/>
    <p:sldLayoutId id="2147485860" r:id="rId5"/>
    <p:sldLayoutId id="2147485861" r:id="rId6"/>
    <p:sldLayoutId id="2147485862" r:id="rId7"/>
    <p:sldLayoutId id="2147485863" r:id="rId8"/>
    <p:sldLayoutId id="2147485864" r:id="rId9"/>
    <p:sldLayoutId id="2147485865" r:id="rId10"/>
    <p:sldLayoutId id="21474858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CD2ED16-8D4E-7549-7322-669566DDEF82}"/>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3DBD444D-C319-928E-2736-4C296846DF9E}"/>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BD98CEAA-AF5D-8770-A48A-A8071463FDCC}"/>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D7D0FA5F-A8A5-8118-8E28-4963A5302776}"/>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54B22AED-ED09-9FB5-1E17-D495065FFA6E}"/>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CDE2BA21-D4DC-8931-A8B5-D8AAB43D9CD5}"/>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0B6CE866-230A-C23F-6068-9405CD83702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B000EBEF-B402-B8C4-12D1-8E1D7CC7FD6D}"/>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3DE1ED43-47FA-6F0C-BAA9-D0C309B3A464}"/>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E25BEB87-A1D8-A59E-E8E5-7F29E963ADDE}"/>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193B0F29-A731-67D2-4118-018B4E5D8A0B}"/>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C124B84F-BA24-F2F7-D46E-C5A9F1600C5F}"/>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A5519EAE-4E3C-4F6D-9DF4-99D2019ECA5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867" r:id="rId1"/>
    <p:sldLayoutId id="2147485846" r:id="rId2"/>
    <p:sldLayoutId id="2147485847" r:id="rId3"/>
    <p:sldLayoutId id="2147485848" r:id="rId4"/>
    <p:sldLayoutId id="2147485849" r:id="rId5"/>
    <p:sldLayoutId id="2147485850" r:id="rId6"/>
    <p:sldLayoutId id="2147485851" r:id="rId7"/>
    <p:sldLayoutId id="2147485852" r:id="rId8"/>
    <p:sldLayoutId id="2147485853" r:id="rId9"/>
    <p:sldLayoutId id="2147485854" r:id="rId10"/>
    <p:sldLayoutId id="214748585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lgEKspkglSE?feature=oembed" TargetMode="Externa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ideo" Target="https://www.youtube.com/embed/R7ak_c_ElJw?feature=oembed" TargetMode="Externa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https://www.youtube.com/embed/Jk4X3EDXi7s?feature=oembed" TargetMode="External"/><Relationship Id="rId1" Type="http://schemas.openxmlformats.org/officeDocument/2006/relationships/video" Target="https://www.youtube.com/embed/GuwXaaFA7W8?feature=oembed" TargetMode="Externa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ideo" Target="https://www.youtube.com/embed/Md0c86PnhXo?feature=oembed" TargetMode="External"/><Relationship Id="rId5" Type="http://schemas.openxmlformats.org/officeDocument/2006/relationships/image" Target="../media/image7.jpe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OeSsulBDqbY?feature=oembed" TargetMode="External"/><Relationship Id="rId5" Type="http://schemas.openxmlformats.org/officeDocument/2006/relationships/image" Target="../media/image9.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BK8HzA4FAi8?feature=oembed" TargetMode="External"/><Relationship Id="rId5" Type="http://schemas.openxmlformats.org/officeDocument/2006/relationships/image" Target="../media/image11.jpe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ideo" Target="https://www.youtube.com/embed/O3PPZtGnVAY?feature=oembed" TargetMode="External"/><Relationship Id="rId5" Type="http://schemas.openxmlformats.org/officeDocument/2006/relationships/image" Target="../media/image13.jpe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ideo" Target="https://www.youtube.com/embed/e3AXnMVitXM?feature=oembed" TargetMode="Externa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E89979B-9D2C-B40E-9393-37FBFA0B9F2D}"/>
              </a:ext>
            </a:extLst>
          </p:cNvPr>
          <p:cNvSpPr>
            <a:spLocks noGrp="1" noChangeArrowheads="1"/>
          </p:cNvSpPr>
          <p:nvPr>
            <p:ph type="ctrTitle"/>
          </p:nvPr>
        </p:nvSpPr>
        <p:spPr>
          <a:xfrm>
            <a:off x="990600" y="1828800"/>
            <a:ext cx="7542213" cy="1143000"/>
          </a:xfrm>
        </p:spPr>
        <p:txBody>
          <a:bodyPr/>
          <a:lstStyle/>
          <a:p>
            <a:r>
              <a:rPr lang="en-GB" altLang="en-US" sz="2800" b="1">
                <a:solidFill>
                  <a:srgbClr val="0070C0"/>
                </a:solidFill>
              </a:rPr>
              <a:t>Occupational </a:t>
            </a:r>
            <a:r>
              <a:rPr lang="en-GB" altLang="en-US" sz="2800" b="1" dirty="0">
                <a:solidFill>
                  <a:srgbClr val="0070C0"/>
                </a:solidFill>
              </a:rPr>
              <a:t>Specialist Component Content: Digital Production, </a:t>
            </a:r>
            <a:r>
              <a:rPr lang="en-GB" altLang="en-US" sz="2800" b="1">
                <a:solidFill>
                  <a:srgbClr val="0070C0"/>
                </a:solidFill>
              </a:rPr>
              <a:t>Design and </a:t>
            </a:r>
            <a:r>
              <a:rPr lang="en-GB" altLang="en-US" sz="2800" b="1" dirty="0">
                <a:solidFill>
                  <a:srgbClr val="0070C0"/>
                </a:solidFill>
              </a:rPr>
              <a:t>Development</a:t>
            </a:r>
          </a:p>
        </p:txBody>
      </p:sp>
      <p:sp>
        <p:nvSpPr>
          <p:cNvPr id="15363" name="TextBox 4">
            <a:extLst>
              <a:ext uri="{FF2B5EF4-FFF2-40B4-BE49-F238E27FC236}">
                <a16:creationId xmlns:a16="http://schemas.microsoft.com/office/drawing/2014/main" id="{BEEFD9BD-28E1-0CCC-6C56-6D5A9AA9EC2B}"/>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9916D59-0D4D-7A7F-32FD-B66E010CA9E4}"/>
              </a:ext>
            </a:extLst>
          </p:cNvPr>
          <p:cNvSpPr>
            <a:spLocks noGrp="1" noChangeArrowheads="1"/>
          </p:cNvSpPr>
          <p:nvPr>
            <p:ph type="title"/>
          </p:nvPr>
        </p:nvSpPr>
        <p:spPr>
          <a:xfrm>
            <a:off x="1403350" y="404813"/>
            <a:ext cx="7505700" cy="939800"/>
          </a:xfrm>
        </p:spPr>
        <p:txBody>
          <a:bodyPr/>
          <a:lstStyle/>
          <a:p>
            <a:pPr eaLnBrk="1" hangingPunct="1"/>
            <a:r>
              <a:rPr lang="en-GB" altLang="en-US" sz="4000" b="1" dirty="0">
                <a:solidFill>
                  <a:srgbClr val="0070C0"/>
                </a:solidFill>
              </a:rPr>
              <a:t>Learning Objectives</a:t>
            </a:r>
          </a:p>
        </p:txBody>
      </p:sp>
      <p:sp>
        <p:nvSpPr>
          <p:cNvPr id="4099" name="Rectangle 3">
            <a:extLst>
              <a:ext uri="{FF2B5EF4-FFF2-40B4-BE49-F238E27FC236}">
                <a16:creationId xmlns:a16="http://schemas.microsoft.com/office/drawing/2014/main" id="{81D7DF48-5C8C-2A22-10C7-A51FEDB00BB9}"/>
              </a:ext>
            </a:extLst>
          </p:cNvPr>
          <p:cNvSpPr>
            <a:spLocks noGrp="1" noChangeArrowheads="1"/>
          </p:cNvSpPr>
          <p:nvPr>
            <p:ph type="body" idx="1"/>
          </p:nvPr>
        </p:nvSpPr>
        <p:spPr>
          <a:xfrm>
            <a:off x="359532" y="1916832"/>
            <a:ext cx="8424936" cy="4681239"/>
          </a:xfrm>
        </p:spPr>
        <p:txBody>
          <a:bodyPr/>
          <a:lstStyle/>
          <a:p>
            <a:pPr eaLnBrk="1" hangingPunct="1">
              <a:defRPr/>
            </a:pPr>
            <a:r>
              <a:rPr lang="en-GB" sz="2000" b="1" dirty="0"/>
              <a:t>Aims:</a:t>
            </a:r>
          </a:p>
          <a:p>
            <a:pPr lvl="1" eaLnBrk="1" hangingPunct="1">
              <a:defRPr/>
            </a:pPr>
            <a:r>
              <a:rPr lang="en-GB" sz="2000" dirty="0"/>
              <a:t>To understand how to deploy and maintain a product</a:t>
            </a:r>
          </a:p>
          <a:p>
            <a:pPr marL="457200" lvl="1" indent="0" eaLnBrk="1" hangingPunct="1">
              <a:buNone/>
              <a:defRPr/>
            </a:pPr>
            <a:endParaRPr lang="en-GB" sz="2000" dirty="0"/>
          </a:p>
          <a:p>
            <a:pPr eaLnBrk="1" hangingPunct="1">
              <a:defRPr/>
            </a:pPr>
            <a:r>
              <a:rPr lang="en-GB" sz="2000" b="1" dirty="0"/>
              <a:t>Objectives</a:t>
            </a:r>
            <a:r>
              <a:rPr lang="en-US" sz="2000" b="1" dirty="0"/>
              <a:t>:</a:t>
            </a:r>
          </a:p>
          <a:p>
            <a:pPr lvl="1" eaLnBrk="1" hangingPunct="1">
              <a:defRPr/>
            </a:pPr>
            <a:r>
              <a:rPr lang="en-GB" sz="2000" dirty="0"/>
              <a:t>To be able to identify how to deploy and maintain a product including:</a:t>
            </a:r>
            <a:endParaRPr lang="en-GB" sz="1800" dirty="0"/>
          </a:p>
          <a:p>
            <a:pPr lvl="2" eaLnBrk="1" hangingPunct="1"/>
            <a:r>
              <a:rPr lang="en-GB" altLang="en-US" sz="1400" dirty="0"/>
              <a:t>Install and configure the product</a:t>
            </a:r>
          </a:p>
          <a:p>
            <a:pPr lvl="2" eaLnBrk="1" hangingPunct="1"/>
            <a:r>
              <a:rPr lang="en-GB" altLang="en-US" sz="1400" dirty="0"/>
              <a:t>Update the product</a:t>
            </a:r>
          </a:p>
          <a:p>
            <a:pPr lvl="2" eaLnBrk="1" hangingPunct="1"/>
            <a:r>
              <a:rPr lang="en-GB" altLang="en-US" sz="1400" dirty="0"/>
              <a:t>Maintain the product</a:t>
            </a:r>
          </a:p>
          <a:p>
            <a:pPr lvl="2" eaLnBrk="1" hangingPunct="1"/>
            <a:r>
              <a:rPr lang="en-GB" altLang="en-US" sz="1400" dirty="0"/>
              <a:t>Provide system support</a:t>
            </a:r>
          </a:p>
          <a:p>
            <a:pPr lvl="2" eaLnBrk="1" hangingPunct="1"/>
            <a:r>
              <a:rPr lang="en-GB" altLang="en-US" sz="1400" dirty="0"/>
              <a:t>Provide use support</a:t>
            </a:r>
          </a:p>
          <a:p>
            <a:pPr lvl="2" eaLnBrk="1" hangingPunct="1"/>
            <a:r>
              <a:rPr lang="en-GB" altLang="en-US" sz="1400" dirty="0"/>
              <a:t>Carry out bug fixing.</a:t>
            </a:r>
          </a:p>
          <a:p>
            <a:pPr lvl="2" eaLnBrk="1" hangingPunct="1"/>
            <a:r>
              <a:rPr lang="en-GB" altLang="en-US" sz="1400" dirty="0"/>
              <a:t>Arrange/carry out user training.</a:t>
            </a:r>
          </a:p>
          <a:p>
            <a:pPr lvl="2" eaLnBrk="1" hangingPunct="1"/>
            <a:r>
              <a:rPr lang="en-GB" altLang="en-US" sz="1400" dirty="0"/>
              <a:t>Release updates to enhance the product</a:t>
            </a:r>
          </a:p>
          <a:p>
            <a:pPr lvl="2" eaLnBrk="1" hangingPunct="1"/>
            <a:r>
              <a:rPr lang="en-GB" altLang="en-US" sz="1400" dirty="0"/>
              <a:t>Understand the value to the organisation of the digital product.</a:t>
            </a:r>
          </a:p>
          <a:p>
            <a:pPr lvl="2" eaLnBrk="1" hangingPunct="1"/>
            <a:r>
              <a:rPr lang="en-GB" altLang="en-US" sz="1400" dirty="0"/>
              <a:t>Understand the role of the software development life cycle.</a:t>
            </a:r>
            <a:endParaRPr lang="en-US" altLang="en-US" sz="1400" dirty="0"/>
          </a:p>
          <a:p>
            <a:pPr marL="914400" lvl="2" indent="0" eaLnBrk="1" hangingPunct="1">
              <a:buNone/>
            </a:pPr>
            <a:endParaRPr lang="en-GB"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77DB-38D2-9FC4-6CAC-236611900968}"/>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393FE4D-16A2-7E4F-BDE1-C85BC37A38EB}"/>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Deployment &amp; Maintenance</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2A622E7B-F09A-943E-6D60-DADA61E89A47}"/>
              </a:ext>
            </a:extLst>
          </p:cNvPr>
          <p:cNvSpPr>
            <a:spLocks noGrp="1" noChangeArrowheads="1"/>
          </p:cNvSpPr>
          <p:nvPr>
            <p:ph idx="1"/>
          </p:nvPr>
        </p:nvSpPr>
        <p:spPr>
          <a:xfrm>
            <a:off x="289352" y="1981289"/>
            <a:ext cx="8675136" cy="939799"/>
          </a:xfrm>
        </p:spPr>
        <p:txBody>
          <a:bodyPr/>
          <a:lstStyle/>
          <a:p>
            <a:r>
              <a:rPr lang="en-GB" sz="1800" dirty="0"/>
              <a:t>This module focuses on the post-development stages of a product—deployment, maintenance, support, and updates—to ensure the product remains functional, valuable, and aligned with user needs.</a:t>
            </a:r>
            <a:endParaRPr lang="en-GB" altLang="en-US" sz="1800" dirty="0"/>
          </a:p>
        </p:txBody>
      </p:sp>
      <p:sp>
        <p:nvSpPr>
          <p:cNvPr id="2" name="Content Placeholder 2">
            <a:extLst>
              <a:ext uri="{FF2B5EF4-FFF2-40B4-BE49-F238E27FC236}">
                <a16:creationId xmlns:a16="http://schemas.microsoft.com/office/drawing/2014/main" id="{9F959247-7851-9DF5-9E16-6717D7C6EF4C}"/>
              </a:ext>
            </a:extLst>
          </p:cNvPr>
          <p:cNvSpPr txBox="1">
            <a:spLocks noChangeArrowheads="1"/>
          </p:cNvSpPr>
          <p:nvPr/>
        </p:nvSpPr>
        <p:spPr bwMode="auto">
          <a:xfrm>
            <a:off x="303025" y="4725144"/>
            <a:ext cx="4557008"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Trello/Jira (task tracking), </a:t>
            </a:r>
          </a:p>
          <a:p>
            <a:pPr lvl="1"/>
            <a:r>
              <a:rPr lang="en-GB" sz="1800" dirty="0"/>
              <a:t>Git, </a:t>
            </a:r>
          </a:p>
          <a:p>
            <a:pPr lvl="1"/>
            <a:r>
              <a:rPr lang="en-GB" sz="1800" dirty="0"/>
              <a:t>CI/CD platforms, </a:t>
            </a:r>
          </a:p>
          <a:p>
            <a:pPr lvl="1"/>
            <a:r>
              <a:rPr lang="en-GB" sz="1800" dirty="0"/>
              <a:t>system monitoring tools</a:t>
            </a:r>
          </a:p>
          <a:p>
            <a:pPr marL="271462" lvl="1" indent="0">
              <a:buNone/>
            </a:pPr>
            <a:endParaRPr lang="en-GB" sz="1800" dirty="0"/>
          </a:p>
        </p:txBody>
      </p:sp>
      <p:sp>
        <p:nvSpPr>
          <p:cNvPr id="3" name="Content Placeholder 2">
            <a:extLst>
              <a:ext uri="{FF2B5EF4-FFF2-40B4-BE49-F238E27FC236}">
                <a16:creationId xmlns:a16="http://schemas.microsoft.com/office/drawing/2014/main" id="{8439D122-A5F7-E164-DFB9-BB6353F77CCB}"/>
              </a:ext>
            </a:extLst>
          </p:cNvPr>
          <p:cNvSpPr txBox="1">
            <a:spLocks noChangeArrowheads="1"/>
          </p:cNvSpPr>
          <p:nvPr/>
        </p:nvSpPr>
        <p:spPr bwMode="auto">
          <a:xfrm>
            <a:off x="289352" y="3024255"/>
            <a:ext cx="860312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give learners the skills and understanding to manage a product </a:t>
            </a:r>
            <a:r>
              <a:rPr lang="en-GB" sz="1800" b="1" dirty="0"/>
              <a:t>beyond its initial release</a:t>
            </a:r>
            <a:r>
              <a:rPr lang="en-GB" sz="1800" dirty="0"/>
              <a:t>, including configuration, support, bug fixing, updates, and enhancement.</a:t>
            </a:r>
          </a:p>
        </p:txBody>
      </p:sp>
      <p:pic>
        <p:nvPicPr>
          <p:cNvPr id="4" name="Online Media 3" title="💡 SDLC Step 5 &amp; 6:  Deployment and Maintenance Phases in Software Development | Best Practices  💻">
            <a:hlinkClick r:id="" action="ppaction://media"/>
            <a:extLst>
              <a:ext uri="{FF2B5EF4-FFF2-40B4-BE49-F238E27FC236}">
                <a16:creationId xmlns:a16="http://schemas.microsoft.com/office/drawing/2014/main" id="{47C21F74-F7EA-2B51-FAD9-4C377AB1A0A4}"/>
              </a:ext>
            </a:extLst>
          </p:cNvPr>
          <p:cNvPicPr>
            <a:picLocks noRot="1" noChangeAspect="1"/>
          </p:cNvPicPr>
          <p:nvPr>
            <a:videoFile r:link="rId1"/>
          </p:nvPr>
        </p:nvPicPr>
        <p:blipFill>
          <a:blip r:embed="rId4"/>
          <a:stretch>
            <a:fillRect/>
          </a:stretch>
        </p:blipFill>
        <p:spPr>
          <a:xfrm>
            <a:off x="4626920" y="4149080"/>
            <a:ext cx="3672929" cy="2074950"/>
          </a:xfrm>
          <a:prstGeom prst="rect">
            <a:avLst/>
          </a:prstGeom>
        </p:spPr>
      </p:pic>
    </p:spTree>
    <p:extLst>
      <p:ext uri="{BB962C8B-B14F-4D97-AF65-F5344CB8AC3E}">
        <p14:creationId xmlns:p14="http://schemas.microsoft.com/office/powerpoint/2010/main" val="42173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9DB20-D74F-605E-0A3D-6779BC0DD173}"/>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2FA98290-0771-9ABD-D709-0BEADF121ADE}"/>
              </a:ext>
            </a:extLst>
          </p:cNvPr>
          <p:cNvSpPr>
            <a:spLocks noGrp="1" noChangeArrowheads="1"/>
          </p:cNvSpPr>
          <p:nvPr>
            <p:ph type="title"/>
          </p:nvPr>
        </p:nvSpPr>
        <p:spPr>
          <a:xfrm>
            <a:off x="1475656" y="446193"/>
            <a:ext cx="7668344" cy="939800"/>
          </a:xfrm>
        </p:spPr>
        <p:txBody>
          <a:bodyPr/>
          <a:lstStyle/>
          <a:p>
            <a:r>
              <a:rPr lang="en-GB" sz="3200" b="1" dirty="0">
                <a:solidFill>
                  <a:srgbClr val="0070C0"/>
                </a:solidFill>
              </a:rPr>
              <a:t>Install and Configure the Product</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6CEF50C9-23B5-CD97-6303-F3064A53443D}"/>
              </a:ext>
            </a:extLst>
          </p:cNvPr>
          <p:cNvSpPr>
            <a:spLocks noGrp="1" noChangeArrowheads="1"/>
          </p:cNvSpPr>
          <p:nvPr>
            <p:ph idx="1"/>
          </p:nvPr>
        </p:nvSpPr>
        <p:spPr>
          <a:xfrm>
            <a:off x="289352" y="1981289"/>
            <a:ext cx="8675136" cy="939799"/>
          </a:xfrm>
        </p:spPr>
        <p:txBody>
          <a:bodyPr/>
          <a:lstStyle/>
          <a:p>
            <a:r>
              <a:rPr lang="en-GB" sz="1800" dirty="0"/>
              <a:t>Installing and configuring a product involves setting it up on production servers or environments so it’s usable by end-users.</a:t>
            </a:r>
            <a:endParaRPr lang="en-GB" altLang="en-US" sz="1800" dirty="0"/>
          </a:p>
        </p:txBody>
      </p:sp>
      <p:sp>
        <p:nvSpPr>
          <p:cNvPr id="2" name="Content Placeholder 2">
            <a:extLst>
              <a:ext uri="{FF2B5EF4-FFF2-40B4-BE49-F238E27FC236}">
                <a16:creationId xmlns:a16="http://schemas.microsoft.com/office/drawing/2014/main" id="{F16C3C1A-1C8C-D095-2689-FAABD3AB439E}"/>
              </a:ext>
            </a:extLst>
          </p:cNvPr>
          <p:cNvSpPr txBox="1">
            <a:spLocks noChangeArrowheads="1"/>
          </p:cNvSpPr>
          <p:nvPr/>
        </p:nvSpPr>
        <p:spPr bwMode="auto">
          <a:xfrm>
            <a:off x="298819" y="5043655"/>
            <a:ext cx="4557008"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Docker, Ansible, Windows Installer</a:t>
            </a:r>
          </a:p>
          <a:p>
            <a:pPr lvl="1"/>
            <a:r>
              <a:rPr lang="en-GB" sz="1800" dirty="0"/>
              <a:t>Linux CLI, Apache/Nginx,</a:t>
            </a:r>
          </a:p>
          <a:p>
            <a:pPr lvl="1"/>
            <a:r>
              <a:rPr lang="en-GB" sz="1800" dirty="0"/>
              <a:t>Environment Variables (.env)</a:t>
            </a:r>
          </a:p>
          <a:p>
            <a:pPr marL="271462" lvl="1" indent="0">
              <a:buNone/>
            </a:pPr>
            <a:endParaRPr lang="en-GB" sz="1800" dirty="0"/>
          </a:p>
        </p:txBody>
      </p:sp>
      <p:sp>
        <p:nvSpPr>
          <p:cNvPr id="3" name="Content Placeholder 2">
            <a:extLst>
              <a:ext uri="{FF2B5EF4-FFF2-40B4-BE49-F238E27FC236}">
                <a16:creationId xmlns:a16="http://schemas.microsoft.com/office/drawing/2014/main" id="{6FBE1A07-C4E4-4914-A558-CE17F295D892}"/>
              </a:ext>
            </a:extLst>
          </p:cNvPr>
          <p:cNvSpPr txBox="1">
            <a:spLocks noChangeArrowheads="1"/>
          </p:cNvSpPr>
          <p:nvPr/>
        </p:nvSpPr>
        <p:spPr bwMode="auto">
          <a:xfrm>
            <a:off x="289352" y="3024255"/>
            <a:ext cx="860312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Ensure the product runs reliably and securely in the user’s environment, considering dependencies, permissions, and performance.</a:t>
            </a:r>
          </a:p>
        </p:txBody>
      </p:sp>
      <p:pic>
        <p:nvPicPr>
          <p:cNvPr id="4" name="Online Media 3" title="Ship Your Product! Let's Build An Installer In Visual Studio">
            <a:hlinkClick r:id="" action="ppaction://media"/>
            <a:extLst>
              <a:ext uri="{FF2B5EF4-FFF2-40B4-BE49-F238E27FC236}">
                <a16:creationId xmlns:a16="http://schemas.microsoft.com/office/drawing/2014/main" id="{E954BEB4-B505-5461-BDE4-2795EE7ECFA9}"/>
              </a:ext>
            </a:extLst>
          </p:cNvPr>
          <p:cNvPicPr>
            <a:picLocks noRot="1" noChangeAspect="1"/>
          </p:cNvPicPr>
          <p:nvPr>
            <a:videoFile r:link="rId1"/>
          </p:nvPr>
        </p:nvPicPr>
        <p:blipFill>
          <a:blip r:embed="rId4"/>
          <a:stretch>
            <a:fillRect/>
          </a:stretch>
        </p:blipFill>
        <p:spPr>
          <a:xfrm>
            <a:off x="4855827" y="4365104"/>
            <a:ext cx="3779912" cy="2135388"/>
          </a:xfrm>
          <a:prstGeom prst="rect">
            <a:avLst/>
          </a:prstGeom>
        </p:spPr>
      </p:pic>
    </p:spTree>
    <p:extLst>
      <p:ext uri="{BB962C8B-B14F-4D97-AF65-F5344CB8AC3E}">
        <p14:creationId xmlns:p14="http://schemas.microsoft.com/office/powerpoint/2010/main" val="237161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A39CD-0AE3-A09C-777E-122CC816B3C0}"/>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BA7F72D2-6341-4778-E5ED-F276E209F3BF}"/>
              </a:ext>
            </a:extLst>
          </p:cNvPr>
          <p:cNvSpPr>
            <a:spLocks noGrp="1" noChangeArrowheads="1"/>
          </p:cNvSpPr>
          <p:nvPr>
            <p:ph type="title"/>
          </p:nvPr>
        </p:nvSpPr>
        <p:spPr>
          <a:xfrm>
            <a:off x="1475656" y="446193"/>
            <a:ext cx="7668344" cy="939800"/>
          </a:xfrm>
        </p:spPr>
        <p:txBody>
          <a:bodyPr/>
          <a:lstStyle/>
          <a:p>
            <a:r>
              <a:rPr lang="en-GB" sz="3200" b="1" dirty="0">
                <a:solidFill>
                  <a:srgbClr val="0070C0"/>
                </a:solidFill>
              </a:rPr>
              <a:t>Update the Product</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39962969-F069-1B32-D170-9478D8964CA3}"/>
              </a:ext>
            </a:extLst>
          </p:cNvPr>
          <p:cNvSpPr>
            <a:spLocks noGrp="1" noChangeArrowheads="1"/>
          </p:cNvSpPr>
          <p:nvPr>
            <p:ph idx="1"/>
          </p:nvPr>
        </p:nvSpPr>
        <p:spPr>
          <a:xfrm>
            <a:off x="289352" y="1981289"/>
            <a:ext cx="8675136" cy="939799"/>
          </a:xfrm>
        </p:spPr>
        <p:txBody>
          <a:bodyPr/>
          <a:lstStyle/>
          <a:p>
            <a:r>
              <a:rPr lang="en-GB" sz="1800" dirty="0"/>
              <a:t>Product updates include patches, improvements, and new features delivered after deployment.</a:t>
            </a:r>
            <a:endParaRPr lang="en-GB" altLang="en-US" sz="1800" dirty="0"/>
          </a:p>
        </p:txBody>
      </p:sp>
      <p:sp>
        <p:nvSpPr>
          <p:cNvPr id="2" name="Content Placeholder 2">
            <a:extLst>
              <a:ext uri="{FF2B5EF4-FFF2-40B4-BE49-F238E27FC236}">
                <a16:creationId xmlns:a16="http://schemas.microsoft.com/office/drawing/2014/main" id="{1A665E11-1B43-02D8-899F-71DBFE563435}"/>
              </a:ext>
            </a:extLst>
          </p:cNvPr>
          <p:cNvSpPr txBox="1">
            <a:spLocks noChangeArrowheads="1"/>
          </p:cNvSpPr>
          <p:nvPr/>
        </p:nvSpPr>
        <p:spPr bwMode="auto">
          <a:xfrm>
            <a:off x="329335" y="4511102"/>
            <a:ext cx="4557008"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Git, Version Control,</a:t>
            </a:r>
          </a:p>
          <a:p>
            <a:pPr lvl="1"/>
            <a:r>
              <a:rPr lang="en-GB" sz="1800" dirty="0"/>
              <a:t>CI/CD (GitHub Actions, Jenkins), </a:t>
            </a:r>
          </a:p>
          <a:p>
            <a:pPr lvl="1"/>
            <a:r>
              <a:rPr lang="en-GB" sz="1800" dirty="0"/>
              <a:t>Semantic Versioning, </a:t>
            </a:r>
          </a:p>
          <a:p>
            <a:pPr lvl="1"/>
            <a:r>
              <a:rPr lang="en-GB" sz="1800" dirty="0"/>
              <a:t>Patch management tools</a:t>
            </a:r>
          </a:p>
        </p:txBody>
      </p:sp>
      <p:sp>
        <p:nvSpPr>
          <p:cNvPr id="3" name="Content Placeholder 2">
            <a:extLst>
              <a:ext uri="{FF2B5EF4-FFF2-40B4-BE49-F238E27FC236}">
                <a16:creationId xmlns:a16="http://schemas.microsoft.com/office/drawing/2014/main" id="{F93C9738-335B-D3DC-6D27-278EC525FDF9}"/>
              </a:ext>
            </a:extLst>
          </p:cNvPr>
          <p:cNvSpPr txBox="1">
            <a:spLocks noChangeArrowheads="1"/>
          </p:cNvSpPr>
          <p:nvPr/>
        </p:nvSpPr>
        <p:spPr bwMode="auto">
          <a:xfrm>
            <a:off x="289352" y="3024255"/>
            <a:ext cx="4066624"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Keep the software secure, compatible, and aligned with evolving user or business needs.</a:t>
            </a:r>
          </a:p>
        </p:txBody>
      </p:sp>
      <p:pic>
        <p:nvPicPr>
          <p:cNvPr id="4" name="Online Media 3" title="How To Publish App On Microsoft Store Tutorial">
            <a:hlinkClick r:id="" action="ppaction://media"/>
            <a:extLst>
              <a:ext uri="{FF2B5EF4-FFF2-40B4-BE49-F238E27FC236}">
                <a16:creationId xmlns:a16="http://schemas.microsoft.com/office/drawing/2014/main" id="{3932D921-F483-2503-462E-B79101460D07}"/>
              </a:ext>
            </a:extLst>
          </p:cNvPr>
          <p:cNvPicPr>
            <a:picLocks noRot="1" noChangeAspect="1"/>
          </p:cNvPicPr>
          <p:nvPr>
            <a:videoFile r:link="rId1"/>
          </p:nvPr>
        </p:nvPicPr>
        <p:blipFill>
          <a:blip r:embed="rId5"/>
          <a:stretch>
            <a:fillRect/>
          </a:stretch>
        </p:blipFill>
        <p:spPr>
          <a:xfrm>
            <a:off x="5578640" y="2451188"/>
            <a:ext cx="2741543" cy="2056157"/>
          </a:xfrm>
          <a:prstGeom prst="rect">
            <a:avLst/>
          </a:prstGeom>
        </p:spPr>
      </p:pic>
      <p:pic>
        <p:nvPicPr>
          <p:cNvPr id="5" name="Online Media 4" title="How to Publish App on Google Play Store 2023 [Common Guide]">
            <a:hlinkClick r:id="" action="ppaction://media"/>
            <a:extLst>
              <a:ext uri="{FF2B5EF4-FFF2-40B4-BE49-F238E27FC236}">
                <a16:creationId xmlns:a16="http://schemas.microsoft.com/office/drawing/2014/main" id="{ED4C0672-C617-C865-8C44-5FE106AABA10}"/>
              </a:ext>
            </a:extLst>
          </p:cNvPr>
          <p:cNvPicPr>
            <a:picLocks noRot="1" noChangeAspect="1"/>
          </p:cNvPicPr>
          <p:nvPr>
            <a:videoFile r:link="rId2"/>
          </p:nvPr>
        </p:nvPicPr>
        <p:blipFill>
          <a:blip r:embed="rId6"/>
          <a:stretch>
            <a:fillRect/>
          </a:stretch>
        </p:blipFill>
        <p:spPr>
          <a:xfrm>
            <a:off x="5574873" y="4810535"/>
            <a:ext cx="3060174" cy="1728786"/>
          </a:xfrm>
          <a:prstGeom prst="rect">
            <a:avLst/>
          </a:prstGeom>
        </p:spPr>
      </p:pic>
    </p:spTree>
    <p:extLst>
      <p:ext uri="{BB962C8B-B14F-4D97-AF65-F5344CB8AC3E}">
        <p14:creationId xmlns:p14="http://schemas.microsoft.com/office/powerpoint/2010/main" val="123867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C4AC0-0EFC-2D86-4FE8-35301DBE9F7E}"/>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3B942222-EB81-7814-77DF-76EE1C0F8EB1}"/>
              </a:ext>
            </a:extLst>
          </p:cNvPr>
          <p:cNvSpPr>
            <a:spLocks noGrp="1" noChangeArrowheads="1"/>
          </p:cNvSpPr>
          <p:nvPr>
            <p:ph type="title"/>
          </p:nvPr>
        </p:nvSpPr>
        <p:spPr>
          <a:xfrm>
            <a:off x="1270745" y="358288"/>
            <a:ext cx="6541615" cy="939800"/>
          </a:xfrm>
        </p:spPr>
        <p:txBody>
          <a:bodyPr/>
          <a:lstStyle/>
          <a:p>
            <a:r>
              <a:rPr lang="en-GB" sz="3200" b="1" dirty="0">
                <a:solidFill>
                  <a:srgbClr val="0070C0"/>
                </a:solidFill>
              </a:rPr>
              <a:t>Maintain the Product</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6EC4FE61-E8F4-8DA5-C8FB-B39D8670EB07}"/>
              </a:ext>
            </a:extLst>
          </p:cNvPr>
          <p:cNvSpPr>
            <a:spLocks noGrp="1" noChangeArrowheads="1"/>
          </p:cNvSpPr>
          <p:nvPr>
            <p:ph idx="1"/>
          </p:nvPr>
        </p:nvSpPr>
        <p:spPr>
          <a:xfrm>
            <a:off x="257652" y="1684806"/>
            <a:ext cx="8675136" cy="666639"/>
          </a:xfrm>
        </p:spPr>
        <p:txBody>
          <a:bodyPr/>
          <a:lstStyle/>
          <a:p>
            <a:r>
              <a:rPr lang="en-GB" sz="1800" dirty="0"/>
              <a:t>Maintenance ensures the product continues to perform as expected over time by managing updates, monitoring performance, and fixing issues.</a:t>
            </a:r>
            <a:endParaRPr lang="en-GB" altLang="en-US" sz="1800" dirty="0"/>
          </a:p>
        </p:txBody>
      </p:sp>
      <p:sp>
        <p:nvSpPr>
          <p:cNvPr id="2" name="Content Placeholder 2">
            <a:extLst>
              <a:ext uri="{FF2B5EF4-FFF2-40B4-BE49-F238E27FC236}">
                <a16:creationId xmlns:a16="http://schemas.microsoft.com/office/drawing/2014/main" id="{B5F8E2C9-6080-A77F-9079-E45D3684871D}"/>
              </a:ext>
            </a:extLst>
          </p:cNvPr>
          <p:cNvSpPr txBox="1">
            <a:spLocks noChangeArrowheads="1"/>
          </p:cNvSpPr>
          <p:nvPr/>
        </p:nvSpPr>
        <p:spPr bwMode="auto">
          <a:xfrm>
            <a:off x="395536" y="5405642"/>
            <a:ext cx="7272808" cy="1296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600" dirty="0"/>
              <a:t>Log monitoring (ELK Stack), </a:t>
            </a:r>
          </a:p>
          <a:p>
            <a:pPr lvl="1"/>
            <a:r>
              <a:rPr lang="en-GB" sz="1600" dirty="0"/>
              <a:t>Application Performance Monitoring (New Relic, Datadog),</a:t>
            </a:r>
          </a:p>
          <a:p>
            <a:pPr lvl="1"/>
            <a:r>
              <a:rPr lang="en-GB" sz="1600" dirty="0"/>
              <a:t>SLA documents</a:t>
            </a:r>
          </a:p>
        </p:txBody>
      </p:sp>
      <p:sp>
        <p:nvSpPr>
          <p:cNvPr id="3" name="Content Placeholder 2">
            <a:extLst>
              <a:ext uri="{FF2B5EF4-FFF2-40B4-BE49-F238E27FC236}">
                <a16:creationId xmlns:a16="http://schemas.microsoft.com/office/drawing/2014/main" id="{D9027F67-E618-ADCA-9841-8B330E500D95}"/>
              </a:ext>
            </a:extLst>
          </p:cNvPr>
          <p:cNvSpPr txBox="1">
            <a:spLocks noChangeArrowheads="1"/>
          </p:cNvSpPr>
          <p:nvPr/>
        </p:nvSpPr>
        <p:spPr bwMode="auto">
          <a:xfrm>
            <a:off x="239988" y="2351445"/>
            <a:ext cx="8603128" cy="301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Sustain the product’s reliability and extend its useful life.</a:t>
            </a:r>
          </a:p>
        </p:txBody>
      </p:sp>
      <p:sp>
        <p:nvSpPr>
          <p:cNvPr id="4" name="Content Placeholder 2">
            <a:extLst>
              <a:ext uri="{FF2B5EF4-FFF2-40B4-BE49-F238E27FC236}">
                <a16:creationId xmlns:a16="http://schemas.microsoft.com/office/drawing/2014/main" id="{580528AB-50BE-A900-05F8-1F6648ACD407}"/>
              </a:ext>
            </a:extLst>
          </p:cNvPr>
          <p:cNvSpPr txBox="1">
            <a:spLocks noChangeArrowheads="1"/>
          </p:cNvSpPr>
          <p:nvPr/>
        </p:nvSpPr>
        <p:spPr bwMode="auto">
          <a:xfrm>
            <a:off x="257652" y="3252794"/>
            <a:ext cx="4852388" cy="2101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400" dirty="0"/>
              <a:t>Bug Fixing</a:t>
            </a:r>
          </a:p>
          <a:p>
            <a:pPr lvl="1"/>
            <a:r>
              <a:rPr lang="en-GB" sz="1400" dirty="0"/>
              <a:t>Managing Technical Debt</a:t>
            </a:r>
          </a:p>
          <a:p>
            <a:pPr lvl="1"/>
            <a:r>
              <a:rPr lang="en-GB" sz="1400" dirty="0"/>
              <a:t>Handling Changing Requirements</a:t>
            </a:r>
          </a:p>
          <a:p>
            <a:pPr lvl="1"/>
            <a:r>
              <a:rPr lang="en-GB" sz="1400" dirty="0"/>
              <a:t>Users’ needs evolve, or new business goals arise, requiring updates and new features.</a:t>
            </a:r>
          </a:p>
          <a:p>
            <a:pPr lvl="1"/>
            <a:r>
              <a:rPr lang="en-GB" sz="1400" dirty="0"/>
              <a:t>Compatibility Issues</a:t>
            </a:r>
          </a:p>
          <a:p>
            <a:pPr lvl="1"/>
            <a:r>
              <a:rPr lang="en-GB" sz="1400" dirty="0"/>
              <a:t>Performance Optimization</a:t>
            </a:r>
          </a:p>
          <a:p>
            <a:pPr lvl="1"/>
            <a:r>
              <a:rPr lang="en-GB" sz="1400" dirty="0"/>
              <a:t>Security Vulnerabilities</a:t>
            </a:r>
            <a:endParaRPr lang="en-GB" sz="1800" dirty="0"/>
          </a:p>
          <a:p>
            <a:pPr lvl="1"/>
            <a:endParaRPr lang="en-GB" sz="1800" dirty="0"/>
          </a:p>
          <a:p>
            <a:pPr lvl="1"/>
            <a:endParaRPr lang="en-GB" sz="1800" dirty="0"/>
          </a:p>
        </p:txBody>
      </p:sp>
      <p:sp>
        <p:nvSpPr>
          <p:cNvPr id="5" name="Content Placeholder 2">
            <a:extLst>
              <a:ext uri="{FF2B5EF4-FFF2-40B4-BE49-F238E27FC236}">
                <a16:creationId xmlns:a16="http://schemas.microsoft.com/office/drawing/2014/main" id="{7F2E7CE5-6E75-9F61-0CAD-8C08BA5D3FFB}"/>
              </a:ext>
            </a:extLst>
          </p:cNvPr>
          <p:cNvSpPr txBox="1">
            <a:spLocks noChangeArrowheads="1"/>
          </p:cNvSpPr>
          <p:nvPr/>
        </p:nvSpPr>
        <p:spPr bwMode="auto">
          <a:xfrm>
            <a:off x="4716016" y="3216288"/>
            <a:ext cx="3669449" cy="2101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400" dirty="0"/>
              <a:t>Documentation Updates</a:t>
            </a:r>
          </a:p>
          <a:p>
            <a:pPr lvl="1"/>
            <a:r>
              <a:rPr lang="en-GB" sz="1400" dirty="0"/>
              <a:t>Regression Testing</a:t>
            </a:r>
          </a:p>
          <a:p>
            <a:pPr lvl="1"/>
            <a:r>
              <a:rPr lang="en-GB" sz="1400" dirty="0"/>
              <a:t>Dependency Management</a:t>
            </a:r>
          </a:p>
          <a:p>
            <a:pPr lvl="1"/>
            <a:r>
              <a:rPr lang="en-GB" sz="1400" dirty="0"/>
              <a:t>Knowledge Transfer and Team Turnover</a:t>
            </a:r>
          </a:p>
          <a:p>
            <a:pPr lvl="1"/>
            <a:r>
              <a:rPr lang="en-GB" sz="1400" dirty="0"/>
              <a:t>User Support and Feedback Handling</a:t>
            </a:r>
          </a:p>
          <a:p>
            <a:pPr lvl="1"/>
            <a:r>
              <a:rPr lang="en-GB" sz="1400" dirty="0"/>
              <a:t>Resource Constraints</a:t>
            </a:r>
          </a:p>
          <a:p>
            <a:pPr lvl="1"/>
            <a:endParaRPr lang="en-GB" sz="1800" dirty="0"/>
          </a:p>
        </p:txBody>
      </p:sp>
      <p:sp>
        <p:nvSpPr>
          <p:cNvPr id="6" name="Content Placeholder 2">
            <a:extLst>
              <a:ext uri="{FF2B5EF4-FFF2-40B4-BE49-F238E27FC236}">
                <a16:creationId xmlns:a16="http://schemas.microsoft.com/office/drawing/2014/main" id="{B405FD98-8547-B0B5-D1BC-87BE0B63C58D}"/>
              </a:ext>
            </a:extLst>
          </p:cNvPr>
          <p:cNvSpPr txBox="1">
            <a:spLocks noChangeArrowheads="1"/>
          </p:cNvSpPr>
          <p:nvPr/>
        </p:nvSpPr>
        <p:spPr bwMode="auto">
          <a:xfrm>
            <a:off x="270436" y="2860298"/>
            <a:ext cx="8603128" cy="301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Issues required to keep the product performing</a:t>
            </a:r>
            <a:endParaRPr lang="en-GB" sz="1800" dirty="0"/>
          </a:p>
        </p:txBody>
      </p:sp>
      <p:pic>
        <p:nvPicPr>
          <p:cNvPr id="6146" name="Picture 2" descr="What Is Application Lifecycle Management (ALM)? | Definition from TechTarget">
            <a:extLst>
              <a:ext uri="{FF2B5EF4-FFF2-40B4-BE49-F238E27FC236}">
                <a16:creationId xmlns:a16="http://schemas.microsoft.com/office/drawing/2014/main" id="{239C37C8-B89A-2F66-7C12-473E0F446F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8880" y="5317395"/>
            <a:ext cx="2306960" cy="1182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668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D1144-29E9-EE65-D7BC-FBAA9C93C1AB}"/>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B4799AF7-B534-0794-7BA6-481745BC7A54}"/>
              </a:ext>
            </a:extLst>
          </p:cNvPr>
          <p:cNvSpPr>
            <a:spLocks noGrp="1" noChangeArrowheads="1"/>
          </p:cNvSpPr>
          <p:nvPr>
            <p:ph type="title"/>
          </p:nvPr>
        </p:nvSpPr>
        <p:spPr>
          <a:xfrm>
            <a:off x="1475656" y="446193"/>
            <a:ext cx="7668344" cy="939800"/>
          </a:xfrm>
        </p:spPr>
        <p:txBody>
          <a:bodyPr/>
          <a:lstStyle/>
          <a:p>
            <a:r>
              <a:rPr lang="en-GB" sz="3200" b="1" dirty="0">
                <a:solidFill>
                  <a:srgbClr val="0070C0"/>
                </a:solidFill>
              </a:rPr>
              <a:t>Provide System Support</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6DAEA362-B119-2C16-8684-7D05F3DD1173}"/>
              </a:ext>
            </a:extLst>
          </p:cNvPr>
          <p:cNvSpPr>
            <a:spLocks noGrp="1" noChangeArrowheads="1"/>
          </p:cNvSpPr>
          <p:nvPr>
            <p:ph idx="1"/>
          </p:nvPr>
        </p:nvSpPr>
        <p:spPr>
          <a:xfrm>
            <a:off x="289352" y="1981289"/>
            <a:ext cx="8675136" cy="939799"/>
          </a:xfrm>
        </p:spPr>
        <p:txBody>
          <a:bodyPr/>
          <a:lstStyle/>
          <a:p>
            <a:r>
              <a:rPr lang="en-GB" sz="1800" dirty="0"/>
              <a:t>System support involves handling server-side issues, database management, network concerns, and uptime guarantees.</a:t>
            </a:r>
            <a:endParaRPr lang="en-GB" altLang="en-US" sz="1800" dirty="0"/>
          </a:p>
        </p:txBody>
      </p:sp>
      <p:sp>
        <p:nvSpPr>
          <p:cNvPr id="2" name="Content Placeholder 2">
            <a:extLst>
              <a:ext uri="{FF2B5EF4-FFF2-40B4-BE49-F238E27FC236}">
                <a16:creationId xmlns:a16="http://schemas.microsoft.com/office/drawing/2014/main" id="{5FCEA12B-4FAC-133A-384E-52919588FC38}"/>
              </a:ext>
            </a:extLst>
          </p:cNvPr>
          <p:cNvSpPr txBox="1">
            <a:spLocks noChangeArrowheads="1"/>
          </p:cNvSpPr>
          <p:nvPr/>
        </p:nvSpPr>
        <p:spPr bwMode="auto">
          <a:xfrm>
            <a:off x="289352" y="5043655"/>
            <a:ext cx="4282648"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SSH, AWS/Azure portals, </a:t>
            </a:r>
          </a:p>
          <a:p>
            <a:pPr lvl="1"/>
            <a:r>
              <a:rPr lang="en-GB" sz="1800" dirty="0"/>
              <a:t>Kubernetes, system logs,</a:t>
            </a:r>
          </a:p>
          <a:p>
            <a:pPr lvl="1"/>
            <a:r>
              <a:rPr lang="en-GB" sz="1800" dirty="0"/>
              <a:t>backup tools</a:t>
            </a:r>
          </a:p>
        </p:txBody>
      </p:sp>
      <p:sp>
        <p:nvSpPr>
          <p:cNvPr id="3" name="Content Placeholder 2">
            <a:extLst>
              <a:ext uri="{FF2B5EF4-FFF2-40B4-BE49-F238E27FC236}">
                <a16:creationId xmlns:a16="http://schemas.microsoft.com/office/drawing/2014/main" id="{9FFEE35D-F30E-8A89-17A1-36675013783A}"/>
              </a:ext>
            </a:extLst>
          </p:cNvPr>
          <p:cNvSpPr txBox="1">
            <a:spLocks noChangeArrowheads="1"/>
          </p:cNvSpPr>
          <p:nvPr/>
        </p:nvSpPr>
        <p:spPr bwMode="auto">
          <a:xfrm>
            <a:off x="289352" y="3024255"/>
            <a:ext cx="860312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Ensure infrastructure stability and resolve technical faults at the system level.</a:t>
            </a:r>
          </a:p>
        </p:txBody>
      </p:sp>
      <p:pic>
        <p:nvPicPr>
          <p:cNvPr id="7170" name="Picture 2">
            <a:extLst>
              <a:ext uri="{FF2B5EF4-FFF2-40B4-BE49-F238E27FC236}">
                <a16:creationId xmlns:a16="http://schemas.microsoft.com/office/drawing/2014/main" id="{DAC80279-EFC3-E94B-C2D9-CABA1418D4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0676" y="3522549"/>
            <a:ext cx="2232248" cy="1521106"/>
          </a:xfrm>
          <a:prstGeom prst="rect">
            <a:avLst/>
          </a:prstGeom>
          <a:noFill/>
          <a:extLst>
            <a:ext uri="{909E8E84-426E-40DD-AFC4-6F175D3DCCD1}">
              <a14:hiddenFill xmlns:a14="http://schemas.microsoft.com/office/drawing/2010/main">
                <a:solidFill>
                  <a:srgbClr val="FFFFFF"/>
                </a:solidFill>
              </a14:hiddenFill>
            </a:ext>
          </a:extLst>
        </p:spPr>
      </p:pic>
      <p:pic>
        <p:nvPicPr>
          <p:cNvPr id="4" name="Online Media 3" title="What Is ITIL? | ITIL Explained For Beginners | ITIL Introduction | ITIL 4 Foundation">
            <a:hlinkClick r:id="" action="ppaction://media"/>
            <a:extLst>
              <a:ext uri="{FF2B5EF4-FFF2-40B4-BE49-F238E27FC236}">
                <a16:creationId xmlns:a16="http://schemas.microsoft.com/office/drawing/2014/main" id="{A61FDE3D-D9F5-0A44-EEED-22A55106B457}"/>
              </a:ext>
            </a:extLst>
          </p:cNvPr>
          <p:cNvPicPr>
            <a:picLocks noRot="1" noChangeAspect="1"/>
          </p:cNvPicPr>
          <p:nvPr>
            <a:videoFile r:link="rId1"/>
          </p:nvPr>
        </p:nvPicPr>
        <p:blipFill>
          <a:blip r:embed="rId5"/>
          <a:stretch>
            <a:fillRect/>
          </a:stretch>
        </p:blipFill>
        <p:spPr>
          <a:xfrm>
            <a:off x="4896544" y="4221088"/>
            <a:ext cx="4067944" cy="2298106"/>
          </a:xfrm>
          <a:prstGeom prst="rect">
            <a:avLst/>
          </a:prstGeom>
        </p:spPr>
      </p:pic>
    </p:spTree>
    <p:extLst>
      <p:ext uri="{BB962C8B-B14F-4D97-AF65-F5344CB8AC3E}">
        <p14:creationId xmlns:p14="http://schemas.microsoft.com/office/powerpoint/2010/main" val="147921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F34A9-5C52-88E2-4551-30D9D33920E9}"/>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D3488D2-201F-496A-9B2D-46F8550E04CE}"/>
              </a:ext>
            </a:extLst>
          </p:cNvPr>
          <p:cNvSpPr>
            <a:spLocks noGrp="1" noChangeArrowheads="1"/>
          </p:cNvSpPr>
          <p:nvPr>
            <p:ph type="title"/>
          </p:nvPr>
        </p:nvSpPr>
        <p:spPr>
          <a:xfrm>
            <a:off x="1475656" y="446193"/>
            <a:ext cx="7668344" cy="939800"/>
          </a:xfrm>
        </p:spPr>
        <p:txBody>
          <a:bodyPr/>
          <a:lstStyle/>
          <a:p>
            <a:r>
              <a:rPr lang="en-GB" sz="3200" b="1" dirty="0">
                <a:solidFill>
                  <a:srgbClr val="0070C0"/>
                </a:solidFill>
              </a:rPr>
              <a:t>Provide User Support</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380D560D-0E9E-0DB7-1C3C-D21C53AF15A2}"/>
              </a:ext>
            </a:extLst>
          </p:cNvPr>
          <p:cNvSpPr>
            <a:spLocks noGrp="1" noChangeArrowheads="1"/>
          </p:cNvSpPr>
          <p:nvPr>
            <p:ph idx="1"/>
          </p:nvPr>
        </p:nvSpPr>
        <p:spPr>
          <a:xfrm>
            <a:off x="289352" y="1981289"/>
            <a:ext cx="8675136" cy="939799"/>
          </a:xfrm>
        </p:spPr>
        <p:txBody>
          <a:bodyPr/>
          <a:lstStyle/>
          <a:p>
            <a:r>
              <a:rPr lang="en-GB" sz="1800" dirty="0"/>
              <a:t>User support includes helping end-users understand, navigate, and resolve issues with the product.</a:t>
            </a:r>
            <a:endParaRPr lang="en-GB" altLang="en-US" sz="1800" dirty="0"/>
          </a:p>
        </p:txBody>
      </p:sp>
      <p:sp>
        <p:nvSpPr>
          <p:cNvPr id="2" name="Content Placeholder 2">
            <a:extLst>
              <a:ext uri="{FF2B5EF4-FFF2-40B4-BE49-F238E27FC236}">
                <a16:creationId xmlns:a16="http://schemas.microsoft.com/office/drawing/2014/main" id="{05BB6287-3969-DF27-14AA-F9C56A854890}"/>
              </a:ext>
            </a:extLst>
          </p:cNvPr>
          <p:cNvSpPr txBox="1">
            <a:spLocks noChangeArrowheads="1"/>
          </p:cNvSpPr>
          <p:nvPr/>
        </p:nvSpPr>
        <p:spPr bwMode="auto">
          <a:xfrm>
            <a:off x="289352" y="5043655"/>
            <a:ext cx="7422838"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Helpdesk platforms (Zendesk, Freshdesk), </a:t>
            </a:r>
          </a:p>
          <a:p>
            <a:pPr lvl="1"/>
            <a:r>
              <a:rPr lang="en-GB" sz="1800" dirty="0"/>
              <a:t>FAQ pages, Chatbots, </a:t>
            </a:r>
          </a:p>
          <a:p>
            <a:pPr lvl="1"/>
            <a:r>
              <a:rPr lang="en-GB" sz="1800" dirty="0"/>
              <a:t>Email support tools</a:t>
            </a:r>
          </a:p>
        </p:txBody>
      </p:sp>
      <p:sp>
        <p:nvSpPr>
          <p:cNvPr id="3" name="Content Placeholder 2">
            <a:extLst>
              <a:ext uri="{FF2B5EF4-FFF2-40B4-BE49-F238E27FC236}">
                <a16:creationId xmlns:a16="http://schemas.microsoft.com/office/drawing/2014/main" id="{8B6845A4-BCE0-1881-AAE7-FEAF2341FD66}"/>
              </a:ext>
            </a:extLst>
          </p:cNvPr>
          <p:cNvSpPr txBox="1">
            <a:spLocks noChangeArrowheads="1"/>
          </p:cNvSpPr>
          <p:nvPr/>
        </p:nvSpPr>
        <p:spPr bwMode="auto">
          <a:xfrm>
            <a:off x="289352" y="3024255"/>
            <a:ext cx="860312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Maintain user satisfaction and ensure continued adoption of the product.</a:t>
            </a:r>
          </a:p>
        </p:txBody>
      </p:sp>
      <p:pic>
        <p:nvPicPr>
          <p:cNvPr id="5122" name="Picture 2" descr="Top Customer Service Challenges ...">
            <a:extLst>
              <a:ext uri="{FF2B5EF4-FFF2-40B4-BE49-F238E27FC236}">
                <a16:creationId xmlns:a16="http://schemas.microsoft.com/office/drawing/2014/main" id="{ECD6763D-1247-9B8A-41A8-4BB7788EBE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3724" y="3595624"/>
            <a:ext cx="1933196" cy="1448031"/>
          </a:xfrm>
          <a:prstGeom prst="rect">
            <a:avLst/>
          </a:prstGeom>
          <a:noFill/>
          <a:extLst>
            <a:ext uri="{909E8E84-426E-40DD-AFC4-6F175D3DCCD1}">
              <a14:hiddenFill xmlns:a14="http://schemas.microsoft.com/office/drawing/2010/main">
                <a:solidFill>
                  <a:srgbClr val="FFFFFF"/>
                </a:solidFill>
              </a14:hiddenFill>
            </a:ext>
          </a:extLst>
        </p:spPr>
      </p:pic>
      <p:pic>
        <p:nvPicPr>
          <p:cNvPr id="4" name="Online Media 3" title="IT Help Desk/End User Support">
            <a:hlinkClick r:id="" action="ppaction://media"/>
            <a:extLst>
              <a:ext uri="{FF2B5EF4-FFF2-40B4-BE49-F238E27FC236}">
                <a16:creationId xmlns:a16="http://schemas.microsoft.com/office/drawing/2014/main" id="{A0C1415B-BB46-DFE0-47E2-C6EA2A40B913}"/>
              </a:ext>
            </a:extLst>
          </p:cNvPr>
          <p:cNvPicPr>
            <a:picLocks noRot="1" noChangeAspect="1"/>
          </p:cNvPicPr>
          <p:nvPr>
            <a:videoFile r:link="rId1"/>
          </p:nvPr>
        </p:nvPicPr>
        <p:blipFill>
          <a:blip r:embed="rId5"/>
          <a:stretch>
            <a:fillRect/>
          </a:stretch>
        </p:blipFill>
        <p:spPr>
          <a:xfrm>
            <a:off x="5498895" y="4323464"/>
            <a:ext cx="3491880" cy="1972670"/>
          </a:xfrm>
          <a:prstGeom prst="rect">
            <a:avLst/>
          </a:prstGeom>
        </p:spPr>
      </p:pic>
    </p:spTree>
    <p:extLst>
      <p:ext uri="{BB962C8B-B14F-4D97-AF65-F5344CB8AC3E}">
        <p14:creationId xmlns:p14="http://schemas.microsoft.com/office/powerpoint/2010/main" val="387540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1D463-491B-1D78-DA35-F3028651E948}"/>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6D5B787E-C970-88D4-5846-9B45D06CF0C7}"/>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Carry Out Bug Fixing</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21CAE2C1-BCFE-4E38-FB0F-5BBD5CF2674C}"/>
              </a:ext>
            </a:extLst>
          </p:cNvPr>
          <p:cNvSpPr>
            <a:spLocks noGrp="1" noChangeArrowheads="1"/>
          </p:cNvSpPr>
          <p:nvPr>
            <p:ph idx="1"/>
          </p:nvPr>
        </p:nvSpPr>
        <p:spPr>
          <a:xfrm>
            <a:off x="289352" y="1981289"/>
            <a:ext cx="8675136" cy="939799"/>
          </a:xfrm>
        </p:spPr>
        <p:txBody>
          <a:bodyPr/>
          <a:lstStyle/>
          <a:p>
            <a:r>
              <a:rPr lang="en-GB" sz="1800" dirty="0"/>
              <a:t>Bug fixing is the process of identifying and resolving software defects that affect usability or performance.</a:t>
            </a:r>
            <a:endParaRPr lang="en-GB" altLang="en-US" sz="1800" dirty="0"/>
          </a:p>
        </p:txBody>
      </p:sp>
      <p:sp>
        <p:nvSpPr>
          <p:cNvPr id="2" name="Content Placeholder 2">
            <a:extLst>
              <a:ext uri="{FF2B5EF4-FFF2-40B4-BE49-F238E27FC236}">
                <a16:creationId xmlns:a16="http://schemas.microsoft.com/office/drawing/2014/main" id="{FB6CBB86-9616-4328-8934-4D30F4083873}"/>
              </a:ext>
            </a:extLst>
          </p:cNvPr>
          <p:cNvSpPr txBox="1">
            <a:spLocks noChangeArrowheads="1"/>
          </p:cNvSpPr>
          <p:nvPr/>
        </p:nvSpPr>
        <p:spPr bwMode="auto">
          <a:xfrm>
            <a:off x="289352" y="5043655"/>
            <a:ext cx="7422838"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Jira (bug tracking), Git (issue branches), </a:t>
            </a:r>
          </a:p>
          <a:p>
            <a:pPr lvl="1"/>
            <a:r>
              <a:rPr lang="en-GB" sz="1800" dirty="0"/>
              <a:t>Debugging tools (browser dev tools, IDE debuggers), </a:t>
            </a:r>
          </a:p>
          <a:p>
            <a:pPr lvl="1"/>
            <a:r>
              <a:rPr lang="en-GB" sz="1800" dirty="0"/>
              <a:t>Postman</a:t>
            </a:r>
          </a:p>
        </p:txBody>
      </p:sp>
      <p:sp>
        <p:nvSpPr>
          <p:cNvPr id="3" name="Content Placeholder 2">
            <a:extLst>
              <a:ext uri="{FF2B5EF4-FFF2-40B4-BE49-F238E27FC236}">
                <a16:creationId xmlns:a16="http://schemas.microsoft.com/office/drawing/2014/main" id="{B54BE442-BFEA-4016-3CA2-52C8C60A37EA}"/>
              </a:ext>
            </a:extLst>
          </p:cNvPr>
          <p:cNvSpPr txBox="1">
            <a:spLocks noChangeArrowheads="1"/>
          </p:cNvSpPr>
          <p:nvPr/>
        </p:nvSpPr>
        <p:spPr bwMode="auto">
          <a:xfrm>
            <a:off x="289352" y="3024255"/>
            <a:ext cx="860312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Improve product quality and user trust by addressing faults quickly and effectively.</a:t>
            </a:r>
          </a:p>
        </p:txBody>
      </p:sp>
      <p:pic>
        <p:nvPicPr>
          <p:cNvPr id="4" name="Online Media 3" title="Real World Software Development: Finding, Reproducing, and Fixing Bugs">
            <a:hlinkClick r:id="" action="ppaction://media"/>
            <a:extLst>
              <a:ext uri="{FF2B5EF4-FFF2-40B4-BE49-F238E27FC236}">
                <a16:creationId xmlns:a16="http://schemas.microsoft.com/office/drawing/2014/main" id="{DC2BC16B-8AD4-E504-1D39-69222158A3BB}"/>
              </a:ext>
            </a:extLst>
          </p:cNvPr>
          <p:cNvPicPr>
            <a:picLocks noRot="1" noChangeAspect="1"/>
          </p:cNvPicPr>
          <p:nvPr>
            <a:videoFile r:link="rId1"/>
          </p:nvPr>
        </p:nvPicPr>
        <p:blipFill>
          <a:blip r:embed="rId4"/>
          <a:stretch>
            <a:fillRect/>
          </a:stretch>
        </p:blipFill>
        <p:spPr>
          <a:xfrm>
            <a:off x="5742758" y="3752478"/>
            <a:ext cx="3131840" cy="1769272"/>
          </a:xfrm>
          <a:prstGeom prst="rect">
            <a:avLst/>
          </a:prstGeom>
        </p:spPr>
      </p:pic>
      <p:pic>
        <p:nvPicPr>
          <p:cNvPr id="4098" name="Picture 2" descr="How to Fix Bugs for Beginners: A Step ...">
            <a:extLst>
              <a:ext uri="{FF2B5EF4-FFF2-40B4-BE49-F238E27FC236}">
                <a16:creationId xmlns:a16="http://schemas.microsoft.com/office/drawing/2014/main" id="{0CFE8219-8720-03EE-334D-6517A4E273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2894" y="3677253"/>
            <a:ext cx="2275754" cy="1495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855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9AACD-C551-0FAC-2969-E9725C744645}"/>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C78E65E9-7A51-5D66-C9EA-C13C1C0F464F}"/>
              </a:ext>
            </a:extLst>
          </p:cNvPr>
          <p:cNvSpPr>
            <a:spLocks noGrp="1" noChangeArrowheads="1"/>
          </p:cNvSpPr>
          <p:nvPr>
            <p:ph type="title"/>
          </p:nvPr>
        </p:nvSpPr>
        <p:spPr>
          <a:xfrm>
            <a:off x="1255626" y="446193"/>
            <a:ext cx="7668344" cy="939800"/>
          </a:xfrm>
        </p:spPr>
        <p:txBody>
          <a:bodyPr/>
          <a:lstStyle/>
          <a:p>
            <a:r>
              <a:rPr lang="en-GB" sz="3200" b="1" dirty="0">
                <a:solidFill>
                  <a:srgbClr val="0070C0"/>
                </a:solidFill>
              </a:rPr>
              <a:t>Arrange and Carry Out User Training</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E03086B0-8FD5-9407-DC0A-636C44994861}"/>
              </a:ext>
            </a:extLst>
          </p:cNvPr>
          <p:cNvSpPr>
            <a:spLocks noGrp="1" noChangeArrowheads="1"/>
          </p:cNvSpPr>
          <p:nvPr>
            <p:ph idx="1"/>
          </p:nvPr>
        </p:nvSpPr>
        <p:spPr>
          <a:xfrm>
            <a:off x="289352" y="1981289"/>
            <a:ext cx="8675136" cy="939799"/>
          </a:xfrm>
        </p:spPr>
        <p:txBody>
          <a:bodyPr/>
          <a:lstStyle/>
          <a:p>
            <a:r>
              <a:rPr lang="en-GB" sz="1800" dirty="0"/>
              <a:t>User training introduces users to the product and educates them on using its features effectively.</a:t>
            </a:r>
            <a:endParaRPr lang="en-GB" altLang="en-US" sz="1800" dirty="0"/>
          </a:p>
        </p:txBody>
      </p:sp>
      <p:sp>
        <p:nvSpPr>
          <p:cNvPr id="2" name="Content Placeholder 2">
            <a:extLst>
              <a:ext uri="{FF2B5EF4-FFF2-40B4-BE49-F238E27FC236}">
                <a16:creationId xmlns:a16="http://schemas.microsoft.com/office/drawing/2014/main" id="{6BA0ACC1-D8AF-D354-C25D-8F0E0A393C0A}"/>
              </a:ext>
            </a:extLst>
          </p:cNvPr>
          <p:cNvSpPr txBox="1">
            <a:spLocks noChangeArrowheads="1"/>
          </p:cNvSpPr>
          <p:nvPr/>
        </p:nvSpPr>
        <p:spPr bwMode="auto">
          <a:xfrm>
            <a:off x="289352" y="5043655"/>
            <a:ext cx="4930720"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Training manuals, walkthrough videos, </a:t>
            </a:r>
          </a:p>
          <a:p>
            <a:pPr lvl="1"/>
            <a:r>
              <a:rPr lang="en-GB" sz="1800" dirty="0"/>
              <a:t>webinars (Zoom, Teams), </a:t>
            </a:r>
          </a:p>
          <a:p>
            <a:pPr lvl="1"/>
            <a:r>
              <a:rPr lang="en-GB" sz="1800" dirty="0"/>
              <a:t>Learning Management Systems (LMS)</a:t>
            </a:r>
          </a:p>
        </p:txBody>
      </p:sp>
      <p:sp>
        <p:nvSpPr>
          <p:cNvPr id="3" name="Content Placeholder 2">
            <a:extLst>
              <a:ext uri="{FF2B5EF4-FFF2-40B4-BE49-F238E27FC236}">
                <a16:creationId xmlns:a16="http://schemas.microsoft.com/office/drawing/2014/main" id="{B7A90DB5-344B-69B9-4109-DBFEF1B9A9D3}"/>
              </a:ext>
            </a:extLst>
          </p:cNvPr>
          <p:cNvSpPr txBox="1">
            <a:spLocks noChangeArrowheads="1"/>
          </p:cNvSpPr>
          <p:nvPr/>
        </p:nvSpPr>
        <p:spPr bwMode="auto">
          <a:xfrm>
            <a:off x="270436" y="3102501"/>
            <a:ext cx="860312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Improve user confidence, reduce support queries, and increase adoption.</a:t>
            </a:r>
          </a:p>
        </p:txBody>
      </p:sp>
      <p:sp>
        <p:nvSpPr>
          <p:cNvPr id="4" name="AutoShape 2" descr="User Training And Documentation - FasterCapital">
            <a:extLst>
              <a:ext uri="{FF2B5EF4-FFF2-40B4-BE49-F238E27FC236}">
                <a16:creationId xmlns:a16="http://schemas.microsoft.com/office/drawing/2014/main" id="{70FA505F-022D-2E9A-2AEB-CE28F8BAE9B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Picture 5">
            <a:extLst>
              <a:ext uri="{FF2B5EF4-FFF2-40B4-BE49-F238E27FC236}">
                <a16:creationId xmlns:a16="http://schemas.microsoft.com/office/drawing/2014/main" id="{1B127C65-9E4A-7015-AA28-6CA5E27365FE}"/>
              </a:ext>
            </a:extLst>
          </p:cNvPr>
          <p:cNvPicPr>
            <a:picLocks noChangeAspect="1"/>
          </p:cNvPicPr>
          <p:nvPr/>
        </p:nvPicPr>
        <p:blipFill>
          <a:blip r:embed="rId4"/>
          <a:stretch>
            <a:fillRect/>
          </a:stretch>
        </p:blipFill>
        <p:spPr>
          <a:xfrm>
            <a:off x="2758511" y="3722373"/>
            <a:ext cx="2482448" cy="1395687"/>
          </a:xfrm>
          <a:prstGeom prst="rect">
            <a:avLst/>
          </a:prstGeom>
        </p:spPr>
      </p:pic>
      <p:pic>
        <p:nvPicPr>
          <p:cNvPr id="7" name="Online Media 6" title="What are the Best Practices for Effective Software Training?">
            <a:hlinkClick r:id="" action="ppaction://media"/>
            <a:extLst>
              <a:ext uri="{FF2B5EF4-FFF2-40B4-BE49-F238E27FC236}">
                <a16:creationId xmlns:a16="http://schemas.microsoft.com/office/drawing/2014/main" id="{971B209F-CBFC-E74D-577A-CAFF5992A753}"/>
              </a:ext>
            </a:extLst>
          </p:cNvPr>
          <p:cNvPicPr>
            <a:picLocks noRot="1" noChangeAspect="1"/>
          </p:cNvPicPr>
          <p:nvPr>
            <a:videoFile r:link="rId1"/>
          </p:nvPr>
        </p:nvPicPr>
        <p:blipFill>
          <a:blip r:embed="rId5"/>
          <a:stretch>
            <a:fillRect/>
          </a:stretch>
        </p:blipFill>
        <p:spPr>
          <a:xfrm>
            <a:off x="5684745" y="4603314"/>
            <a:ext cx="3169903" cy="1790775"/>
          </a:xfrm>
          <a:prstGeom prst="rect">
            <a:avLst/>
          </a:prstGeom>
        </p:spPr>
      </p:pic>
    </p:spTree>
    <p:extLst>
      <p:ext uri="{BB962C8B-B14F-4D97-AF65-F5344CB8AC3E}">
        <p14:creationId xmlns:p14="http://schemas.microsoft.com/office/powerpoint/2010/main" val="146042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27E02-FEA7-6EA6-93BD-79864B6B53FE}"/>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1FE8069E-51BF-E13E-AF77-41589F91C7B0}"/>
              </a:ext>
            </a:extLst>
          </p:cNvPr>
          <p:cNvSpPr>
            <a:spLocks noGrp="1" noChangeArrowheads="1"/>
          </p:cNvSpPr>
          <p:nvPr>
            <p:ph type="title"/>
          </p:nvPr>
        </p:nvSpPr>
        <p:spPr>
          <a:xfrm>
            <a:off x="1547664" y="446193"/>
            <a:ext cx="6408712" cy="939800"/>
          </a:xfrm>
        </p:spPr>
        <p:txBody>
          <a:bodyPr/>
          <a:lstStyle/>
          <a:p>
            <a:r>
              <a:rPr lang="en-GB" sz="3200" b="1" dirty="0">
                <a:solidFill>
                  <a:srgbClr val="0070C0"/>
                </a:solidFill>
              </a:rPr>
              <a:t>Release Updates to Enhance the Product</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D933A132-0097-5BCC-9A66-850342DA7269}"/>
              </a:ext>
            </a:extLst>
          </p:cNvPr>
          <p:cNvSpPr>
            <a:spLocks noGrp="1" noChangeArrowheads="1"/>
          </p:cNvSpPr>
          <p:nvPr>
            <p:ph idx="1"/>
          </p:nvPr>
        </p:nvSpPr>
        <p:spPr>
          <a:xfrm>
            <a:off x="289352" y="1981289"/>
            <a:ext cx="8675136" cy="939799"/>
          </a:xfrm>
        </p:spPr>
        <p:txBody>
          <a:bodyPr/>
          <a:lstStyle/>
          <a:p>
            <a:r>
              <a:rPr lang="en-GB" sz="1800" dirty="0"/>
              <a:t>Product enhancements involve rolling out new features or optimizations based on feedback and roadmap planning.</a:t>
            </a:r>
            <a:endParaRPr lang="en-GB" altLang="en-US" sz="1800" dirty="0"/>
          </a:p>
        </p:txBody>
      </p:sp>
      <p:sp>
        <p:nvSpPr>
          <p:cNvPr id="2" name="Content Placeholder 2">
            <a:extLst>
              <a:ext uri="{FF2B5EF4-FFF2-40B4-BE49-F238E27FC236}">
                <a16:creationId xmlns:a16="http://schemas.microsoft.com/office/drawing/2014/main" id="{AF5E7098-6D05-270E-6B8F-E022E1514F1F}"/>
              </a:ext>
            </a:extLst>
          </p:cNvPr>
          <p:cNvSpPr txBox="1">
            <a:spLocks noChangeArrowheads="1"/>
          </p:cNvSpPr>
          <p:nvPr/>
        </p:nvSpPr>
        <p:spPr bwMode="auto">
          <a:xfrm>
            <a:off x="289352" y="5043655"/>
            <a:ext cx="5434776"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Release notes, A/B testing tools, </a:t>
            </a:r>
          </a:p>
          <a:p>
            <a:pPr lvl="1"/>
            <a:r>
              <a:rPr lang="en-GB" sz="1800" dirty="0"/>
              <a:t>Product feedback tools (UserVoice, Canny), </a:t>
            </a:r>
          </a:p>
          <a:p>
            <a:pPr lvl="1"/>
            <a:r>
              <a:rPr lang="en-GB" sz="1800" dirty="0"/>
              <a:t>Feature flags</a:t>
            </a:r>
          </a:p>
        </p:txBody>
      </p:sp>
      <p:sp>
        <p:nvSpPr>
          <p:cNvPr id="3" name="Content Placeholder 2">
            <a:extLst>
              <a:ext uri="{FF2B5EF4-FFF2-40B4-BE49-F238E27FC236}">
                <a16:creationId xmlns:a16="http://schemas.microsoft.com/office/drawing/2014/main" id="{ADD7D5E4-17FF-D748-9CEA-D03668B8B7B5}"/>
              </a:ext>
            </a:extLst>
          </p:cNvPr>
          <p:cNvSpPr txBox="1">
            <a:spLocks noChangeArrowheads="1"/>
          </p:cNvSpPr>
          <p:nvPr/>
        </p:nvSpPr>
        <p:spPr bwMode="auto">
          <a:xfrm>
            <a:off x="289352" y="3024255"/>
            <a:ext cx="860312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Add value to the product, remain competitive, and better serve user needs.</a:t>
            </a:r>
          </a:p>
        </p:txBody>
      </p:sp>
      <p:pic>
        <p:nvPicPr>
          <p:cNvPr id="2050" name="Picture 2" descr="Siliconstar Tech - Product Enhancement">
            <a:extLst>
              <a:ext uri="{FF2B5EF4-FFF2-40B4-BE49-F238E27FC236}">
                <a16:creationId xmlns:a16="http://schemas.microsoft.com/office/drawing/2014/main" id="{20607941-9F42-3619-225C-3BA72B5EB4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2856" y="3708145"/>
            <a:ext cx="3291632" cy="241176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roduct Enhancement PowerPoint and Google Slides Template">
            <a:extLst>
              <a:ext uri="{FF2B5EF4-FFF2-40B4-BE49-F238E27FC236}">
                <a16:creationId xmlns:a16="http://schemas.microsoft.com/office/drawing/2014/main" id="{83B1244C-9EA9-287B-6028-970DFB6B86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6740" y="3521247"/>
            <a:ext cx="2328144" cy="1746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677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0F50C-507F-8BA3-44C5-AEA96E3C79C5}"/>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3A5C2E55-4407-93EC-15C3-E6FD3A658F4F}"/>
              </a:ext>
            </a:extLst>
          </p:cNvPr>
          <p:cNvSpPr>
            <a:spLocks noGrp="1" noChangeArrowheads="1"/>
          </p:cNvSpPr>
          <p:nvPr>
            <p:ph type="title"/>
          </p:nvPr>
        </p:nvSpPr>
        <p:spPr>
          <a:xfrm>
            <a:off x="1547664" y="446193"/>
            <a:ext cx="6408712" cy="939800"/>
          </a:xfrm>
        </p:spPr>
        <p:txBody>
          <a:bodyPr/>
          <a:lstStyle/>
          <a:p>
            <a:r>
              <a:rPr lang="en-GB" sz="3200" b="1" dirty="0">
                <a:solidFill>
                  <a:srgbClr val="0070C0"/>
                </a:solidFill>
              </a:rPr>
              <a:t>Understand the Value to the Organisation</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8F401152-1E6E-5AA6-B90B-1EC12083C53F}"/>
              </a:ext>
            </a:extLst>
          </p:cNvPr>
          <p:cNvSpPr>
            <a:spLocks noGrp="1" noChangeArrowheads="1"/>
          </p:cNvSpPr>
          <p:nvPr>
            <p:ph idx="1"/>
          </p:nvPr>
        </p:nvSpPr>
        <p:spPr>
          <a:xfrm>
            <a:off x="289352" y="1981289"/>
            <a:ext cx="8675136" cy="939799"/>
          </a:xfrm>
        </p:spPr>
        <p:txBody>
          <a:bodyPr/>
          <a:lstStyle/>
          <a:p>
            <a:r>
              <a:rPr lang="en-GB" sz="1800" dirty="0"/>
              <a:t>A successful digital product contributes to operational efficiency, user satisfaction, revenue, or brand value.</a:t>
            </a:r>
            <a:endParaRPr lang="en-GB" altLang="en-US" sz="1800" dirty="0"/>
          </a:p>
        </p:txBody>
      </p:sp>
      <p:sp>
        <p:nvSpPr>
          <p:cNvPr id="2" name="Content Placeholder 2">
            <a:extLst>
              <a:ext uri="{FF2B5EF4-FFF2-40B4-BE49-F238E27FC236}">
                <a16:creationId xmlns:a16="http://schemas.microsoft.com/office/drawing/2014/main" id="{C6E01E52-3CB2-96D5-7E10-087325193E8F}"/>
              </a:ext>
            </a:extLst>
          </p:cNvPr>
          <p:cNvSpPr txBox="1">
            <a:spLocks noChangeArrowheads="1"/>
          </p:cNvSpPr>
          <p:nvPr/>
        </p:nvSpPr>
        <p:spPr bwMode="auto">
          <a:xfrm>
            <a:off x="268146" y="4797152"/>
            <a:ext cx="5023934"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Analytics (Google Analytics, </a:t>
            </a:r>
            <a:r>
              <a:rPr lang="en-GB" sz="1800" dirty="0" err="1"/>
              <a:t>Mixpanel</a:t>
            </a:r>
            <a:r>
              <a:rPr lang="en-GB" sz="1800" dirty="0"/>
              <a:t>), </a:t>
            </a:r>
          </a:p>
          <a:p>
            <a:pPr lvl="1"/>
            <a:r>
              <a:rPr lang="en-GB" sz="1800" dirty="0"/>
              <a:t>KPIs/Dashboards, ROI calculators</a:t>
            </a:r>
          </a:p>
        </p:txBody>
      </p:sp>
      <p:sp>
        <p:nvSpPr>
          <p:cNvPr id="3" name="Content Placeholder 2">
            <a:extLst>
              <a:ext uri="{FF2B5EF4-FFF2-40B4-BE49-F238E27FC236}">
                <a16:creationId xmlns:a16="http://schemas.microsoft.com/office/drawing/2014/main" id="{4DF10BD0-CEFE-5B22-AEF0-61185E9600E0}"/>
              </a:ext>
            </a:extLst>
          </p:cNvPr>
          <p:cNvSpPr txBox="1">
            <a:spLocks noChangeArrowheads="1"/>
          </p:cNvSpPr>
          <p:nvPr/>
        </p:nvSpPr>
        <p:spPr bwMode="auto">
          <a:xfrm>
            <a:off x="268146" y="2675221"/>
            <a:ext cx="8586502" cy="1507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dirty="0"/>
              <a:t>The value is multifaceted, encompassing both tangible benefits like revenue generation and cost reduction, as well as intangible benefits such as improved user experience and strategic goal alignment. </a:t>
            </a:r>
          </a:p>
          <a:p>
            <a:r>
              <a:rPr lang="en-GB" sz="1800" dirty="0"/>
              <a:t>The product’s strategic role in helping an organization achieve its business goals.</a:t>
            </a:r>
          </a:p>
        </p:txBody>
      </p:sp>
      <p:pic>
        <p:nvPicPr>
          <p:cNvPr id="1026" name="Picture 2" descr="No alt text provided for this image">
            <a:extLst>
              <a:ext uri="{FF2B5EF4-FFF2-40B4-BE49-F238E27FC236}">
                <a16:creationId xmlns:a16="http://schemas.microsoft.com/office/drawing/2014/main" id="{E3FC48DA-3071-CE3F-05D8-98D6F7846B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9847" y="4437112"/>
            <a:ext cx="3837641" cy="1881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221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C8CD4-B84A-1FAF-60DB-175FE41F57C6}"/>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C76D9C70-8900-80EB-9083-34116DC52DD6}"/>
              </a:ext>
            </a:extLst>
          </p:cNvPr>
          <p:cNvSpPr>
            <a:spLocks noGrp="1" noChangeArrowheads="1"/>
          </p:cNvSpPr>
          <p:nvPr>
            <p:ph type="title"/>
          </p:nvPr>
        </p:nvSpPr>
        <p:spPr>
          <a:xfrm>
            <a:off x="1422564" y="358288"/>
            <a:ext cx="6408712" cy="939800"/>
          </a:xfrm>
        </p:spPr>
        <p:txBody>
          <a:bodyPr/>
          <a:lstStyle/>
          <a:p>
            <a:r>
              <a:rPr lang="en-GB" sz="2800" b="1" dirty="0">
                <a:solidFill>
                  <a:srgbClr val="0070C0"/>
                </a:solidFill>
              </a:rPr>
              <a:t>Role of the Software Development Life Cycle (SDLC)</a:t>
            </a:r>
            <a:endParaRPr lang="en-US" altLang="en-US" sz="2800" b="1" dirty="0">
              <a:solidFill>
                <a:srgbClr val="0070C0"/>
              </a:solidFill>
            </a:endParaRPr>
          </a:p>
        </p:txBody>
      </p:sp>
      <p:sp>
        <p:nvSpPr>
          <p:cNvPr id="18435" name="Content Placeholder 2">
            <a:extLst>
              <a:ext uri="{FF2B5EF4-FFF2-40B4-BE49-F238E27FC236}">
                <a16:creationId xmlns:a16="http://schemas.microsoft.com/office/drawing/2014/main" id="{18055779-8F15-7CA7-A155-8FA3AD24FF8F}"/>
              </a:ext>
            </a:extLst>
          </p:cNvPr>
          <p:cNvSpPr>
            <a:spLocks noGrp="1" noChangeArrowheads="1"/>
          </p:cNvSpPr>
          <p:nvPr>
            <p:ph idx="1"/>
          </p:nvPr>
        </p:nvSpPr>
        <p:spPr>
          <a:xfrm>
            <a:off x="289352" y="1981289"/>
            <a:ext cx="8675136" cy="939799"/>
          </a:xfrm>
        </p:spPr>
        <p:txBody>
          <a:bodyPr/>
          <a:lstStyle/>
          <a:p>
            <a:r>
              <a:rPr lang="en-GB" sz="1800" kern="1200" dirty="0">
                <a:latin typeface="Arial" pitchFamily="34" charset="0"/>
                <a:cs typeface="Arial" pitchFamily="34" charset="0"/>
              </a:rPr>
              <a:t>A Software Development Life Cycle (SDLC) is crucial for ensuring high-quality software and efficient project management. </a:t>
            </a:r>
          </a:p>
          <a:p>
            <a:r>
              <a:rPr lang="en-GB" sz="1800" kern="1200" dirty="0">
                <a:latin typeface="Arial" pitchFamily="34" charset="0"/>
                <a:cs typeface="Arial" pitchFamily="34" charset="0"/>
              </a:rPr>
              <a:t>It provides a structured approach to software development, breaking down the process into distinct phases.</a:t>
            </a:r>
            <a:endParaRPr lang="en-GB" altLang="en-US" sz="1800" dirty="0"/>
          </a:p>
        </p:txBody>
      </p:sp>
      <p:sp>
        <p:nvSpPr>
          <p:cNvPr id="2" name="Content Placeholder 2">
            <a:extLst>
              <a:ext uri="{FF2B5EF4-FFF2-40B4-BE49-F238E27FC236}">
                <a16:creationId xmlns:a16="http://schemas.microsoft.com/office/drawing/2014/main" id="{8A19F15D-0543-3A57-0D79-723790D7914A}"/>
              </a:ext>
            </a:extLst>
          </p:cNvPr>
          <p:cNvSpPr txBox="1">
            <a:spLocks noChangeArrowheads="1"/>
          </p:cNvSpPr>
          <p:nvPr/>
        </p:nvSpPr>
        <p:spPr bwMode="auto">
          <a:xfrm>
            <a:off x="336079" y="5301208"/>
            <a:ext cx="4379937"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Waterfall, Agile, DevOps tools, </a:t>
            </a:r>
          </a:p>
          <a:p>
            <a:pPr lvl="1"/>
            <a:r>
              <a:rPr lang="en-GB" sz="1800" dirty="0"/>
              <a:t>SDLC documentation templates</a:t>
            </a:r>
          </a:p>
        </p:txBody>
      </p:sp>
      <p:sp>
        <p:nvSpPr>
          <p:cNvPr id="3" name="Content Placeholder 2">
            <a:extLst>
              <a:ext uri="{FF2B5EF4-FFF2-40B4-BE49-F238E27FC236}">
                <a16:creationId xmlns:a16="http://schemas.microsoft.com/office/drawing/2014/main" id="{3C5CFF41-8C1E-3621-714A-F677B122C643}"/>
              </a:ext>
            </a:extLst>
          </p:cNvPr>
          <p:cNvSpPr txBox="1">
            <a:spLocks noChangeArrowheads="1"/>
          </p:cNvSpPr>
          <p:nvPr/>
        </p:nvSpPr>
        <p:spPr bwMode="auto">
          <a:xfrm>
            <a:off x="325356" y="3500974"/>
            <a:ext cx="860312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T</a:t>
            </a:r>
            <a:r>
              <a:rPr lang="en-GB" sz="1800" dirty="0">
                <a:latin typeface="Arial" pitchFamily="34" charset="0"/>
                <a:cs typeface="Arial" pitchFamily="34" charset="0"/>
              </a:rPr>
              <a:t>o improve quality, manage risks, and enhance collaboration</a:t>
            </a:r>
            <a:endParaRPr lang="en-GB" sz="1800" dirty="0"/>
          </a:p>
        </p:txBody>
      </p:sp>
      <p:pic>
        <p:nvPicPr>
          <p:cNvPr id="4" name="Picture 6" descr="The Complete Beginners Guide to Agile Project Planning">
            <a:extLst>
              <a:ext uri="{FF2B5EF4-FFF2-40B4-BE49-F238E27FC236}">
                <a16:creationId xmlns:a16="http://schemas.microsoft.com/office/drawing/2014/main" id="{4858E943-F8AF-2694-4970-45AF89956F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8993" y="4153972"/>
            <a:ext cx="3831088" cy="207279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Basics and Benefits of Agile Method | Planview LeanKit">
            <a:extLst>
              <a:ext uri="{FF2B5EF4-FFF2-40B4-BE49-F238E27FC236}">
                <a16:creationId xmlns:a16="http://schemas.microsoft.com/office/drawing/2014/main" id="{E4B2DC1D-1C9E-1891-5FA1-F4CA19C2C2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4068325"/>
            <a:ext cx="2396902" cy="1137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745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B9DB4-6706-C383-F264-E7013DF5621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D13CC28-A86B-63C9-8209-AE5863BDCE8D}"/>
              </a:ext>
            </a:extLst>
          </p:cNvPr>
          <p:cNvSpPr>
            <a:spLocks noGrp="1" noChangeArrowheads="1"/>
          </p:cNvSpPr>
          <p:nvPr>
            <p:ph type="title"/>
          </p:nvPr>
        </p:nvSpPr>
        <p:spPr>
          <a:xfrm>
            <a:off x="1258888" y="404813"/>
            <a:ext cx="7650162" cy="939800"/>
          </a:xfrm>
        </p:spPr>
        <p:txBody>
          <a:bodyPr/>
          <a:lstStyle/>
          <a:p>
            <a:pPr>
              <a:tabLst>
                <a:tab pos="266700" algn="l"/>
              </a:tabLst>
            </a:pPr>
            <a:r>
              <a:rPr lang="en-GB" sz="2400" b="1" dirty="0">
                <a:solidFill>
                  <a:srgbClr val="FF0000"/>
                </a:solidFill>
              </a:rPr>
              <a:t>Activity – Deploy &amp; Maintain Your Product</a:t>
            </a:r>
            <a:endParaRPr lang="en-GB" altLang="en-US" sz="2400" b="1" dirty="0">
              <a:solidFill>
                <a:srgbClr val="FF0000"/>
              </a:solidFill>
            </a:endParaRPr>
          </a:p>
        </p:txBody>
      </p:sp>
      <p:sp>
        <p:nvSpPr>
          <p:cNvPr id="31747" name="Content Placeholder 2">
            <a:extLst>
              <a:ext uri="{FF2B5EF4-FFF2-40B4-BE49-F238E27FC236}">
                <a16:creationId xmlns:a16="http://schemas.microsoft.com/office/drawing/2014/main" id="{2BFB39CE-3A42-929B-5C38-DEFE2B0EAF45}"/>
              </a:ext>
            </a:extLst>
          </p:cNvPr>
          <p:cNvSpPr>
            <a:spLocks noGrp="1" noChangeArrowheads="1"/>
          </p:cNvSpPr>
          <p:nvPr>
            <p:ph idx="1"/>
          </p:nvPr>
        </p:nvSpPr>
        <p:spPr>
          <a:xfrm>
            <a:off x="198705" y="1876587"/>
            <a:ext cx="5597431" cy="760325"/>
          </a:xfrm>
        </p:spPr>
        <p:txBody>
          <a:bodyPr/>
          <a:lstStyle/>
          <a:p>
            <a:r>
              <a:rPr lang="en-GB" sz="1800" b="1" dirty="0"/>
              <a:t>Objective:</a:t>
            </a:r>
            <a:r>
              <a:rPr lang="en-GB" sz="1800" dirty="0"/>
              <a:t> To simulate the process of deploying and maintaining a product through a hands-on, team-based project.</a:t>
            </a:r>
          </a:p>
          <a:p>
            <a:pPr marL="0" indent="0">
              <a:buNone/>
            </a:pPr>
            <a:endParaRPr lang="en-GB" sz="1800" dirty="0"/>
          </a:p>
        </p:txBody>
      </p:sp>
      <p:sp>
        <p:nvSpPr>
          <p:cNvPr id="3" name="Content Placeholder 2">
            <a:extLst>
              <a:ext uri="{FF2B5EF4-FFF2-40B4-BE49-F238E27FC236}">
                <a16:creationId xmlns:a16="http://schemas.microsoft.com/office/drawing/2014/main" id="{F0708651-7EF1-6716-9A44-1A8E85AB6674}"/>
              </a:ext>
            </a:extLst>
          </p:cNvPr>
          <p:cNvSpPr txBox="1">
            <a:spLocks noChangeArrowheads="1"/>
          </p:cNvSpPr>
          <p:nvPr/>
        </p:nvSpPr>
        <p:spPr bwMode="auto">
          <a:xfrm>
            <a:off x="206618" y="3013558"/>
            <a:ext cx="4877351" cy="1012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You Will Learn To:</a:t>
            </a:r>
          </a:p>
          <a:p>
            <a:pPr marL="542925" lvl="1" indent="-271463"/>
            <a:r>
              <a:rPr lang="en-GB" sz="1800" dirty="0"/>
              <a:t>How to deploy your prototype app</a:t>
            </a:r>
          </a:p>
          <a:p>
            <a:pPr marL="542925" lvl="1" indent="-271463"/>
            <a:r>
              <a:rPr lang="en-GB" sz="1800" dirty="0"/>
              <a:t>How to maintain your prototype app</a:t>
            </a:r>
          </a:p>
          <a:p>
            <a:pPr lvl="1"/>
            <a:endParaRPr lang="en-GB" sz="1800" kern="0" dirty="0"/>
          </a:p>
        </p:txBody>
      </p:sp>
      <p:sp>
        <p:nvSpPr>
          <p:cNvPr id="4" name="Content Placeholder 2">
            <a:extLst>
              <a:ext uri="{FF2B5EF4-FFF2-40B4-BE49-F238E27FC236}">
                <a16:creationId xmlns:a16="http://schemas.microsoft.com/office/drawing/2014/main" id="{4536FE11-46A6-119D-A13A-F2BD5FC32FC4}"/>
              </a:ext>
            </a:extLst>
          </p:cNvPr>
          <p:cNvSpPr txBox="1">
            <a:spLocks noChangeArrowheads="1"/>
          </p:cNvSpPr>
          <p:nvPr/>
        </p:nvSpPr>
        <p:spPr bwMode="auto">
          <a:xfrm>
            <a:off x="187347" y="4402711"/>
            <a:ext cx="5504734" cy="194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How It Works:</a:t>
            </a:r>
          </a:p>
          <a:p>
            <a:pPr marL="542925" lvl="1" indent="-271463"/>
            <a:r>
              <a:rPr lang="en-GB" sz="1800" dirty="0"/>
              <a:t>Work in teams of 3–5</a:t>
            </a:r>
          </a:p>
          <a:p>
            <a:pPr marL="542925" lvl="1" indent="-271463"/>
            <a:r>
              <a:rPr lang="en-GB" sz="1800" dirty="0"/>
              <a:t>Deploy a basic prototype</a:t>
            </a:r>
          </a:p>
          <a:p>
            <a:pPr marL="542925" lvl="1" indent="-271463"/>
            <a:r>
              <a:rPr lang="en-GB" sz="1800" dirty="0"/>
              <a:t>Maintain it (defect or improvements based on feedback</a:t>
            </a:r>
          </a:p>
          <a:p>
            <a:pPr marL="542925" lvl="1" indent="-271463"/>
            <a:r>
              <a:rPr lang="en-GB" sz="1800" dirty="0"/>
              <a:t>Present your work and share lessons learned</a:t>
            </a:r>
          </a:p>
          <a:p>
            <a:pPr lvl="1"/>
            <a:endParaRPr lang="en-GB" sz="1800" kern="0" dirty="0"/>
          </a:p>
        </p:txBody>
      </p:sp>
      <p:pic>
        <p:nvPicPr>
          <p:cNvPr id="7" name="Online Media 6" title="Design, Develop, Debug, and Deploy Your Thunkable App: An Overview (3 of 3)">
            <a:hlinkClick r:id="" action="ppaction://media"/>
            <a:extLst>
              <a:ext uri="{FF2B5EF4-FFF2-40B4-BE49-F238E27FC236}">
                <a16:creationId xmlns:a16="http://schemas.microsoft.com/office/drawing/2014/main" id="{6EB44991-3ADF-D7D0-F183-FEAA5E3A4332}"/>
              </a:ext>
            </a:extLst>
          </p:cNvPr>
          <p:cNvPicPr>
            <a:picLocks noRot="1" noChangeAspect="1"/>
          </p:cNvPicPr>
          <p:nvPr>
            <a:videoFile r:link="rId1"/>
          </p:nvPr>
        </p:nvPicPr>
        <p:blipFill>
          <a:blip r:embed="rId4"/>
          <a:stretch>
            <a:fillRect/>
          </a:stretch>
        </p:blipFill>
        <p:spPr>
          <a:xfrm>
            <a:off x="5148064" y="2636912"/>
            <a:ext cx="3544197" cy="2002225"/>
          </a:xfrm>
          <a:prstGeom prst="rect">
            <a:avLst/>
          </a:prstGeom>
        </p:spPr>
      </p:pic>
    </p:spTree>
    <p:extLst>
      <p:ext uri="{BB962C8B-B14F-4D97-AF65-F5344CB8AC3E}">
        <p14:creationId xmlns:p14="http://schemas.microsoft.com/office/powerpoint/2010/main" val="3810360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B9DB4-6706-C383-F264-E7013DF5621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D13CC28-A86B-63C9-8209-AE5863BDCE8D}"/>
              </a:ext>
            </a:extLst>
          </p:cNvPr>
          <p:cNvSpPr>
            <a:spLocks noGrp="1" noChangeArrowheads="1"/>
          </p:cNvSpPr>
          <p:nvPr>
            <p:ph type="title"/>
          </p:nvPr>
        </p:nvSpPr>
        <p:spPr>
          <a:xfrm>
            <a:off x="1475656" y="404813"/>
            <a:ext cx="7433394" cy="939800"/>
          </a:xfrm>
        </p:spPr>
        <p:txBody>
          <a:bodyPr/>
          <a:lstStyle/>
          <a:p>
            <a:pPr>
              <a:tabLst>
                <a:tab pos="266700" algn="l"/>
              </a:tabLst>
            </a:pPr>
            <a:r>
              <a:rPr lang="en-GB" sz="2800" b="1" dirty="0">
                <a:solidFill>
                  <a:srgbClr val="FF0000"/>
                </a:solidFill>
              </a:rPr>
              <a:t>Activity – Deploy &amp; Maintain Your Product</a:t>
            </a:r>
            <a:endParaRPr lang="en-GB" altLang="en-US" sz="2800" b="1" dirty="0">
              <a:solidFill>
                <a:srgbClr val="FF0000"/>
              </a:solidFill>
            </a:endParaRPr>
          </a:p>
        </p:txBody>
      </p:sp>
      <p:sp>
        <p:nvSpPr>
          <p:cNvPr id="31747" name="Content Placeholder 2">
            <a:extLst>
              <a:ext uri="{FF2B5EF4-FFF2-40B4-BE49-F238E27FC236}">
                <a16:creationId xmlns:a16="http://schemas.microsoft.com/office/drawing/2014/main" id="{2BFB39CE-3A42-929B-5C38-DEFE2B0EAF45}"/>
              </a:ext>
            </a:extLst>
          </p:cNvPr>
          <p:cNvSpPr>
            <a:spLocks noGrp="1" noChangeArrowheads="1"/>
          </p:cNvSpPr>
          <p:nvPr>
            <p:ph idx="1"/>
          </p:nvPr>
        </p:nvSpPr>
        <p:spPr>
          <a:xfrm>
            <a:off x="198705" y="1876587"/>
            <a:ext cx="8771248" cy="1497003"/>
          </a:xfrm>
        </p:spPr>
        <p:txBody>
          <a:bodyPr/>
          <a:lstStyle/>
          <a:p>
            <a:r>
              <a:rPr lang="en-GB" sz="1800" b="1" dirty="0"/>
              <a:t>Objective:</a:t>
            </a:r>
            <a:r>
              <a:rPr lang="en-GB" sz="1800" dirty="0"/>
              <a:t> Work as a team to </a:t>
            </a:r>
            <a:r>
              <a:rPr lang="en-GB" sz="1800" b="1" dirty="0"/>
              <a:t>deploy and maintain your brand-new digital product </a:t>
            </a:r>
            <a:r>
              <a:rPr lang="en-GB" sz="1800" dirty="0"/>
              <a:t>— just like real-world designers and developers do. </a:t>
            </a:r>
          </a:p>
          <a:p>
            <a:endParaRPr lang="en-GB" sz="1800" dirty="0"/>
          </a:p>
          <a:p>
            <a:r>
              <a:rPr lang="en-GB" sz="1800" dirty="0"/>
              <a:t>You’ll go through the </a:t>
            </a:r>
            <a:r>
              <a:rPr lang="en-GB" sz="1800" b="1" dirty="0"/>
              <a:t>key stages of product design</a:t>
            </a:r>
            <a:r>
              <a:rPr lang="en-GB" sz="1800" dirty="0"/>
              <a:t>, from idea to prototype.</a:t>
            </a:r>
          </a:p>
          <a:p>
            <a:pPr marL="0" indent="0">
              <a:buNone/>
            </a:pPr>
            <a:endParaRPr lang="en-GB" sz="1800" b="1" dirty="0"/>
          </a:p>
        </p:txBody>
      </p:sp>
      <p:sp>
        <p:nvSpPr>
          <p:cNvPr id="3" name="Content Placeholder 2">
            <a:extLst>
              <a:ext uri="{FF2B5EF4-FFF2-40B4-BE49-F238E27FC236}">
                <a16:creationId xmlns:a16="http://schemas.microsoft.com/office/drawing/2014/main" id="{F0708651-7EF1-6716-9A44-1A8E85AB6674}"/>
              </a:ext>
            </a:extLst>
          </p:cNvPr>
          <p:cNvSpPr txBox="1">
            <a:spLocks noChangeArrowheads="1"/>
          </p:cNvSpPr>
          <p:nvPr/>
        </p:nvSpPr>
        <p:spPr bwMode="auto">
          <a:xfrm>
            <a:off x="208989" y="3484409"/>
            <a:ext cx="4248472"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kern="0" dirty="0"/>
              <a:t>Instructions:</a:t>
            </a:r>
            <a:endParaRPr lang="en-GB" sz="1800" kern="0" dirty="0"/>
          </a:p>
          <a:p>
            <a:pPr lvl="1"/>
            <a:r>
              <a:rPr lang="en-GB" sz="1800" kern="0" dirty="0"/>
              <a:t>Identify a real-world problem</a:t>
            </a:r>
          </a:p>
          <a:p>
            <a:pPr lvl="1"/>
            <a:r>
              <a:rPr lang="en-GB" sz="1800" kern="0" dirty="0"/>
              <a:t>Come up with a product idea</a:t>
            </a:r>
          </a:p>
          <a:p>
            <a:pPr lvl="1"/>
            <a:r>
              <a:rPr lang="en-GB" sz="1800" kern="0" dirty="0"/>
              <a:t>Design a simple user interface</a:t>
            </a:r>
          </a:p>
          <a:p>
            <a:pPr lvl="1"/>
            <a:r>
              <a:rPr lang="en-GB" sz="1800" kern="0" dirty="0"/>
              <a:t>Plan how the product will work (logic)</a:t>
            </a:r>
          </a:p>
          <a:p>
            <a:pPr lvl="1"/>
            <a:r>
              <a:rPr lang="en-GB" sz="1800" kern="0" dirty="0"/>
              <a:t>Decide what data it needs</a:t>
            </a:r>
          </a:p>
          <a:p>
            <a:pPr lvl="1"/>
            <a:r>
              <a:rPr lang="en-GB" sz="1800" kern="0" dirty="0"/>
              <a:t>Create a basic testing plan</a:t>
            </a:r>
          </a:p>
          <a:p>
            <a:pPr lvl="1"/>
            <a:r>
              <a:rPr lang="en-GB" sz="1800" kern="0" dirty="0"/>
              <a:t>Present your design to the class</a:t>
            </a:r>
          </a:p>
          <a:p>
            <a:pPr lvl="1"/>
            <a:endParaRPr lang="en-GB" sz="1800" kern="0" dirty="0"/>
          </a:p>
        </p:txBody>
      </p:sp>
      <p:sp>
        <p:nvSpPr>
          <p:cNvPr id="4" name="Content Placeholder 2">
            <a:extLst>
              <a:ext uri="{FF2B5EF4-FFF2-40B4-BE49-F238E27FC236}">
                <a16:creationId xmlns:a16="http://schemas.microsoft.com/office/drawing/2014/main" id="{4536FE11-46A6-119D-A13A-F2BD5FC32FC4}"/>
              </a:ext>
            </a:extLst>
          </p:cNvPr>
          <p:cNvSpPr txBox="1">
            <a:spLocks noChangeArrowheads="1"/>
          </p:cNvSpPr>
          <p:nvPr/>
        </p:nvSpPr>
        <p:spPr bwMode="auto">
          <a:xfrm>
            <a:off x="4605184" y="3410903"/>
            <a:ext cx="4364769" cy="3141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kern="0" dirty="0"/>
              <a:t>Deliverables:</a:t>
            </a:r>
            <a:endParaRPr lang="en-GB" sz="1800" kern="0" dirty="0"/>
          </a:p>
          <a:p>
            <a:pPr lvl="1"/>
            <a:r>
              <a:rPr lang="en-GB" sz="1800" dirty="0"/>
              <a:t>A clear product idea and target users</a:t>
            </a:r>
          </a:p>
          <a:p>
            <a:pPr lvl="1"/>
            <a:r>
              <a:rPr lang="en-GB" sz="1800" dirty="0"/>
              <a:t>A sketch or wireframe of the main screen</a:t>
            </a:r>
          </a:p>
          <a:p>
            <a:pPr lvl="1"/>
            <a:r>
              <a:rPr lang="en-GB" sz="1800" dirty="0"/>
              <a:t>A basic outline of how your product works (logic)</a:t>
            </a:r>
          </a:p>
          <a:p>
            <a:pPr lvl="1"/>
            <a:r>
              <a:rPr lang="en-GB" sz="1800" dirty="0"/>
              <a:t>A list of data requirements</a:t>
            </a:r>
          </a:p>
          <a:p>
            <a:pPr lvl="1"/>
            <a:r>
              <a:rPr lang="en-GB" sz="1800" dirty="0"/>
              <a:t>An initial testing plan</a:t>
            </a:r>
          </a:p>
          <a:p>
            <a:pPr lvl="1"/>
            <a:r>
              <a:rPr lang="en-GB" sz="1800" dirty="0"/>
              <a:t>A short team presentation</a:t>
            </a:r>
            <a:endParaRPr lang="en-GB" sz="1800" kern="0" dirty="0"/>
          </a:p>
        </p:txBody>
      </p:sp>
    </p:spTree>
    <p:extLst>
      <p:ext uri="{BB962C8B-B14F-4D97-AF65-F5344CB8AC3E}">
        <p14:creationId xmlns:p14="http://schemas.microsoft.com/office/powerpoint/2010/main" val="336491183"/>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FB68843-7254-44BA-9863-880A69EF47AC}"/>
</file>

<file path=customXml/itemProps2.xml><?xml version="1.0" encoding="utf-8"?>
<ds:datastoreItem xmlns:ds="http://schemas.openxmlformats.org/officeDocument/2006/customXml" ds:itemID="{8FD8BFB2-0206-4CCE-8FC9-7BF32F9D8985}"/>
</file>

<file path=customXml/itemProps3.xml><?xml version="1.0" encoding="utf-8"?>
<ds:datastoreItem xmlns:ds="http://schemas.openxmlformats.org/officeDocument/2006/customXml" ds:itemID="{AADA17BC-EC4E-4EE0-8F17-F5F68305C8E3}"/>
</file>

<file path=docProps/app.xml><?xml version="1.0" encoding="utf-8"?>
<Properties xmlns="http://schemas.openxmlformats.org/officeDocument/2006/extended-properties" xmlns:vt="http://schemas.openxmlformats.org/officeDocument/2006/docPropsVTypes">
  <Template/>
  <TotalTime>3624</TotalTime>
  <Words>1769</Words>
  <Application>Microsoft Office PowerPoint</Application>
  <PresentationFormat>On-screen Show (4:3)</PresentationFormat>
  <Paragraphs>211</Paragraphs>
  <Slides>15</Slides>
  <Notes>15</Notes>
  <HiddenSlides>0</HiddenSlides>
  <MMClips>9</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Tahoma</vt:lpstr>
      <vt:lpstr>Wingdings</vt:lpstr>
      <vt:lpstr>Blends</vt:lpstr>
      <vt:lpstr>1_Blends</vt:lpstr>
      <vt:lpstr>Occupational Specialist Component Content: Digital Production, Design and Development</vt:lpstr>
      <vt:lpstr>Learning Objectives</vt:lpstr>
      <vt:lpstr>Deployment &amp; Maintenance</vt:lpstr>
      <vt:lpstr>Install and Configure the Product</vt:lpstr>
      <vt:lpstr>Update the Product</vt:lpstr>
      <vt:lpstr>Maintain the Product</vt:lpstr>
      <vt:lpstr>Provide System Support</vt:lpstr>
      <vt:lpstr>Provide User Support</vt:lpstr>
      <vt:lpstr>Carry Out Bug Fixing</vt:lpstr>
      <vt:lpstr>Arrange and Carry Out User Training</vt:lpstr>
      <vt:lpstr>Release Updates to Enhance the Product</vt:lpstr>
      <vt:lpstr>Understand the Value to the Organisation</vt:lpstr>
      <vt:lpstr>Role of the Software Development Life Cycle (SDLC)</vt:lpstr>
      <vt:lpstr>Activity – Deploy &amp; Maintain Your Product</vt:lpstr>
      <vt:lpstr>Activity – Deploy &amp; Maintain Your Product</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566</cp:revision>
  <dcterms:created xsi:type="dcterms:W3CDTF">2010-11-28T12:04:27Z</dcterms:created>
  <dcterms:modified xsi:type="dcterms:W3CDTF">2025-07-30T15:52:29Z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