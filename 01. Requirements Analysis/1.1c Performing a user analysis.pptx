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6"/>
  </p:notesMasterIdLst>
  <p:sldIdLst>
    <p:sldId id="345" r:id="rId3"/>
    <p:sldId id="322" r:id="rId4"/>
    <p:sldId id="339" r:id="rId5"/>
    <p:sldId id="359" r:id="rId6"/>
    <p:sldId id="360" r:id="rId7"/>
    <p:sldId id="361" r:id="rId8"/>
    <p:sldId id="362" r:id="rId9"/>
    <p:sldId id="363" r:id="rId10"/>
    <p:sldId id="364" r:id="rId11"/>
    <p:sldId id="365" r:id="rId12"/>
    <p:sldId id="358" r:id="rId13"/>
    <p:sldId id="366" r:id="rId14"/>
    <p:sldId id="367" r:id="rId15"/>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4" autoAdjust="0"/>
    <p:restoredTop sz="73932" autoAdjust="0"/>
  </p:normalViewPr>
  <p:slideViewPr>
    <p:cSldViewPr>
      <p:cViewPr varScale="1">
        <p:scale>
          <a:sx n="83" d="100"/>
          <a:sy n="83" d="100"/>
        </p:scale>
        <p:origin x="1572" y="90"/>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customXml" Target="../customXml/item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8940A51-201F-2351-71C6-B4FD2B9FBF3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B280B3D8-857A-E746-A934-C8A0952AE45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40675924-EEC4-D767-C865-94CF2594D5B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74F066F8-E822-4AF1-D553-2CB8587DFFE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975CFB8E-8328-555A-29DF-6FF2C823828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AC11D630-E80E-F54B-C9ED-F09AE6E6C2D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DB2A87-D564-4DE6-835A-A71E29C50696}"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286854D-B51F-B122-51DB-5E26BFC45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AF7C91B-4A08-45C7-A46E-E6AC2E382243}"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A7EDD4AF-2AEA-F1F8-E122-8EFAB0172635}"/>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6C3F1A77-2241-F733-7948-98E44C391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2</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4668945-73DA-742E-5F7A-1FD7364914B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6A66FF55-358E-C373-20D1-5CEF269CD1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2D8448A5-CC05-FA38-FBC6-F282EE2200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73DEA-F956-24C9-8800-FC982C53EA77}"/>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ABC1E4E6-7D18-11A7-D2F8-138995E9E7E1}"/>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CF19A89E-81BD-A83C-3D3F-8DF8733285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https://www.atlassian.com/agile/project-management/user-stories</a:t>
            </a:r>
          </a:p>
          <a:p>
            <a:r>
              <a:rPr lang="en-GB" dirty="0"/>
              <a:t>https://www.romanpichler.com/blog/10-tips-writing-good-user-stories/</a:t>
            </a:r>
          </a:p>
        </p:txBody>
      </p:sp>
      <p:sp>
        <p:nvSpPr>
          <p:cNvPr id="19460" name="Slide Number Placeholder 3">
            <a:extLst>
              <a:ext uri="{FF2B5EF4-FFF2-40B4-BE49-F238E27FC236}">
                <a16:creationId xmlns:a16="http://schemas.microsoft.com/office/drawing/2014/main" id="{DD316FE2-1A26-C71C-7EE8-C1AA338EA2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2145494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2906F-11E3-4EB0-6DC3-D7F82C9BE29C}"/>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1F6A45C3-F1B8-6E99-6C63-6C1B8756C057}"/>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6C359644-C552-1D40-2491-D81462504A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68CEB304-DF3C-5B78-13D1-0BC6DDF26B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2694247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484B0-1723-F6D3-F1C7-72390D209C6F}"/>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5A04F06-0FCD-D780-09B7-959702A949EF}"/>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0AF1C9D3-2DCA-3CDD-EC9E-EAF000BE4A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https://www.youtube.com/watch?v=oVfw8Oj-uH8</a:t>
            </a:r>
          </a:p>
          <a:p>
            <a:r>
              <a:rPr lang="en-GB" dirty="0"/>
              <a:t>https://online.visual-paradigm.com/diagrams/templates/mind-map-diagram/mind-map-example-system-requirements/;VPSESSIONID=542461DC4C50DA7839371FBF7AA02CD4</a:t>
            </a:r>
          </a:p>
        </p:txBody>
      </p:sp>
      <p:sp>
        <p:nvSpPr>
          <p:cNvPr id="19460" name="Slide Number Placeholder 3">
            <a:extLst>
              <a:ext uri="{FF2B5EF4-FFF2-40B4-BE49-F238E27FC236}">
                <a16:creationId xmlns:a16="http://schemas.microsoft.com/office/drawing/2014/main" id="{5B3DCDCE-C925-8424-FA10-6E423BD141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520456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736F4-8DE7-B796-ECA2-7AF4CF00EAAB}"/>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75CC8E4-3F47-7B9D-04D5-87A5707657FD}"/>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581E1A22-4C9F-244C-7CF3-B15D8E4990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https://www.sprintzeal.com/blog/product-roadmap</a:t>
            </a:r>
          </a:p>
        </p:txBody>
      </p:sp>
      <p:sp>
        <p:nvSpPr>
          <p:cNvPr id="19460" name="Slide Number Placeholder 3">
            <a:extLst>
              <a:ext uri="{FF2B5EF4-FFF2-40B4-BE49-F238E27FC236}">
                <a16:creationId xmlns:a16="http://schemas.microsoft.com/office/drawing/2014/main" id="{1F0FB909-2E2A-31C0-9F95-B303CCDD22D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211483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610A0-3E71-C07D-9284-252ABAE8D5C3}"/>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C98CCB1-60F9-0EE5-1AC5-7EABB0ADBF4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ABCC1F15-648D-204D-8765-3CAAA085782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https://www.agilitysystem.net/insight/as-is-to-be-process-mapping/</a:t>
            </a:r>
          </a:p>
          <a:p>
            <a:r>
              <a:rPr lang="en-GB" dirty="0"/>
              <a:t>https://miro.com/blog/as-is-to-be-process-mapping/</a:t>
            </a:r>
          </a:p>
          <a:p>
            <a:r>
              <a:rPr lang="en-GB" dirty="0"/>
              <a:t>https://www.lucidchart.com/blog/as-is-process-analysis</a:t>
            </a:r>
          </a:p>
          <a:p>
            <a:r>
              <a:rPr lang="en-GB" dirty="0"/>
              <a:t>https://www.youtube.com/watch?v=xpLxNoD41pk</a:t>
            </a:r>
          </a:p>
        </p:txBody>
      </p:sp>
      <p:sp>
        <p:nvSpPr>
          <p:cNvPr id="19460" name="Slide Number Placeholder 3">
            <a:extLst>
              <a:ext uri="{FF2B5EF4-FFF2-40B4-BE49-F238E27FC236}">
                <a16:creationId xmlns:a16="http://schemas.microsoft.com/office/drawing/2014/main" id="{851827C6-1D65-CDDE-3C44-1D8829D8F7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1987886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2D6C-04EB-9872-856B-188F077F919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D00B0A0-3142-3EFE-8F0A-AF9DD98C6B0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31C3B01-2955-6126-DD31-A376486920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https://www.youtube.com/watch?v=BaN7Ng7a82Y</a:t>
            </a:r>
          </a:p>
        </p:txBody>
      </p:sp>
      <p:sp>
        <p:nvSpPr>
          <p:cNvPr id="19460" name="Slide Number Placeholder 3">
            <a:extLst>
              <a:ext uri="{FF2B5EF4-FFF2-40B4-BE49-F238E27FC236}">
                <a16:creationId xmlns:a16="http://schemas.microsoft.com/office/drawing/2014/main" id="{1248B560-F751-3CF0-C73E-B05AC84DF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3878873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7C9A0-B615-54EE-6252-B62B69C010C5}"/>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1E1F39B-B39B-7483-9CA8-EF779CABE3AB}"/>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3D87C12F-A780-C346-C75B-132F6DCB7D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7F2C1449-9071-C3CB-ACC6-C43A3F14A4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10</a:t>
            </a:fld>
            <a:endParaRPr lang="en-GB" altLang="en-US"/>
          </a:p>
        </p:txBody>
      </p:sp>
    </p:spTree>
    <p:extLst>
      <p:ext uri="{BB962C8B-B14F-4D97-AF65-F5344CB8AC3E}">
        <p14:creationId xmlns:p14="http://schemas.microsoft.com/office/powerpoint/2010/main" val="219953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3C570CA6-FD78-FC58-7E4B-572345673435}"/>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02A3262B-BFBA-6D79-6E81-AEE7FA29C5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Time:</a:t>
            </a:r>
            <a:r>
              <a:rPr lang="en-GB" dirty="0"/>
              <a:t> 25 minutes</a:t>
            </a:r>
            <a:br>
              <a:rPr lang="en-GB" dirty="0"/>
            </a:br>
            <a:r>
              <a:rPr lang="en-GB" b="1" dirty="0"/>
              <a:t>Tools:</a:t>
            </a:r>
            <a:r>
              <a:rPr lang="en-GB" dirty="0"/>
              <a:t> Paper/markers, Miro, </a:t>
            </a:r>
            <a:r>
              <a:rPr lang="en-GB" dirty="0" err="1"/>
              <a:t>Lucidchart</a:t>
            </a:r>
            <a:r>
              <a:rPr lang="en-GB" dirty="0"/>
              <a:t>, or Mural</a:t>
            </a:r>
          </a:p>
          <a:p>
            <a:endParaRPr lang="en-GB" altLang="en-US" dirty="0"/>
          </a:p>
          <a:p>
            <a:endParaRPr lang="en-GB" altLang="en-US" dirty="0"/>
          </a:p>
          <a:p>
            <a:r>
              <a:rPr lang="en-GB" dirty="0"/>
              <a:t>teams </a:t>
            </a:r>
            <a:r>
              <a:rPr lang="en-GB" b="1" dirty="0"/>
              <a:t>present</a:t>
            </a:r>
            <a:r>
              <a:rPr lang="en-GB" dirty="0"/>
              <a:t> one of their models to the class and explain:</a:t>
            </a:r>
          </a:p>
          <a:p>
            <a:r>
              <a:rPr lang="en-GB" dirty="0"/>
              <a:t>Why they chose specific tools</a:t>
            </a:r>
          </a:p>
          <a:p>
            <a:r>
              <a:rPr lang="en-GB" dirty="0"/>
              <a:t>What they learned from using them</a:t>
            </a:r>
          </a:p>
        </p:txBody>
      </p:sp>
      <p:sp>
        <p:nvSpPr>
          <p:cNvPr id="32772" name="Slide Number Placeholder 3">
            <a:extLst>
              <a:ext uri="{FF2B5EF4-FFF2-40B4-BE49-F238E27FC236}">
                <a16:creationId xmlns:a16="http://schemas.microsoft.com/office/drawing/2014/main" id="{0FFB193A-6D19-A90C-5B33-0A3F1F5972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11</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400DF-93E8-2ED7-0C9A-B75FE48F04FC}"/>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B0ACD440-ABA7-D835-5B71-FE1F97416F35}"/>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6BACA408-E4FB-153A-A497-0B0213E4B0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Time:</a:t>
            </a:r>
            <a:r>
              <a:rPr lang="en-GB" dirty="0"/>
              <a:t> 30 minutes</a:t>
            </a:r>
            <a:br>
              <a:rPr lang="en-GB" dirty="0"/>
            </a:br>
            <a:r>
              <a:rPr lang="en-GB" b="1" dirty="0"/>
              <a:t>Tools:</a:t>
            </a:r>
            <a:r>
              <a:rPr lang="en-GB" dirty="0"/>
              <a:t> Draw.io, Visio, whiteboards</a:t>
            </a:r>
            <a:endParaRPr lang="en-GB" altLang="en-US" dirty="0"/>
          </a:p>
          <a:p>
            <a:endParaRPr lang="en-GB" altLang="en-US" dirty="0"/>
          </a:p>
          <a:p>
            <a:endParaRPr lang="en-GB" altLang="en-US" dirty="0"/>
          </a:p>
          <a:p>
            <a:r>
              <a:rPr lang="en-GB" dirty="0"/>
              <a:t>teams </a:t>
            </a:r>
            <a:r>
              <a:rPr lang="en-GB" b="1" dirty="0"/>
              <a:t>present</a:t>
            </a:r>
            <a:r>
              <a:rPr lang="en-GB" dirty="0"/>
              <a:t> one of their models to the class and explain:</a:t>
            </a:r>
          </a:p>
          <a:p>
            <a:r>
              <a:rPr lang="en-GB" dirty="0"/>
              <a:t>Why they chose specific tools</a:t>
            </a:r>
          </a:p>
          <a:p>
            <a:r>
              <a:rPr lang="en-GB" dirty="0"/>
              <a:t>What they learned from using them</a:t>
            </a:r>
          </a:p>
          <a:p>
            <a:endParaRPr lang="en-GB" altLang="en-US" dirty="0"/>
          </a:p>
        </p:txBody>
      </p:sp>
      <p:sp>
        <p:nvSpPr>
          <p:cNvPr id="32772" name="Slide Number Placeholder 3">
            <a:extLst>
              <a:ext uri="{FF2B5EF4-FFF2-40B4-BE49-F238E27FC236}">
                <a16:creationId xmlns:a16="http://schemas.microsoft.com/office/drawing/2014/main" id="{23FF1527-32EA-31FE-6EC8-EFEA812B4F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12</a:t>
            </a:fld>
            <a:endParaRPr lang="en-GB" altLang="en-US"/>
          </a:p>
        </p:txBody>
      </p:sp>
    </p:spTree>
    <p:extLst>
      <p:ext uri="{BB962C8B-B14F-4D97-AF65-F5344CB8AC3E}">
        <p14:creationId xmlns:p14="http://schemas.microsoft.com/office/powerpoint/2010/main" val="410509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CFE7-9BAC-92A1-8911-FD1FEA8E0796}"/>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EEFA0842-B317-2E05-C079-17A799AA824C}"/>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C0530003-B3FA-F484-B044-FB034052B3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Time:</a:t>
            </a:r>
            <a:r>
              <a:rPr lang="en-GB" dirty="0"/>
              <a:t> 30–40 minutes</a:t>
            </a:r>
            <a:br>
              <a:rPr lang="en-GB" dirty="0"/>
            </a:br>
            <a:r>
              <a:rPr lang="en-GB" b="1" dirty="0"/>
              <a:t>Tools:</a:t>
            </a:r>
            <a:r>
              <a:rPr lang="en-GB" dirty="0"/>
              <a:t> dbdiagram.io, Aha!, paper, </a:t>
            </a:r>
            <a:r>
              <a:rPr lang="en-GB" dirty="0" err="1"/>
              <a:t>Lucidchart</a:t>
            </a:r>
            <a:endParaRPr lang="en-GB" dirty="0"/>
          </a:p>
          <a:p>
            <a:endParaRPr lang="en-GB" altLang="en-US" dirty="0"/>
          </a:p>
          <a:p>
            <a:r>
              <a:rPr lang="en-GB" dirty="0"/>
              <a:t>teams </a:t>
            </a:r>
            <a:r>
              <a:rPr lang="en-GB" b="1" dirty="0"/>
              <a:t>present</a:t>
            </a:r>
            <a:r>
              <a:rPr lang="en-GB" dirty="0"/>
              <a:t> one of their models to the class and explain:</a:t>
            </a:r>
          </a:p>
          <a:p>
            <a:r>
              <a:rPr lang="en-GB" dirty="0"/>
              <a:t>Why they chose specific tools</a:t>
            </a:r>
          </a:p>
          <a:p>
            <a:r>
              <a:rPr lang="en-GB" dirty="0"/>
              <a:t>What they learned from using them</a:t>
            </a:r>
          </a:p>
          <a:p>
            <a:endParaRPr lang="en-GB" altLang="en-US" dirty="0"/>
          </a:p>
        </p:txBody>
      </p:sp>
      <p:sp>
        <p:nvSpPr>
          <p:cNvPr id="32772" name="Slide Number Placeholder 3">
            <a:extLst>
              <a:ext uri="{FF2B5EF4-FFF2-40B4-BE49-F238E27FC236}">
                <a16:creationId xmlns:a16="http://schemas.microsoft.com/office/drawing/2014/main" id="{AD189570-8D3D-0501-4036-DFF797FE3B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13</a:t>
            </a:fld>
            <a:endParaRPr lang="en-GB" altLang="en-US"/>
          </a:p>
        </p:txBody>
      </p:sp>
    </p:spTree>
    <p:extLst>
      <p:ext uri="{BB962C8B-B14F-4D97-AF65-F5344CB8AC3E}">
        <p14:creationId xmlns:p14="http://schemas.microsoft.com/office/powerpoint/2010/main" val="3070773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7810480-5ECB-BE87-58F2-A360C2C4615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0EA3AFF-358A-33A6-DEE8-58A6CC08022F}"/>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AEF0B258-F8AE-51A1-4410-D5988A977085}"/>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F530CAED-1744-ACF9-76BA-4F49ADE2E19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11C4AD0B-BCCD-DDF6-D6B8-3C7EF96688B3}"/>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BF9E7C4-36E9-B353-CFEE-63935B65C939}"/>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9C615290-51F2-89BA-91D4-3E9E1C94446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68F637F3-1CFD-F37D-6BB7-2F941BDD907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36F9B091-71A7-A578-D31F-69DC6C1898F6}"/>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E9529A3F-D0CC-2872-9695-C20454AE92B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74CEED1C-466E-C63E-0433-0A4779C35D36}"/>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A84E402D-E460-1685-E2AD-09F35FE9B13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ECBE94BF-49CC-A36E-AA69-68E1D83672D6}"/>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56218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E2FBF1F4-BFFF-A3B3-1F2A-87802D682FF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4CAE9D0-28B5-ABC5-9AAF-66C831B9D2E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F052FBC-CFBA-25ED-6E3F-5FE2E540B83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C7FA066-CA49-4154-8229-AEE565484061}" type="slidenum">
              <a:rPr lang="en-US" altLang="en-US"/>
              <a:pPr>
                <a:defRPr/>
              </a:pPr>
              <a:t>‹#›</a:t>
            </a:fld>
            <a:endParaRPr lang="en-US" altLang="en-US"/>
          </a:p>
        </p:txBody>
      </p:sp>
    </p:spTree>
    <p:extLst>
      <p:ext uri="{BB962C8B-B14F-4D97-AF65-F5344CB8AC3E}">
        <p14:creationId xmlns:p14="http://schemas.microsoft.com/office/powerpoint/2010/main" val="406847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95B97E7-C65B-0657-F08B-2CE5FF0C725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5EF6BDE-FBD2-812C-4C6B-79D1F2311AC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4228EBA-1B5D-D071-427A-674FE56ACC9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FC81816-4314-4942-BF52-621C2956052E}" type="slidenum">
              <a:rPr lang="en-US" altLang="en-US"/>
              <a:pPr>
                <a:defRPr/>
              </a:pPr>
              <a:t>‹#›</a:t>
            </a:fld>
            <a:endParaRPr lang="en-US" altLang="en-US"/>
          </a:p>
        </p:txBody>
      </p:sp>
    </p:spTree>
    <p:extLst>
      <p:ext uri="{BB962C8B-B14F-4D97-AF65-F5344CB8AC3E}">
        <p14:creationId xmlns:p14="http://schemas.microsoft.com/office/powerpoint/2010/main" val="658414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FACD645D-12E7-88CB-87CF-6C7837A5F99C}"/>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B5CE3A2-9405-7B89-7B1B-768B33B59AE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468623B-024A-1FDE-EAF1-DD056BB7748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470E24D-D6C3-411D-A3D5-2E70EB9C69AD}" type="slidenum">
              <a:rPr lang="en-US" altLang="en-US"/>
              <a:pPr>
                <a:defRPr/>
              </a:pPr>
              <a:t>‹#›</a:t>
            </a:fld>
            <a:endParaRPr lang="en-US" altLang="en-US"/>
          </a:p>
        </p:txBody>
      </p:sp>
    </p:spTree>
    <p:extLst>
      <p:ext uri="{BB962C8B-B14F-4D97-AF65-F5344CB8AC3E}">
        <p14:creationId xmlns:p14="http://schemas.microsoft.com/office/powerpoint/2010/main" val="1559293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28038F72-D80F-C0AE-35EC-EED3B3C48902}"/>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CE0DF27D-8CE0-50AB-5783-55C0262A2844}"/>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2031FD85-94F1-3025-73B8-2DEA60C7A5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6A4DB9-C831-460C-B5AC-600D0EDA1D81}" type="slidenum">
              <a:rPr lang="en-US" altLang="en-US"/>
              <a:pPr>
                <a:defRPr/>
              </a:pPr>
              <a:t>‹#›</a:t>
            </a:fld>
            <a:endParaRPr lang="en-US" altLang="en-US"/>
          </a:p>
        </p:txBody>
      </p:sp>
    </p:spTree>
    <p:extLst>
      <p:ext uri="{BB962C8B-B14F-4D97-AF65-F5344CB8AC3E}">
        <p14:creationId xmlns:p14="http://schemas.microsoft.com/office/powerpoint/2010/main" val="298400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DDAC0BDE-56E6-5888-5425-19CEAB1F98F2}"/>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6108F2EA-921C-BC5E-210D-0CEDDC33EF0B}"/>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938DC64-0E0B-9E40-2AEB-0FF810F56E6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032A1E8-2368-4792-8E4C-0608C616614C}" type="slidenum">
              <a:rPr lang="en-US" altLang="en-US"/>
              <a:pPr>
                <a:defRPr/>
              </a:pPr>
              <a:t>‹#›</a:t>
            </a:fld>
            <a:endParaRPr lang="en-US" altLang="en-US"/>
          </a:p>
        </p:txBody>
      </p:sp>
    </p:spTree>
    <p:extLst>
      <p:ext uri="{BB962C8B-B14F-4D97-AF65-F5344CB8AC3E}">
        <p14:creationId xmlns:p14="http://schemas.microsoft.com/office/powerpoint/2010/main" val="236899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F3F14EE0-EBD6-D6DA-A9E5-EC13E32AC22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001C9496-8095-A124-5646-484544CF7C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6BE1709-17D9-E6E3-5ABB-E4B30B15384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729AF96-B952-46EC-BF3B-07E3BB25340A}" type="slidenum">
              <a:rPr lang="en-US" altLang="en-US"/>
              <a:pPr>
                <a:defRPr/>
              </a:pPr>
              <a:t>‹#›</a:t>
            </a:fld>
            <a:endParaRPr lang="en-US" altLang="en-US"/>
          </a:p>
        </p:txBody>
      </p:sp>
    </p:spTree>
    <p:extLst>
      <p:ext uri="{BB962C8B-B14F-4D97-AF65-F5344CB8AC3E}">
        <p14:creationId xmlns:p14="http://schemas.microsoft.com/office/powerpoint/2010/main" val="138571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05AB5C6-BD50-A6BF-B5FE-22C8E407ADCD}"/>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5A7603A1-5900-D00D-4D8B-08F208B8C01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4C9998E-4D02-1C08-708F-DECA68A7A85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0C78E55-6717-4E6B-9F78-CE359F379F1E}" type="slidenum">
              <a:rPr lang="en-US" altLang="en-US"/>
              <a:pPr>
                <a:defRPr/>
              </a:pPr>
              <a:t>‹#›</a:t>
            </a:fld>
            <a:endParaRPr lang="en-US" altLang="en-US"/>
          </a:p>
        </p:txBody>
      </p:sp>
    </p:spTree>
    <p:extLst>
      <p:ext uri="{BB962C8B-B14F-4D97-AF65-F5344CB8AC3E}">
        <p14:creationId xmlns:p14="http://schemas.microsoft.com/office/powerpoint/2010/main" val="208592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63948DC-6D8B-6569-DA51-FDF05F57715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27E2FDE-24F3-07D0-AEFF-4CB105FDFAA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8985341-E5D8-3F30-BFAE-8830A58E0E8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A8F0B2A-B223-426C-816D-62612E31A5A9}" type="slidenum">
              <a:rPr lang="en-US" altLang="en-US"/>
              <a:pPr>
                <a:defRPr/>
              </a:pPr>
              <a:t>‹#›</a:t>
            </a:fld>
            <a:endParaRPr lang="en-US" altLang="en-US"/>
          </a:p>
        </p:txBody>
      </p:sp>
    </p:spTree>
    <p:extLst>
      <p:ext uri="{BB962C8B-B14F-4D97-AF65-F5344CB8AC3E}">
        <p14:creationId xmlns:p14="http://schemas.microsoft.com/office/powerpoint/2010/main" val="10836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89353A6-EA69-6442-57C0-88AA9F8813B0}"/>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3C72383-4845-DC68-9243-081EF763980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D30F085-A0EC-C47B-DA3C-BFEA3439592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C239488-D800-4312-B8E5-3AF7F2140D42}" type="slidenum">
              <a:rPr lang="en-US" altLang="en-US"/>
              <a:pPr>
                <a:defRPr/>
              </a:pPr>
              <a:t>‹#›</a:t>
            </a:fld>
            <a:endParaRPr lang="en-US" altLang="en-US"/>
          </a:p>
        </p:txBody>
      </p:sp>
    </p:spTree>
    <p:extLst>
      <p:ext uri="{BB962C8B-B14F-4D97-AF65-F5344CB8AC3E}">
        <p14:creationId xmlns:p14="http://schemas.microsoft.com/office/powerpoint/2010/main" val="400387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64B57A7-5304-4B74-E062-42790573BB3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EE7DAE4-5415-A8BB-9266-22D89E2C2F0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39206F7-B389-1394-207F-70B202F0541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B506300-EC2B-4410-BAC1-029937E7BA4C}" type="slidenum">
              <a:rPr lang="en-US" altLang="en-US"/>
              <a:pPr>
                <a:defRPr/>
              </a:pPr>
              <a:t>‹#›</a:t>
            </a:fld>
            <a:endParaRPr lang="en-US" altLang="en-US"/>
          </a:p>
        </p:txBody>
      </p:sp>
    </p:spTree>
    <p:extLst>
      <p:ext uri="{BB962C8B-B14F-4D97-AF65-F5344CB8AC3E}">
        <p14:creationId xmlns:p14="http://schemas.microsoft.com/office/powerpoint/2010/main" val="318269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58BE732-F038-221C-983A-85EDF89C445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212D868-F7C7-433D-CEC8-BF70F92640D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3FF7FE1B-A3AC-CC37-9DA6-8FEFD1060921}"/>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048631EF-4B04-3AC7-9DEA-E9A9D9196A4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00AA0BA8-3CE6-8861-96EB-BC4665E4CA82}"/>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746C408B-8C65-C11C-F154-EA06B87D0AFD}"/>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A3EC4121-1BDD-A77C-2AF6-CFC21BF1D794}"/>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7004D551-9CD0-3404-6B1D-0EE5258A727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75CBDE54-9BAF-9128-48E8-350C0154B1B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A89C34F5-B039-A826-E05B-929D398CE95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23DF1A86-7E14-A3D0-EE1F-1D860A85C69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F6B49424-7492-3521-6B6C-71AC3935C9F2}"/>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202321B8-1831-0921-413C-4B8F441F1380}"/>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5327ECCC-955A-4CC1-B570-8D3B1F26AC5A}" type="slidenum">
              <a:rPr lang="en-US" altLang="en-US"/>
              <a:pPr>
                <a:defRPr/>
              </a:pPr>
              <a:t>‹#›</a:t>
            </a:fld>
            <a:endParaRPr lang="en-US" altLang="en-US"/>
          </a:p>
        </p:txBody>
      </p:sp>
    </p:spTree>
    <p:extLst>
      <p:ext uri="{BB962C8B-B14F-4D97-AF65-F5344CB8AC3E}">
        <p14:creationId xmlns:p14="http://schemas.microsoft.com/office/powerpoint/2010/main" val="2342449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2EBB6AC-FA83-9165-EB13-97F6867853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96AD3C7-BB8A-E8C6-6A4A-2BAECCE801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5E43890-5611-4E4D-27B3-507F3FB773F8}"/>
              </a:ext>
            </a:extLst>
          </p:cNvPr>
          <p:cNvSpPr>
            <a:spLocks noGrp="1" noChangeArrowheads="1"/>
          </p:cNvSpPr>
          <p:nvPr>
            <p:ph type="sldNum" sz="quarter" idx="12"/>
          </p:nvPr>
        </p:nvSpPr>
        <p:spPr>
          <a:ln/>
        </p:spPr>
        <p:txBody>
          <a:bodyPr/>
          <a:lstStyle>
            <a:lvl1pPr>
              <a:defRPr/>
            </a:lvl1pPr>
          </a:lstStyle>
          <a:p>
            <a:pPr>
              <a:defRPr/>
            </a:pPr>
            <a:fld id="{FF767D69-45F3-4FD5-A3C3-B99BBBA31BBD}" type="slidenum">
              <a:rPr lang="en-US" altLang="en-US"/>
              <a:pPr>
                <a:defRPr/>
              </a:pPr>
              <a:t>‹#›</a:t>
            </a:fld>
            <a:endParaRPr lang="en-US" altLang="en-US"/>
          </a:p>
        </p:txBody>
      </p:sp>
    </p:spTree>
    <p:extLst>
      <p:ext uri="{BB962C8B-B14F-4D97-AF65-F5344CB8AC3E}">
        <p14:creationId xmlns:p14="http://schemas.microsoft.com/office/powerpoint/2010/main" val="3578742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3551835-1EB1-BE40-E14F-0DB9C8B010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7FFF9D5-FCE7-7433-15F7-F01060F97B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ABEA767-ED31-8429-9361-BD51593BF268}"/>
              </a:ext>
            </a:extLst>
          </p:cNvPr>
          <p:cNvSpPr>
            <a:spLocks noGrp="1" noChangeArrowheads="1"/>
          </p:cNvSpPr>
          <p:nvPr>
            <p:ph type="sldNum" sz="quarter" idx="12"/>
          </p:nvPr>
        </p:nvSpPr>
        <p:spPr>
          <a:ln/>
        </p:spPr>
        <p:txBody>
          <a:bodyPr/>
          <a:lstStyle>
            <a:lvl1pPr>
              <a:defRPr/>
            </a:lvl1pPr>
          </a:lstStyle>
          <a:p>
            <a:pPr>
              <a:defRPr/>
            </a:pPr>
            <a:fld id="{29BC801C-8383-4F07-ACD9-5073A90B612C}" type="slidenum">
              <a:rPr lang="en-US" altLang="en-US"/>
              <a:pPr>
                <a:defRPr/>
              </a:pPr>
              <a:t>‹#›</a:t>
            </a:fld>
            <a:endParaRPr lang="en-US" altLang="en-US"/>
          </a:p>
        </p:txBody>
      </p:sp>
    </p:spTree>
    <p:extLst>
      <p:ext uri="{BB962C8B-B14F-4D97-AF65-F5344CB8AC3E}">
        <p14:creationId xmlns:p14="http://schemas.microsoft.com/office/powerpoint/2010/main" val="427116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D26AACF1-B63A-3DFC-1F61-3039DA6B10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3826BBD-55C8-1989-390F-9D8BB3B20A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08D2122-4961-52C1-A0A1-25B856B95E61}"/>
              </a:ext>
            </a:extLst>
          </p:cNvPr>
          <p:cNvSpPr>
            <a:spLocks noGrp="1" noChangeArrowheads="1"/>
          </p:cNvSpPr>
          <p:nvPr>
            <p:ph type="sldNum" sz="quarter" idx="12"/>
          </p:nvPr>
        </p:nvSpPr>
        <p:spPr>
          <a:ln/>
        </p:spPr>
        <p:txBody>
          <a:bodyPr/>
          <a:lstStyle>
            <a:lvl1pPr>
              <a:defRPr/>
            </a:lvl1pPr>
          </a:lstStyle>
          <a:p>
            <a:pPr>
              <a:defRPr/>
            </a:pPr>
            <a:fld id="{B7CFB11A-E562-49AA-80DC-C2571ABBF94D}" type="slidenum">
              <a:rPr lang="en-US" altLang="en-US"/>
              <a:pPr>
                <a:defRPr/>
              </a:pPr>
              <a:t>‹#›</a:t>
            </a:fld>
            <a:endParaRPr lang="en-US" altLang="en-US"/>
          </a:p>
        </p:txBody>
      </p:sp>
    </p:spTree>
    <p:extLst>
      <p:ext uri="{BB962C8B-B14F-4D97-AF65-F5344CB8AC3E}">
        <p14:creationId xmlns:p14="http://schemas.microsoft.com/office/powerpoint/2010/main" val="1811400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56C2847-55F0-DD56-5C8E-1231F2C1553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787D3154-3BC8-E8E2-AAD4-C364E9E8425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F0C017E7-C01B-0610-C669-C955CE07FABD}"/>
              </a:ext>
            </a:extLst>
          </p:cNvPr>
          <p:cNvSpPr>
            <a:spLocks noGrp="1" noChangeArrowheads="1"/>
          </p:cNvSpPr>
          <p:nvPr>
            <p:ph type="sldNum" sz="quarter" idx="12"/>
          </p:nvPr>
        </p:nvSpPr>
        <p:spPr>
          <a:ln/>
        </p:spPr>
        <p:txBody>
          <a:bodyPr/>
          <a:lstStyle>
            <a:lvl1pPr>
              <a:defRPr/>
            </a:lvl1pPr>
          </a:lstStyle>
          <a:p>
            <a:pPr>
              <a:defRPr/>
            </a:pPr>
            <a:fld id="{1F35F7B0-D026-4293-B387-BEA254A949BD}" type="slidenum">
              <a:rPr lang="en-US" altLang="en-US"/>
              <a:pPr>
                <a:defRPr/>
              </a:pPr>
              <a:t>‹#›</a:t>
            </a:fld>
            <a:endParaRPr lang="en-US" altLang="en-US"/>
          </a:p>
        </p:txBody>
      </p:sp>
    </p:spTree>
    <p:extLst>
      <p:ext uri="{BB962C8B-B14F-4D97-AF65-F5344CB8AC3E}">
        <p14:creationId xmlns:p14="http://schemas.microsoft.com/office/powerpoint/2010/main" val="2717326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00ECBADA-2525-B62F-7A70-A314EA8BEFE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346302F-0967-F140-6DEA-624042BDEC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0B32ECB1-2364-7712-2F8E-EFAD5C1DC074}"/>
              </a:ext>
            </a:extLst>
          </p:cNvPr>
          <p:cNvSpPr>
            <a:spLocks noGrp="1" noChangeArrowheads="1"/>
          </p:cNvSpPr>
          <p:nvPr>
            <p:ph type="sldNum" sz="quarter" idx="12"/>
          </p:nvPr>
        </p:nvSpPr>
        <p:spPr>
          <a:ln/>
        </p:spPr>
        <p:txBody>
          <a:bodyPr/>
          <a:lstStyle>
            <a:lvl1pPr>
              <a:defRPr/>
            </a:lvl1pPr>
          </a:lstStyle>
          <a:p>
            <a:pPr>
              <a:defRPr/>
            </a:pPr>
            <a:fld id="{849B93AF-BFC4-493F-B243-EF000CB9545D}" type="slidenum">
              <a:rPr lang="en-US" altLang="en-US"/>
              <a:pPr>
                <a:defRPr/>
              </a:pPr>
              <a:t>‹#›</a:t>
            </a:fld>
            <a:endParaRPr lang="en-US" altLang="en-US"/>
          </a:p>
        </p:txBody>
      </p:sp>
    </p:spTree>
    <p:extLst>
      <p:ext uri="{BB962C8B-B14F-4D97-AF65-F5344CB8AC3E}">
        <p14:creationId xmlns:p14="http://schemas.microsoft.com/office/powerpoint/2010/main" val="1912880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E7FD273-A0D2-D288-91BF-A5DA22EED21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905A923-9AA7-BC26-4416-7870884694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DC3B1E04-B1C3-C195-C6D2-692162C5CF7A}"/>
              </a:ext>
            </a:extLst>
          </p:cNvPr>
          <p:cNvSpPr>
            <a:spLocks noGrp="1" noChangeArrowheads="1"/>
          </p:cNvSpPr>
          <p:nvPr>
            <p:ph type="sldNum" sz="quarter" idx="12"/>
          </p:nvPr>
        </p:nvSpPr>
        <p:spPr>
          <a:ln/>
        </p:spPr>
        <p:txBody>
          <a:bodyPr/>
          <a:lstStyle>
            <a:lvl1pPr>
              <a:defRPr/>
            </a:lvl1pPr>
          </a:lstStyle>
          <a:p>
            <a:pPr>
              <a:defRPr/>
            </a:pPr>
            <a:fld id="{552C8C92-F3C4-41A1-A272-FAD3D86FC32D}" type="slidenum">
              <a:rPr lang="en-US" altLang="en-US"/>
              <a:pPr>
                <a:defRPr/>
              </a:pPr>
              <a:t>‹#›</a:t>
            </a:fld>
            <a:endParaRPr lang="en-US" altLang="en-US"/>
          </a:p>
        </p:txBody>
      </p:sp>
    </p:spTree>
    <p:extLst>
      <p:ext uri="{BB962C8B-B14F-4D97-AF65-F5344CB8AC3E}">
        <p14:creationId xmlns:p14="http://schemas.microsoft.com/office/powerpoint/2010/main" val="3945790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577A97C1-F48E-66DD-52D0-E3E4D6541A1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96221AF-4EA4-7CA5-0B02-403ACB29D9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FBBC1B4-5118-0E12-A6FA-297F485E64A2}"/>
              </a:ext>
            </a:extLst>
          </p:cNvPr>
          <p:cNvSpPr>
            <a:spLocks noGrp="1" noChangeArrowheads="1"/>
          </p:cNvSpPr>
          <p:nvPr>
            <p:ph type="sldNum" sz="quarter" idx="12"/>
          </p:nvPr>
        </p:nvSpPr>
        <p:spPr>
          <a:ln/>
        </p:spPr>
        <p:txBody>
          <a:bodyPr/>
          <a:lstStyle>
            <a:lvl1pPr>
              <a:defRPr/>
            </a:lvl1pPr>
          </a:lstStyle>
          <a:p>
            <a:pPr>
              <a:defRPr/>
            </a:pPr>
            <a:fld id="{C87CC952-187B-420C-823A-0957A1D872BA}" type="slidenum">
              <a:rPr lang="en-US" altLang="en-US"/>
              <a:pPr>
                <a:defRPr/>
              </a:pPr>
              <a:t>‹#›</a:t>
            </a:fld>
            <a:endParaRPr lang="en-US" altLang="en-US"/>
          </a:p>
        </p:txBody>
      </p:sp>
    </p:spTree>
    <p:extLst>
      <p:ext uri="{BB962C8B-B14F-4D97-AF65-F5344CB8AC3E}">
        <p14:creationId xmlns:p14="http://schemas.microsoft.com/office/powerpoint/2010/main" val="32631926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9FA3A97C-2D58-EEFA-FE88-E7198426C4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6BA85AC-A44C-9B4D-3684-32D92A16AB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8612D42-88EC-4F56-DCEF-935F4C8A88BB}"/>
              </a:ext>
            </a:extLst>
          </p:cNvPr>
          <p:cNvSpPr>
            <a:spLocks noGrp="1" noChangeArrowheads="1"/>
          </p:cNvSpPr>
          <p:nvPr>
            <p:ph type="sldNum" sz="quarter" idx="12"/>
          </p:nvPr>
        </p:nvSpPr>
        <p:spPr>
          <a:ln/>
        </p:spPr>
        <p:txBody>
          <a:bodyPr/>
          <a:lstStyle>
            <a:lvl1pPr>
              <a:defRPr/>
            </a:lvl1pPr>
          </a:lstStyle>
          <a:p>
            <a:pPr>
              <a:defRPr/>
            </a:pPr>
            <a:fld id="{9715BFFA-586B-41EA-93C2-A393E68CCD90}" type="slidenum">
              <a:rPr lang="en-US" altLang="en-US"/>
              <a:pPr>
                <a:defRPr/>
              </a:pPr>
              <a:t>‹#›</a:t>
            </a:fld>
            <a:endParaRPr lang="en-US" altLang="en-US"/>
          </a:p>
        </p:txBody>
      </p:sp>
    </p:spTree>
    <p:extLst>
      <p:ext uri="{BB962C8B-B14F-4D97-AF65-F5344CB8AC3E}">
        <p14:creationId xmlns:p14="http://schemas.microsoft.com/office/powerpoint/2010/main" val="1673217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60BD873B-AA66-998A-294A-52F656B9990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19282D3-63D2-0502-B93C-DB95C92FA9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E504B96-0FF0-2E89-DFAD-6A0005370227}"/>
              </a:ext>
            </a:extLst>
          </p:cNvPr>
          <p:cNvSpPr>
            <a:spLocks noGrp="1" noChangeArrowheads="1"/>
          </p:cNvSpPr>
          <p:nvPr>
            <p:ph type="sldNum" sz="quarter" idx="12"/>
          </p:nvPr>
        </p:nvSpPr>
        <p:spPr>
          <a:ln/>
        </p:spPr>
        <p:txBody>
          <a:bodyPr/>
          <a:lstStyle>
            <a:lvl1pPr>
              <a:defRPr/>
            </a:lvl1pPr>
          </a:lstStyle>
          <a:p>
            <a:pPr>
              <a:defRPr/>
            </a:pPr>
            <a:fld id="{8C374F23-174C-4BC6-ABD9-92A28803ED65}" type="slidenum">
              <a:rPr lang="en-US" altLang="en-US"/>
              <a:pPr>
                <a:defRPr/>
              </a:pPr>
              <a:t>‹#›</a:t>
            </a:fld>
            <a:endParaRPr lang="en-US" altLang="en-US"/>
          </a:p>
        </p:txBody>
      </p:sp>
    </p:spTree>
    <p:extLst>
      <p:ext uri="{BB962C8B-B14F-4D97-AF65-F5344CB8AC3E}">
        <p14:creationId xmlns:p14="http://schemas.microsoft.com/office/powerpoint/2010/main" val="1706328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DF6778D-C9BA-FDE6-E0DC-BEBA9643D4F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CF16D62-8A9F-EC79-37FD-49E13CE873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67F1255-9B56-F3F4-3618-DB1FB151A5F6}"/>
              </a:ext>
            </a:extLst>
          </p:cNvPr>
          <p:cNvSpPr>
            <a:spLocks noGrp="1" noChangeArrowheads="1"/>
          </p:cNvSpPr>
          <p:nvPr>
            <p:ph type="sldNum" sz="quarter" idx="12"/>
          </p:nvPr>
        </p:nvSpPr>
        <p:spPr>
          <a:ln/>
        </p:spPr>
        <p:txBody>
          <a:bodyPr/>
          <a:lstStyle>
            <a:lvl1pPr>
              <a:defRPr/>
            </a:lvl1pPr>
          </a:lstStyle>
          <a:p>
            <a:pPr>
              <a:defRPr/>
            </a:pPr>
            <a:fld id="{21A0EC92-9C02-4F18-9503-339AEB0637AD}" type="slidenum">
              <a:rPr lang="en-US" altLang="en-US"/>
              <a:pPr>
                <a:defRPr/>
              </a:pPr>
              <a:t>‹#›</a:t>
            </a:fld>
            <a:endParaRPr lang="en-US" altLang="en-US"/>
          </a:p>
        </p:txBody>
      </p:sp>
    </p:spTree>
    <p:extLst>
      <p:ext uri="{BB962C8B-B14F-4D97-AF65-F5344CB8AC3E}">
        <p14:creationId xmlns:p14="http://schemas.microsoft.com/office/powerpoint/2010/main" val="177793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D345E34-E467-7991-B2AF-73ED4FE19623}"/>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05615F89-67FA-18BB-54CC-1494E69CBFB6}"/>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C536EC21-8289-B48F-80BD-83B0CD94B0C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BC04DC27-63D0-3D8D-3281-D351460C6D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A2D29420-F452-E089-A911-0930C3BFA7FF}"/>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76690800-EE9D-ADDF-DD3A-ABF42BC27FA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1A6BA7B5-B51C-EA65-A7D9-A663DD263E4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0B7EB65F-68BB-567E-2181-5E000C6608A5}"/>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656CC82B-5F89-170B-DA89-463DCE6009BC}"/>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0A6E5069-418D-82BB-7BD4-79DBAA86756B}"/>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0DB11F4D-39C3-F6F1-42B5-94F30E61E058}"/>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23A2BDE6-4A4A-A6D6-D3F9-016479D9FFFF}"/>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CD2ED16-8D4E-7549-7322-669566DDEF8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3DBD444D-C319-928E-2736-4C296846DF9E}"/>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BD98CEAA-AF5D-8770-A48A-A8071463FDCC}"/>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D7D0FA5F-A8A5-8118-8E28-4963A5302776}"/>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54B22AED-ED09-9FB5-1E17-D495065FFA6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CDE2BA21-D4DC-8931-A8B5-D8AAB43D9CD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B6CE866-230A-C23F-6068-9405CD83702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B000EBEF-B402-B8C4-12D1-8E1D7CC7FD6D}"/>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3DE1ED43-47FA-6F0C-BAA9-D0C309B3A46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E25BEB87-A1D8-A59E-E8E5-7F29E963ADDE}"/>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193B0F29-A731-67D2-4118-018B4E5D8A0B}"/>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C124B84F-BA24-F2F7-D46E-C5A9F1600C5F}"/>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A5519EAE-4E3C-4F6D-9DF4-99D2019ECA5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a6ZZWol3WJs?feature=oembed" TargetMode="Externa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https://www.youtube.com/embed/ICSWx5W_M4s?start=33&amp;feature=oembed" TargetMode="Externa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Iz6FnvhQ4Ms?feature=oembed" TargetMode="External"/><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P993Bt5O3qw?feature=oembed" TargetMode="Externa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https://www.youtube.com/embed/sJpxA-NFgK8?start=115&amp;feature=oembed" TargetMode="External"/><Relationship Id="rId5" Type="http://schemas.openxmlformats.org/officeDocument/2006/relationships/image" Target="../media/image11.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byzFWqkQWS4?feature=oembed" TargetMode="Externa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wMgirP7z4k8?feature=oembed" TargetMode="External"/><Relationship Id="rId5" Type="http://schemas.openxmlformats.org/officeDocument/2006/relationships/image" Target="../media/image15.pn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E89979B-9D2C-B40E-9393-37FBFA0B9F2D}"/>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a:t>
            </a:r>
            <a:r>
              <a:rPr lang="en-GB" altLang="en-US" sz="2800" b="1" dirty="0">
                <a:solidFill>
                  <a:srgbClr val="0070C0"/>
                </a:solidFill>
              </a:rPr>
              <a:t>Specialist Component Content: Digital Production, </a:t>
            </a:r>
            <a:r>
              <a:rPr lang="en-GB" altLang="en-US" sz="2800" b="1">
                <a:solidFill>
                  <a:srgbClr val="0070C0"/>
                </a:solidFill>
              </a:rPr>
              <a:t>Design and </a:t>
            </a:r>
            <a:r>
              <a:rPr lang="en-GB" altLang="en-US" sz="2800" b="1" dirty="0">
                <a:solidFill>
                  <a:srgbClr val="0070C0"/>
                </a:solidFill>
              </a:rPr>
              <a:t>Development</a:t>
            </a:r>
          </a:p>
        </p:txBody>
      </p:sp>
      <p:sp>
        <p:nvSpPr>
          <p:cNvPr id="15363" name="TextBox 4">
            <a:extLst>
              <a:ext uri="{FF2B5EF4-FFF2-40B4-BE49-F238E27FC236}">
                <a16:creationId xmlns:a16="http://schemas.microsoft.com/office/drawing/2014/main" id="{BEEFD9BD-28E1-0CCC-6C56-6D5A9AA9EC2B}"/>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611560" y="1803709"/>
            <a:ext cx="8424936" cy="4681239"/>
          </a:xfrm>
        </p:spPr>
        <p:txBody>
          <a:bodyPr/>
          <a:lstStyle/>
          <a:p>
            <a:pPr eaLnBrk="1" hangingPunct="1">
              <a:defRPr/>
            </a:pPr>
            <a:r>
              <a:rPr lang="en-GB" sz="2000" b="1" dirty="0"/>
              <a:t>Aims:</a:t>
            </a:r>
          </a:p>
          <a:p>
            <a:pPr lvl="1" eaLnBrk="1" hangingPunct="1">
              <a:defRPr/>
            </a:pPr>
            <a:r>
              <a:rPr lang="en-GB" sz="2000" dirty="0"/>
              <a:t>To understand how to perform a user analysis</a:t>
            </a:r>
          </a:p>
          <a:p>
            <a:pPr marL="457200" lvl="1" indent="0" eaLnBrk="1" hangingPunct="1">
              <a:buNone/>
              <a:defRPr/>
            </a:pPr>
            <a:endParaRPr lang="en-GB" sz="2000" dirty="0"/>
          </a:p>
          <a:p>
            <a:pPr eaLnBrk="1" hangingPunct="1">
              <a:defRPr/>
            </a:pPr>
            <a:r>
              <a:rPr lang="en-GB" sz="2000" b="1" dirty="0"/>
              <a:t>Objectives</a:t>
            </a:r>
            <a:r>
              <a:rPr lang="en-US" sz="2000" b="1" dirty="0"/>
              <a:t>:</a:t>
            </a:r>
          </a:p>
          <a:p>
            <a:pPr lvl="1" eaLnBrk="1" hangingPunct="1">
              <a:defRPr/>
            </a:pPr>
            <a:r>
              <a:rPr lang="en-GB" sz="2000" dirty="0"/>
              <a:t>To be able to select and use business analysis models to aid problem solving, including:</a:t>
            </a:r>
          </a:p>
          <a:p>
            <a:pPr lvl="2" eaLnBrk="1" hangingPunct="1">
              <a:defRPr/>
            </a:pPr>
            <a:r>
              <a:rPr lang="en-GB" sz="1800" dirty="0"/>
              <a:t>User stories</a:t>
            </a:r>
          </a:p>
          <a:p>
            <a:pPr lvl="2" eaLnBrk="1" hangingPunct="1">
              <a:defRPr/>
            </a:pPr>
            <a:r>
              <a:rPr lang="en-GB" sz="1800" dirty="0"/>
              <a:t>Activity diagrams</a:t>
            </a:r>
          </a:p>
          <a:p>
            <a:pPr lvl="2" eaLnBrk="1" hangingPunct="1">
              <a:defRPr/>
            </a:pPr>
            <a:r>
              <a:rPr lang="en-GB" sz="1800" dirty="0"/>
              <a:t>Mind maps</a:t>
            </a:r>
          </a:p>
          <a:p>
            <a:pPr lvl="2" eaLnBrk="1" hangingPunct="1">
              <a:defRPr/>
            </a:pPr>
            <a:r>
              <a:rPr lang="en-GB" sz="1800" dirty="0"/>
              <a:t>Product road maps</a:t>
            </a:r>
          </a:p>
          <a:p>
            <a:pPr lvl="2" eaLnBrk="1" hangingPunct="1">
              <a:defRPr/>
            </a:pPr>
            <a:r>
              <a:rPr lang="en-GB" sz="1800" dirty="0"/>
              <a:t>Process diagrams</a:t>
            </a:r>
          </a:p>
          <a:p>
            <a:pPr lvl="2" eaLnBrk="1" hangingPunct="1">
              <a:defRPr/>
            </a:pPr>
            <a:r>
              <a:rPr lang="en-GB" sz="1800" dirty="0"/>
              <a:t>Entity relationship diagrams</a:t>
            </a:r>
          </a:p>
          <a:p>
            <a:pPr marL="914400" lvl="2" indent="0" eaLnBrk="1" hangingPunct="1">
              <a:buNone/>
            </a:pP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871ADF7-58D2-8339-EBB0-0AD873843B03}"/>
              </a:ext>
            </a:extLst>
          </p:cNvPr>
          <p:cNvSpPr>
            <a:spLocks noGrp="1" noChangeArrowheads="1"/>
          </p:cNvSpPr>
          <p:nvPr>
            <p:ph type="title"/>
          </p:nvPr>
        </p:nvSpPr>
        <p:spPr>
          <a:xfrm>
            <a:off x="1331640" y="446193"/>
            <a:ext cx="7650162" cy="939800"/>
          </a:xfrm>
        </p:spPr>
        <p:txBody>
          <a:bodyPr/>
          <a:lstStyle/>
          <a:p>
            <a:r>
              <a:rPr lang="en-GB" altLang="en-US" sz="3200" b="1" dirty="0">
                <a:solidFill>
                  <a:srgbClr val="0070C0"/>
                </a:solidFill>
              </a:rPr>
              <a:t>Why Use Business Analysis Models?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DD20326B-8666-8C4D-280F-5E5ACAE14B9E}"/>
              </a:ext>
            </a:extLst>
          </p:cNvPr>
          <p:cNvSpPr>
            <a:spLocks noGrp="1" noChangeArrowheads="1"/>
          </p:cNvSpPr>
          <p:nvPr>
            <p:ph idx="1"/>
          </p:nvPr>
        </p:nvSpPr>
        <p:spPr>
          <a:xfrm>
            <a:off x="394792" y="1715015"/>
            <a:ext cx="6264696" cy="2016224"/>
          </a:xfrm>
        </p:spPr>
        <p:txBody>
          <a:bodyPr/>
          <a:lstStyle/>
          <a:p>
            <a:r>
              <a:rPr lang="en-GB" sz="1800" b="1" dirty="0"/>
              <a:t>Purpose of Business Analysis Models:</a:t>
            </a:r>
          </a:p>
          <a:p>
            <a:pPr lvl="1"/>
            <a:r>
              <a:rPr lang="en-GB" sz="1600" dirty="0"/>
              <a:t>To clarify complex business problems</a:t>
            </a:r>
          </a:p>
          <a:p>
            <a:pPr lvl="1"/>
            <a:r>
              <a:rPr lang="en-GB" sz="1600" dirty="0"/>
              <a:t>To visualize systems, processes, and user interactions</a:t>
            </a:r>
          </a:p>
          <a:p>
            <a:pPr lvl="1"/>
            <a:r>
              <a:rPr lang="en-GB" sz="1600" dirty="0"/>
              <a:t>To ensure clear communication between stakeholders</a:t>
            </a:r>
          </a:p>
          <a:p>
            <a:pPr lvl="1"/>
            <a:r>
              <a:rPr lang="en-GB" sz="1600" dirty="0"/>
              <a:t>To support evidence-based decision making</a:t>
            </a:r>
          </a:p>
          <a:p>
            <a:pPr lvl="1"/>
            <a:r>
              <a:rPr lang="en-GB" sz="1600" dirty="0"/>
              <a:t>To guide requirement gathering and solution design</a:t>
            </a:r>
          </a:p>
          <a:p>
            <a:endParaRPr lang="en-GB" altLang="en-US" sz="1800" dirty="0"/>
          </a:p>
        </p:txBody>
      </p:sp>
      <p:sp>
        <p:nvSpPr>
          <p:cNvPr id="6" name="Content Placeholder 2">
            <a:extLst>
              <a:ext uri="{FF2B5EF4-FFF2-40B4-BE49-F238E27FC236}">
                <a16:creationId xmlns:a16="http://schemas.microsoft.com/office/drawing/2014/main" id="{FA62FBB9-9F16-137B-3DCC-332FA6084783}"/>
              </a:ext>
            </a:extLst>
          </p:cNvPr>
          <p:cNvSpPr txBox="1">
            <a:spLocks noChangeArrowheads="1"/>
          </p:cNvSpPr>
          <p:nvPr/>
        </p:nvSpPr>
        <p:spPr bwMode="auto">
          <a:xfrm>
            <a:off x="204217" y="3731239"/>
            <a:ext cx="4367783"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Benefits:</a:t>
            </a:r>
          </a:p>
          <a:p>
            <a:pPr lvl="1"/>
            <a:r>
              <a:rPr lang="en-GB" sz="1800" dirty="0"/>
              <a:t>Improved understanding of business needs</a:t>
            </a:r>
          </a:p>
          <a:p>
            <a:pPr lvl="1"/>
            <a:r>
              <a:rPr lang="en-GB" sz="1800" dirty="0"/>
              <a:t>Reduced ambiguity in requirements</a:t>
            </a:r>
          </a:p>
          <a:p>
            <a:pPr lvl="1"/>
            <a:r>
              <a:rPr lang="en-GB" sz="1800" dirty="0"/>
              <a:t>Faster identification of risks and opportunities</a:t>
            </a:r>
          </a:p>
          <a:p>
            <a:pPr lvl="1"/>
            <a:r>
              <a:rPr lang="en-GB" sz="1800" dirty="0"/>
              <a:t>Better stakeholder alignment</a:t>
            </a:r>
          </a:p>
          <a:p>
            <a:pPr lvl="1"/>
            <a:r>
              <a:rPr lang="en-GB" sz="1800" dirty="0"/>
              <a:t>Enhanced project planning and tracking</a:t>
            </a:r>
          </a:p>
          <a:p>
            <a:endParaRPr lang="en-GB" altLang="en-US" sz="1800" kern="0" dirty="0"/>
          </a:p>
        </p:txBody>
      </p:sp>
      <p:sp>
        <p:nvSpPr>
          <p:cNvPr id="7" name="Content Placeholder 2">
            <a:extLst>
              <a:ext uri="{FF2B5EF4-FFF2-40B4-BE49-F238E27FC236}">
                <a16:creationId xmlns:a16="http://schemas.microsoft.com/office/drawing/2014/main" id="{FF85F8B1-AE88-EF44-AA88-588F1087F9D1}"/>
              </a:ext>
            </a:extLst>
          </p:cNvPr>
          <p:cNvSpPr txBox="1">
            <a:spLocks noChangeArrowheads="1"/>
          </p:cNvSpPr>
          <p:nvPr/>
        </p:nvSpPr>
        <p:spPr bwMode="auto">
          <a:xfrm>
            <a:off x="4310571" y="3704528"/>
            <a:ext cx="4697834" cy="2938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Use Models To:</a:t>
            </a:r>
          </a:p>
          <a:p>
            <a:pPr lvl="1"/>
            <a:r>
              <a:rPr lang="en-GB" sz="1800" dirty="0"/>
              <a:t>Capture </a:t>
            </a:r>
            <a:r>
              <a:rPr lang="en-GB" sz="1800" b="1" dirty="0"/>
              <a:t>user needs</a:t>
            </a:r>
            <a:r>
              <a:rPr lang="en-GB" sz="1800" dirty="0"/>
              <a:t> (User Stories)</a:t>
            </a:r>
          </a:p>
          <a:p>
            <a:pPr lvl="1"/>
            <a:r>
              <a:rPr lang="en-GB" sz="1800" dirty="0"/>
              <a:t>Design </a:t>
            </a:r>
            <a:r>
              <a:rPr lang="en-GB" sz="1800" b="1" dirty="0"/>
              <a:t>workflows and processes</a:t>
            </a:r>
            <a:r>
              <a:rPr lang="en-GB" sz="1800" dirty="0"/>
              <a:t> (Activity/Process Diagrams)</a:t>
            </a:r>
          </a:p>
          <a:p>
            <a:pPr lvl="1"/>
            <a:r>
              <a:rPr lang="en-GB" sz="1800" dirty="0"/>
              <a:t>Organize </a:t>
            </a:r>
            <a:r>
              <a:rPr lang="en-GB" sz="1800" b="1" dirty="0"/>
              <a:t>ideas and structure</a:t>
            </a:r>
            <a:r>
              <a:rPr lang="en-GB" sz="1800" dirty="0"/>
              <a:t> (Mind Maps)</a:t>
            </a:r>
          </a:p>
          <a:p>
            <a:pPr lvl="1"/>
            <a:r>
              <a:rPr lang="en-GB" sz="1800" dirty="0"/>
              <a:t>Define </a:t>
            </a:r>
            <a:r>
              <a:rPr lang="en-GB" sz="1800" b="1" dirty="0"/>
              <a:t>data structures</a:t>
            </a:r>
            <a:r>
              <a:rPr lang="en-GB" sz="1800" dirty="0"/>
              <a:t> (ERDs)</a:t>
            </a:r>
          </a:p>
          <a:p>
            <a:pPr lvl="1"/>
            <a:r>
              <a:rPr lang="en-GB" sz="1800" dirty="0"/>
              <a:t>Plan </a:t>
            </a:r>
            <a:r>
              <a:rPr lang="en-GB" sz="1800" b="1" dirty="0"/>
              <a:t>feature releases</a:t>
            </a:r>
            <a:r>
              <a:rPr lang="en-GB" sz="1800" dirty="0"/>
              <a:t> (Product Roadmaps)</a:t>
            </a:r>
          </a:p>
          <a:p>
            <a:endParaRPr lang="en-GB" altLang="en-US" sz="1800" kern="0" dirty="0"/>
          </a:p>
        </p:txBody>
      </p:sp>
      <p:pic>
        <p:nvPicPr>
          <p:cNvPr id="8" name="Online Media 7" title="How Business Analysts Use Models to Create Great Requirements">
            <a:hlinkClick r:id="" action="ppaction://media"/>
            <a:extLst>
              <a:ext uri="{FF2B5EF4-FFF2-40B4-BE49-F238E27FC236}">
                <a16:creationId xmlns:a16="http://schemas.microsoft.com/office/drawing/2014/main" id="{2A45882B-BA45-7DDC-51A2-23EDEBFEE4BF}"/>
              </a:ext>
            </a:extLst>
          </p:cNvPr>
          <p:cNvPicPr>
            <a:picLocks noRot="1" noChangeAspect="1"/>
          </p:cNvPicPr>
          <p:nvPr>
            <a:videoFile r:link="rId1"/>
          </p:nvPr>
        </p:nvPicPr>
        <p:blipFill>
          <a:blip r:embed="rId4"/>
          <a:stretch>
            <a:fillRect/>
          </a:stretch>
        </p:blipFill>
        <p:spPr>
          <a:xfrm>
            <a:off x="6309599" y="1845862"/>
            <a:ext cx="2672203" cy="15096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2F50-E1F9-3F92-3327-B57905C0EA1F}"/>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D87EF279-DBB4-6ABA-D7D4-2173DBB6FA2B}"/>
              </a:ext>
            </a:extLst>
          </p:cNvPr>
          <p:cNvSpPr>
            <a:spLocks noGrp="1" noChangeArrowheads="1"/>
          </p:cNvSpPr>
          <p:nvPr>
            <p:ph type="title"/>
          </p:nvPr>
        </p:nvSpPr>
        <p:spPr>
          <a:xfrm>
            <a:off x="1331640" y="446194"/>
            <a:ext cx="4032448" cy="939800"/>
          </a:xfrm>
        </p:spPr>
        <p:txBody>
          <a:bodyPr/>
          <a:lstStyle/>
          <a:p>
            <a:r>
              <a:rPr lang="en-GB" sz="3600" b="1" dirty="0">
                <a:solidFill>
                  <a:srgbClr val="0070C0"/>
                </a:solidFill>
              </a:rPr>
              <a:t>User Stories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720333F6-68B8-CB39-3037-9E3980BFC14E}"/>
              </a:ext>
            </a:extLst>
          </p:cNvPr>
          <p:cNvSpPr>
            <a:spLocks noGrp="1" noChangeArrowheads="1"/>
          </p:cNvSpPr>
          <p:nvPr>
            <p:ph idx="1"/>
          </p:nvPr>
        </p:nvSpPr>
        <p:spPr>
          <a:xfrm>
            <a:off x="396081" y="1988840"/>
            <a:ext cx="8351838" cy="504056"/>
          </a:xfrm>
        </p:spPr>
        <p:txBody>
          <a:bodyPr/>
          <a:lstStyle/>
          <a:p>
            <a:r>
              <a:rPr lang="en-GB" sz="1800" b="1" dirty="0"/>
              <a:t>Purpose:</a:t>
            </a:r>
            <a:r>
              <a:rPr lang="en-GB" sz="1800" dirty="0"/>
              <a:t> Capture requirements from the user’s perspective</a:t>
            </a:r>
            <a:endParaRPr lang="en-GB" altLang="en-US" sz="1800" dirty="0"/>
          </a:p>
        </p:txBody>
      </p:sp>
      <p:sp>
        <p:nvSpPr>
          <p:cNvPr id="2" name="Content Placeholder 2">
            <a:extLst>
              <a:ext uri="{FF2B5EF4-FFF2-40B4-BE49-F238E27FC236}">
                <a16:creationId xmlns:a16="http://schemas.microsoft.com/office/drawing/2014/main" id="{BA751184-8CF0-E4C2-376A-A7F6321C7F36}"/>
              </a:ext>
            </a:extLst>
          </p:cNvPr>
          <p:cNvSpPr txBox="1">
            <a:spLocks noChangeArrowheads="1"/>
          </p:cNvSpPr>
          <p:nvPr/>
        </p:nvSpPr>
        <p:spPr bwMode="auto">
          <a:xfrm>
            <a:off x="418006" y="2594801"/>
            <a:ext cx="835183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Format:</a:t>
            </a:r>
            <a:r>
              <a:rPr lang="en-GB" sz="1800" dirty="0"/>
              <a:t> </a:t>
            </a:r>
            <a:r>
              <a:rPr lang="en-GB" sz="1800" i="1" dirty="0"/>
              <a:t>As a [type of user], I want [goal] so that [benefit]</a:t>
            </a:r>
            <a:endParaRPr lang="en-GB" altLang="en-US" sz="1800" kern="0" dirty="0"/>
          </a:p>
        </p:txBody>
      </p:sp>
      <p:sp>
        <p:nvSpPr>
          <p:cNvPr id="3" name="Content Placeholder 2">
            <a:extLst>
              <a:ext uri="{FF2B5EF4-FFF2-40B4-BE49-F238E27FC236}">
                <a16:creationId xmlns:a16="http://schemas.microsoft.com/office/drawing/2014/main" id="{B6FA7C49-FA76-518A-0F78-818A14BA28DA}"/>
              </a:ext>
            </a:extLst>
          </p:cNvPr>
          <p:cNvSpPr txBox="1">
            <a:spLocks noChangeArrowheads="1"/>
          </p:cNvSpPr>
          <p:nvPr/>
        </p:nvSpPr>
        <p:spPr bwMode="auto">
          <a:xfrm>
            <a:off x="387287" y="3095742"/>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Use When:</a:t>
            </a:r>
            <a:endParaRPr lang="en-GB" sz="1800" dirty="0"/>
          </a:p>
          <a:p>
            <a:pPr lvl="1"/>
            <a:r>
              <a:rPr lang="en-GB" sz="1800" dirty="0"/>
              <a:t>Defining functional requirements</a:t>
            </a:r>
          </a:p>
          <a:p>
            <a:pPr lvl="1"/>
            <a:r>
              <a:rPr lang="en-GB" sz="1800" dirty="0"/>
              <a:t>Starting Agile or Scrum projects</a:t>
            </a:r>
          </a:p>
        </p:txBody>
      </p:sp>
      <p:sp>
        <p:nvSpPr>
          <p:cNvPr id="4" name="Content Placeholder 2">
            <a:extLst>
              <a:ext uri="{FF2B5EF4-FFF2-40B4-BE49-F238E27FC236}">
                <a16:creationId xmlns:a16="http://schemas.microsoft.com/office/drawing/2014/main" id="{B74B8AE7-B9B9-45EF-04A5-FB403B230A66}"/>
              </a:ext>
            </a:extLst>
          </p:cNvPr>
          <p:cNvSpPr txBox="1">
            <a:spLocks noChangeArrowheads="1"/>
          </p:cNvSpPr>
          <p:nvPr/>
        </p:nvSpPr>
        <p:spPr bwMode="auto">
          <a:xfrm>
            <a:off x="364358" y="5479364"/>
            <a:ext cx="8351838" cy="1015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Example:</a:t>
            </a:r>
            <a:br>
              <a:rPr lang="en-GB" sz="1800" dirty="0"/>
            </a:br>
            <a:r>
              <a:rPr lang="en-GB" sz="1800" i="1" dirty="0"/>
              <a:t>As a customer, I want to track my order status so that I stay informed about delivery.</a:t>
            </a:r>
            <a:endParaRPr lang="en-GB" altLang="en-US" sz="1800" kern="0" dirty="0"/>
          </a:p>
        </p:txBody>
      </p:sp>
      <p:pic>
        <p:nvPicPr>
          <p:cNvPr id="3074" name="Picture 2" descr="User Stories and Mapping - Business Analyst Articles, Webinars, Templates,  Jobs">
            <a:extLst>
              <a:ext uri="{FF2B5EF4-FFF2-40B4-BE49-F238E27FC236}">
                <a16:creationId xmlns:a16="http://schemas.microsoft.com/office/drawing/2014/main" id="{8925B8CA-1DC7-0445-11D6-BD77219397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1391" y="292354"/>
            <a:ext cx="1485965" cy="111304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4 Levels of User Stories for Information Systems">
            <a:extLst>
              <a:ext uri="{FF2B5EF4-FFF2-40B4-BE49-F238E27FC236}">
                <a16:creationId xmlns:a16="http://schemas.microsoft.com/office/drawing/2014/main" id="{D72AAA09-1DD1-99D5-9E26-8D5D0FB6E5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2492" y="4426491"/>
            <a:ext cx="1306470" cy="1015501"/>
          </a:xfrm>
          <a:prstGeom prst="rect">
            <a:avLst/>
          </a:prstGeom>
          <a:noFill/>
          <a:extLst>
            <a:ext uri="{909E8E84-426E-40DD-AFC4-6F175D3DCCD1}">
              <a14:hiddenFill xmlns:a14="http://schemas.microsoft.com/office/drawing/2010/main">
                <a:solidFill>
                  <a:srgbClr val="FFFFFF"/>
                </a:solidFill>
              </a14:hiddenFill>
            </a:ext>
          </a:extLst>
        </p:spPr>
      </p:pic>
      <p:pic>
        <p:nvPicPr>
          <p:cNvPr id="5" name="Online Media 4" title="5 User Story Tips You Must Know">
            <a:hlinkClick r:id="" action="ppaction://media"/>
            <a:extLst>
              <a:ext uri="{FF2B5EF4-FFF2-40B4-BE49-F238E27FC236}">
                <a16:creationId xmlns:a16="http://schemas.microsoft.com/office/drawing/2014/main" id="{C61C9160-BDB3-D77B-47D1-8A73201323EB}"/>
              </a:ext>
            </a:extLst>
          </p:cNvPr>
          <p:cNvPicPr>
            <a:picLocks noRot="1" noChangeAspect="1"/>
          </p:cNvPicPr>
          <p:nvPr>
            <a:videoFile r:link="rId1"/>
          </p:nvPr>
        </p:nvPicPr>
        <p:blipFill>
          <a:blip r:embed="rId6"/>
          <a:stretch>
            <a:fillRect/>
          </a:stretch>
        </p:blipFill>
        <p:spPr>
          <a:xfrm>
            <a:off x="5076056" y="3347487"/>
            <a:ext cx="3824045" cy="2160320"/>
          </a:xfrm>
          <a:prstGeom prst="rect">
            <a:avLst/>
          </a:prstGeom>
        </p:spPr>
      </p:pic>
    </p:spTree>
    <p:extLst>
      <p:ext uri="{BB962C8B-B14F-4D97-AF65-F5344CB8AC3E}">
        <p14:creationId xmlns:p14="http://schemas.microsoft.com/office/powerpoint/2010/main" val="310379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BF9E-F596-26A2-8932-E63D01983C8F}"/>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4FEB070C-5D7A-9804-5856-A3404272E63A}"/>
              </a:ext>
            </a:extLst>
          </p:cNvPr>
          <p:cNvSpPr>
            <a:spLocks noGrp="1" noChangeArrowheads="1"/>
          </p:cNvSpPr>
          <p:nvPr>
            <p:ph type="title"/>
          </p:nvPr>
        </p:nvSpPr>
        <p:spPr>
          <a:xfrm>
            <a:off x="1331640" y="446193"/>
            <a:ext cx="7650162" cy="939800"/>
          </a:xfrm>
        </p:spPr>
        <p:txBody>
          <a:bodyPr/>
          <a:lstStyle/>
          <a:p>
            <a:r>
              <a:rPr lang="en-GB" sz="3600" b="1" dirty="0">
                <a:solidFill>
                  <a:srgbClr val="0070C0"/>
                </a:solidFill>
              </a:rPr>
              <a:t>Activity Diagrams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11BB1A77-60E0-9135-5B96-D7F066F26F84}"/>
              </a:ext>
            </a:extLst>
          </p:cNvPr>
          <p:cNvSpPr>
            <a:spLocks noGrp="1" noChangeArrowheads="1"/>
          </p:cNvSpPr>
          <p:nvPr>
            <p:ph idx="1"/>
          </p:nvPr>
        </p:nvSpPr>
        <p:spPr>
          <a:xfrm>
            <a:off x="396081" y="1988840"/>
            <a:ext cx="6120135" cy="504056"/>
          </a:xfrm>
        </p:spPr>
        <p:txBody>
          <a:bodyPr/>
          <a:lstStyle/>
          <a:p>
            <a:r>
              <a:rPr lang="en-GB" sz="1800" b="1" dirty="0"/>
              <a:t>Purpose:</a:t>
            </a:r>
            <a:r>
              <a:rPr lang="en-GB" sz="1800" dirty="0"/>
              <a:t> Show the flow of activities in a process</a:t>
            </a:r>
            <a:endParaRPr lang="en-GB" altLang="en-US" sz="1800" dirty="0"/>
          </a:p>
        </p:txBody>
      </p:sp>
      <p:sp>
        <p:nvSpPr>
          <p:cNvPr id="2" name="Content Placeholder 2">
            <a:extLst>
              <a:ext uri="{FF2B5EF4-FFF2-40B4-BE49-F238E27FC236}">
                <a16:creationId xmlns:a16="http://schemas.microsoft.com/office/drawing/2014/main" id="{8B4B7971-9953-3655-CBA2-965C5017D1F7}"/>
              </a:ext>
            </a:extLst>
          </p:cNvPr>
          <p:cNvSpPr txBox="1">
            <a:spLocks noChangeArrowheads="1"/>
          </p:cNvSpPr>
          <p:nvPr/>
        </p:nvSpPr>
        <p:spPr bwMode="auto">
          <a:xfrm>
            <a:off x="327184" y="5805264"/>
            <a:ext cx="835183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a:t>
            </a:r>
            <a:r>
              <a:rPr lang="en-GB" sz="1800" dirty="0"/>
              <a:t> UML modelling tools like </a:t>
            </a:r>
            <a:r>
              <a:rPr lang="en-GB" sz="1800" dirty="0" err="1"/>
              <a:t>Lucidchart</a:t>
            </a:r>
            <a:r>
              <a:rPr lang="en-GB" sz="1800" dirty="0"/>
              <a:t>, Visual Paradigm</a:t>
            </a:r>
            <a:endParaRPr lang="en-GB" altLang="en-US" sz="1800" kern="0" dirty="0"/>
          </a:p>
        </p:txBody>
      </p:sp>
      <p:sp>
        <p:nvSpPr>
          <p:cNvPr id="3" name="Content Placeholder 2">
            <a:extLst>
              <a:ext uri="{FF2B5EF4-FFF2-40B4-BE49-F238E27FC236}">
                <a16:creationId xmlns:a16="http://schemas.microsoft.com/office/drawing/2014/main" id="{97A659D8-15E2-2372-24DE-7400B73F577A}"/>
              </a:ext>
            </a:extLst>
          </p:cNvPr>
          <p:cNvSpPr txBox="1">
            <a:spLocks noChangeArrowheads="1"/>
          </p:cNvSpPr>
          <p:nvPr/>
        </p:nvSpPr>
        <p:spPr bwMode="auto">
          <a:xfrm>
            <a:off x="539552" y="2572752"/>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Use When:</a:t>
            </a:r>
            <a:endParaRPr lang="en-GB" sz="1800" dirty="0"/>
          </a:p>
          <a:p>
            <a:pPr lvl="1"/>
            <a:r>
              <a:rPr lang="en-GB" sz="1800" dirty="0"/>
              <a:t>Mapping user interactions or workflows</a:t>
            </a:r>
          </a:p>
          <a:p>
            <a:pPr lvl="1"/>
            <a:r>
              <a:rPr lang="en-GB" sz="1800" dirty="0"/>
              <a:t>Identifying bottlenecks or redundant steps</a:t>
            </a:r>
          </a:p>
        </p:txBody>
      </p:sp>
      <p:sp>
        <p:nvSpPr>
          <p:cNvPr id="6" name="Content Placeholder 2">
            <a:extLst>
              <a:ext uri="{FF2B5EF4-FFF2-40B4-BE49-F238E27FC236}">
                <a16:creationId xmlns:a16="http://schemas.microsoft.com/office/drawing/2014/main" id="{6EDDF5C2-A126-653F-8A5B-2B39C29B2C73}"/>
              </a:ext>
            </a:extLst>
          </p:cNvPr>
          <p:cNvSpPr txBox="1">
            <a:spLocks noChangeArrowheads="1"/>
          </p:cNvSpPr>
          <p:nvPr/>
        </p:nvSpPr>
        <p:spPr bwMode="auto">
          <a:xfrm>
            <a:off x="539552" y="3789040"/>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Elements:</a:t>
            </a:r>
            <a:endParaRPr lang="en-GB" sz="1800" dirty="0"/>
          </a:p>
          <a:p>
            <a:pPr lvl="1"/>
            <a:r>
              <a:rPr lang="en-GB" sz="1800" dirty="0"/>
              <a:t>Actions</a:t>
            </a:r>
          </a:p>
          <a:p>
            <a:pPr lvl="1"/>
            <a:r>
              <a:rPr lang="en-GB" sz="1800" dirty="0"/>
              <a:t>Decisions</a:t>
            </a:r>
          </a:p>
          <a:p>
            <a:pPr lvl="1"/>
            <a:r>
              <a:rPr lang="en-GB" sz="1800" dirty="0"/>
              <a:t>Start/end points</a:t>
            </a:r>
          </a:p>
        </p:txBody>
      </p:sp>
      <p:pic>
        <p:nvPicPr>
          <p:cNvPr id="7" name="Online Media 6" title="How to Make UML Activity Diagram | UML Diagram Tutorial">
            <a:hlinkClick r:id="" action="ppaction://media"/>
            <a:extLst>
              <a:ext uri="{FF2B5EF4-FFF2-40B4-BE49-F238E27FC236}">
                <a16:creationId xmlns:a16="http://schemas.microsoft.com/office/drawing/2014/main" id="{A7E2E3CB-1C50-DD14-8BE3-6113C9297856}"/>
              </a:ext>
            </a:extLst>
          </p:cNvPr>
          <p:cNvPicPr>
            <a:picLocks noRot="1" noChangeAspect="1"/>
          </p:cNvPicPr>
          <p:nvPr>
            <a:videoFile r:link="rId1"/>
          </p:nvPr>
        </p:nvPicPr>
        <p:blipFill>
          <a:blip r:embed="rId4"/>
          <a:stretch>
            <a:fillRect/>
          </a:stretch>
        </p:blipFill>
        <p:spPr>
          <a:xfrm>
            <a:off x="5632920" y="3859540"/>
            <a:ext cx="2969642" cy="1677641"/>
          </a:xfrm>
          <a:prstGeom prst="rect">
            <a:avLst/>
          </a:prstGeom>
        </p:spPr>
      </p:pic>
      <p:pic>
        <p:nvPicPr>
          <p:cNvPr id="2051" name="Picture 3" descr="Activity Diagram Tutorial | Easy Guide ...">
            <a:extLst>
              <a:ext uri="{FF2B5EF4-FFF2-40B4-BE49-F238E27FC236}">
                <a16:creationId xmlns:a16="http://schemas.microsoft.com/office/drawing/2014/main" id="{8491C7E3-B920-19EF-800F-7537A35731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192" y="1776353"/>
            <a:ext cx="2514600" cy="1819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28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3C9F-CE3F-8910-D5A1-CD8C51D918CC}"/>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45145F78-D1E9-3059-9C9A-72C20CA7E89E}"/>
              </a:ext>
            </a:extLst>
          </p:cNvPr>
          <p:cNvSpPr>
            <a:spLocks noGrp="1" noChangeArrowheads="1"/>
          </p:cNvSpPr>
          <p:nvPr>
            <p:ph type="title"/>
          </p:nvPr>
        </p:nvSpPr>
        <p:spPr>
          <a:xfrm>
            <a:off x="1331640" y="446193"/>
            <a:ext cx="7650162" cy="939800"/>
          </a:xfrm>
        </p:spPr>
        <p:txBody>
          <a:bodyPr/>
          <a:lstStyle/>
          <a:p>
            <a:r>
              <a:rPr lang="en-GB" sz="3600" b="1" dirty="0">
                <a:solidFill>
                  <a:srgbClr val="0070C0"/>
                </a:solidFill>
              </a:rPr>
              <a:t>Mind Maps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13AF960A-E358-D5E2-1EA2-0E0AF5DC38CD}"/>
              </a:ext>
            </a:extLst>
          </p:cNvPr>
          <p:cNvSpPr>
            <a:spLocks noGrp="1" noChangeArrowheads="1"/>
          </p:cNvSpPr>
          <p:nvPr>
            <p:ph idx="1"/>
          </p:nvPr>
        </p:nvSpPr>
        <p:spPr>
          <a:xfrm>
            <a:off x="396081" y="1988840"/>
            <a:ext cx="8351838" cy="504056"/>
          </a:xfrm>
        </p:spPr>
        <p:txBody>
          <a:bodyPr/>
          <a:lstStyle/>
          <a:p>
            <a:r>
              <a:rPr lang="en-GB" sz="1800" b="1" dirty="0"/>
              <a:t>Purpose:</a:t>
            </a:r>
            <a:r>
              <a:rPr lang="en-GB" sz="1800" dirty="0"/>
              <a:t> Organize ideas around a central concept</a:t>
            </a:r>
            <a:endParaRPr lang="en-GB" altLang="en-US" sz="1800" dirty="0"/>
          </a:p>
        </p:txBody>
      </p:sp>
      <p:sp>
        <p:nvSpPr>
          <p:cNvPr id="2" name="Content Placeholder 2">
            <a:extLst>
              <a:ext uri="{FF2B5EF4-FFF2-40B4-BE49-F238E27FC236}">
                <a16:creationId xmlns:a16="http://schemas.microsoft.com/office/drawing/2014/main" id="{C69F50F7-29BF-AA68-0010-F31A9EAD5188}"/>
              </a:ext>
            </a:extLst>
          </p:cNvPr>
          <p:cNvSpPr txBox="1">
            <a:spLocks noChangeArrowheads="1"/>
          </p:cNvSpPr>
          <p:nvPr/>
        </p:nvSpPr>
        <p:spPr bwMode="auto">
          <a:xfrm>
            <a:off x="327184" y="5805264"/>
            <a:ext cx="835183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a:t>
            </a:r>
            <a:r>
              <a:rPr lang="en-GB" sz="1800" dirty="0"/>
              <a:t> </a:t>
            </a:r>
            <a:r>
              <a:rPr lang="en-GB" sz="1800" dirty="0" err="1"/>
              <a:t>XMind</a:t>
            </a:r>
            <a:r>
              <a:rPr lang="en-GB" sz="1800" dirty="0"/>
              <a:t>, </a:t>
            </a:r>
            <a:r>
              <a:rPr lang="en-GB" sz="1800" dirty="0" err="1"/>
              <a:t>MindMeister</a:t>
            </a:r>
            <a:r>
              <a:rPr lang="en-GB" sz="1800" dirty="0"/>
              <a:t>, </a:t>
            </a:r>
            <a:r>
              <a:rPr lang="en-GB" sz="1800" dirty="0" err="1"/>
              <a:t>FreeMind</a:t>
            </a:r>
            <a:endParaRPr lang="en-GB" altLang="en-US" sz="1800" kern="0" dirty="0"/>
          </a:p>
        </p:txBody>
      </p:sp>
      <p:sp>
        <p:nvSpPr>
          <p:cNvPr id="3" name="Content Placeholder 2">
            <a:extLst>
              <a:ext uri="{FF2B5EF4-FFF2-40B4-BE49-F238E27FC236}">
                <a16:creationId xmlns:a16="http://schemas.microsoft.com/office/drawing/2014/main" id="{52AA0435-0ACE-A558-BEF7-434C61A1F544}"/>
              </a:ext>
            </a:extLst>
          </p:cNvPr>
          <p:cNvSpPr txBox="1">
            <a:spLocks noChangeArrowheads="1"/>
          </p:cNvSpPr>
          <p:nvPr/>
        </p:nvSpPr>
        <p:spPr bwMode="auto">
          <a:xfrm>
            <a:off x="539552" y="2572752"/>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Use When:</a:t>
            </a:r>
            <a:endParaRPr lang="en-GB" sz="1800" dirty="0"/>
          </a:p>
          <a:p>
            <a:pPr lvl="1"/>
            <a:r>
              <a:rPr lang="en-GB" sz="1800" dirty="0"/>
              <a:t>Brainstorming</a:t>
            </a:r>
          </a:p>
          <a:p>
            <a:pPr lvl="1"/>
            <a:r>
              <a:rPr lang="en-GB" sz="1800" dirty="0"/>
              <a:t>Structuring project requirements</a:t>
            </a:r>
          </a:p>
          <a:p>
            <a:pPr lvl="1"/>
            <a:r>
              <a:rPr lang="en-GB" sz="1800" dirty="0"/>
              <a:t>Planning product features</a:t>
            </a:r>
          </a:p>
        </p:txBody>
      </p:sp>
      <p:sp>
        <p:nvSpPr>
          <p:cNvPr id="6" name="Content Placeholder 2">
            <a:extLst>
              <a:ext uri="{FF2B5EF4-FFF2-40B4-BE49-F238E27FC236}">
                <a16:creationId xmlns:a16="http://schemas.microsoft.com/office/drawing/2014/main" id="{705F7C1A-646F-6951-46F3-9272FCFFF805}"/>
              </a:ext>
            </a:extLst>
          </p:cNvPr>
          <p:cNvSpPr txBox="1">
            <a:spLocks noChangeArrowheads="1"/>
          </p:cNvSpPr>
          <p:nvPr/>
        </p:nvSpPr>
        <p:spPr bwMode="auto">
          <a:xfrm>
            <a:off x="568373" y="4189008"/>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Benefits:</a:t>
            </a:r>
            <a:endParaRPr lang="en-GB" sz="1800" dirty="0"/>
          </a:p>
          <a:p>
            <a:pPr lvl="1"/>
            <a:r>
              <a:rPr lang="en-GB" sz="1800" dirty="0"/>
              <a:t>Visual clarity</a:t>
            </a:r>
          </a:p>
          <a:p>
            <a:pPr lvl="1"/>
            <a:r>
              <a:rPr lang="en-GB" sz="1800" dirty="0"/>
              <a:t>Hierarchical organization</a:t>
            </a:r>
          </a:p>
        </p:txBody>
      </p:sp>
      <p:pic>
        <p:nvPicPr>
          <p:cNvPr id="5" name="Online Media 4" title="Simple Project Planning with Mind Maps">
            <a:hlinkClick r:id="" action="ppaction://media"/>
            <a:extLst>
              <a:ext uri="{FF2B5EF4-FFF2-40B4-BE49-F238E27FC236}">
                <a16:creationId xmlns:a16="http://schemas.microsoft.com/office/drawing/2014/main" id="{59582ECF-8BDE-3BB5-FA2D-F004C895A28E}"/>
              </a:ext>
            </a:extLst>
          </p:cNvPr>
          <p:cNvPicPr>
            <a:picLocks noRot="1" noChangeAspect="1"/>
          </p:cNvPicPr>
          <p:nvPr>
            <a:videoFile r:link="rId1"/>
          </p:nvPr>
        </p:nvPicPr>
        <p:blipFill>
          <a:blip r:embed="rId4"/>
          <a:stretch>
            <a:fillRect/>
          </a:stretch>
        </p:blipFill>
        <p:spPr>
          <a:xfrm>
            <a:off x="5093211" y="3779530"/>
            <a:ext cx="3585811" cy="2025734"/>
          </a:xfrm>
          <a:prstGeom prst="rect">
            <a:avLst/>
          </a:prstGeom>
        </p:spPr>
      </p:pic>
      <p:pic>
        <p:nvPicPr>
          <p:cNvPr id="4099" name="Picture 3">
            <a:extLst>
              <a:ext uri="{FF2B5EF4-FFF2-40B4-BE49-F238E27FC236}">
                <a16:creationId xmlns:a16="http://schemas.microsoft.com/office/drawing/2014/main" id="{A9085FA1-38BA-4CD7-A4FD-A398FA15F8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2202" y="237565"/>
            <a:ext cx="2035717" cy="1437372"/>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Mind Map Example: System Requirements | Mind Map Diagram Template">
            <a:extLst>
              <a:ext uri="{FF2B5EF4-FFF2-40B4-BE49-F238E27FC236}">
                <a16:creationId xmlns:a16="http://schemas.microsoft.com/office/drawing/2014/main" id="{963A1A01-575E-F38C-5298-76331215A9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6702" y="1956406"/>
            <a:ext cx="2463628" cy="1319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49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1520-DC88-2ABA-2BD8-06D7668A6D49}"/>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4EC31B2C-18DD-4DF4-DFE6-226E62918E28}"/>
              </a:ext>
            </a:extLst>
          </p:cNvPr>
          <p:cNvSpPr>
            <a:spLocks noGrp="1" noChangeArrowheads="1"/>
          </p:cNvSpPr>
          <p:nvPr>
            <p:ph type="title"/>
          </p:nvPr>
        </p:nvSpPr>
        <p:spPr>
          <a:xfrm>
            <a:off x="1331640" y="446193"/>
            <a:ext cx="7650162" cy="939800"/>
          </a:xfrm>
        </p:spPr>
        <p:txBody>
          <a:bodyPr/>
          <a:lstStyle/>
          <a:p>
            <a:r>
              <a:rPr lang="en-GB" sz="3600" b="1" dirty="0">
                <a:solidFill>
                  <a:srgbClr val="0070C0"/>
                </a:solidFill>
              </a:rPr>
              <a:t>Product Road Maps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B0D4CC22-1859-B271-B059-B118C5DCD87C}"/>
              </a:ext>
            </a:extLst>
          </p:cNvPr>
          <p:cNvSpPr>
            <a:spLocks noGrp="1" noChangeArrowheads="1"/>
          </p:cNvSpPr>
          <p:nvPr>
            <p:ph idx="1"/>
          </p:nvPr>
        </p:nvSpPr>
        <p:spPr>
          <a:xfrm>
            <a:off x="396081" y="1988840"/>
            <a:ext cx="8351838" cy="504056"/>
          </a:xfrm>
        </p:spPr>
        <p:txBody>
          <a:bodyPr/>
          <a:lstStyle/>
          <a:p>
            <a:r>
              <a:rPr lang="en-GB" sz="1800" b="1" dirty="0"/>
              <a:t>Purpose:</a:t>
            </a:r>
            <a:r>
              <a:rPr lang="en-GB" sz="1800" dirty="0"/>
              <a:t> Show product vision and timelines</a:t>
            </a:r>
            <a:endParaRPr lang="en-GB" altLang="en-US" sz="1800" dirty="0"/>
          </a:p>
        </p:txBody>
      </p:sp>
      <p:sp>
        <p:nvSpPr>
          <p:cNvPr id="2" name="Content Placeholder 2">
            <a:extLst>
              <a:ext uri="{FF2B5EF4-FFF2-40B4-BE49-F238E27FC236}">
                <a16:creationId xmlns:a16="http://schemas.microsoft.com/office/drawing/2014/main" id="{40A91109-D4BC-2137-54E6-C43BD408A1E3}"/>
              </a:ext>
            </a:extLst>
          </p:cNvPr>
          <p:cNvSpPr txBox="1">
            <a:spLocks noChangeArrowheads="1"/>
          </p:cNvSpPr>
          <p:nvPr/>
        </p:nvSpPr>
        <p:spPr bwMode="auto">
          <a:xfrm>
            <a:off x="327184" y="5805264"/>
            <a:ext cx="835183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a:t>
            </a:r>
            <a:r>
              <a:rPr lang="en-GB" sz="1800" dirty="0"/>
              <a:t> Aha!, Trello, Jira Roadmaps</a:t>
            </a:r>
            <a:endParaRPr lang="en-GB" altLang="en-US" sz="1800" kern="0" dirty="0"/>
          </a:p>
        </p:txBody>
      </p:sp>
      <p:sp>
        <p:nvSpPr>
          <p:cNvPr id="3" name="Content Placeholder 2">
            <a:extLst>
              <a:ext uri="{FF2B5EF4-FFF2-40B4-BE49-F238E27FC236}">
                <a16:creationId xmlns:a16="http://schemas.microsoft.com/office/drawing/2014/main" id="{ECDBED10-6228-F895-809A-A1F6F403C66A}"/>
              </a:ext>
            </a:extLst>
          </p:cNvPr>
          <p:cNvSpPr txBox="1">
            <a:spLocks noChangeArrowheads="1"/>
          </p:cNvSpPr>
          <p:nvPr/>
        </p:nvSpPr>
        <p:spPr bwMode="auto">
          <a:xfrm>
            <a:off x="396081" y="2572752"/>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Use When:</a:t>
            </a:r>
            <a:endParaRPr lang="en-GB" sz="1800" dirty="0"/>
          </a:p>
          <a:p>
            <a:pPr lvl="1"/>
            <a:r>
              <a:rPr lang="en-GB" sz="1800" dirty="0"/>
              <a:t>Communicating long-term goals</a:t>
            </a:r>
          </a:p>
          <a:p>
            <a:pPr lvl="1"/>
            <a:r>
              <a:rPr lang="en-GB" sz="1800" dirty="0"/>
              <a:t>Planning releases and features</a:t>
            </a:r>
          </a:p>
        </p:txBody>
      </p:sp>
      <p:sp>
        <p:nvSpPr>
          <p:cNvPr id="6" name="Content Placeholder 2">
            <a:extLst>
              <a:ext uri="{FF2B5EF4-FFF2-40B4-BE49-F238E27FC236}">
                <a16:creationId xmlns:a16="http://schemas.microsoft.com/office/drawing/2014/main" id="{FA407388-858B-4400-78FD-D13A4C6B12D8}"/>
              </a:ext>
            </a:extLst>
          </p:cNvPr>
          <p:cNvSpPr txBox="1">
            <a:spLocks noChangeArrowheads="1"/>
          </p:cNvSpPr>
          <p:nvPr/>
        </p:nvSpPr>
        <p:spPr bwMode="auto">
          <a:xfrm>
            <a:off x="542553" y="3986129"/>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Includes:</a:t>
            </a:r>
            <a:endParaRPr lang="en-GB" sz="1800" dirty="0"/>
          </a:p>
          <a:p>
            <a:pPr lvl="1"/>
            <a:r>
              <a:rPr lang="en-GB" sz="1800" dirty="0"/>
              <a:t>Milestones</a:t>
            </a:r>
          </a:p>
          <a:p>
            <a:pPr lvl="1"/>
            <a:r>
              <a:rPr lang="en-GB" sz="1800" dirty="0"/>
              <a:t>Epics/initiatives</a:t>
            </a:r>
          </a:p>
          <a:p>
            <a:pPr lvl="1"/>
            <a:r>
              <a:rPr lang="en-GB" sz="1800" dirty="0"/>
              <a:t>Timeframes</a:t>
            </a:r>
          </a:p>
        </p:txBody>
      </p:sp>
      <p:pic>
        <p:nvPicPr>
          <p:cNvPr id="5" name="Picture 4">
            <a:extLst>
              <a:ext uri="{FF2B5EF4-FFF2-40B4-BE49-F238E27FC236}">
                <a16:creationId xmlns:a16="http://schemas.microsoft.com/office/drawing/2014/main" id="{BBAB7121-660F-ABAA-7CD3-D4E6D80480A6}"/>
              </a:ext>
            </a:extLst>
          </p:cNvPr>
          <p:cNvPicPr>
            <a:picLocks noChangeAspect="1"/>
          </p:cNvPicPr>
          <p:nvPr/>
        </p:nvPicPr>
        <p:blipFill>
          <a:blip r:embed="rId4"/>
          <a:stretch>
            <a:fillRect/>
          </a:stretch>
        </p:blipFill>
        <p:spPr>
          <a:xfrm>
            <a:off x="5818955" y="2174592"/>
            <a:ext cx="3098255" cy="1729795"/>
          </a:xfrm>
          <a:prstGeom prst="rect">
            <a:avLst/>
          </a:prstGeom>
        </p:spPr>
      </p:pic>
      <p:pic>
        <p:nvPicPr>
          <p:cNvPr id="7" name="Online Media 6" title="What is a Product Roadmap?">
            <a:hlinkClick r:id="" action="ppaction://media"/>
            <a:extLst>
              <a:ext uri="{FF2B5EF4-FFF2-40B4-BE49-F238E27FC236}">
                <a16:creationId xmlns:a16="http://schemas.microsoft.com/office/drawing/2014/main" id="{6890DDB2-5640-C3F7-7727-C773B426ADF9}"/>
              </a:ext>
            </a:extLst>
          </p:cNvPr>
          <p:cNvPicPr>
            <a:picLocks noRot="1" noChangeAspect="1"/>
          </p:cNvPicPr>
          <p:nvPr>
            <a:videoFile r:link="rId1"/>
          </p:nvPr>
        </p:nvPicPr>
        <p:blipFill>
          <a:blip r:embed="rId5"/>
          <a:stretch>
            <a:fillRect/>
          </a:stretch>
        </p:blipFill>
        <p:spPr>
          <a:xfrm>
            <a:off x="4922643" y="4288094"/>
            <a:ext cx="3934684" cy="2222823"/>
          </a:xfrm>
          <a:prstGeom prst="rect">
            <a:avLst/>
          </a:prstGeom>
        </p:spPr>
      </p:pic>
    </p:spTree>
    <p:extLst>
      <p:ext uri="{BB962C8B-B14F-4D97-AF65-F5344CB8AC3E}">
        <p14:creationId xmlns:p14="http://schemas.microsoft.com/office/powerpoint/2010/main" val="83081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46008-32F3-C9C3-4A61-40AAF9D301BB}"/>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0BA82B0E-8037-51C9-9F4C-37E1B3882806}"/>
              </a:ext>
            </a:extLst>
          </p:cNvPr>
          <p:cNvSpPr>
            <a:spLocks noGrp="1" noChangeArrowheads="1"/>
          </p:cNvSpPr>
          <p:nvPr>
            <p:ph type="title"/>
          </p:nvPr>
        </p:nvSpPr>
        <p:spPr>
          <a:xfrm>
            <a:off x="1331640" y="446193"/>
            <a:ext cx="7650162" cy="939800"/>
          </a:xfrm>
        </p:spPr>
        <p:txBody>
          <a:bodyPr/>
          <a:lstStyle/>
          <a:p>
            <a:r>
              <a:rPr lang="en-GB" sz="3600" b="1" dirty="0">
                <a:solidFill>
                  <a:srgbClr val="0070C0"/>
                </a:solidFill>
              </a:rPr>
              <a:t>Process Diagrams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466E91AA-1273-F0B1-B0A0-43CC8F3F13A8}"/>
              </a:ext>
            </a:extLst>
          </p:cNvPr>
          <p:cNvSpPr>
            <a:spLocks noGrp="1" noChangeArrowheads="1"/>
          </p:cNvSpPr>
          <p:nvPr>
            <p:ph idx="1"/>
          </p:nvPr>
        </p:nvSpPr>
        <p:spPr>
          <a:xfrm>
            <a:off x="396081" y="1988840"/>
            <a:ext cx="8351838" cy="504056"/>
          </a:xfrm>
        </p:spPr>
        <p:txBody>
          <a:bodyPr/>
          <a:lstStyle/>
          <a:p>
            <a:r>
              <a:rPr lang="en-GB" sz="1800" b="1" dirty="0"/>
              <a:t>Purpose:</a:t>
            </a:r>
            <a:r>
              <a:rPr lang="en-GB" sz="1800" dirty="0"/>
              <a:t> Visualize how a process works</a:t>
            </a:r>
            <a:endParaRPr lang="en-GB" altLang="en-US" sz="1800" dirty="0"/>
          </a:p>
        </p:txBody>
      </p:sp>
      <p:sp>
        <p:nvSpPr>
          <p:cNvPr id="2" name="Content Placeholder 2">
            <a:extLst>
              <a:ext uri="{FF2B5EF4-FFF2-40B4-BE49-F238E27FC236}">
                <a16:creationId xmlns:a16="http://schemas.microsoft.com/office/drawing/2014/main" id="{E3B8627F-33A8-F7AE-588F-5C41F7E102FF}"/>
              </a:ext>
            </a:extLst>
          </p:cNvPr>
          <p:cNvSpPr txBox="1">
            <a:spLocks noChangeArrowheads="1"/>
          </p:cNvSpPr>
          <p:nvPr/>
        </p:nvSpPr>
        <p:spPr bwMode="auto">
          <a:xfrm>
            <a:off x="327184" y="5805264"/>
            <a:ext cx="835183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a:t>
            </a:r>
            <a:r>
              <a:rPr lang="en-GB" sz="1800" dirty="0"/>
              <a:t> Bizagi, Visio, Draw.io</a:t>
            </a:r>
            <a:endParaRPr lang="en-GB" altLang="en-US" sz="1800" kern="0" dirty="0"/>
          </a:p>
        </p:txBody>
      </p:sp>
      <p:sp>
        <p:nvSpPr>
          <p:cNvPr id="3" name="Content Placeholder 2">
            <a:extLst>
              <a:ext uri="{FF2B5EF4-FFF2-40B4-BE49-F238E27FC236}">
                <a16:creationId xmlns:a16="http://schemas.microsoft.com/office/drawing/2014/main" id="{55B6EA2D-A130-8E4E-14C9-F16975A37F91}"/>
              </a:ext>
            </a:extLst>
          </p:cNvPr>
          <p:cNvSpPr txBox="1">
            <a:spLocks noChangeArrowheads="1"/>
          </p:cNvSpPr>
          <p:nvPr/>
        </p:nvSpPr>
        <p:spPr bwMode="auto">
          <a:xfrm>
            <a:off x="396081" y="2572752"/>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Use When:</a:t>
            </a:r>
            <a:endParaRPr lang="en-GB" sz="1800" dirty="0"/>
          </a:p>
          <a:p>
            <a:pPr lvl="1"/>
            <a:r>
              <a:rPr lang="en-GB" sz="1800" dirty="0"/>
              <a:t>Understanding current operations (As-Is)</a:t>
            </a:r>
          </a:p>
          <a:p>
            <a:pPr lvl="1"/>
            <a:r>
              <a:rPr lang="en-GB" sz="1800" dirty="0"/>
              <a:t>Designing improved workflows (To-Be)</a:t>
            </a:r>
          </a:p>
        </p:txBody>
      </p:sp>
      <p:sp>
        <p:nvSpPr>
          <p:cNvPr id="6" name="Content Placeholder 2">
            <a:extLst>
              <a:ext uri="{FF2B5EF4-FFF2-40B4-BE49-F238E27FC236}">
                <a16:creationId xmlns:a16="http://schemas.microsoft.com/office/drawing/2014/main" id="{C7F68FBF-3484-4C23-683A-449CB81FF4CD}"/>
              </a:ext>
            </a:extLst>
          </p:cNvPr>
          <p:cNvSpPr txBox="1">
            <a:spLocks noChangeArrowheads="1"/>
          </p:cNvSpPr>
          <p:nvPr/>
        </p:nvSpPr>
        <p:spPr bwMode="auto">
          <a:xfrm>
            <a:off x="415776" y="4081998"/>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Types:</a:t>
            </a:r>
            <a:endParaRPr lang="en-GB" sz="1800" dirty="0"/>
          </a:p>
          <a:p>
            <a:pPr lvl="1"/>
            <a:r>
              <a:rPr lang="en-GB" sz="1800" dirty="0"/>
              <a:t>BPMN</a:t>
            </a:r>
          </a:p>
          <a:p>
            <a:pPr lvl="1"/>
            <a:r>
              <a:rPr lang="en-GB" sz="1800" dirty="0"/>
              <a:t>Flowcharts</a:t>
            </a:r>
          </a:p>
        </p:txBody>
      </p:sp>
      <p:pic>
        <p:nvPicPr>
          <p:cNvPr id="4" name="Online Media 3" title="How to Develop As-Is and To-Be Business Process">
            <a:hlinkClick r:id="" action="ppaction://media"/>
            <a:extLst>
              <a:ext uri="{FF2B5EF4-FFF2-40B4-BE49-F238E27FC236}">
                <a16:creationId xmlns:a16="http://schemas.microsoft.com/office/drawing/2014/main" id="{C45FBEEA-0F97-1ED3-5158-60058802626E}"/>
              </a:ext>
            </a:extLst>
          </p:cNvPr>
          <p:cNvPicPr>
            <a:picLocks noRot="1" noChangeAspect="1"/>
          </p:cNvPicPr>
          <p:nvPr>
            <a:videoFile r:link="rId1"/>
          </p:nvPr>
        </p:nvPicPr>
        <p:blipFill>
          <a:blip r:embed="rId4"/>
          <a:stretch>
            <a:fillRect/>
          </a:stretch>
        </p:blipFill>
        <p:spPr>
          <a:xfrm>
            <a:off x="4139952" y="3939913"/>
            <a:ext cx="4283968" cy="2420144"/>
          </a:xfrm>
          <a:prstGeom prst="rect">
            <a:avLst/>
          </a:prstGeom>
        </p:spPr>
      </p:pic>
      <p:pic>
        <p:nvPicPr>
          <p:cNvPr id="7170" name="Picture 2" descr="Understanding the As is-To be Process Analysis in Process Improvement |  Cflow">
            <a:extLst>
              <a:ext uri="{FF2B5EF4-FFF2-40B4-BE49-F238E27FC236}">
                <a16:creationId xmlns:a16="http://schemas.microsoft.com/office/drawing/2014/main" id="{50B992D5-C536-025D-18CB-E6F04E2605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152" y="1851837"/>
            <a:ext cx="2983846" cy="167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462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77DB-38D2-9FC4-6CAC-23661190096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393FE4D-16A2-7E4F-BDE1-C85BC37A38EB}"/>
              </a:ext>
            </a:extLst>
          </p:cNvPr>
          <p:cNvSpPr>
            <a:spLocks noGrp="1" noChangeArrowheads="1"/>
          </p:cNvSpPr>
          <p:nvPr>
            <p:ph type="title"/>
          </p:nvPr>
        </p:nvSpPr>
        <p:spPr>
          <a:xfrm>
            <a:off x="1475656" y="446193"/>
            <a:ext cx="7668344" cy="939800"/>
          </a:xfrm>
        </p:spPr>
        <p:txBody>
          <a:bodyPr/>
          <a:lstStyle/>
          <a:p>
            <a:r>
              <a:rPr lang="en-GB" sz="2800" b="1" dirty="0">
                <a:solidFill>
                  <a:srgbClr val="0070C0"/>
                </a:solidFill>
              </a:rPr>
              <a:t>Entity Relationships Diagrams (ERDs)</a:t>
            </a:r>
            <a:endParaRPr lang="en-US" altLang="en-US" sz="2800" b="1" dirty="0">
              <a:solidFill>
                <a:srgbClr val="0070C0"/>
              </a:solidFill>
            </a:endParaRPr>
          </a:p>
        </p:txBody>
      </p:sp>
      <p:sp>
        <p:nvSpPr>
          <p:cNvPr id="18435" name="Content Placeholder 2">
            <a:extLst>
              <a:ext uri="{FF2B5EF4-FFF2-40B4-BE49-F238E27FC236}">
                <a16:creationId xmlns:a16="http://schemas.microsoft.com/office/drawing/2014/main" id="{2A622E7B-F09A-943E-6D60-DADA61E89A47}"/>
              </a:ext>
            </a:extLst>
          </p:cNvPr>
          <p:cNvSpPr>
            <a:spLocks noGrp="1" noChangeArrowheads="1"/>
          </p:cNvSpPr>
          <p:nvPr>
            <p:ph idx="1"/>
          </p:nvPr>
        </p:nvSpPr>
        <p:spPr>
          <a:xfrm>
            <a:off x="396081" y="1988840"/>
            <a:ext cx="8351838" cy="504056"/>
          </a:xfrm>
        </p:spPr>
        <p:txBody>
          <a:bodyPr/>
          <a:lstStyle/>
          <a:p>
            <a:r>
              <a:rPr lang="en-GB" sz="1800" b="1" dirty="0"/>
              <a:t>Purpose:</a:t>
            </a:r>
            <a:r>
              <a:rPr lang="en-GB" sz="1800" dirty="0"/>
              <a:t> Model data and relationships in a system</a:t>
            </a:r>
            <a:endParaRPr lang="en-GB" altLang="en-US" sz="1800" dirty="0"/>
          </a:p>
        </p:txBody>
      </p:sp>
      <p:sp>
        <p:nvSpPr>
          <p:cNvPr id="2" name="Content Placeholder 2">
            <a:extLst>
              <a:ext uri="{FF2B5EF4-FFF2-40B4-BE49-F238E27FC236}">
                <a16:creationId xmlns:a16="http://schemas.microsoft.com/office/drawing/2014/main" id="{9F959247-7851-9DF5-9E16-6717D7C6EF4C}"/>
              </a:ext>
            </a:extLst>
          </p:cNvPr>
          <p:cNvSpPr txBox="1">
            <a:spLocks noChangeArrowheads="1"/>
          </p:cNvSpPr>
          <p:nvPr/>
        </p:nvSpPr>
        <p:spPr bwMode="auto">
          <a:xfrm>
            <a:off x="327184" y="5805264"/>
            <a:ext cx="835183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a:t>
            </a:r>
            <a:r>
              <a:rPr lang="en-GB" sz="1800" dirty="0"/>
              <a:t> MySQL Workbench, dbdiagram.io</a:t>
            </a:r>
            <a:endParaRPr lang="en-GB" altLang="en-US" sz="1800" kern="0" dirty="0"/>
          </a:p>
        </p:txBody>
      </p:sp>
      <p:sp>
        <p:nvSpPr>
          <p:cNvPr id="3" name="Content Placeholder 2">
            <a:extLst>
              <a:ext uri="{FF2B5EF4-FFF2-40B4-BE49-F238E27FC236}">
                <a16:creationId xmlns:a16="http://schemas.microsoft.com/office/drawing/2014/main" id="{8439D122-A5F7-E164-DFB9-BB6353F77CCB}"/>
              </a:ext>
            </a:extLst>
          </p:cNvPr>
          <p:cNvSpPr txBox="1">
            <a:spLocks noChangeArrowheads="1"/>
          </p:cNvSpPr>
          <p:nvPr/>
        </p:nvSpPr>
        <p:spPr bwMode="auto">
          <a:xfrm>
            <a:off x="396081" y="2572752"/>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Use When:</a:t>
            </a:r>
            <a:endParaRPr lang="en-GB" sz="1800" dirty="0"/>
          </a:p>
          <a:p>
            <a:pPr lvl="1"/>
            <a:r>
              <a:rPr lang="en-GB" sz="1800" dirty="0"/>
              <a:t>Designing databases</a:t>
            </a:r>
          </a:p>
          <a:p>
            <a:pPr lvl="1"/>
            <a:r>
              <a:rPr lang="en-GB" sz="1800" dirty="0"/>
              <a:t>Structuring system architecture</a:t>
            </a:r>
          </a:p>
        </p:txBody>
      </p:sp>
      <p:sp>
        <p:nvSpPr>
          <p:cNvPr id="6" name="Content Placeholder 2">
            <a:extLst>
              <a:ext uri="{FF2B5EF4-FFF2-40B4-BE49-F238E27FC236}">
                <a16:creationId xmlns:a16="http://schemas.microsoft.com/office/drawing/2014/main" id="{CF23A325-5451-5987-B6CA-62FAA3EF64ED}"/>
              </a:ext>
            </a:extLst>
          </p:cNvPr>
          <p:cNvSpPr txBox="1">
            <a:spLocks noChangeArrowheads="1"/>
          </p:cNvSpPr>
          <p:nvPr/>
        </p:nvSpPr>
        <p:spPr bwMode="auto">
          <a:xfrm>
            <a:off x="415776" y="4081998"/>
            <a:ext cx="5696881" cy="1413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Elements:</a:t>
            </a:r>
            <a:endParaRPr lang="en-GB" sz="1800" dirty="0"/>
          </a:p>
          <a:p>
            <a:pPr lvl="1"/>
            <a:r>
              <a:rPr lang="en-GB" sz="1800" dirty="0"/>
              <a:t>Entities (e.g., Customer, Order)</a:t>
            </a:r>
          </a:p>
          <a:p>
            <a:pPr lvl="1"/>
            <a:r>
              <a:rPr lang="en-GB" sz="1800" dirty="0"/>
              <a:t>Relationships (one-to-many, etc.)</a:t>
            </a:r>
          </a:p>
          <a:p>
            <a:pPr lvl="1"/>
            <a:r>
              <a:rPr lang="en-GB" sz="1800" dirty="0"/>
              <a:t>Attributes</a:t>
            </a:r>
          </a:p>
        </p:txBody>
      </p:sp>
      <p:pic>
        <p:nvPicPr>
          <p:cNvPr id="4" name="Online Media 3" title="Entity Relationship Diagram (ERD) Tutorial and EXAMPLE">
            <a:hlinkClick r:id="" action="ppaction://media"/>
            <a:extLst>
              <a:ext uri="{FF2B5EF4-FFF2-40B4-BE49-F238E27FC236}">
                <a16:creationId xmlns:a16="http://schemas.microsoft.com/office/drawing/2014/main" id="{1F51DFCA-0BCA-3646-84DC-1148D7D9567F}"/>
              </a:ext>
            </a:extLst>
          </p:cNvPr>
          <p:cNvPicPr>
            <a:picLocks noRot="1" noChangeAspect="1"/>
          </p:cNvPicPr>
          <p:nvPr>
            <a:videoFile r:link="rId1"/>
          </p:nvPr>
        </p:nvPicPr>
        <p:blipFill>
          <a:blip r:embed="rId4"/>
          <a:stretch>
            <a:fillRect/>
          </a:stretch>
        </p:blipFill>
        <p:spPr>
          <a:xfrm>
            <a:off x="5400706" y="4530442"/>
            <a:ext cx="3416110" cy="1929865"/>
          </a:xfrm>
          <a:prstGeom prst="rect">
            <a:avLst/>
          </a:prstGeom>
        </p:spPr>
      </p:pic>
      <p:pic>
        <p:nvPicPr>
          <p:cNvPr id="6146" name="Picture 2" descr="Elements of an Entity-Relationship Diagram (ERD). | Download Scientific  Diagram">
            <a:extLst>
              <a:ext uri="{FF2B5EF4-FFF2-40B4-BE49-F238E27FC236}">
                <a16:creationId xmlns:a16="http://schemas.microsoft.com/office/drawing/2014/main" id="{5FB7753D-F40E-7691-17B7-062BD09121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1914" y="2219093"/>
            <a:ext cx="2493632" cy="1826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3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BFE0-F067-1203-419F-776D4618564F}"/>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9F7FAE0F-74D6-0669-F820-AA415C1382FF}"/>
              </a:ext>
            </a:extLst>
          </p:cNvPr>
          <p:cNvSpPr>
            <a:spLocks noGrp="1" noChangeArrowheads="1"/>
          </p:cNvSpPr>
          <p:nvPr>
            <p:ph type="title"/>
          </p:nvPr>
        </p:nvSpPr>
        <p:spPr>
          <a:xfrm>
            <a:off x="1475656" y="446193"/>
            <a:ext cx="7272263" cy="939800"/>
          </a:xfrm>
        </p:spPr>
        <p:txBody>
          <a:bodyPr/>
          <a:lstStyle/>
          <a:p>
            <a:r>
              <a:rPr lang="en-GB" sz="3600" b="1" dirty="0">
                <a:solidFill>
                  <a:srgbClr val="0070C0"/>
                </a:solidFill>
              </a:rPr>
              <a:t>How to Select the Right Model</a:t>
            </a:r>
            <a:endParaRPr lang="en-US" altLang="en-US" sz="3600" b="1" dirty="0">
              <a:solidFill>
                <a:srgbClr val="0070C0"/>
              </a:solidFill>
            </a:endParaRPr>
          </a:p>
        </p:txBody>
      </p:sp>
      <p:graphicFrame>
        <p:nvGraphicFramePr>
          <p:cNvPr id="5" name="Table 4">
            <a:extLst>
              <a:ext uri="{FF2B5EF4-FFF2-40B4-BE49-F238E27FC236}">
                <a16:creationId xmlns:a16="http://schemas.microsoft.com/office/drawing/2014/main" id="{D4B57E78-EE88-3B1F-B8F5-2CCA288298A2}"/>
              </a:ext>
            </a:extLst>
          </p:cNvPr>
          <p:cNvGraphicFramePr>
            <a:graphicFrameLocks noGrp="1"/>
          </p:cNvGraphicFramePr>
          <p:nvPr>
            <p:extLst>
              <p:ext uri="{D42A27DB-BD31-4B8C-83A1-F6EECF244321}">
                <p14:modId xmlns:p14="http://schemas.microsoft.com/office/powerpoint/2010/main" val="998846213"/>
              </p:ext>
            </p:extLst>
          </p:nvPr>
        </p:nvGraphicFramePr>
        <p:xfrm>
          <a:off x="647564" y="1916832"/>
          <a:ext cx="7848872" cy="2592288"/>
        </p:xfrm>
        <a:graphic>
          <a:graphicData uri="http://schemas.openxmlformats.org/drawingml/2006/table">
            <a:tbl>
              <a:tblPr>
                <a:tableStyleId>{35758FB7-9AC5-4552-8A53-C91805E547FA}</a:tableStyleId>
              </a:tblPr>
              <a:tblGrid>
                <a:gridCol w="3924436">
                  <a:extLst>
                    <a:ext uri="{9D8B030D-6E8A-4147-A177-3AD203B41FA5}">
                      <a16:colId xmlns:a16="http://schemas.microsoft.com/office/drawing/2014/main" val="1803676076"/>
                    </a:ext>
                  </a:extLst>
                </a:gridCol>
                <a:gridCol w="3924436">
                  <a:extLst>
                    <a:ext uri="{9D8B030D-6E8A-4147-A177-3AD203B41FA5}">
                      <a16:colId xmlns:a16="http://schemas.microsoft.com/office/drawing/2014/main" val="2690792609"/>
                    </a:ext>
                  </a:extLst>
                </a:gridCol>
              </a:tblGrid>
              <a:tr h="432048">
                <a:tc>
                  <a:txBody>
                    <a:bodyPr/>
                    <a:lstStyle/>
                    <a:p>
                      <a:pPr algn="ctr"/>
                      <a:r>
                        <a:rPr lang="en-GB" b="1" dirty="0"/>
                        <a:t>Situation</a:t>
                      </a:r>
                    </a:p>
                  </a:txBody>
                  <a:tcPr anchor="ctr"/>
                </a:tc>
                <a:tc>
                  <a:txBody>
                    <a:bodyPr/>
                    <a:lstStyle/>
                    <a:p>
                      <a:pPr algn="ctr"/>
                      <a:r>
                        <a:rPr lang="en-GB" b="1" dirty="0"/>
                        <a:t>Recommended Model</a:t>
                      </a:r>
                    </a:p>
                  </a:txBody>
                  <a:tcPr anchor="ctr"/>
                </a:tc>
                <a:extLst>
                  <a:ext uri="{0D108BD9-81ED-4DB2-BD59-A6C34878D82A}">
                    <a16:rowId xmlns:a16="http://schemas.microsoft.com/office/drawing/2014/main" val="4050558809"/>
                  </a:ext>
                </a:extLst>
              </a:tr>
              <a:tr h="432048">
                <a:tc>
                  <a:txBody>
                    <a:bodyPr/>
                    <a:lstStyle/>
                    <a:p>
                      <a:r>
                        <a:rPr lang="en-GB"/>
                        <a:t>Defining user needs</a:t>
                      </a:r>
                    </a:p>
                  </a:txBody>
                  <a:tcPr anchor="ctr"/>
                </a:tc>
                <a:tc>
                  <a:txBody>
                    <a:bodyPr/>
                    <a:lstStyle/>
                    <a:p>
                      <a:r>
                        <a:rPr lang="en-GB"/>
                        <a:t>User Stories</a:t>
                      </a:r>
                    </a:p>
                  </a:txBody>
                  <a:tcPr anchor="ctr"/>
                </a:tc>
                <a:extLst>
                  <a:ext uri="{0D108BD9-81ED-4DB2-BD59-A6C34878D82A}">
                    <a16:rowId xmlns:a16="http://schemas.microsoft.com/office/drawing/2014/main" val="1357123204"/>
                  </a:ext>
                </a:extLst>
              </a:tr>
              <a:tr h="432048">
                <a:tc>
                  <a:txBody>
                    <a:bodyPr/>
                    <a:lstStyle/>
                    <a:p>
                      <a:r>
                        <a:rPr lang="en-GB"/>
                        <a:t>Visualizing workflows</a:t>
                      </a:r>
                    </a:p>
                  </a:txBody>
                  <a:tcPr anchor="ctr"/>
                </a:tc>
                <a:tc>
                  <a:txBody>
                    <a:bodyPr/>
                    <a:lstStyle/>
                    <a:p>
                      <a:r>
                        <a:rPr lang="en-GB"/>
                        <a:t>Activity Diagram, Process Diagram</a:t>
                      </a:r>
                    </a:p>
                  </a:txBody>
                  <a:tcPr anchor="ctr"/>
                </a:tc>
                <a:extLst>
                  <a:ext uri="{0D108BD9-81ED-4DB2-BD59-A6C34878D82A}">
                    <a16:rowId xmlns:a16="http://schemas.microsoft.com/office/drawing/2014/main" val="3549219804"/>
                  </a:ext>
                </a:extLst>
              </a:tr>
              <a:tr h="432048">
                <a:tc>
                  <a:txBody>
                    <a:bodyPr/>
                    <a:lstStyle/>
                    <a:p>
                      <a:r>
                        <a:rPr lang="en-GB"/>
                        <a:t>Brainstorming ideas</a:t>
                      </a:r>
                    </a:p>
                  </a:txBody>
                  <a:tcPr anchor="ctr"/>
                </a:tc>
                <a:tc>
                  <a:txBody>
                    <a:bodyPr/>
                    <a:lstStyle/>
                    <a:p>
                      <a:r>
                        <a:rPr lang="en-GB"/>
                        <a:t>Mind Map</a:t>
                      </a:r>
                    </a:p>
                  </a:txBody>
                  <a:tcPr anchor="ctr"/>
                </a:tc>
                <a:extLst>
                  <a:ext uri="{0D108BD9-81ED-4DB2-BD59-A6C34878D82A}">
                    <a16:rowId xmlns:a16="http://schemas.microsoft.com/office/drawing/2014/main" val="273108730"/>
                  </a:ext>
                </a:extLst>
              </a:tr>
              <a:tr h="432048">
                <a:tc>
                  <a:txBody>
                    <a:bodyPr/>
                    <a:lstStyle/>
                    <a:p>
                      <a:r>
                        <a:rPr lang="en-GB"/>
                        <a:t>Planning feature rollout</a:t>
                      </a:r>
                    </a:p>
                  </a:txBody>
                  <a:tcPr anchor="ctr"/>
                </a:tc>
                <a:tc>
                  <a:txBody>
                    <a:bodyPr/>
                    <a:lstStyle/>
                    <a:p>
                      <a:r>
                        <a:rPr lang="en-GB"/>
                        <a:t>Product Roadmap</a:t>
                      </a:r>
                    </a:p>
                  </a:txBody>
                  <a:tcPr anchor="ctr"/>
                </a:tc>
                <a:extLst>
                  <a:ext uri="{0D108BD9-81ED-4DB2-BD59-A6C34878D82A}">
                    <a16:rowId xmlns:a16="http://schemas.microsoft.com/office/drawing/2014/main" val="3880339587"/>
                  </a:ext>
                </a:extLst>
              </a:tr>
              <a:tr h="432048">
                <a:tc>
                  <a:txBody>
                    <a:bodyPr/>
                    <a:lstStyle/>
                    <a:p>
                      <a:r>
                        <a:rPr lang="en-GB"/>
                        <a:t>Designing data structure</a:t>
                      </a:r>
                    </a:p>
                  </a:txBody>
                  <a:tcPr anchor="ctr"/>
                </a:tc>
                <a:tc>
                  <a:txBody>
                    <a:bodyPr/>
                    <a:lstStyle/>
                    <a:p>
                      <a:r>
                        <a:rPr lang="en-GB" dirty="0"/>
                        <a:t>ERD</a:t>
                      </a:r>
                    </a:p>
                  </a:txBody>
                  <a:tcPr anchor="ctr"/>
                </a:tc>
                <a:extLst>
                  <a:ext uri="{0D108BD9-81ED-4DB2-BD59-A6C34878D82A}">
                    <a16:rowId xmlns:a16="http://schemas.microsoft.com/office/drawing/2014/main" val="2894792890"/>
                  </a:ext>
                </a:extLst>
              </a:tr>
            </a:tbl>
          </a:graphicData>
        </a:graphic>
      </p:graphicFrame>
      <p:sp>
        <p:nvSpPr>
          <p:cNvPr id="7" name="Content Placeholder 2">
            <a:extLst>
              <a:ext uri="{FF2B5EF4-FFF2-40B4-BE49-F238E27FC236}">
                <a16:creationId xmlns:a16="http://schemas.microsoft.com/office/drawing/2014/main" id="{DDBE4B21-B569-7B54-F3E1-A5A5AD14A4AA}"/>
              </a:ext>
            </a:extLst>
          </p:cNvPr>
          <p:cNvSpPr>
            <a:spLocks noGrp="1" noChangeArrowheads="1"/>
          </p:cNvSpPr>
          <p:nvPr>
            <p:ph idx="1"/>
          </p:nvPr>
        </p:nvSpPr>
        <p:spPr>
          <a:xfrm>
            <a:off x="467544" y="5039959"/>
            <a:ext cx="8280375" cy="1371848"/>
          </a:xfrm>
        </p:spPr>
        <p:txBody>
          <a:bodyPr/>
          <a:lstStyle/>
          <a:p>
            <a:r>
              <a:rPr lang="en-GB" sz="1800" dirty="0"/>
              <a:t>Use the </a:t>
            </a:r>
            <a:r>
              <a:rPr lang="en-GB" sz="1800" b="1" dirty="0"/>
              <a:t>right model for the right purpose</a:t>
            </a:r>
            <a:endParaRPr lang="en-GB" sz="1800" dirty="0"/>
          </a:p>
          <a:p>
            <a:r>
              <a:rPr lang="en-GB" sz="1800" dirty="0"/>
              <a:t>Models aid in </a:t>
            </a:r>
            <a:r>
              <a:rPr lang="en-GB" sz="1800" b="1" dirty="0"/>
              <a:t>clarity, communication, and analysis</a:t>
            </a:r>
            <a:endParaRPr lang="en-GB" sz="1800" dirty="0"/>
          </a:p>
          <a:p>
            <a:r>
              <a:rPr lang="en-GB" sz="1800" dirty="0"/>
              <a:t>Combine models for deeper insight (e.g., user stories + ERDs)</a:t>
            </a:r>
          </a:p>
          <a:p>
            <a:r>
              <a:rPr lang="en-GB" sz="1800" dirty="0"/>
              <a:t>Keep models updated throughout the project lifecycle</a:t>
            </a:r>
          </a:p>
        </p:txBody>
      </p:sp>
    </p:spTree>
    <p:extLst>
      <p:ext uri="{BB962C8B-B14F-4D97-AF65-F5344CB8AC3E}">
        <p14:creationId xmlns:p14="http://schemas.microsoft.com/office/powerpoint/2010/main" val="821166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23F1EA3-4E7C-C6B1-5405-C5DBB3A08720}"/>
              </a:ext>
            </a:extLst>
          </p:cNvPr>
          <p:cNvSpPr>
            <a:spLocks noGrp="1" noChangeArrowheads="1"/>
          </p:cNvSpPr>
          <p:nvPr>
            <p:ph type="title"/>
          </p:nvPr>
        </p:nvSpPr>
        <p:spPr>
          <a:xfrm>
            <a:off x="1258888" y="404813"/>
            <a:ext cx="7650162" cy="939800"/>
          </a:xfrm>
        </p:spPr>
        <p:txBody>
          <a:bodyPr/>
          <a:lstStyle/>
          <a:p>
            <a:r>
              <a:rPr lang="en-GB" altLang="en-US" sz="2400" b="1" dirty="0">
                <a:solidFill>
                  <a:srgbClr val="FF0000"/>
                </a:solidFill>
              </a:rPr>
              <a:t>Activity1 -</a:t>
            </a:r>
            <a:r>
              <a:rPr lang="en-GB" sz="2400" b="1" dirty="0">
                <a:solidFill>
                  <a:srgbClr val="FF0000"/>
                </a:solidFill>
              </a:rPr>
              <a:t> Build a Business Scenario</a:t>
            </a:r>
            <a:br>
              <a:rPr lang="en-GB" sz="2400" b="1" dirty="0">
                <a:solidFill>
                  <a:srgbClr val="FF0000"/>
                </a:solidFill>
              </a:rPr>
            </a:br>
            <a:r>
              <a:rPr lang="en-GB" sz="2400" b="1" dirty="0">
                <a:solidFill>
                  <a:srgbClr val="FF0000"/>
                </a:solidFill>
              </a:rPr>
              <a:t>(Mind Maps + User Stories)</a:t>
            </a:r>
            <a:endParaRPr lang="en-GB" altLang="en-US" sz="2400" b="1" dirty="0">
              <a:solidFill>
                <a:srgbClr val="FF0000"/>
              </a:solidFill>
            </a:endParaRPr>
          </a:p>
        </p:txBody>
      </p:sp>
      <p:sp>
        <p:nvSpPr>
          <p:cNvPr id="31747" name="Content Placeholder 2">
            <a:extLst>
              <a:ext uri="{FF2B5EF4-FFF2-40B4-BE49-F238E27FC236}">
                <a16:creationId xmlns:a16="http://schemas.microsoft.com/office/drawing/2014/main" id="{69D03CA3-FDD5-2914-56CE-69C4992CE672}"/>
              </a:ext>
            </a:extLst>
          </p:cNvPr>
          <p:cNvSpPr>
            <a:spLocks noGrp="1" noChangeArrowheads="1"/>
          </p:cNvSpPr>
          <p:nvPr>
            <p:ph idx="1"/>
          </p:nvPr>
        </p:nvSpPr>
        <p:spPr>
          <a:xfrm>
            <a:off x="401966" y="1792156"/>
            <a:ext cx="8346497" cy="4085116"/>
          </a:xfrm>
        </p:spPr>
        <p:txBody>
          <a:bodyPr/>
          <a:lstStyle/>
          <a:p>
            <a:r>
              <a:rPr lang="en-GB" sz="1800" b="1" dirty="0"/>
              <a:t>Objective:</a:t>
            </a:r>
            <a:r>
              <a:rPr lang="en-GB" sz="1800" dirty="0"/>
              <a:t> Create user stories and a mind map for a fictional product.</a:t>
            </a:r>
          </a:p>
          <a:p>
            <a:pPr marL="0" indent="0">
              <a:buNone/>
            </a:pPr>
            <a:endParaRPr lang="en-GB" sz="1800" dirty="0"/>
          </a:p>
          <a:p>
            <a:r>
              <a:rPr lang="en-GB" sz="1800" b="1" dirty="0"/>
              <a:t>Instructions:</a:t>
            </a:r>
            <a:endParaRPr lang="en-GB" sz="1800" dirty="0"/>
          </a:p>
          <a:p>
            <a:pPr lvl="1">
              <a:buFont typeface="+mj-lt"/>
              <a:buAutoNum type="arabicPeriod"/>
            </a:pPr>
            <a:r>
              <a:rPr lang="en-GB" sz="1800" b="1" dirty="0"/>
              <a:t>Form teams of 3–5 students.</a:t>
            </a:r>
            <a:endParaRPr lang="en-GB" sz="1800" dirty="0"/>
          </a:p>
          <a:p>
            <a:pPr lvl="1">
              <a:buFont typeface="+mj-lt"/>
              <a:buAutoNum type="arabicPeriod"/>
            </a:pPr>
            <a:r>
              <a:rPr lang="en-GB" sz="1800" b="1" dirty="0"/>
              <a:t>Scenario Prompt:</a:t>
            </a:r>
            <a:r>
              <a:rPr lang="en-GB" sz="1800" dirty="0"/>
              <a:t> “Your team is designing a mobile app for a local gym to improve member engagement.”</a:t>
            </a:r>
          </a:p>
          <a:p>
            <a:pPr lvl="1">
              <a:buFont typeface="+mj-lt"/>
              <a:buAutoNum type="arabicPeriod"/>
            </a:pPr>
            <a:r>
              <a:rPr lang="en-GB" sz="1800" dirty="0"/>
              <a:t>Each team must:</a:t>
            </a:r>
          </a:p>
          <a:p>
            <a:pPr lvl="2"/>
            <a:r>
              <a:rPr lang="en-GB" sz="1800" dirty="0"/>
              <a:t>Create a </a:t>
            </a:r>
            <a:r>
              <a:rPr lang="en-GB" sz="1800" b="1" dirty="0"/>
              <a:t>Mind Map</a:t>
            </a:r>
            <a:r>
              <a:rPr lang="en-GB" sz="1800" dirty="0"/>
              <a:t> identifying key app features (e.g., class booking, trainer messaging, fitness tracking).</a:t>
            </a:r>
          </a:p>
          <a:p>
            <a:pPr lvl="2"/>
            <a:r>
              <a:rPr lang="en-GB" sz="1800" dirty="0"/>
              <a:t>Write </a:t>
            </a:r>
            <a:r>
              <a:rPr lang="en-GB" sz="1800" b="1" dirty="0"/>
              <a:t>3–5 user stories</a:t>
            </a:r>
            <a:r>
              <a:rPr lang="en-GB" sz="1800" dirty="0"/>
              <a:t> for the most important features.</a:t>
            </a:r>
          </a:p>
          <a:p>
            <a:r>
              <a:rPr lang="en-GB" sz="1800" b="1" dirty="0"/>
              <a:t>Deliverables:</a:t>
            </a:r>
            <a:endParaRPr lang="en-GB" sz="1800" dirty="0"/>
          </a:p>
          <a:p>
            <a:pPr lvl="1"/>
            <a:r>
              <a:rPr lang="en-GB" sz="1800" dirty="0"/>
              <a:t>A poster or digital board with the Mind Map</a:t>
            </a:r>
          </a:p>
          <a:p>
            <a:pPr lvl="1"/>
            <a:r>
              <a:rPr lang="en-GB" sz="1800" dirty="0"/>
              <a:t>A short list of user stories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4BFCB-54A7-9AD8-B786-1749088322D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2C7144D-68F8-BD12-637F-C93D5A244574}"/>
              </a:ext>
            </a:extLst>
          </p:cNvPr>
          <p:cNvSpPr>
            <a:spLocks noGrp="1" noChangeArrowheads="1"/>
          </p:cNvSpPr>
          <p:nvPr>
            <p:ph type="title"/>
          </p:nvPr>
        </p:nvSpPr>
        <p:spPr>
          <a:xfrm>
            <a:off x="1258888" y="404813"/>
            <a:ext cx="7650162" cy="939800"/>
          </a:xfrm>
        </p:spPr>
        <p:txBody>
          <a:bodyPr/>
          <a:lstStyle/>
          <a:p>
            <a:r>
              <a:rPr lang="en-GB" sz="2400" b="1" dirty="0">
                <a:solidFill>
                  <a:srgbClr val="FF0000"/>
                </a:solidFill>
              </a:rPr>
              <a:t>Activity 2: Model the Process</a:t>
            </a:r>
            <a:br>
              <a:rPr lang="en-GB" sz="2400" b="1" dirty="0">
                <a:solidFill>
                  <a:srgbClr val="FF0000"/>
                </a:solidFill>
              </a:rPr>
            </a:br>
            <a:r>
              <a:rPr lang="en-GB" sz="2400" b="1" dirty="0">
                <a:solidFill>
                  <a:srgbClr val="FF0000"/>
                </a:solidFill>
              </a:rPr>
              <a:t>(Activity Diagram + Process Diagram)</a:t>
            </a:r>
            <a:endParaRPr lang="en-GB" altLang="en-US" sz="2400" b="1" dirty="0">
              <a:solidFill>
                <a:srgbClr val="FF0000"/>
              </a:solidFill>
            </a:endParaRPr>
          </a:p>
        </p:txBody>
      </p:sp>
      <p:sp>
        <p:nvSpPr>
          <p:cNvPr id="31747" name="Content Placeholder 2">
            <a:extLst>
              <a:ext uri="{FF2B5EF4-FFF2-40B4-BE49-F238E27FC236}">
                <a16:creationId xmlns:a16="http://schemas.microsoft.com/office/drawing/2014/main" id="{6E6A1D07-1829-C63B-9050-B1908041A2A2}"/>
              </a:ext>
            </a:extLst>
          </p:cNvPr>
          <p:cNvSpPr>
            <a:spLocks noGrp="1" noChangeArrowheads="1"/>
          </p:cNvSpPr>
          <p:nvPr>
            <p:ph idx="1"/>
          </p:nvPr>
        </p:nvSpPr>
        <p:spPr>
          <a:xfrm>
            <a:off x="398751" y="1772816"/>
            <a:ext cx="8510299" cy="5085184"/>
          </a:xfrm>
        </p:spPr>
        <p:txBody>
          <a:bodyPr/>
          <a:lstStyle/>
          <a:p>
            <a:r>
              <a:rPr lang="en-GB" sz="1800" b="1" dirty="0"/>
              <a:t>Objective:</a:t>
            </a:r>
            <a:r>
              <a:rPr lang="en-GB" sz="1800" dirty="0"/>
              <a:t> Compare activity and process diagrams to map a system.</a:t>
            </a:r>
          </a:p>
          <a:p>
            <a:endParaRPr lang="en-GB" sz="1800" dirty="0"/>
          </a:p>
          <a:p>
            <a:r>
              <a:rPr lang="en-GB" sz="1800" b="1" dirty="0"/>
              <a:t>Instructions:</a:t>
            </a:r>
            <a:endParaRPr lang="en-GB" sz="1800" dirty="0"/>
          </a:p>
          <a:p>
            <a:pPr marL="531813" lvl="1" indent="-265113">
              <a:buFont typeface="+mj-lt"/>
              <a:buAutoNum type="arabicPeriod"/>
            </a:pPr>
            <a:r>
              <a:rPr lang="en-GB" sz="1800" b="1" dirty="0"/>
              <a:t>Scenario Prompt:</a:t>
            </a:r>
            <a:r>
              <a:rPr lang="en-GB" sz="1800" dirty="0"/>
              <a:t> “A customer orders a coffee through a mobile app.”</a:t>
            </a:r>
          </a:p>
          <a:p>
            <a:pPr marL="531813" lvl="1" indent="-265113">
              <a:buFont typeface="+mj-lt"/>
              <a:buAutoNum type="arabicPeriod"/>
            </a:pPr>
            <a:r>
              <a:rPr lang="en-GB" sz="1800" dirty="0"/>
              <a:t>Each team:</a:t>
            </a:r>
          </a:p>
          <a:p>
            <a:pPr lvl="2"/>
            <a:r>
              <a:rPr lang="en-GB" sz="1800" dirty="0"/>
              <a:t>Creates an </a:t>
            </a:r>
            <a:r>
              <a:rPr lang="en-GB" sz="1800" b="1" dirty="0"/>
              <a:t>Activity Diagram</a:t>
            </a:r>
            <a:r>
              <a:rPr lang="en-GB" sz="1800" dirty="0"/>
              <a:t> showing the steps from order to delivery.</a:t>
            </a:r>
          </a:p>
          <a:p>
            <a:pPr lvl="2"/>
            <a:r>
              <a:rPr lang="en-GB" sz="1800" dirty="0"/>
              <a:t>Creates a </a:t>
            </a:r>
            <a:r>
              <a:rPr lang="en-GB" sz="1800" b="1" dirty="0"/>
              <a:t>Process Flow Diagram</a:t>
            </a:r>
            <a:r>
              <a:rPr lang="en-GB" sz="1800" dirty="0"/>
              <a:t> of the internal operations (barista, cashier, system checks).</a:t>
            </a:r>
          </a:p>
          <a:p>
            <a:r>
              <a:rPr lang="en-GB" sz="1800" b="1" dirty="0"/>
              <a:t>Discussion Questions:</a:t>
            </a:r>
            <a:endParaRPr lang="en-GB" sz="1800" dirty="0"/>
          </a:p>
          <a:p>
            <a:pPr lvl="1"/>
            <a:r>
              <a:rPr lang="en-GB" sz="1800" dirty="0"/>
              <a:t>Where are decision points?</a:t>
            </a:r>
          </a:p>
          <a:p>
            <a:pPr lvl="1"/>
            <a:r>
              <a:rPr lang="en-GB" sz="1800" dirty="0"/>
              <a:t>How do the diagrams differ in focus?</a:t>
            </a:r>
          </a:p>
          <a:p>
            <a:r>
              <a:rPr lang="en-GB" sz="1800" b="1" dirty="0"/>
              <a:t>Deliverables:</a:t>
            </a:r>
            <a:endParaRPr lang="en-GB" sz="1800" dirty="0"/>
          </a:p>
          <a:p>
            <a:pPr lvl="1"/>
            <a:r>
              <a:rPr lang="en-GB" sz="1800" dirty="0"/>
              <a:t>Both diagrams with brief labels</a:t>
            </a:r>
          </a:p>
          <a:p>
            <a:pPr lvl="1"/>
            <a:r>
              <a:rPr lang="en-GB" sz="1800" dirty="0"/>
              <a:t>Key differences between the models</a:t>
            </a:r>
          </a:p>
        </p:txBody>
      </p:sp>
    </p:spTree>
    <p:extLst>
      <p:ext uri="{BB962C8B-B14F-4D97-AF65-F5344CB8AC3E}">
        <p14:creationId xmlns:p14="http://schemas.microsoft.com/office/powerpoint/2010/main" val="2698860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B9DB4-6706-C383-F264-E7013DF5621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D13CC28-A86B-63C9-8209-AE5863BDCE8D}"/>
              </a:ext>
            </a:extLst>
          </p:cNvPr>
          <p:cNvSpPr>
            <a:spLocks noGrp="1" noChangeArrowheads="1"/>
          </p:cNvSpPr>
          <p:nvPr>
            <p:ph type="title"/>
          </p:nvPr>
        </p:nvSpPr>
        <p:spPr>
          <a:xfrm>
            <a:off x="1258888" y="404813"/>
            <a:ext cx="7650162" cy="939800"/>
          </a:xfrm>
        </p:spPr>
        <p:txBody>
          <a:bodyPr/>
          <a:lstStyle/>
          <a:p>
            <a:pPr>
              <a:tabLst>
                <a:tab pos="266700" algn="l"/>
              </a:tabLst>
            </a:pPr>
            <a:r>
              <a:rPr lang="en-GB" sz="2400" b="1" dirty="0">
                <a:solidFill>
                  <a:srgbClr val="FF0000"/>
                </a:solidFill>
              </a:rPr>
              <a:t>Activity 3: Product Design Challenge </a:t>
            </a:r>
            <a:br>
              <a:rPr lang="en-GB" sz="2400" b="1" dirty="0">
                <a:solidFill>
                  <a:srgbClr val="FF0000"/>
                </a:solidFill>
              </a:rPr>
            </a:br>
            <a:r>
              <a:rPr lang="en-GB" sz="2400" b="1" dirty="0">
                <a:solidFill>
                  <a:srgbClr val="FF0000"/>
                </a:solidFill>
              </a:rPr>
              <a:t>(Roadmap + ERD)</a:t>
            </a:r>
            <a:endParaRPr lang="en-GB" altLang="en-US" sz="2400" b="1" dirty="0">
              <a:solidFill>
                <a:srgbClr val="FF0000"/>
              </a:solidFill>
            </a:endParaRPr>
          </a:p>
        </p:txBody>
      </p:sp>
      <p:sp>
        <p:nvSpPr>
          <p:cNvPr id="31747" name="Content Placeholder 2">
            <a:extLst>
              <a:ext uri="{FF2B5EF4-FFF2-40B4-BE49-F238E27FC236}">
                <a16:creationId xmlns:a16="http://schemas.microsoft.com/office/drawing/2014/main" id="{2BFB39CE-3A42-929B-5C38-DEFE2B0EAF45}"/>
              </a:ext>
            </a:extLst>
          </p:cNvPr>
          <p:cNvSpPr>
            <a:spLocks noGrp="1" noChangeArrowheads="1"/>
          </p:cNvSpPr>
          <p:nvPr>
            <p:ph idx="1"/>
          </p:nvPr>
        </p:nvSpPr>
        <p:spPr>
          <a:xfrm>
            <a:off x="316850" y="1916832"/>
            <a:ext cx="8510299" cy="4104456"/>
          </a:xfrm>
        </p:spPr>
        <p:txBody>
          <a:bodyPr/>
          <a:lstStyle/>
          <a:p>
            <a:r>
              <a:rPr lang="en-GB" sz="1800" b="1" dirty="0"/>
              <a:t>Objective:</a:t>
            </a:r>
            <a:r>
              <a:rPr lang="en-GB" sz="1800" dirty="0"/>
              <a:t> Create a roadmap and data model for a new product.</a:t>
            </a:r>
          </a:p>
          <a:p>
            <a:endParaRPr lang="en-GB" sz="1800" b="1" dirty="0"/>
          </a:p>
          <a:p>
            <a:r>
              <a:rPr lang="en-GB" sz="1800" b="1" dirty="0"/>
              <a:t>Instructions:</a:t>
            </a:r>
            <a:endParaRPr lang="en-GB" sz="1800" dirty="0"/>
          </a:p>
          <a:p>
            <a:pPr marL="800100" lvl="1" indent="-342900">
              <a:buFont typeface="+mj-lt"/>
              <a:buAutoNum type="arabicPeriod"/>
            </a:pPr>
            <a:r>
              <a:rPr lang="en-GB" sz="1800" dirty="0"/>
              <a:t>Scenario: “Design a web platform for managing university clubs.”</a:t>
            </a:r>
          </a:p>
          <a:p>
            <a:pPr marL="800100" lvl="1" indent="-342900">
              <a:buFont typeface="+mj-lt"/>
              <a:buAutoNum type="arabicPeriod"/>
            </a:pPr>
            <a:r>
              <a:rPr lang="en-GB" sz="1800" dirty="0"/>
              <a:t>Each team must:</a:t>
            </a:r>
          </a:p>
          <a:p>
            <a:pPr lvl="2"/>
            <a:r>
              <a:rPr lang="en-GB" sz="1800" dirty="0"/>
              <a:t>Draft a </a:t>
            </a:r>
            <a:r>
              <a:rPr lang="en-GB" sz="1800" b="1" dirty="0"/>
              <a:t>Product Roadmap</a:t>
            </a:r>
            <a:r>
              <a:rPr lang="en-GB" sz="1800" dirty="0"/>
              <a:t> for the next 3 releases (highlighting major features).</a:t>
            </a:r>
          </a:p>
          <a:p>
            <a:pPr lvl="2"/>
            <a:r>
              <a:rPr lang="en-GB" sz="1800" dirty="0"/>
              <a:t>Create an </a:t>
            </a:r>
            <a:r>
              <a:rPr lang="en-GB" sz="1800" b="1" dirty="0"/>
              <a:t>ERD</a:t>
            </a:r>
            <a:r>
              <a:rPr lang="en-GB" sz="1800" dirty="0"/>
              <a:t> showing relationships between Clubs, Students, Events, and Memberships.</a:t>
            </a:r>
          </a:p>
          <a:p>
            <a:pPr marL="914400" lvl="2" indent="0">
              <a:buNone/>
            </a:pPr>
            <a:endParaRPr lang="en-GB" sz="1800" dirty="0"/>
          </a:p>
          <a:p>
            <a:r>
              <a:rPr lang="en-GB" sz="1800" b="1" dirty="0"/>
              <a:t>Deliverables:</a:t>
            </a:r>
            <a:endParaRPr lang="en-GB" sz="1800" dirty="0"/>
          </a:p>
          <a:p>
            <a:pPr lvl="1"/>
            <a:r>
              <a:rPr lang="en-GB" sz="1800" dirty="0"/>
              <a:t>Roadmap timeline (can be on paper or a digital tool)</a:t>
            </a:r>
          </a:p>
          <a:p>
            <a:pPr lvl="1"/>
            <a:r>
              <a:rPr lang="en-GB" sz="1800" dirty="0"/>
              <a:t>ERD diagram (hand-drawn or tool-generated)</a:t>
            </a:r>
          </a:p>
          <a:p>
            <a:pPr lvl="1"/>
            <a:endParaRPr lang="en-GB" sz="1800" dirty="0"/>
          </a:p>
        </p:txBody>
      </p:sp>
    </p:spTree>
    <p:extLst>
      <p:ext uri="{BB962C8B-B14F-4D97-AF65-F5344CB8AC3E}">
        <p14:creationId xmlns:p14="http://schemas.microsoft.com/office/powerpoint/2010/main" val="336491183"/>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10" ma:contentTypeDescription="Create a new document." ma:contentTypeScope="" ma:versionID="bb04ea5086bc103a3059e0f121933f51">
  <xsd:schema xmlns:xsd="http://www.w3.org/2001/XMLSchema" xmlns:xs="http://www.w3.org/2001/XMLSchema" xmlns:p="http://schemas.microsoft.com/office/2006/metadata/properties" xmlns:ns2="021b7eaa-8cd1-456a-877c-002ddc31b99c" xmlns:ns3="79cdffc1-a3b9-4a91-9880-ec7eeaf61044" targetNamespace="http://schemas.microsoft.com/office/2006/metadata/properties" ma:root="true" ma:fieldsID="5426ee5297bba32c1d1bd232c8b14874" ns2:_="" ns3:_="">
    <xsd:import namespace="021b7eaa-8cd1-456a-877c-002ddc31b99c"/>
    <xsd:import namespace="79cdffc1-a3b9-4a91-9880-ec7eeaf610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1b7eaa-8cd1-456a-877c-002ddc31b9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83be18a-501a-4b29-a559-d39428ddfd7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cdffc1-a3b9-4a91-9880-ec7eeaf6104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f8f23f2-31ad-45ed-b585-4e4c23b4c4e2}" ma:internalName="TaxCatchAll" ma:showField="CatchAllData" ma:web="79cdffc1-a3b9-4a91-9880-ec7eeaf610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9cdffc1-a3b9-4a91-9880-ec7eeaf61044" xsi:nil="true"/>
    <lcf76f155ced4ddcb4097134ff3c332f xmlns="021b7eaa-8cd1-456a-877c-002ddc31b99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5144C34-0E45-4443-9191-DF761F13E6C7}"/>
</file>

<file path=customXml/itemProps2.xml><?xml version="1.0" encoding="utf-8"?>
<ds:datastoreItem xmlns:ds="http://schemas.openxmlformats.org/officeDocument/2006/customXml" ds:itemID="{77A46300-E1D3-41B5-B187-AACC5393010A}"/>
</file>

<file path=customXml/itemProps3.xml><?xml version="1.0" encoding="utf-8"?>
<ds:datastoreItem xmlns:ds="http://schemas.openxmlformats.org/officeDocument/2006/customXml" ds:itemID="{F5AEE409-D675-49E1-BF7E-D121ADB9B272}"/>
</file>

<file path=docProps/app.xml><?xml version="1.0" encoding="utf-8"?>
<Properties xmlns="http://schemas.openxmlformats.org/officeDocument/2006/extended-properties" xmlns:vt="http://schemas.openxmlformats.org/officeDocument/2006/docPropsVTypes">
  <Template/>
  <TotalTime>3415</TotalTime>
  <Words>1237</Words>
  <Application>Microsoft Office PowerPoint</Application>
  <PresentationFormat>On-screen Show (4:3)</PresentationFormat>
  <Paragraphs>186</Paragraphs>
  <Slides>13</Slides>
  <Notes>13</Notes>
  <HiddenSlides>0</HiddenSlides>
  <MMClips>7</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Tahoma</vt:lpstr>
      <vt:lpstr>Wingdings</vt:lpstr>
      <vt:lpstr>Blends</vt:lpstr>
      <vt:lpstr>1_Blends</vt:lpstr>
      <vt:lpstr>Occupational Specialist Component Content: Digital Production, Design and Development</vt:lpstr>
      <vt:lpstr>Learning Objectives</vt:lpstr>
      <vt:lpstr>Why Use Business Analysis Models?</vt:lpstr>
      <vt:lpstr>User Stories</vt:lpstr>
      <vt:lpstr>Activity Diagrams</vt:lpstr>
      <vt:lpstr>Mind Maps</vt:lpstr>
      <vt:lpstr>Product Road Maps</vt:lpstr>
      <vt:lpstr>Process Diagrams</vt:lpstr>
      <vt:lpstr>Entity Relationships Diagrams (ERDs)</vt:lpstr>
      <vt:lpstr>How to Select the Right Model</vt:lpstr>
      <vt:lpstr>Activity1 - Build a Business Scenario (Mind Maps + User Stories)</vt:lpstr>
      <vt:lpstr>Activity 2: Model the Process (Activity Diagram + Process Diagram)</vt:lpstr>
      <vt:lpstr>Activity 3: Product Design Challenge  (Roadmap + ERD)</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544</cp:revision>
  <dcterms:created xsi:type="dcterms:W3CDTF">2010-11-28T12:04:27Z</dcterms:created>
  <dcterms:modified xsi:type="dcterms:W3CDTF">2025-07-30T10:36:07Z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