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20"/>
  </p:notesMasterIdLst>
  <p:sldIdLst>
    <p:sldId id="345" r:id="rId3"/>
    <p:sldId id="340" r:id="rId4"/>
    <p:sldId id="322" r:id="rId5"/>
    <p:sldId id="357" r:id="rId6"/>
    <p:sldId id="358" r:id="rId7"/>
    <p:sldId id="359" r:id="rId8"/>
    <p:sldId id="360" r:id="rId9"/>
    <p:sldId id="346" r:id="rId10"/>
    <p:sldId id="354" r:id="rId11"/>
    <p:sldId id="355" r:id="rId12"/>
    <p:sldId id="361" r:id="rId13"/>
    <p:sldId id="362" r:id="rId14"/>
    <p:sldId id="363" r:id="rId15"/>
    <p:sldId id="364" r:id="rId16"/>
    <p:sldId id="365" r:id="rId17"/>
    <p:sldId id="366" r:id="rId18"/>
    <p:sldId id="353" r:id="rId19"/>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7" autoAdjust="0"/>
    <p:restoredTop sz="73932" autoAdjust="0"/>
  </p:normalViewPr>
  <p:slideViewPr>
    <p:cSldViewPr>
      <p:cViewPr varScale="1">
        <p:scale>
          <a:sx n="78" d="100"/>
          <a:sy n="78" d="100"/>
        </p:scale>
        <p:origin x="1608" y="90"/>
      </p:cViewPr>
      <p:guideLst>
        <p:guide orient="horz" pos="2341"/>
        <p:guide pos="2880"/>
      </p:guideLst>
    </p:cSldViewPr>
  </p:slideViewPr>
  <p:notesTextViewPr>
    <p:cViewPr>
      <p:scale>
        <a:sx n="100" d="100"/>
        <a:sy n="100" d="100"/>
      </p:scale>
      <p:origin x="0" y="0"/>
    </p:cViewPr>
  </p:notesTextViewPr>
  <p:notesViewPr>
    <p:cSldViewPr>
      <p:cViewPr varScale="1">
        <p:scale>
          <a:sx n="53" d="100"/>
          <a:sy n="53" d="100"/>
        </p:scale>
        <p:origin x="-1794"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ustomXml" Target="../customXml/item2.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ustomXml" Target="../customXml/item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69EB00B-02C0-0F42-823D-4A9DC1AFF56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F058E065-BB31-8C2D-A765-5934A4EB8966}"/>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BF7756F1-DD56-F585-BD49-3A2589B8E44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013AA96F-29A0-69DB-6148-E2DDFE3AD392}"/>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859B1F5D-94D0-FC6B-55F7-9C00C8185BE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5367F6BD-F02A-552C-4EC6-BF566A0AC9C5}"/>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E43F49C-43CD-4AC1-89D8-8684C03B7E5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41A03991-5B6C-8778-5EF5-A200C68F82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794D7B8-658F-48B2-8FF7-6B6910C61461}"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CE741BFD-AB82-5EED-3E6A-042D132AC34D}"/>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748E2BC8-BFD4-3ED2-7637-9C6EBE6460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CB97848D-DF55-BA6C-B6BC-1EB2357817DC}"/>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9FF0DC80-B4C6-E59C-2B58-8D4E6D40DD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https://blog.ubiminds.com/en-us/key-development-team-roles-sdlc/</a:t>
            </a:r>
          </a:p>
          <a:p>
            <a:endParaRPr lang="en-US" altLang="en-US"/>
          </a:p>
        </p:txBody>
      </p:sp>
      <p:sp>
        <p:nvSpPr>
          <p:cNvPr id="19460" name="Slide Number Placeholder 3">
            <a:extLst>
              <a:ext uri="{FF2B5EF4-FFF2-40B4-BE49-F238E27FC236}">
                <a16:creationId xmlns:a16="http://schemas.microsoft.com/office/drawing/2014/main" id="{25C6E7CA-9338-B493-A302-5E4437DC7E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8560BC9-2D79-4236-A54A-3630EC5C67CE}" type="slidenum">
              <a:rPr lang="en-GB" altLang="en-US" smtClean="0"/>
              <a:pPr>
                <a:spcBef>
                  <a:spcPct val="0"/>
                </a:spcBef>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94DD1E1-ED0D-B386-06D9-8C9CF5044D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3480C6-0629-47C8-A81C-DDE0A03AE4E0}" type="slidenum">
              <a:rPr lang="en-GB" altLang="en-US" smtClean="0"/>
              <a:pPr>
                <a:spcBef>
                  <a:spcPct val="0"/>
                </a:spcBef>
              </a:pPr>
              <a:t>3</a:t>
            </a:fld>
            <a:endParaRPr lang="en-GB" altLang="en-US"/>
          </a:p>
        </p:txBody>
      </p:sp>
      <p:sp>
        <p:nvSpPr>
          <p:cNvPr id="19459" name="Rectangle 2">
            <a:extLst>
              <a:ext uri="{FF2B5EF4-FFF2-40B4-BE49-F238E27FC236}">
                <a16:creationId xmlns:a16="http://schemas.microsoft.com/office/drawing/2014/main" id="{9FAE4266-AEE9-6BDB-09BF-77CAC2D71605}"/>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B93BBDD6-34F8-6A82-09F6-645A72AFB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Arial" panose="020B0604020202020204" pitchFamily="34" charset="0"/>
              <a:buNone/>
            </a:pPr>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DDEC-25AB-2C2C-2DBF-AACED0F1A4D2}"/>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69588D15-67B2-EAB0-03D2-BF24992153FB}"/>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846D9623-F399-F9B8-83B9-48FD8355F5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https://www.adaptiveus.com/blog/what-is-a-product-owner/</a:t>
            </a:r>
          </a:p>
        </p:txBody>
      </p:sp>
      <p:sp>
        <p:nvSpPr>
          <p:cNvPr id="21508" name="Slide Number Placeholder 3">
            <a:extLst>
              <a:ext uri="{FF2B5EF4-FFF2-40B4-BE49-F238E27FC236}">
                <a16:creationId xmlns:a16="http://schemas.microsoft.com/office/drawing/2014/main" id="{CA6D9AFE-3CA8-56FD-99A7-7FB453596F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4</a:t>
            </a:fld>
            <a:endParaRPr lang="en-GB" altLang="en-US"/>
          </a:p>
        </p:txBody>
      </p:sp>
    </p:spTree>
    <p:extLst>
      <p:ext uri="{BB962C8B-B14F-4D97-AF65-F5344CB8AC3E}">
        <p14:creationId xmlns:p14="http://schemas.microsoft.com/office/powerpoint/2010/main" val="352438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7EE11-1A5E-3C00-906E-55C1982782FF}"/>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B92490B3-6BB0-6B1C-D488-F8B126D5718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64D8F479-74FE-AFCE-D0DB-0EE6F80920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https://agilewaters.com/what-are-the-roles-and-responsibilities-of-a-scrum-master/</a:t>
            </a:r>
          </a:p>
        </p:txBody>
      </p:sp>
      <p:sp>
        <p:nvSpPr>
          <p:cNvPr id="21508" name="Slide Number Placeholder 3">
            <a:extLst>
              <a:ext uri="{FF2B5EF4-FFF2-40B4-BE49-F238E27FC236}">
                <a16:creationId xmlns:a16="http://schemas.microsoft.com/office/drawing/2014/main" id="{7695D7B2-B386-6700-8F29-9F81F0FB5A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5</a:t>
            </a:fld>
            <a:endParaRPr lang="en-GB" altLang="en-US"/>
          </a:p>
        </p:txBody>
      </p:sp>
    </p:spTree>
    <p:extLst>
      <p:ext uri="{BB962C8B-B14F-4D97-AF65-F5344CB8AC3E}">
        <p14:creationId xmlns:p14="http://schemas.microsoft.com/office/powerpoint/2010/main" val="1070622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055CF-B649-FA4B-FC19-C27073D89A25}"/>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7A479E8A-41CF-E530-0792-F0D7CF2E2DE0}"/>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0A073078-45F1-282F-3037-CF38CF0E30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https://www.linkedin.com/pulse/how-effective-tech-lead-software-industry-chandan-kumar</a:t>
            </a:r>
          </a:p>
          <a:p>
            <a:r>
              <a:rPr lang="en-US" altLang="en-US" dirty="0"/>
              <a:t>https://www.shakebugs.com/blog/tech-lead-responsibilities/</a:t>
            </a:r>
          </a:p>
        </p:txBody>
      </p:sp>
      <p:sp>
        <p:nvSpPr>
          <p:cNvPr id="21508" name="Slide Number Placeholder 3">
            <a:extLst>
              <a:ext uri="{FF2B5EF4-FFF2-40B4-BE49-F238E27FC236}">
                <a16:creationId xmlns:a16="http://schemas.microsoft.com/office/drawing/2014/main" id="{E30DE8A3-FFF9-906E-FDDB-397B4436B3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6</a:t>
            </a:fld>
            <a:endParaRPr lang="en-GB" altLang="en-US"/>
          </a:p>
        </p:txBody>
      </p:sp>
    </p:spTree>
    <p:extLst>
      <p:ext uri="{BB962C8B-B14F-4D97-AF65-F5344CB8AC3E}">
        <p14:creationId xmlns:p14="http://schemas.microsoft.com/office/powerpoint/2010/main" val="1885167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74517-A480-3BAA-21F6-E214B5D40EF4}"/>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8940D5CD-4C6D-3C90-D09A-A9CA05DD82F2}"/>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879F6093-7AC8-ED62-E66D-848F55FB6B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https://www.proofhub.com/articles/project-manager-roles-responsibilities</a:t>
            </a:r>
          </a:p>
        </p:txBody>
      </p:sp>
      <p:sp>
        <p:nvSpPr>
          <p:cNvPr id="21508" name="Slide Number Placeholder 3">
            <a:extLst>
              <a:ext uri="{FF2B5EF4-FFF2-40B4-BE49-F238E27FC236}">
                <a16:creationId xmlns:a16="http://schemas.microsoft.com/office/drawing/2014/main" id="{58DC00F4-EDED-A095-3489-57EB703ACA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7</a:t>
            </a:fld>
            <a:endParaRPr lang="en-GB" altLang="en-US"/>
          </a:p>
        </p:txBody>
      </p:sp>
    </p:spTree>
    <p:extLst>
      <p:ext uri="{BB962C8B-B14F-4D97-AF65-F5344CB8AC3E}">
        <p14:creationId xmlns:p14="http://schemas.microsoft.com/office/powerpoint/2010/main" val="1033619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E968601F-6CA5-B05A-C2BD-DCDD844BD28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938C4D4A-072C-70B3-6C2D-9A96CDD1CD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https://symphony-solutions.com/insights/agile-team-structure-in-software-development</a:t>
            </a:r>
          </a:p>
          <a:p>
            <a:r>
              <a:rPr lang="en-US" altLang="en-US" dirty="0"/>
              <a:t>https://www.tatvasoft.com/outsourcing/2022/05/software-development-roles.html</a:t>
            </a:r>
          </a:p>
        </p:txBody>
      </p:sp>
      <p:sp>
        <p:nvSpPr>
          <p:cNvPr id="21508" name="Slide Number Placeholder 3">
            <a:extLst>
              <a:ext uri="{FF2B5EF4-FFF2-40B4-BE49-F238E27FC236}">
                <a16:creationId xmlns:a16="http://schemas.microsoft.com/office/drawing/2014/main" id="{9B1BE74E-AA58-C21E-260A-93A89ED387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8</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40D45-CDCA-A0F8-D9C3-2B26AC630AF5}"/>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A1913B54-A216-D70B-F228-EB8962B26761}"/>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40C482DA-3281-F8C3-EE44-F676E2D6DE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https://kms-solutions.asia/blogs/roles-in-a-dedicated-software-development-team</a:t>
            </a:r>
          </a:p>
        </p:txBody>
      </p:sp>
      <p:sp>
        <p:nvSpPr>
          <p:cNvPr id="21508" name="Slide Number Placeholder 3">
            <a:extLst>
              <a:ext uri="{FF2B5EF4-FFF2-40B4-BE49-F238E27FC236}">
                <a16:creationId xmlns:a16="http://schemas.microsoft.com/office/drawing/2014/main" id="{9111AFD2-B6B0-D2DA-1CED-6F6003A287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9</a:t>
            </a:fld>
            <a:endParaRPr lang="en-GB" altLang="en-US"/>
          </a:p>
        </p:txBody>
      </p:sp>
    </p:spTree>
    <p:extLst>
      <p:ext uri="{BB962C8B-B14F-4D97-AF65-F5344CB8AC3E}">
        <p14:creationId xmlns:p14="http://schemas.microsoft.com/office/powerpoint/2010/main" val="3517532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E05AB-D04B-332F-62B8-5765D3BB58C5}"/>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34A5E289-A85B-2190-EFF2-30F55D01418C}"/>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E09C1B3C-1975-431B-9E8C-EFA3F5B178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https://www.linkedin.com/pulse/software-development-tools-poornima-devi-xyunc</a:t>
            </a:r>
          </a:p>
          <a:p>
            <a:r>
              <a:rPr lang="en-US" altLang="en-US" dirty="0"/>
              <a:t>https://www.inspirisys.com/blog-details/Top-10-Software-Development-Tools-to-Boost-Productivity-and-Innovation/159</a:t>
            </a:r>
          </a:p>
        </p:txBody>
      </p:sp>
      <p:sp>
        <p:nvSpPr>
          <p:cNvPr id="21508" name="Slide Number Placeholder 3">
            <a:extLst>
              <a:ext uri="{FF2B5EF4-FFF2-40B4-BE49-F238E27FC236}">
                <a16:creationId xmlns:a16="http://schemas.microsoft.com/office/drawing/2014/main" id="{C905B811-FFEF-D421-13F8-C72B640D79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10</a:t>
            </a:fld>
            <a:endParaRPr lang="en-GB" altLang="en-US"/>
          </a:p>
        </p:txBody>
      </p:sp>
    </p:spTree>
    <p:extLst>
      <p:ext uri="{BB962C8B-B14F-4D97-AF65-F5344CB8AC3E}">
        <p14:creationId xmlns:p14="http://schemas.microsoft.com/office/powerpoint/2010/main" val="2246331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7A07D-9E0F-D98E-AE0D-1DDE32F16B04}"/>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A40B2FA-ADDC-1BBF-1DE2-C35D960093F0}"/>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B40B8F77-51D2-8031-937E-13C3BE4BB3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https://www.educative.io/answers/what-are-the-roles-of-a-systems-analyst</a:t>
            </a:r>
          </a:p>
          <a:p>
            <a:r>
              <a:rPr lang="en-US" altLang="en-US" dirty="0"/>
              <a:t>https://www.modernanalyst.com/Resources/Articles/tabid/115/ID/3726/Differences-Duties-and-Responsibilities-of-Business-Analysts-and-System-Analysts.aspx</a:t>
            </a:r>
          </a:p>
          <a:p>
            <a:endParaRPr lang="en-US" altLang="en-US" dirty="0"/>
          </a:p>
        </p:txBody>
      </p:sp>
      <p:sp>
        <p:nvSpPr>
          <p:cNvPr id="21508" name="Slide Number Placeholder 3">
            <a:extLst>
              <a:ext uri="{FF2B5EF4-FFF2-40B4-BE49-F238E27FC236}">
                <a16:creationId xmlns:a16="http://schemas.microsoft.com/office/drawing/2014/main" id="{BC982FC0-7835-5722-AF8E-E718A1F46B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11</a:t>
            </a:fld>
            <a:endParaRPr lang="en-GB" altLang="en-US"/>
          </a:p>
        </p:txBody>
      </p:sp>
    </p:spTree>
    <p:extLst>
      <p:ext uri="{BB962C8B-B14F-4D97-AF65-F5344CB8AC3E}">
        <p14:creationId xmlns:p14="http://schemas.microsoft.com/office/powerpoint/2010/main" val="553470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60901-D4E9-109B-B50F-A9BEADE0AF10}"/>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6615B5ED-C552-B655-BB15-0338D34E2471}"/>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3438E8DA-93C1-8E4C-0C16-C7E7099254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https://www.guvi.in/blog/ui-ux-designer-roles-and-responsibilities-and-job-description/</a:t>
            </a:r>
          </a:p>
          <a:p>
            <a:endParaRPr lang="en-US" altLang="en-US" dirty="0"/>
          </a:p>
        </p:txBody>
      </p:sp>
      <p:sp>
        <p:nvSpPr>
          <p:cNvPr id="21508" name="Slide Number Placeholder 3">
            <a:extLst>
              <a:ext uri="{FF2B5EF4-FFF2-40B4-BE49-F238E27FC236}">
                <a16:creationId xmlns:a16="http://schemas.microsoft.com/office/drawing/2014/main" id="{71E1E011-C5E5-D0DE-C721-8337C46390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12</a:t>
            </a:fld>
            <a:endParaRPr lang="en-GB" altLang="en-US"/>
          </a:p>
        </p:txBody>
      </p:sp>
    </p:spTree>
    <p:extLst>
      <p:ext uri="{BB962C8B-B14F-4D97-AF65-F5344CB8AC3E}">
        <p14:creationId xmlns:p14="http://schemas.microsoft.com/office/powerpoint/2010/main" val="1504723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79C0F-0E89-30B6-942E-7F0F4A7BFDC7}"/>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A86E584E-EBCD-F6AD-AB4C-7B15E3858B10}"/>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0378C817-EB9F-3EF4-8FAC-06F39BCD90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https://www.ishir.com/blog/146410/software-developer-vs-software-engineer.htm</a:t>
            </a:r>
          </a:p>
          <a:p>
            <a:r>
              <a:rPr lang="en-US" altLang="en-US" dirty="0"/>
              <a:t>https://blog.temok.com/software-developer-vs-software-engineer/</a:t>
            </a:r>
          </a:p>
          <a:p>
            <a:endParaRPr lang="en-US" altLang="en-US" dirty="0"/>
          </a:p>
        </p:txBody>
      </p:sp>
      <p:sp>
        <p:nvSpPr>
          <p:cNvPr id="21508" name="Slide Number Placeholder 3">
            <a:extLst>
              <a:ext uri="{FF2B5EF4-FFF2-40B4-BE49-F238E27FC236}">
                <a16:creationId xmlns:a16="http://schemas.microsoft.com/office/drawing/2014/main" id="{0EC0E77D-5613-B218-67ED-4FC6DDC06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13</a:t>
            </a:fld>
            <a:endParaRPr lang="en-GB" altLang="en-US"/>
          </a:p>
        </p:txBody>
      </p:sp>
    </p:spTree>
    <p:extLst>
      <p:ext uri="{BB962C8B-B14F-4D97-AF65-F5344CB8AC3E}">
        <p14:creationId xmlns:p14="http://schemas.microsoft.com/office/powerpoint/2010/main" val="1344881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C40C2-7A83-192C-26F5-2C48AD49EABA}"/>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294F836E-42A6-F5AE-A74C-454AA77B14BF}"/>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AB02990C-3359-C27C-F6F9-1455CCA0AA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https://www.gsdcouncil.org/blogs/devops-engineer-vs-software-engineer</a:t>
            </a:r>
          </a:p>
        </p:txBody>
      </p:sp>
      <p:sp>
        <p:nvSpPr>
          <p:cNvPr id="21508" name="Slide Number Placeholder 3">
            <a:extLst>
              <a:ext uri="{FF2B5EF4-FFF2-40B4-BE49-F238E27FC236}">
                <a16:creationId xmlns:a16="http://schemas.microsoft.com/office/drawing/2014/main" id="{FA9EEBC9-CD8C-F0F4-668F-1C9AEFC345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14</a:t>
            </a:fld>
            <a:endParaRPr lang="en-GB" altLang="en-US"/>
          </a:p>
        </p:txBody>
      </p:sp>
    </p:spTree>
    <p:extLst>
      <p:ext uri="{BB962C8B-B14F-4D97-AF65-F5344CB8AC3E}">
        <p14:creationId xmlns:p14="http://schemas.microsoft.com/office/powerpoint/2010/main" val="745127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214D2-08A9-DFAE-7181-A65928772ED5}"/>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A7D527F2-0BF4-77E6-3A9A-56D982224D65}"/>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452B8048-1ECE-CC34-E09E-42BFCDA318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1508" name="Slide Number Placeholder 3">
            <a:extLst>
              <a:ext uri="{FF2B5EF4-FFF2-40B4-BE49-F238E27FC236}">
                <a16:creationId xmlns:a16="http://schemas.microsoft.com/office/drawing/2014/main" id="{89908C54-1127-19CA-EFCA-14D77D6A3B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15</a:t>
            </a:fld>
            <a:endParaRPr lang="en-GB" altLang="en-US"/>
          </a:p>
        </p:txBody>
      </p:sp>
    </p:spTree>
    <p:extLst>
      <p:ext uri="{BB962C8B-B14F-4D97-AF65-F5344CB8AC3E}">
        <p14:creationId xmlns:p14="http://schemas.microsoft.com/office/powerpoint/2010/main" val="2839878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E6B6E-5EF7-FCDC-D6DA-323D2272AE8D}"/>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A277A12A-D6A3-5151-95AC-2F152F1BD5C2}"/>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A8EF13B1-8C25-D3FA-0C09-15DF649EFA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1508" name="Slide Number Placeholder 3">
            <a:extLst>
              <a:ext uri="{FF2B5EF4-FFF2-40B4-BE49-F238E27FC236}">
                <a16:creationId xmlns:a16="http://schemas.microsoft.com/office/drawing/2014/main" id="{D78E4BB0-9703-F6EE-1506-0FB1ED730D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8106372-4E40-433F-805F-2A31682E0129}" type="slidenum">
              <a:rPr lang="en-GB" altLang="en-US" smtClean="0"/>
              <a:pPr/>
              <a:t>16</a:t>
            </a:fld>
            <a:endParaRPr lang="en-GB" altLang="en-US"/>
          </a:p>
        </p:txBody>
      </p:sp>
    </p:spTree>
    <p:extLst>
      <p:ext uri="{BB962C8B-B14F-4D97-AF65-F5344CB8AC3E}">
        <p14:creationId xmlns:p14="http://schemas.microsoft.com/office/powerpoint/2010/main" val="24344987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A1DDD3E2-1585-F2C5-CADE-5566F70617EC}"/>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88236156-EA67-126D-B1F4-2A22D2805C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a:p>
            <a:r>
              <a:rPr lang="en-GB" altLang="en-US" dirty="0"/>
              <a:t>https://www.bmc.com/blogs/agile-roles-responsibilities/</a:t>
            </a:r>
          </a:p>
        </p:txBody>
      </p:sp>
      <p:sp>
        <p:nvSpPr>
          <p:cNvPr id="30724" name="Slide Number Placeholder 3">
            <a:extLst>
              <a:ext uri="{FF2B5EF4-FFF2-40B4-BE49-F238E27FC236}">
                <a16:creationId xmlns:a16="http://schemas.microsoft.com/office/drawing/2014/main" id="{698F61FF-3B46-1C3E-5494-E7A49B3B85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4D3618B-2E98-42C6-A289-2BA3E05E7100}" type="slidenum">
              <a:rPr lang="en-GB" altLang="en-US" smtClean="0"/>
              <a:pPr/>
              <a:t>17</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512BBEB-158D-A774-CCFC-99654DFEC1BD}"/>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DEDFAAD0-3EC1-646C-89CF-8AC2CC5B72B3}"/>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FC566CC7-D7BF-4841-0B5C-8006F194C149}"/>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03D792E8-06E2-B1DD-2DE8-0B6CB667FEA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E01A9940-90A2-E9AE-9638-02071F2DA561}"/>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AA29F1A8-8A70-F04C-351B-BD9762F6E811}"/>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23C6DB5E-B83F-B8B8-CC1D-D2B142E854EB}"/>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ADE3BEED-E879-0DF5-D3B2-95EC900F80C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90A2EB0C-7376-2117-F4B4-9C467C108254}"/>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0989FDF0-CCC9-3767-B040-F2D00ED6E9B6}"/>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F6D6773E-51F2-7CA3-C17D-70638F37C109}"/>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6FCB80DB-F20A-06EF-1DB4-9503DA4201D7}"/>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D90BC2F1-991E-288F-A742-6BC352DEC377}"/>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533209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9C56C640-2C8C-DA67-B8E3-32E1B9193A87}"/>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57DE190-EA43-0E89-AC6B-7CDD57D787DB}"/>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E676AD6-86D5-2EE9-D458-6BF96C187F73}"/>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578318D-E389-4CE2-A7CF-06732522A07D}" type="slidenum">
              <a:rPr lang="en-US" altLang="en-US"/>
              <a:pPr>
                <a:defRPr/>
              </a:pPr>
              <a:t>‹#›</a:t>
            </a:fld>
            <a:endParaRPr lang="en-US" altLang="en-US"/>
          </a:p>
        </p:txBody>
      </p:sp>
    </p:spTree>
    <p:extLst>
      <p:ext uri="{BB962C8B-B14F-4D97-AF65-F5344CB8AC3E}">
        <p14:creationId xmlns:p14="http://schemas.microsoft.com/office/powerpoint/2010/main" val="3473864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242C9C2D-9274-7466-AC6D-3784567B262C}"/>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8CCF86A-8702-9F98-A1D3-AFEDBAE676AF}"/>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493F9413-3528-9453-6B1C-2B354FEDB7A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10277BE-A8D7-4B68-84B8-B956436BE706}" type="slidenum">
              <a:rPr lang="en-US" altLang="en-US"/>
              <a:pPr>
                <a:defRPr/>
              </a:pPr>
              <a:t>‹#›</a:t>
            </a:fld>
            <a:endParaRPr lang="en-US" altLang="en-US"/>
          </a:p>
        </p:txBody>
      </p:sp>
    </p:spTree>
    <p:extLst>
      <p:ext uri="{BB962C8B-B14F-4D97-AF65-F5344CB8AC3E}">
        <p14:creationId xmlns:p14="http://schemas.microsoft.com/office/powerpoint/2010/main" val="36568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CCE58E9C-6C3A-972A-1065-991F3CAF88D7}"/>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3FA95150-E630-8CB3-49D5-72815AD32A68}"/>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815DA1CD-AFB9-590A-AC9A-7C5597B9CB0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4D8E13D-3345-4DB4-9DB6-4487B7384A99}" type="slidenum">
              <a:rPr lang="en-US" altLang="en-US"/>
              <a:pPr>
                <a:defRPr/>
              </a:pPr>
              <a:t>‹#›</a:t>
            </a:fld>
            <a:endParaRPr lang="en-US" altLang="en-US"/>
          </a:p>
        </p:txBody>
      </p:sp>
    </p:spTree>
    <p:extLst>
      <p:ext uri="{BB962C8B-B14F-4D97-AF65-F5344CB8AC3E}">
        <p14:creationId xmlns:p14="http://schemas.microsoft.com/office/powerpoint/2010/main" val="3108701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D8FB6519-148D-DD2D-9D6A-08CADEB18062}"/>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10C4CC44-257B-22D3-1EEB-A7CCBC66A26D}"/>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C8CEF860-B0B8-B2E5-DB0F-AF21EE47673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F4D9BD2-2CFC-490D-B490-BE801939CBFB}" type="slidenum">
              <a:rPr lang="en-US" altLang="en-US"/>
              <a:pPr>
                <a:defRPr/>
              </a:pPr>
              <a:t>‹#›</a:t>
            </a:fld>
            <a:endParaRPr lang="en-US" altLang="en-US"/>
          </a:p>
        </p:txBody>
      </p:sp>
    </p:spTree>
    <p:extLst>
      <p:ext uri="{BB962C8B-B14F-4D97-AF65-F5344CB8AC3E}">
        <p14:creationId xmlns:p14="http://schemas.microsoft.com/office/powerpoint/2010/main" val="3336174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BD25B346-1CB4-1273-4961-4E2D1DDE93FE}"/>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4B632BA8-CD8B-FD21-2F2F-37AE8C9229D4}"/>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B75B71CA-7A75-A300-DA2C-2F178C75C263}"/>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59C87F6-5BF9-401B-9A77-C934D62D9E8C}" type="slidenum">
              <a:rPr lang="en-US" altLang="en-US"/>
              <a:pPr>
                <a:defRPr/>
              </a:pPr>
              <a:t>‹#›</a:t>
            </a:fld>
            <a:endParaRPr lang="en-US" altLang="en-US"/>
          </a:p>
        </p:txBody>
      </p:sp>
    </p:spTree>
    <p:extLst>
      <p:ext uri="{BB962C8B-B14F-4D97-AF65-F5344CB8AC3E}">
        <p14:creationId xmlns:p14="http://schemas.microsoft.com/office/powerpoint/2010/main" val="2500586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9F918D3E-92E3-B7A3-D0DD-7233CE4E8653}"/>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2628B422-7C55-F132-5DFF-49390F98142E}"/>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5C7A38EE-EDFC-AA6C-254C-CA49FDDEE07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9B18ACF-40E9-4806-98A2-150DABE0B554}" type="slidenum">
              <a:rPr lang="en-US" altLang="en-US"/>
              <a:pPr>
                <a:defRPr/>
              </a:pPr>
              <a:t>‹#›</a:t>
            </a:fld>
            <a:endParaRPr lang="en-US" altLang="en-US"/>
          </a:p>
        </p:txBody>
      </p:sp>
    </p:spTree>
    <p:extLst>
      <p:ext uri="{BB962C8B-B14F-4D97-AF65-F5344CB8AC3E}">
        <p14:creationId xmlns:p14="http://schemas.microsoft.com/office/powerpoint/2010/main" val="582755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5D8CD93-8482-3660-6E42-3244086CC2B0}"/>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96D49A35-25A4-9689-F37D-00B02BD6A3D4}"/>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3F3F6E0C-2C49-18AD-E18D-0EFD499BD7D9}"/>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1EF2D4C-876A-4267-8DD2-01B74F608C42}" type="slidenum">
              <a:rPr lang="en-US" altLang="en-US"/>
              <a:pPr>
                <a:defRPr/>
              </a:pPr>
              <a:t>‹#›</a:t>
            </a:fld>
            <a:endParaRPr lang="en-US" altLang="en-US"/>
          </a:p>
        </p:txBody>
      </p:sp>
    </p:spTree>
    <p:extLst>
      <p:ext uri="{BB962C8B-B14F-4D97-AF65-F5344CB8AC3E}">
        <p14:creationId xmlns:p14="http://schemas.microsoft.com/office/powerpoint/2010/main" val="3570006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075FC536-854A-7BEC-8CF0-3B86A0951996}"/>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B15E86B-884B-0DA0-99BF-D677C656626E}"/>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208263CC-5EEA-10C3-051A-B86229132C9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A110D81-CDE9-4D6E-8E6F-A1A10787A9B6}" type="slidenum">
              <a:rPr lang="en-US" altLang="en-US"/>
              <a:pPr>
                <a:defRPr/>
              </a:pPr>
              <a:t>‹#›</a:t>
            </a:fld>
            <a:endParaRPr lang="en-US" altLang="en-US"/>
          </a:p>
        </p:txBody>
      </p:sp>
    </p:spTree>
    <p:extLst>
      <p:ext uri="{BB962C8B-B14F-4D97-AF65-F5344CB8AC3E}">
        <p14:creationId xmlns:p14="http://schemas.microsoft.com/office/powerpoint/2010/main" val="4183516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3CB47974-7DF5-0183-9EE1-AA4982E03F24}"/>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561D87C-D83F-3361-29E1-A18ACC374DBE}"/>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39D0983-5CD4-F48C-74E2-FC4CDACBE9B4}"/>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5F08BB7-D62E-4FD2-B4E9-6851F022394A}" type="slidenum">
              <a:rPr lang="en-US" altLang="en-US"/>
              <a:pPr>
                <a:defRPr/>
              </a:pPr>
              <a:t>‹#›</a:t>
            </a:fld>
            <a:endParaRPr lang="en-US" altLang="en-US"/>
          </a:p>
        </p:txBody>
      </p:sp>
    </p:spTree>
    <p:extLst>
      <p:ext uri="{BB962C8B-B14F-4D97-AF65-F5344CB8AC3E}">
        <p14:creationId xmlns:p14="http://schemas.microsoft.com/office/powerpoint/2010/main" val="2196041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309D9103-301E-D1EE-A72F-23E4BC4D0770}"/>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B1827C6-B2B7-A3E8-9858-7E890FA0D599}"/>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497702E0-4C55-1A0C-D519-B71095F51A4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E493574-2DD6-47EA-A292-8BF09BF1ECFF}" type="slidenum">
              <a:rPr lang="en-US" altLang="en-US"/>
              <a:pPr>
                <a:defRPr/>
              </a:pPr>
              <a:t>‹#›</a:t>
            </a:fld>
            <a:endParaRPr lang="en-US" altLang="en-US"/>
          </a:p>
        </p:txBody>
      </p:sp>
    </p:spTree>
    <p:extLst>
      <p:ext uri="{BB962C8B-B14F-4D97-AF65-F5344CB8AC3E}">
        <p14:creationId xmlns:p14="http://schemas.microsoft.com/office/powerpoint/2010/main" val="3799999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89E8659-5208-06B3-3A81-A20B366DF6A1}"/>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2F6D9FA6-89C0-FEB0-CA24-65E3E94FEF9C}"/>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CAA62A92-8D35-BCC9-633A-4F83F0A40233}"/>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ADCA96EA-D26A-CE7A-9F69-09B0FA5711A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8B32A964-A0E9-50AC-5CC3-BB6060BECAB0}"/>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B7A6116A-E418-BD4D-A1C8-639E9CE463E6}"/>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EB8CB1A4-8BD1-CDC9-DC34-F3B3DE3D9B6F}"/>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D1A8DCE7-4F4F-B04C-14F0-036D02CE6B07}"/>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5F21701B-FD88-05C5-0C67-3DBA06D73AAD}"/>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7B95BFE5-219B-0786-8C01-7745FC937E7C}"/>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1C77FE53-C9D2-EA50-9781-E4172D7DC981}"/>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0391649E-17C5-BE11-1B23-D6F4E40ABB2A}"/>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4D85D170-F299-F5F7-95B9-2D022B651B06}"/>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0B079D9F-8553-4C94-AD5E-14CE6936922D}" type="slidenum">
              <a:rPr lang="en-US" altLang="en-US"/>
              <a:pPr>
                <a:defRPr/>
              </a:pPr>
              <a:t>‹#›</a:t>
            </a:fld>
            <a:endParaRPr lang="en-US" altLang="en-US"/>
          </a:p>
        </p:txBody>
      </p:sp>
    </p:spTree>
    <p:extLst>
      <p:ext uri="{BB962C8B-B14F-4D97-AF65-F5344CB8AC3E}">
        <p14:creationId xmlns:p14="http://schemas.microsoft.com/office/powerpoint/2010/main" val="1224416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8E86E648-FFD3-C847-B3FF-8838613715D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8538F5AD-B364-7BBC-C640-5CA3633A0B7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6AA1335-01E3-D917-784D-B1B15DA04E50}"/>
              </a:ext>
            </a:extLst>
          </p:cNvPr>
          <p:cNvSpPr>
            <a:spLocks noGrp="1" noChangeArrowheads="1"/>
          </p:cNvSpPr>
          <p:nvPr>
            <p:ph type="sldNum" sz="quarter" idx="12"/>
          </p:nvPr>
        </p:nvSpPr>
        <p:spPr>
          <a:ln/>
        </p:spPr>
        <p:txBody>
          <a:bodyPr/>
          <a:lstStyle>
            <a:lvl1pPr>
              <a:defRPr/>
            </a:lvl1pPr>
          </a:lstStyle>
          <a:p>
            <a:pPr>
              <a:defRPr/>
            </a:pPr>
            <a:fld id="{02302C65-0F0B-491C-A90D-7F07E46428B3}" type="slidenum">
              <a:rPr lang="en-US" altLang="en-US"/>
              <a:pPr>
                <a:defRPr/>
              </a:pPr>
              <a:t>‹#›</a:t>
            </a:fld>
            <a:endParaRPr lang="en-US" altLang="en-US"/>
          </a:p>
        </p:txBody>
      </p:sp>
    </p:spTree>
    <p:extLst>
      <p:ext uri="{BB962C8B-B14F-4D97-AF65-F5344CB8AC3E}">
        <p14:creationId xmlns:p14="http://schemas.microsoft.com/office/powerpoint/2010/main" val="4060521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1E94845E-8979-D54C-24C9-BE3792E98FF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E8E2F8A7-F158-4C0E-5A66-8A3C870388F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73EC74E0-4CF2-BA75-7C61-B37874FB8AD5}"/>
              </a:ext>
            </a:extLst>
          </p:cNvPr>
          <p:cNvSpPr>
            <a:spLocks noGrp="1" noChangeArrowheads="1"/>
          </p:cNvSpPr>
          <p:nvPr>
            <p:ph type="sldNum" sz="quarter" idx="12"/>
          </p:nvPr>
        </p:nvSpPr>
        <p:spPr>
          <a:ln/>
        </p:spPr>
        <p:txBody>
          <a:bodyPr/>
          <a:lstStyle>
            <a:lvl1pPr>
              <a:defRPr/>
            </a:lvl1pPr>
          </a:lstStyle>
          <a:p>
            <a:pPr>
              <a:defRPr/>
            </a:pPr>
            <a:fld id="{510D659A-3EB1-4253-939E-A0B47BF03ED9}" type="slidenum">
              <a:rPr lang="en-US" altLang="en-US"/>
              <a:pPr>
                <a:defRPr/>
              </a:pPr>
              <a:t>‹#›</a:t>
            </a:fld>
            <a:endParaRPr lang="en-US" altLang="en-US"/>
          </a:p>
        </p:txBody>
      </p:sp>
    </p:spTree>
    <p:extLst>
      <p:ext uri="{BB962C8B-B14F-4D97-AF65-F5344CB8AC3E}">
        <p14:creationId xmlns:p14="http://schemas.microsoft.com/office/powerpoint/2010/main" val="26744105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584A9FF8-12F4-3F30-A9A6-FBE7AB54A88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5432CDA2-7651-07B2-EC63-80EE4A6A31D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834C5A1-22F9-7AAB-EEC0-5568B80DF251}"/>
              </a:ext>
            </a:extLst>
          </p:cNvPr>
          <p:cNvSpPr>
            <a:spLocks noGrp="1" noChangeArrowheads="1"/>
          </p:cNvSpPr>
          <p:nvPr>
            <p:ph type="sldNum" sz="quarter" idx="12"/>
          </p:nvPr>
        </p:nvSpPr>
        <p:spPr>
          <a:ln/>
        </p:spPr>
        <p:txBody>
          <a:bodyPr/>
          <a:lstStyle>
            <a:lvl1pPr>
              <a:defRPr/>
            </a:lvl1pPr>
          </a:lstStyle>
          <a:p>
            <a:pPr>
              <a:defRPr/>
            </a:pPr>
            <a:fld id="{F8184945-36CD-4E21-B0BA-7D0039F018E0}" type="slidenum">
              <a:rPr lang="en-US" altLang="en-US"/>
              <a:pPr>
                <a:defRPr/>
              </a:pPr>
              <a:t>‹#›</a:t>
            </a:fld>
            <a:endParaRPr lang="en-US" altLang="en-US"/>
          </a:p>
        </p:txBody>
      </p:sp>
    </p:spTree>
    <p:extLst>
      <p:ext uri="{BB962C8B-B14F-4D97-AF65-F5344CB8AC3E}">
        <p14:creationId xmlns:p14="http://schemas.microsoft.com/office/powerpoint/2010/main" val="2598554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9679475E-BCF8-7AD0-E672-237CF7FBA4D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2F91536F-32DB-D17D-2549-BD979A684CE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939AF398-492A-7482-4AA0-E2EDD2BB1E98}"/>
              </a:ext>
            </a:extLst>
          </p:cNvPr>
          <p:cNvSpPr>
            <a:spLocks noGrp="1" noChangeArrowheads="1"/>
          </p:cNvSpPr>
          <p:nvPr>
            <p:ph type="sldNum" sz="quarter" idx="12"/>
          </p:nvPr>
        </p:nvSpPr>
        <p:spPr>
          <a:ln/>
        </p:spPr>
        <p:txBody>
          <a:bodyPr/>
          <a:lstStyle>
            <a:lvl1pPr>
              <a:defRPr/>
            </a:lvl1pPr>
          </a:lstStyle>
          <a:p>
            <a:pPr>
              <a:defRPr/>
            </a:pPr>
            <a:fld id="{81DF1381-AB35-42FB-A48E-0F0762C16D6B}" type="slidenum">
              <a:rPr lang="en-US" altLang="en-US"/>
              <a:pPr>
                <a:defRPr/>
              </a:pPr>
              <a:t>‹#›</a:t>
            </a:fld>
            <a:endParaRPr lang="en-US" altLang="en-US"/>
          </a:p>
        </p:txBody>
      </p:sp>
    </p:spTree>
    <p:extLst>
      <p:ext uri="{BB962C8B-B14F-4D97-AF65-F5344CB8AC3E}">
        <p14:creationId xmlns:p14="http://schemas.microsoft.com/office/powerpoint/2010/main" val="2765360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10FE8488-44DF-B707-0687-85422671B2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01EEBE2A-7A31-C701-EAD6-A16419F7986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A23B8135-4E30-7847-67BC-8AFA70FB9B4E}"/>
              </a:ext>
            </a:extLst>
          </p:cNvPr>
          <p:cNvSpPr>
            <a:spLocks noGrp="1" noChangeArrowheads="1"/>
          </p:cNvSpPr>
          <p:nvPr>
            <p:ph type="sldNum" sz="quarter" idx="12"/>
          </p:nvPr>
        </p:nvSpPr>
        <p:spPr>
          <a:ln/>
        </p:spPr>
        <p:txBody>
          <a:bodyPr/>
          <a:lstStyle>
            <a:lvl1pPr>
              <a:defRPr/>
            </a:lvl1pPr>
          </a:lstStyle>
          <a:p>
            <a:pPr>
              <a:defRPr/>
            </a:pPr>
            <a:fld id="{7AF941B2-7D93-4B0B-B8D0-9D57FA94006F}" type="slidenum">
              <a:rPr lang="en-US" altLang="en-US"/>
              <a:pPr>
                <a:defRPr/>
              </a:pPr>
              <a:t>‹#›</a:t>
            </a:fld>
            <a:endParaRPr lang="en-US" altLang="en-US"/>
          </a:p>
        </p:txBody>
      </p:sp>
    </p:spTree>
    <p:extLst>
      <p:ext uri="{BB962C8B-B14F-4D97-AF65-F5344CB8AC3E}">
        <p14:creationId xmlns:p14="http://schemas.microsoft.com/office/powerpoint/2010/main" val="10415620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E42543D6-70F3-6883-5945-160705C9C12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5CEEB7DD-DA2E-ECD0-1BCC-A4B5966D63A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D19D1D90-4BB0-AD68-609B-5933E66C0EEE}"/>
              </a:ext>
            </a:extLst>
          </p:cNvPr>
          <p:cNvSpPr>
            <a:spLocks noGrp="1" noChangeArrowheads="1"/>
          </p:cNvSpPr>
          <p:nvPr>
            <p:ph type="sldNum" sz="quarter" idx="12"/>
          </p:nvPr>
        </p:nvSpPr>
        <p:spPr>
          <a:ln/>
        </p:spPr>
        <p:txBody>
          <a:bodyPr/>
          <a:lstStyle>
            <a:lvl1pPr>
              <a:defRPr/>
            </a:lvl1pPr>
          </a:lstStyle>
          <a:p>
            <a:pPr>
              <a:defRPr/>
            </a:pPr>
            <a:fld id="{B945679B-AD49-4EC4-A6F7-5292371A24BD}" type="slidenum">
              <a:rPr lang="en-US" altLang="en-US"/>
              <a:pPr>
                <a:defRPr/>
              </a:pPr>
              <a:t>‹#›</a:t>
            </a:fld>
            <a:endParaRPr lang="en-US" altLang="en-US"/>
          </a:p>
        </p:txBody>
      </p:sp>
    </p:spTree>
    <p:extLst>
      <p:ext uri="{BB962C8B-B14F-4D97-AF65-F5344CB8AC3E}">
        <p14:creationId xmlns:p14="http://schemas.microsoft.com/office/powerpoint/2010/main" val="5884368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F85871B8-D757-2B48-13F8-B2FE3643E0B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362CF46F-BC9D-1B75-1E24-250D6439A59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AEB5B137-F04C-F38F-4A04-B6207237AECC}"/>
              </a:ext>
            </a:extLst>
          </p:cNvPr>
          <p:cNvSpPr>
            <a:spLocks noGrp="1" noChangeArrowheads="1"/>
          </p:cNvSpPr>
          <p:nvPr>
            <p:ph type="sldNum" sz="quarter" idx="12"/>
          </p:nvPr>
        </p:nvSpPr>
        <p:spPr>
          <a:ln/>
        </p:spPr>
        <p:txBody>
          <a:bodyPr/>
          <a:lstStyle>
            <a:lvl1pPr>
              <a:defRPr/>
            </a:lvl1pPr>
          </a:lstStyle>
          <a:p>
            <a:pPr>
              <a:defRPr/>
            </a:pPr>
            <a:fld id="{F8840E98-9317-4E34-A27D-F535263014F4}" type="slidenum">
              <a:rPr lang="en-US" altLang="en-US"/>
              <a:pPr>
                <a:defRPr/>
              </a:pPr>
              <a:t>‹#›</a:t>
            </a:fld>
            <a:endParaRPr lang="en-US" altLang="en-US"/>
          </a:p>
        </p:txBody>
      </p:sp>
    </p:spTree>
    <p:extLst>
      <p:ext uri="{BB962C8B-B14F-4D97-AF65-F5344CB8AC3E}">
        <p14:creationId xmlns:p14="http://schemas.microsoft.com/office/powerpoint/2010/main" val="4697885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CE470DC2-141B-63A9-923B-6202049D20D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1383F31A-6973-64F6-6841-3563C3796DA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8F862182-DB12-DD68-D4E7-989956535329}"/>
              </a:ext>
            </a:extLst>
          </p:cNvPr>
          <p:cNvSpPr>
            <a:spLocks noGrp="1" noChangeArrowheads="1"/>
          </p:cNvSpPr>
          <p:nvPr>
            <p:ph type="sldNum" sz="quarter" idx="12"/>
          </p:nvPr>
        </p:nvSpPr>
        <p:spPr>
          <a:ln/>
        </p:spPr>
        <p:txBody>
          <a:bodyPr/>
          <a:lstStyle>
            <a:lvl1pPr>
              <a:defRPr/>
            </a:lvl1pPr>
          </a:lstStyle>
          <a:p>
            <a:pPr>
              <a:defRPr/>
            </a:pPr>
            <a:fld id="{BF58963D-43B8-4D59-853C-9D5352C7AF7A}" type="slidenum">
              <a:rPr lang="en-US" altLang="en-US"/>
              <a:pPr>
                <a:defRPr/>
              </a:pPr>
              <a:t>‹#›</a:t>
            </a:fld>
            <a:endParaRPr lang="en-US" altLang="en-US"/>
          </a:p>
        </p:txBody>
      </p:sp>
    </p:spTree>
    <p:extLst>
      <p:ext uri="{BB962C8B-B14F-4D97-AF65-F5344CB8AC3E}">
        <p14:creationId xmlns:p14="http://schemas.microsoft.com/office/powerpoint/2010/main" val="19697926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97A7F542-940A-AEBE-1499-15097CAC92B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B17E4ED2-04AC-80AB-6D12-7D000772D65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F22D2CD-9DB2-C621-488C-75F4D33BC9DF}"/>
              </a:ext>
            </a:extLst>
          </p:cNvPr>
          <p:cNvSpPr>
            <a:spLocks noGrp="1" noChangeArrowheads="1"/>
          </p:cNvSpPr>
          <p:nvPr>
            <p:ph type="sldNum" sz="quarter" idx="12"/>
          </p:nvPr>
        </p:nvSpPr>
        <p:spPr>
          <a:ln/>
        </p:spPr>
        <p:txBody>
          <a:bodyPr/>
          <a:lstStyle>
            <a:lvl1pPr>
              <a:defRPr/>
            </a:lvl1pPr>
          </a:lstStyle>
          <a:p>
            <a:pPr>
              <a:defRPr/>
            </a:pPr>
            <a:fld id="{A7626D7A-9779-473D-8F55-0DFFD7D3B723}" type="slidenum">
              <a:rPr lang="en-US" altLang="en-US"/>
              <a:pPr>
                <a:defRPr/>
              </a:pPr>
              <a:t>‹#›</a:t>
            </a:fld>
            <a:endParaRPr lang="en-US" altLang="en-US"/>
          </a:p>
        </p:txBody>
      </p:sp>
    </p:spTree>
    <p:extLst>
      <p:ext uri="{BB962C8B-B14F-4D97-AF65-F5344CB8AC3E}">
        <p14:creationId xmlns:p14="http://schemas.microsoft.com/office/powerpoint/2010/main" val="38355189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733D8885-74C1-FAE5-AB8E-9ECF02B6343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29043467-211D-E9CF-653D-84B1165FB97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F0516F9-A04C-8D1A-C2DD-53F6E4248D49}"/>
              </a:ext>
            </a:extLst>
          </p:cNvPr>
          <p:cNvSpPr>
            <a:spLocks noGrp="1" noChangeArrowheads="1"/>
          </p:cNvSpPr>
          <p:nvPr>
            <p:ph type="sldNum" sz="quarter" idx="12"/>
          </p:nvPr>
        </p:nvSpPr>
        <p:spPr>
          <a:ln/>
        </p:spPr>
        <p:txBody>
          <a:bodyPr/>
          <a:lstStyle>
            <a:lvl1pPr>
              <a:defRPr/>
            </a:lvl1pPr>
          </a:lstStyle>
          <a:p>
            <a:pPr>
              <a:defRPr/>
            </a:pPr>
            <a:fld id="{66E6EE0D-118C-43AC-BCD5-A639BCC09AA1}" type="slidenum">
              <a:rPr lang="en-US" altLang="en-US"/>
              <a:pPr>
                <a:defRPr/>
              </a:pPr>
              <a:t>‹#›</a:t>
            </a:fld>
            <a:endParaRPr lang="en-US" altLang="en-US"/>
          </a:p>
        </p:txBody>
      </p:sp>
    </p:spTree>
    <p:extLst>
      <p:ext uri="{BB962C8B-B14F-4D97-AF65-F5344CB8AC3E}">
        <p14:creationId xmlns:p14="http://schemas.microsoft.com/office/powerpoint/2010/main" val="1468726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DA451F6-4DE6-D733-FE43-F15275F9A2DA}"/>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30402841-16CD-7016-048F-50E58FAB6A4B}"/>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95DF46E5-979B-5D1A-319A-3E3299193351}"/>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B90D6BE5-91F2-B00E-849B-4657F48C972A}"/>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80E0529C-E58F-F27A-A298-B360AB72DCD0}"/>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EF34C3B1-DA1D-2BAE-964D-1A793B21A20D}"/>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8313D6E3-1C13-C2AB-A899-57C16AE719AC}"/>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4EAF19BE-6F0C-E024-51B7-644B278FE565}"/>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DF2B54CD-80A9-4D03-2049-B9533CF50AD3}"/>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0DE45446-4BDA-8F03-7974-114FEE6040FB}"/>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FE2846AA-429C-4A68-420D-472E214964C0}"/>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6B1EC1CF-7307-F189-EDE4-8C4757CB56D8}"/>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5856" r:id="rId1"/>
    <p:sldLayoutId id="2147485857" r:id="rId2"/>
    <p:sldLayoutId id="2147485858" r:id="rId3"/>
    <p:sldLayoutId id="2147485859" r:id="rId4"/>
    <p:sldLayoutId id="2147485860" r:id="rId5"/>
    <p:sldLayoutId id="2147485861" r:id="rId6"/>
    <p:sldLayoutId id="2147485862" r:id="rId7"/>
    <p:sldLayoutId id="2147485863" r:id="rId8"/>
    <p:sldLayoutId id="2147485864" r:id="rId9"/>
    <p:sldLayoutId id="2147485865" r:id="rId10"/>
    <p:sldLayoutId id="21474858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1547379-8F3B-CC16-36E0-A4F520A36210}"/>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526B14AB-8886-4250-0802-3A23CA420184}"/>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EE013822-4991-691A-2454-44AA52669C6E}"/>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8DB633A8-D689-34E4-69C9-9455A3DF3E6D}"/>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5296E22E-60C3-0FCE-20BE-A5EB79112239}"/>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5A255596-934C-A563-6D37-FC1D65A21B2D}"/>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1589EE95-DD88-004D-6457-32C518F70B7A}"/>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4AE5CCD7-016F-2E9B-CC80-3BFC7C1808FC}"/>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AF04F937-4748-4100-AADA-F498678F639B}"/>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EB33F296-0260-2F73-2D66-FCF2FE587D2E}"/>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E6D0BB57-2005-EAC8-240D-ADB6D0A1AE60}"/>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EDD5829C-AF5F-F68D-7C3F-F5C04F90286E}"/>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7AFF5B5B-FB17-43D4-B3C4-C72BD103807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867" r:id="rId1"/>
    <p:sldLayoutId id="2147485846" r:id="rId2"/>
    <p:sldLayoutId id="2147485847" r:id="rId3"/>
    <p:sldLayoutId id="2147485848" r:id="rId4"/>
    <p:sldLayoutId id="2147485849" r:id="rId5"/>
    <p:sldLayoutId id="2147485850" r:id="rId6"/>
    <p:sldLayoutId id="2147485851" r:id="rId7"/>
    <p:sldLayoutId id="2147485852" r:id="rId8"/>
    <p:sldLayoutId id="2147485853" r:id="rId9"/>
    <p:sldLayoutId id="2147485854" r:id="rId10"/>
    <p:sldLayoutId id="214748585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2BC5E61-DB00-3F8F-D26E-7A54DCF2E9F7}"/>
              </a:ext>
            </a:extLst>
          </p:cNvPr>
          <p:cNvSpPr>
            <a:spLocks noGrp="1" noChangeArrowheads="1"/>
          </p:cNvSpPr>
          <p:nvPr>
            <p:ph type="ctrTitle"/>
          </p:nvPr>
        </p:nvSpPr>
        <p:spPr>
          <a:xfrm>
            <a:off x="990600" y="1828800"/>
            <a:ext cx="7542213" cy="1143000"/>
          </a:xfrm>
        </p:spPr>
        <p:txBody>
          <a:bodyPr/>
          <a:lstStyle/>
          <a:p>
            <a:r>
              <a:rPr lang="en-GB" altLang="en-US" sz="2800" b="1" dirty="0">
                <a:solidFill>
                  <a:srgbClr val="0070C0"/>
                </a:solidFill>
              </a:rPr>
              <a:t>Occupational Specialist Component Content: Digital Production, Design  and Development</a:t>
            </a:r>
          </a:p>
        </p:txBody>
      </p:sp>
      <p:sp>
        <p:nvSpPr>
          <p:cNvPr id="15363" name="TextBox 4">
            <a:extLst>
              <a:ext uri="{FF2B5EF4-FFF2-40B4-BE49-F238E27FC236}">
                <a16:creationId xmlns:a16="http://schemas.microsoft.com/office/drawing/2014/main" id="{49845DA9-39D7-1456-025A-B9545DD26E5C}"/>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34826780-A396-5D69-029A-0A75AA7F8CA0}"/>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18435" name="Content Placeholder 2">
            <a:extLst>
              <a:ext uri="{FF2B5EF4-FFF2-40B4-BE49-F238E27FC236}">
                <a16:creationId xmlns:a16="http://schemas.microsoft.com/office/drawing/2014/main" id="{9ED70926-1499-6781-3EC8-1D37A59F2462}"/>
              </a:ext>
            </a:extLst>
          </p:cNvPr>
          <p:cNvSpPr>
            <a:spLocks noGrp="1" noChangeArrowheads="1"/>
          </p:cNvSpPr>
          <p:nvPr>
            <p:ph idx="1"/>
          </p:nvPr>
        </p:nvSpPr>
        <p:spPr>
          <a:xfrm>
            <a:off x="179388" y="1773238"/>
            <a:ext cx="8729662" cy="4338637"/>
          </a:xfrm>
        </p:spPr>
        <p:txBody>
          <a:bodyPr/>
          <a:lstStyle/>
          <a:p>
            <a:r>
              <a:rPr lang="en-GB" altLang="en-US" sz="1800" b="1"/>
              <a:t>1.2 </a:t>
            </a:r>
            <a:r>
              <a:rPr lang="en-GB" altLang="en-US" sz="1800"/>
              <a:t>Understand the roles and responsibilities of the digital team within the software development lifecycle</a:t>
            </a:r>
          </a:p>
          <a:p>
            <a:endParaRPr lang="en-GB" altLang="en-US" sz="1600" b="1"/>
          </a:p>
          <a:p>
            <a:pPr lvl="1"/>
            <a:r>
              <a:rPr lang="en-GB" altLang="en-US" sz="1400" b="1"/>
              <a:t>Product owner/client </a:t>
            </a:r>
            <a:r>
              <a:rPr lang="en-GB" altLang="en-US" sz="1400"/>
              <a:t>– sets and communicates the requirements of the product.</a:t>
            </a:r>
          </a:p>
          <a:p>
            <a:pPr lvl="1"/>
            <a:r>
              <a:rPr lang="en-GB" altLang="en-US" sz="1400" b="1"/>
              <a:t>Scrum Master </a:t>
            </a:r>
            <a:r>
              <a:rPr lang="en-GB" altLang="en-US" sz="1400"/>
              <a:t>– facilitates the team to maintain team cohesion, ensuring the team has access to resources they require.</a:t>
            </a:r>
          </a:p>
          <a:p>
            <a:pPr lvl="1"/>
            <a:r>
              <a:rPr lang="en-GB" altLang="en-US" sz="1400" b="1"/>
              <a:t>Technical Lead </a:t>
            </a:r>
            <a:r>
              <a:rPr lang="en-GB" altLang="en-US" sz="1400"/>
              <a:t>– provide the technical guidance and support for the project team.</a:t>
            </a:r>
          </a:p>
          <a:p>
            <a:pPr lvl="1"/>
            <a:r>
              <a:rPr lang="en-GB" altLang="en-US" sz="1400" b="1"/>
              <a:t>Project Manager </a:t>
            </a:r>
            <a:r>
              <a:rPr lang="en-GB" altLang="en-US" sz="1400"/>
              <a:t>– responsible for planning, organizing, managing (budget, scope, schedule, risk and quality) on all phases of a project.</a:t>
            </a:r>
          </a:p>
          <a:p>
            <a:pPr lvl="1"/>
            <a:r>
              <a:rPr lang="en-GB" altLang="en-US" sz="1400" b="1"/>
              <a:t>Software Development Team</a:t>
            </a:r>
          </a:p>
          <a:p>
            <a:pPr lvl="2"/>
            <a:r>
              <a:rPr lang="en-GB" altLang="en-US" sz="1400"/>
              <a:t>Systems Analyst – analyses the current system and provides the requirements for the new system – uses the requirements to design the new software solution.</a:t>
            </a:r>
          </a:p>
          <a:p>
            <a:pPr lvl="2"/>
            <a:r>
              <a:rPr lang="en-GB" altLang="en-US" sz="1400"/>
              <a:t>UX/UI Designer – interviews users, researches market data and gather findings to design the user interface.</a:t>
            </a:r>
          </a:p>
          <a:p>
            <a:pPr lvl="2"/>
            <a:r>
              <a:rPr lang="en-GB" altLang="en-US" sz="1400"/>
              <a:t>Software Developer/Engineer – uses the designs to create and maintain a working solution that is usable, secure and stable.</a:t>
            </a:r>
          </a:p>
          <a:p>
            <a:pPr lvl="2"/>
            <a:r>
              <a:rPr lang="en-GB" altLang="en-US" sz="1400"/>
              <a:t>Operations Engineer – ensures the stability of the product.</a:t>
            </a:r>
          </a:p>
          <a:p>
            <a:pPr lvl="2"/>
            <a:r>
              <a:rPr lang="en-GB" altLang="en-US" sz="1400"/>
              <a:t>Security Engineer – ensures the security of the product .</a:t>
            </a:r>
          </a:p>
          <a:p>
            <a:pPr lvl="1"/>
            <a:r>
              <a:rPr lang="en-GB" altLang="en-US" sz="1400" b="1"/>
              <a:t>Software testers </a:t>
            </a:r>
            <a:r>
              <a:rPr lang="en-GB" altLang="en-US" sz="1400"/>
              <a:t>– responsible for the quality assurance of the software and development.</a:t>
            </a:r>
            <a:endParaRPr lang="en-GB" altLang="en-US" sz="14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9916D59-0D4D-7A7F-32FD-B66E010CA9E4}"/>
              </a:ext>
            </a:extLst>
          </p:cNvPr>
          <p:cNvSpPr>
            <a:spLocks noGrp="1" noChangeArrowheads="1"/>
          </p:cNvSpPr>
          <p:nvPr>
            <p:ph type="title"/>
          </p:nvPr>
        </p:nvSpPr>
        <p:spPr>
          <a:xfrm>
            <a:off x="1403350" y="404813"/>
            <a:ext cx="7505700" cy="939800"/>
          </a:xfrm>
        </p:spPr>
        <p:txBody>
          <a:bodyPr/>
          <a:lstStyle/>
          <a:p>
            <a:pPr eaLnBrk="1" hangingPunct="1"/>
            <a:r>
              <a:rPr lang="en-GB" altLang="en-US" sz="4000" b="1" dirty="0">
                <a:solidFill>
                  <a:srgbClr val="0070C0"/>
                </a:solidFill>
              </a:rPr>
              <a:t>Learning Objectives</a:t>
            </a:r>
          </a:p>
        </p:txBody>
      </p:sp>
      <p:sp>
        <p:nvSpPr>
          <p:cNvPr id="4099" name="Rectangle 3">
            <a:extLst>
              <a:ext uri="{FF2B5EF4-FFF2-40B4-BE49-F238E27FC236}">
                <a16:creationId xmlns:a16="http://schemas.microsoft.com/office/drawing/2014/main" id="{81D7DF48-5C8C-2A22-10C7-A51FEDB00BB9}"/>
              </a:ext>
            </a:extLst>
          </p:cNvPr>
          <p:cNvSpPr>
            <a:spLocks noGrp="1" noChangeArrowheads="1"/>
          </p:cNvSpPr>
          <p:nvPr>
            <p:ph type="body" idx="1"/>
          </p:nvPr>
        </p:nvSpPr>
        <p:spPr>
          <a:xfrm>
            <a:off x="484114" y="1772816"/>
            <a:ext cx="8424936" cy="4937659"/>
          </a:xfrm>
        </p:spPr>
        <p:txBody>
          <a:bodyPr/>
          <a:lstStyle/>
          <a:p>
            <a:pPr eaLnBrk="1" hangingPunct="1">
              <a:defRPr/>
            </a:pPr>
            <a:r>
              <a:rPr lang="en-GB" sz="2000" b="1" dirty="0"/>
              <a:t>Aims:</a:t>
            </a:r>
          </a:p>
          <a:p>
            <a:pPr lvl="1" eaLnBrk="1" hangingPunct="1">
              <a:defRPr/>
            </a:pPr>
            <a:r>
              <a:rPr lang="en-GB" sz="1800" dirty="0"/>
              <a:t>To introduce the key roles involved in delivering a software product and highlight their collaborative nature.</a:t>
            </a:r>
          </a:p>
          <a:p>
            <a:pPr marL="457200" lvl="1" indent="0" eaLnBrk="1" hangingPunct="1">
              <a:buNone/>
              <a:defRPr/>
            </a:pPr>
            <a:endParaRPr lang="en-GB" sz="2000" dirty="0"/>
          </a:p>
          <a:p>
            <a:pPr eaLnBrk="1" hangingPunct="1">
              <a:defRPr/>
            </a:pPr>
            <a:r>
              <a:rPr lang="en-GB" sz="2000" b="1" dirty="0"/>
              <a:t>Objectives</a:t>
            </a:r>
            <a:r>
              <a:rPr lang="en-US" sz="2000" b="1" dirty="0"/>
              <a:t>:</a:t>
            </a:r>
          </a:p>
          <a:p>
            <a:pPr lvl="1" eaLnBrk="1" hangingPunct="1">
              <a:defRPr/>
            </a:pPr>
            <a:r>
              <a:rPr lang="en-GB" sz="1800" dirty="0"/>
              <a:t>To be able to identify the digital team’s structure and purpose within the Software Development Life Cycle covering roles and responsibilities of:</a:t>
            </a:r>
          </a:p>
          <a:p>
            <a:pPr lvl="2" eaLnBrk="1" hangingPunct="1">
              <a:defRPr/>
            </a:pPr>
            <a:r>
              <a:rPr lang="en-GB" sz="1800" dirty="0"/>
              <a:t>Product owner/client </a:t>
            </a:r>
          </a:p>
          <a:p>
            <a:pPr lvl="2" eaLnBrk="1" hangingPunct="1">
              <a:defRPr/>
            </a:pPr>
            <a:r>
              <a:rPr lang="en-GB" sz="1800" dirty="0"/>
              <a:t>Scrum master</a:t>
            </a:r>
          </a:p>
          <a:p>
            <a:pPr lvl="2" eaLnBrk="1" hangingPunct="1">
              <a:defRPr/>
            </a:pPr>
            <a:r>
              <a:rPr lang="en-GB" sz="1800" dirty="0"/>
              <a:t>Technical lead</a:t>
            </a:r>
          </a:p>
          <a:p>
            <a:pPr lvl="2" eaLnBrk="1" hangingPunct="1">
              <a:defRPr/>
            </a:pPr>
            <a:r>
              <a:rPr lang="en-GB" sz="1800" dirty="0"/>
              <a:t>Project manager</a:t>
            </a:r>
          </a:p>
          <a:p>
            <a:pPr lvl="2" eaLnBrk="1" hangingPunct="1">
              <a:defRPr/>
            </a:pPr>
            <a:r>
              <a:rPr lang="en-GB" sz="1800" dirty="0"/>
              <a:t>Software development team (UX/UI designer, software developer/engineer, operations engineer, security engineer, security engineer)</a:t>
            </a:r>
          </a:p>
          <a:p>
            <a:pPr lvl="2" eaLnBrk="1" hangingPunct="1">
              <a:defRPr/>
            </a:pPr>
            <a:r>
              <a:rPr lang="en-GB" sz="1800" dirty="0"/>
              <a:t>Software testers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F685A-4B78-6926-96AF-0E63668A8D0E}"/>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3866E732-8E0A-115E-4066-B4BFA0600DE6}"/>
              </a:ext>
            </a:extLst>
          </p:cNvPr>
          <p:cNvSpPr>
            <a:spLocks noGrp="1" noChangeArrowheads="1"/>
          </p:cNvSpPr>
          <p:nvPr>
            <p:ph type="title"/>
          </p:nvPr>
        </p:nvSpPr>
        <p:spPr>
          <a:xfrm>
            <a:off x="1187450" y="404813"/>
            <a:ext cx="7721600" cy="939800"/>
          </a:xfrm>
        </p:spPr>
        <p:txBody>
          <a:bodyPr/>
          <a:lstStyle/>
          <a:p>
            <a:r>
              <a:rPr lang="en-GB" sz="3600" b="1" dirty="0">
                <a:solidFill>
                  <a:srgbClr val="0070C0"/>
                </a:solidFill>
              </a:rPr>
              <a:t>Product Owner / Client</a:t>
            </a:r>
            <a:endParaRPr lang="en-GB" altLang="en-US" sz="3600" b="1" dirty="0">
              <a:solidFill>
                <a:srgbClr val="0070C0"/>
              </a:solidFill>
            </a:endParaRPr>
          </a:p>
        </p:txBody>
      </p:sp>
      <p:sp>
        <p:nvSpPr>
          <p:cNvPr id="20484" name="Content Placeholder 2">
            <a:extLst>
              <a:ext uri="{FF2B5EF4-FFF2-40B4-BE49-F238E27FC236}">
                <a16:creationId xmlns:a16="http://schemas.microsoft.com/office/drawing/2014/main" id="{C5C66481-E5CD-746D-65F7-2D68A7667450}"/>
              </a:ext>
            </a:extLst>
          </p:cNvPr>
          <p:cNvSpPr txBox="1">
            <a:spLocks/>
          </p:cNvSpPr>
          <p:nvPr/>
        </p:nvSpPr>
        <p:spPr bwMode="auto">
          <a:xfrm>
            <a:off x="301884" y="1988915"/>
            <a:ext cx="8607166" cy="64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Represents stakeholders and defines the vision of the product. Sets and communicates product requirements.</a:t>
            </a:r>
          </a:p>
          <a:p>
            <a:endParaRPr lang="en-GB" sz="1800" dirty="0"/>
          </a:p>
          <a:p>
            <a:r>
              <a:rPr lang="en-GB" sz="1800" b="1" dirty="0"/>
              <a:t>Intent: </a:t>
            </a:r>
            <a:r>
              <a:rPr lang="en-GB" sz="1800" dirty="0"/>
              <a:t>Ensure the development team understands what to build and why, aligning features with business goals.</a:t>
            </a:r>
            <a:endParaRPr lang="en-GB" altLang="en-US" sz="1800" b="1" dirty="0"/>
          </a:p>
        </p:txBody>
      </p:sp>
      <p:sp>
        <p:nvSpPr>
          <p:cNvPr id="2" name="Content Placeholder 2">
            <a:extLst>
              <a:ext uri="{FF2B5EF4-FFF2-40B4-BE49-F238E27FC236}">
                <a16:creationId xmlns:a16="http://schemas.microsoft.com/office/drawing/2014/main" id="{601AAD22-AB9F-A08F-22D1-43B207B514CD}"/>
              </a:ext>
            </a:extLst>
          </p:cNvPr>
          <p:cNvSpPr txBox="1">
            <a:spLocks/>
          </p:cNvSpPr>
          <p:nvPr/>
        </p:nvSpPr>
        <p:spPr bwMode="auto">
          <a:xfrm>
            <a:off x="332179" y="4221088"/>
            <a:ext cx="3447734"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Tools used: </a:t>
            </a:r>
            <a:r>
              <a:rPr lang="en-GB" sz="1800" dirty="0"/>
              <a:t>Product backlogs, Jira, Confluence, user stories, stakeholder interviews.</a:t>
            </a:r>
          </a:p>
        </p:txBody>
      </p:sp>
      <p:pic>
        <p:nvPicPr>
          <p:cNvPr id="4098" name="Picture 2" descr="The Role of Product Owner - Adaptive US">
            <a:extLst>
              <a:ext uri="{FF2B5EF4-FFF2-40B4-BE49-F238E27FC236}">
                <a16:creationId xmlns:a16="http://schemas.microsoft.com/office/drawing/2014/main" id="{5167537F-4008-9623-A858-48AC1BD6D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3789040"/>
            <a:ext cx="4382674" cy="2299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2525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515E6-B9B3-960C-DE90-57E32267E477}"/>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E27D6E45-1D65-584C-15CB-5EF7A8387ADE}"/>
              </a:ext>
            </a:extLst>
          </p:cNvPr>
          <p:cNvSpPr>
            <a:spLocks noGrp="1" noChangeArrowheads="1"/>
          </p:cNvSpPr>
          <p:nvPr>
            <p:ph type="title"/>
          </p:nvPr>
        </p:nvSpPr>
        <p:spPr>
          <a:xfrm>
            <a:off x="1187450" y="404813"/>
            <a:ext cx="7721600" cy="939800"/>
          </a:xfrm>
        </p:spPr>
        <p:txBody>
          <a:bodyPr/>
          <a:lstStyle/>
          <a:p>
            <a:r>
              <a:rPr lang="en-GB" sz="3600" b="1" dirty="0">
                <a:solidFill>
                  <a:srgbClr val="0070C0"/>
                </a:solidFill>
              </a:rPr>
              <a:t>Scrum Master</a:t>
            </a:r>
            <a:endParaRPr lang="en-GB" altLang="en-US" sz="3600" b="1" dirty="0">
              <a:solidFill>
                <a:srgbClr val="0070C0"/>
              </a:solidFill>
            </a:endParaRPr>
          </a:p>
        </p:txBody>
      </p:sp>
      <p:sp>
        <p:nvSpPr>
          <p:cNvPr id="20484" name="Content Placeholder 2">
            <a:extLst>
              <a:ext uri="{FF2B5EF4-FFF2-40B4-BE49-F238E27FC236}">
                <a16:creationId xmlns:a16="http://schemas.microsoft.com/office/drawing/2014/main" id="{19DCE81D-7125-0B05-5CD3-A19B3E2D793F}"/>
              </a:ext>
            </a:extLst>
          </p:cNvPr>
          <p:cNvSpPr txBox="1">
            <a:spLocks/>
          </p:cNvSpPr>
          <p:nvPr/>
        </p:nvSpPr>
        <p:spPr bwMode="auto">
          <a:xfrm>
            <a:off x="301884" y="1988915"/>
            <a:ext cx="8607166" cy="64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Facilitates the agile process, removes impediments, and ensures team cohesion and efficiency.</a:t>
            </a:r>
          </a:p>
          <a:p>
            <a:endParaRPr lang="en-GB" sz="1800" dirty="0"/>
          </a:p>
          <a:p>
            <a:r>
              <a:rPr lang="en-GB" sz="1800" b="1" dirty="0"/>
              <a:t>Intent: </a:t>
            </a:r>
            <a:r>
              <a:rPr lang="en-GB" sz="1800" dirty="0"/>
              <a:t>Support the team in following Agile principles and maintain a productive work environment.</a:t>
            </a:r>
            <a:endParaRPr lang="en-GB" altLang="en-US" sz="1800" b="1" dirty="0"/>
          </a:p>
        </p:txBody>
      </p:sp>
      <p:sp>
        <p:nvSpPr>
          <p:cNvPr id="2" name="Content Placeholder 2">
            <a:extLst>
              <a:ext uri="{FF2B5EF4-FFF2-40B4-BE49-F238E27FC236}">
                <a16:creationId xmlns:a16="http://schemas.microsoft.com/office/drawing/2014/main" id="{174096C3-BCAD-3480-02E6-ADD3016792BA}"/>
              </a:ext>
            </a:extLst>
          </p:cNvPr>
          <p:cNvSpPr txBox="1">
            <a:spLocks/>
          </p:cNvSpPr>
          <p:nvPr/>
        </p:nvSpPr>
        <p:spPr bwMode="auto">
          <a:xfrm>
            <a:off x="301884" y="4581128"/>
            <a:ext cx="3447734"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Tools used: </a:t>
            </a:r>
            <a:r>
              <a:rPr lang="en-GB" sz="1800" dirty="0"/>
              <a:t>Scrum boards, Agile ceremonies (stand-ups, retrospectives), Jira, communication platforms like MS Teams.</a:t>
            </a:r>
          </a:p>
        </p:txBody>
      </p:sp>
      <p:pic>
        <p:nvPicPr>
          <p:cNvPr id="7170" name="Picture 2" descr="roles-and-responsibilities-of-scrum-master">
            <a:extLst>
              <a:ext uri="{FF2B5EF4-FFF2-40B4-BE49-F238E27FC236}">
                <a16:creationId xmlns:a16="http://schemas.microsoft.com/office/drawing/2014/main" id="{7C3D0DB1-3C69-04E9-5A5D-C002807F1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8463" y="5245839"/>
            <a:ext cx="3622043" cy="120734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Scrum Master Role | PDF">
            <a:extLst>
              <a:ext uri="{FF2B5EF4-FFF2-40B4-BE49-F238E27FC236}">
                <a16:creationId xmlns:a16="http://schemas.microsoft.com/office/drawing/2014/main" id="{874BD5BC-48B4-A5D4-17C5-9FF6673B86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8582" y="3429000"/>
            <a:ext cx="2671603" cy="1728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757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A756F-8453-A89E-980A-96420C637A51}"/>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75664B77-2146-6A8E-79FA-EDD028EDB7B1}"/>
              </a:ext>
            </a:extLst>
          </p:cNvPr>
          <p:cNvSpPr>
            <a:spLocks noGrp="1" noChangeArrowheads="1"/>
          </p:cNvSpPr>
          <p:nvPr>
            <p:ph type="title"/>
          </p:nvPr>
        </p:nvSpPr>
        <p:spPr>
          <a:xfrm>
            <a:off x="1187450" y="404813"/>
            <a:ext cx="7721600" cy="939800"/>
          </a:xfrm>
        </p:spPr>
        <p:txBody>
          <a:bodyPr/>
          <a:lstStyle/>
          <a:p>
            <a:r>
              <a:rPr lang="en-GB" sz="3600" b="1" dirty="0">
                <a:solidFill>
                  <a:srgbClr val="0070C0"/>
                </a:solidFill>
              </a:rPr>
              <a:t>Technical Lead</a:t>
            </a:r>
            <a:endParaRPr lang="en-GB" altLang="en-US" sz="3600" b="1" dirty="0">
              <a:solidFill>
                <a:srgbClr val="0070C0"/>
              </a:solidFill>
            </a:endParaRPr>
          </a:p>
        </p:txBody>
      </p:sp>
      <p:sp>
        <p:nvSpPr>
          <p:cNvPr id="20484" name="Content Placeholder 2">
            <a:extLst>
              <a:ext uri="{FF2B5EF4-FFF2-40B4-BE49-F238E27FC236}">
                <a16:creationId xmlns:a16="http://schemas.microsoft.com/office/drawing/2014/main" id="{BEA8CE4D-801C-ADCF-AE32-5CED690172C7}"/>
              </a:ext>
            </a:extLst>
          </p:cNvPr>
          <p:cNvSpPr txBox="1">
            <a:spLocks/>
          </p:cNvSpPr>
          <p:nvPr/>
        </p:nvSpPr>
        <p:spPr bwMode="auto">
          <a:xfrm>
            <a:off x="301884" y="1988915"/>
            <a:ext cx="8607166" cy="64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Provides technical direction and decision-making for the development team.</a:t>
            </a:r>
          </a:p>
          <a:p>
            <a:endParaRPr lang="en-GB" sz="1800" dirty="0"/>
          </a:p>
          <a:p>
            <a:r>
              <a:rPr lang="en-GB" sz="1800" b="1" dirty="0"/>
              <a:t>Intent: </a:t>
            </a:r>
            <a:r>
              <a:rPr lang="en-GB" sz="1800" dirty="0"/>
              <a:t>Ensure technical integrity, code quality, and system architecture align with the project’s goals.</a:t>
            </a:r>
          </a:p>
          <a:p>
            <a:endParaRPr lang="en-GB" altLang="en-US" sz="1800" b="1" dirty="0"/>
          </a:p>
        </p:txBody>
      </p:sp>
      <p:sp>
        <p:nvSpPr>
          <p:cNvPr id="2" name="Content Placeholder 2">
            <a:extLst>
              <a:ext uri="{FF2B5EF4-FFF2-40B4-BE49-F238E27FC236}">
                <a16:creationId xmlns:a16="http://schemas.microsoft.com/office/drawing/2014/main" id="{75835562-3645-76C3-CB21-5CC7F65C33C6}"/>
              </a:ext>
            </a:extLst>
          </p:cNvPr>
          <p:cNvSpPr txBox="1">
            <a:spLocks/>
          </p:cNvSpPr>
          <p:nvPr/>
        </p:nvSpPr>
        <p:spPr bwMode="auto">
          <a:xfrm>
            <a:off x="395536" y="5087646"/>
            <a:ext cx="3447734"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Tools used: </a:t>
            </a:r>
            <a:r>
              <a:rPr lang="en-GB" sz="1800" dirty="0"/>
              <a:t>Code repositories (GitHub, GitLab), architecture diagrams, design patterns, code review platforms.</a:t>
            </a:r>
          </a:p>
        </p:txBody>
      </p:sp>
      <p:pic>
        <p:nvPicPr>
          <p:cNvPr id="6150" name="Picture 6" descr="How To Be A Effective Tech Lead In Software Industry">
            <a:extLst>
              <a:ext uri="{FF2B5EF4-FFF2-40B4-BE49-F238E27FC236}">
                <a16:creationId xmlns:a16="http://schemas.microsoft.com/office/drawing/2014/main" id="{780A9B8E-EC71-BEFC-3C4F-B2085AAB81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7682" y="3281215"/>
            <a:ext cx="3088635" cy="1930397"/>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List of modern tech lead's responsibilities">
            <a:extLst>
              <a:ext uri="{FF2B5EF4-FFF2-40B4-BE49-F238E27FC236}">
                <a16:creationId xmlns:a16="http://schemas.microsoft.com/office/drawing/2014/main" id="{EF764668-3F49-CF7B-053D-DD3AFD8282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1178" y="4437112"/>
            <a:ext cx="2657872" cy="2172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3020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3321E-C221-E9D2-9205-1773CCC4727F}"/>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FFD0D53E-4155-C2AD-8CA7-AA7D047A984E}"/>
              </a:ext>
            </a:extLst>
          </p:cNvPr>
          <p:cNvSpPr>
            <a:spLocks noGrp="1" noChangeArrowheads="1"/>
          </p:cNvSpPr>
          <p:nvPr>
            <p:ph type="title"/>
          </p:nvPr>
        </p:nvSpPr>
        <p:spPr>
          <a:xfrm>
            <a:off x="1187450" y="404813"/>
            <a:ext cx="7721600" cy="939800"/>
          </a:xfrm>
        </p:spPr>
        <p:txBody>
          <a:bodyPr/>
          <a:lstStyle/>
          <a:p>
            <a:r>
              <a:rPr lang="en-GB" sz="3600" b="1" dirty="0">
                <a:solidFill>
                  <a:srgbClr val="0070C0"/>
                </a:solidFill>
              </a:rPr>
              <a:t>Project Manager</a:t>
            </a:r>
            <a:endParaRPr lang="en-GB" altLang="en-US" sz="3600" b="1" dirty="0">
              <a:solidFill>
                <a:srgbClr val="0070C0"/>
              </a:solidFill>
            </a:endParaRPr>
          </a:p>
        </p:txBody>
      </p:sp>
      <p:sp>
        <p:nvSpPr>
          <p:cNvPr id="20484" name="Content Placeholder 2">
            <a:extLst>
              <a:ext uri="{FF2B5EF4-FFF2-40B4-BE49-F238E27FC236}">
                <a16:creationId xmlns:a16="http://schemas.microsoft.com/office/drawing/2014/main" id="{D8B00C4B-BD0E-2D53-61E4-B61CD3297662}"/>
              </a:ext>
            </a:extLst>
          </p:cNvPr>
          <p:cNvSpPr txBox="1">
            <a:spLocks/>
          </p:cNvSpPr>
          <p:nvPr/>
        </p:nvSpPr>
        <p:spPr bwMode="auto">
          <a:xfrm>
            <a:off x="301884" y="1988914"/>
            <a:ext cx="8607166" cy="172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Oversees project planning, execution, monitoring, and closure. Manages scope, schedule, budget, and risk.</a:t>
            </a:r>
          </a:p>
          <a:p>
            <a:pPr marL="0" indent="0">
              <a:buNone/>
            </a:pPr>
            <a:endParaRPr lang="en-GB" sz="1800" dirty="0"/>
          </a:p>
          <a:p>
            <a:r>
              <a:rPr lang="en-GB" sz="1800" b="1" dirty="0"/>
              <a:t>Intent: </a:t>
            </a:r>
            <a:r>
              <a:rPr lang="en-GB" sz="1800" dirty="0"/>
              <a:t>Deliver the project on time, within budget, and in scope while meeting quality standards.</a:t>
            </a:r>
          </a:p>
          <a:p>
            <a:endParaRPr lang="en-GB" altLang="en-US" sz="1800" b="1" dirty="0"/>
          </a:p>
        </p:txBody>
      </p:sp>
      <p:sp>
        <p:nvSpPr>
          <p:cNvPr id="2" name="Content Placeholder 2">
            <a:extLst>
              <a:ext uri="{FF2B5EF4-FFF2-40B4-BE49-F238E27FC236}">
                <a16:creationId xmlns:a16="http://schemas.microsoft.com/office/drawing/2014/main" id="{A60F92AA-A9DA-BEC0-9F23-25923F89C68A}"/>
              </a:ext>
            </a:extLst>
          </p:cNvPr>
          <p:cNvSpPr txBox="1">
            <a:spLocks/>
          </p:cNvSpPr>
          <p:nvPr/>
        </p:nvSpPr>
        <p:spPr bwMode="auto">
          <a:xfrm>
            <a:off x="332179" y="4221088"/>
            <a:ext cx="3447734"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Tools used: </a:t>
            </a:r>
            <a:r>
              <a:rPr lang="en-GB" sz="1800" dirty="0"/>
              <a:t>Microsoft Project, Gantt charts, risk registers, project charters, budgeting tools.</a:t>
            </a:r>
          </a:p>
        </p:txBody>
      </p:sp>
      <p:pic>
        <p:nvPicPr>
          <p:cNvPr id="14338" name="Picture 2" descr="Project manager roles and responsibilities">
            <a:extLst>
              <a:ext uri="{FF2B5EF4-FFF2-40B4-BE49-F238E27FC236}">
                <a16:creationId xmlns:a16="http://schemas.microsoft.com/office/drawing/2014/main" id="{3108A3CB-66D7-0289-42CC-B86070866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20" y="3796927"/>
            <a:ext cx="4572000" cy="2576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914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AF497936-EA76-4D99-4569-6BA120EC04F9}"/>
              </a:ext>
            </a:extLst>
          </p:cNvPr>
          <p:cNvSpPr>
            <a:spLocks noGrp="1" noChangeArrowheads="1"/>
          </p:cNvSpPr>
          <p:nvPr>
            <p:ph type="title"/>
          </p:nvPr>
        </p:nvSpPr>
        <p:spPr>
          <a:xfrm>
            <a:off x="1187450" y="404813"/>
            <a:ext cx="7721600" cy="939800"/>
          </a:xfrm>
        </p:spPr>
        <p:txBody>
          <a:bodyPr/>
          <a:lstStyle/>
          <a:p>
            <a:r>
              <a:rPr lang="en-GB" sz="3200" b="1" dirty="0">
                <a:solidFill>
                  <a:srgbClr val="0070C0"/>
                </a:solidFill>
              </a:rPr>
              <a:t>Software Development Team – Roles and Responsibilities</a:t>
            </a:r>
            <a:endParaRPr lang="en-GB" altLang="en-US" sz="3200" b="1" dirty="0">
              <a:solidFill>
                <a:srgbClr val="0070C0"/>
              </a:solidFill>
            </a:endParaRPr>
          </a:p>
        </p:txBody>
      </p:sp>
      <p:sp>
        <p:nvSpPr>
          <p:cNvPr id="20484" name="Content Placeholder 2">
            <a:extLst>
              <a:ext uri="{FF2B5EF4-FFF2-40B4-BE49-F238E27FC236}">
                <a16:creationId xmlns:a16="http://schemas.microsoft.com/office/drawing/2014/main" id="{A668D1E6-74AB-E3FE-418F-24062B625090}"/>
              </a:ext>
            </a:extLst>
          </p:cNvPr>
          <p:cNvSpPr txBox="1">
            <a:spLocks/>
          </p:cNvSpPr>
          <p:nvPr/>
        </p:nvSpPr>
        <p:spPr bwMode="auto">
          <a:xfrm>
            <a:off x="301884" y="1988914"/>
            <a:ext cx="8607166" cy="939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The software development team is a cross-functional group of professionals responsible for designing, building, securing, and maintaining the software product throughout its lifecycle.</a:t>
            </a:r>
          </a:p>
          <a:p>
            <a:endParaRPr lang="en-GB" sz="1800" dirty="0"/>
          </a:p>
          <a:p>
            <a:r>
              <a:rPr lang="en-GB" sz="1800" dirty="0"/>
              <a:t>Each role contributes to transforming business needs into a robust, user-friendly, and secure solution.</a:t>
            </a:r>
            <a:endParaRPr lang="en-GB" altLang="en-US" sz="1800" b="1" dirty="0"/>
          </a:p>
        </p:txBody>
      </p:sp>
      <p:sp>
        <p:nvSpPr>
          <p:cNvPr id="2" name="Content Placeholder 2">
            <a:extLst>
              <a:ext uri="{FF2B5EF4-FFF2-40B4-BE49-F238E27FC236}">
                <a16:creationId xmlns:a16="http://schemas.microsoft.com/office/drawing/2014/main" id="{79E0CF2A-8624-0E2A-0011-3F3B6BCBB698}"/>
              </a:ext>
            </a:extLst>
          </p:cNvPr>
          <p:cNvSpPr txBox="1">
            <a:spLocks/>
          </p:cNvSpPr>
          <p:nvPr/>
        </p:nvSpPr>
        <p:spPr bwMode="auto">
          <a:xfrm>
            <a:off x="332178" y="4221088"/>
            <a:ext cx="4123469"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Intent </a:t>
            </a:r>
            <a:r>
              <a:rPr lang="en-GB" sz="1800" dirty="0"/>
              <a:t>To collaboratively build a high-quality software product that meets user needs, performs reliably, and adheres to best practices in security, design, and scalability.</a:t>
            </a:r>
          </a:p>
        </p:txBody>
      </p:sp>
      <p:pic>
        <p:nvPicPr>
          <p:cNvPr id="1028" name="Picture 4" descr="agile team roles and responsibilities">
            <a:extLst>
              <a:ext uri="{FF2B5EF4-FFF2-40B4-BE49-F238E27FC236}">
                <a16:creationId xmlns:a16="http://schemas.microsoft.com/office/drawing/2014/main" id="{E779BD57-42CA-C9BE-7BA2-AA05B7C6B2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5085184"/>
            <a:ext cx="2992674" cy="158985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oftware Development Team Roles and Responsibilities">
            <a:extLst>
              <a:ext uri="{FF2B5EF4-FFF2-40B4-BE49-F238E27FC236}">
                <a16:creationId xmlns:a16="http://schemas.microsoft.com/office/drawing/2014/main" id="{748DE123-CEDB-DE6D-CD45-B41E20FDFB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3945" y="3603489"/>
            <a:ext cx="2827412" cy="14657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152AE-AF37-CE60-2CCC-0E4305250E61}"/>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21CF98C3-D10A-8957-B962-D87AA52471D7}"/>
              </a:ext>
            </a:extLst>
          </p:cNvPr>
          <p:cNvSpPr>
            <a:spLocks noGrp="1" noChangeArrowheads="1"/>
          </p:cNvSpPr>
          <p:nvPr>
            <p:ph type="title"/>
          </p:nvPr>
        </p:nvSpPr>
        <p:spPr>
          <a:xfrm>
            <a:off x="1187450" y="404813"/>
            <a:ext cx="7721600" cy="939800"/>
          </a:xfrm>
        </p:spPr>
        <p:txBody>
          <a:bodyPr/>
          <a:lstStyle/>
          <a:p>
            <a:r>
              <a:rPr lang="en-GB" sz="3200" b="1" dirty="0">
                <a:solidFill>
                  <a:srgbClr val="0070C0"/>
                </a:solidFill>
              </a:rPr>
              <a:t>Software Development Team – Roles and Responsibilities</a:t>
            </a:r>
            <a:endParaRPr lang="en-GB" altLang="en-US" sz="3200" b="1" dirty="0">
              <a:solidFill>
                <a:srgbClr val="0070C0"/>
              </a:solidFill>
            </a:endParaRPr>
          </a:p>
        </p:txBody>
      </p:sp>
      <p:sp>
        <p:nvSpPr>
          <p:cNvPr id="20483" name="Content Placeholder 2">
            <a:extLst>
              <a:ext uri="{FF2B5EF4-FFF2-40B4-BE49-F238E27FC236}">
                <a16:creationId xmlns:a16="http://schemas.microsoft.com/office/drawing/2014/main" id="{D140C3BA-5378-4FBD-C79F-1DFB7A5A96AB}"/>
              </a:ext>
            </a:extLst>
          </p:cNvPr>
          <p:cNvSpPr>
            <a:spLocks noGrp="1" noChangeArrowheads="1"/>
          </p:cNvSpPr>
          <p:nvPr>
            <p:ph idx="1"/>
          </p:nvPr>
        </p:nvSpPr>
        <p:spPr>
          <a:xfrm>
            <a:off x="134634" y="1772817"/>
            <a:ext cx="8874732" cy="1512168"/>
          </a:xfrm>
        </p:spPr>
        <p:txBody>
          <a:bodyPr/>
          <a:lstStyle/>
          <a:p>
            <a:r>
              <a:rPr lang="en-GB" sz="1800" b="1" dirty="0"/>
              <a:t>Key Roles:</a:t>
            </a:r>
          </a:p>
          <a:p>
            <a:pPr marL="542925" lvl="1" indent="-271463"/>
            <a:r>
              <a:rPr lang="en-GB" sz="1600" b="1" dirty="0"/>
              <a:t>Systems Analyst - </a:t>
            </a:r>
            <a:r>
              <a:rPr lang="en-GB" sz="1600" dirty="0"/>
              <a:t>Analyses the current system, gathers business requirements, and designs the structure and features of the new software solution.</a:t>
            </a:r>
          </a:p>
          <a:p>
            <a:pPr marL="542925" lvl="1" indent="-271463"/>
            <a:r>
              <a:rPr lang="en-GB" sz="1600" b="1" dirty="0"/>
              <a:t>UX/UI Designer - </a:t>
            </a:r>
            <a:r>
              <a:rPr lang="en-GB" sz="1600" dirty="0"/>
              <a:t>Conducts user research and market analysis to design intuitive, attractive, and user-centred interfaces that enhance usability.</a:t>
            </a:r>
          </a:p>
          <a:p>
            <a:pPr marL="542925" lvl="1" indent="-271463"/>
            <a:r>
              <a:rPr lang="en-GB" sz="1600" b="1" dirty="0"/>
              <a:t>Software Developer/Engineer - </a:t>
            </a:r>
            <a:r>
              <a:rPr lang="en-GB" sz="1600" dirty="0"/>
              <a:t>Converts designs and specifications into working code, building a functional, stable, and secure product.</a:t>
            </a:r>
          </a:p>
        </p:txBody>
      </p:sp>
      <p:sp>
        <p:nvSpPr>
          <p:cNvPr id="4" name="Content Placeholder 2">
            <a:extLst>
              <a:ext uri="{FF2B5EF4-FFF2-40B4-BE49-F238E27FC236}">
                <a16:creationId xmlns:a16="http://schemas.microsoft.com/office/drawing/2014/main" id="{63A6AD5D-69E0-B10E-B1B3-32989C7051B2}"/>
              </a:ext>
            </a:extLst>
          </p:cNvPr>
          <p:cNvSpPr txBox="1">
            <a:spLocks noChangeArrowheads="1"/>
          </p:cNvSpPr>
          <p:nvPr/>
        </p:nvSpPr>
        <p:spPr bwMode="auto">
          <a:xfrm>
            <a:off x="134634" y="3861048"/>
            <a:ext cx="5446734" cy="18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marL="542925" lvl="1" indent="-271463"/>
            <a:r>
              <a:rPr lang="en-GB" sz="1600" b="1" kern="0" dirty="0"/>
              <a:t>Operations Engineer - </a:t>
            </a:r>
            <a:r>
              <a:rPr lang="en-GB" sz="1600" kern="0" dirty="0"/>
              <a:t>Ensures the smooth deployment, performance, and reliability of the system in live environments; manages infrastructure and monitoring.</a:t>
            </a:r>
          </a:p>
          <a:p>
            <a:pPr marL="542925" lvl="1" indent="-271463"/>
            <a:r>
              <a:rPr lang="en-GB" sz="1600" b="1" kern="0" dirty="0"/>
              <a:t>Security Engineer - </a:t>
            </a:r>
            <a:r>
              <a:rPr lang="en-GB" sz="1600" kern="0" dirty="0"/>
              <a:t>Implements security measures, identifies vulnerabilities, and ensures compliance with data protection standards to safeguard the system.</a:t>
            </a:r>
          </a:p>
        </p:txBody>
      </p:sp>
      <p:pic>
        <p:nvPicPr>
          <p:cNvPr id="6" name="Picture 5">
            <a:extLst>
              <a:ext uri="{FF2B5EF4-FFF2-40B4-BE49-F238E27FC236}">
                <a16:creationId xmlns:a16="http://schemas.microsoft.com/office/drawing/2014/main" id="{F6575263-1F3D-5135-6360-B625D967BC0B}"/>
              </a:ext>
            </a:extLst>
          </p:cNvPr>
          <p:cNvPicPr>
            <a:picLocks noChangeAspect="1"/>
          </p:cNvPicPr>
          <p:nvPr/>
        </p:nvPicPr>
        <p:blipFill>
          <a:blip r:embed="rId3"/>
          <a:stretch>
            <a:fillRect/>
          </a:stretch>
        </p:blipFill>
        <p:spPr>
          <a:xfrm>
            <a:off x="5722011" y="3861048"/>
            <a:ext cx="3204418" cy="2136279"/>
          </a:xfrm>
          <a:prstGeom prst="rect">
            <a:avLst/>
          </a:prstGeom>
        </p:spPr>
      </p:pic>
    </p:spTree>
    <p:extLst>
      <p:ext uri="{BB962C8B-B14F-4D97-AF65-F5344CB8AC3E}">
        <p14:creationId xmlns:p14="http://schemas.microsoft.com/office/powerpoint/2010/main" val="358117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60554-F0FB-33D1-C05E-4E6D1CE8AF72}"/>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0536B2E0-9EEC-F9A4-1960-76E94186D376}"/>
              </a:ext>
            </a:extLst>
          </p:cNvPr>
          <p:cNvSpPr>
            <a:spLocks noGrp="1" noChangeArrowheads="1"/>
          </p:cNvSpPr>
          <p:nvPr>
            <p:ph type="title"/>
          </p:nvPr>
        </p:nvSpPr>
        <p:spPr>
          <a:xfrm>
            <a:off x="1187450" y="404813"/>
            <a:ext cx="7721600" cy="939800"/>
          </a:xfrm>
        </p:spPr>
        <p:txBody>
          <a:bodyPr/>
          <a:lstStyle/>
          <a:p>
            <a:r>
              <a:rPr lang="en-GB" sz="3200" b="1" dirty="0">
                <a:solidFill>
                  <a:srgbClr val="0070C0"/>
                </a:solidFill>
              </a:rPr>
              <a:t>Software Development Team Tools</a:t>
            </a:r>
            <a:endParaRPr lang="en-GB" altLang="en-US" sz="3200" b="1" dirty="0">
              <a:solidFill>
                <a:srgbClr val="0070C0"/>
              </a:solidFill>
            </a:endParaRPr>
          </a:p>
        </p:txBody>
      </p:sp>
      <p:sp>
        <p:nvSpPr>
          <p:cNvPr id="3" name="Content Placeholder 2">
            <a:extLst>
              <a:ext uri="{FF2B5EF4-FFF2-40B4-BE49-F238E27FC236}">
                <a16:creationId xmlns:a16="http://schemas.microsoft.com/office/drawing/2014/main" id="{EE550FD2-4198-32C6-95C1-DA9DA3961BE0}"/>
              </a:ext>
            </a:extLst>
          </p:cNvPr>
          <p:cNvSpPr txBox="1">
            <a:spLocks noChangeArrowheads="1"/>
          </p:cNvSpPr>
          <p:nvPr/>
        </p:nvSpPr>
        <p:spPr bwMode="auto">
          <a:xfrm>
            <a:off x="368406" y="1988840"/>
            <a:ext cx="8874732"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a:t>
            </a:r>
          </a:p>
          <a:p>
            <a:pPr marL="444500" lvl="1" indent="-258763"/>
            <a:r>
              <a:rPr lang="en-GB" sz="1800" b="1" dirty="0"/>
              <a:t>Systems Analyst</a:t>
            </a:r>
            <a:r>
              <a:rPr lang="en-GB" sz="1800" dirty="0"/>
              <a:t>: UML, BPMN, </a:t>
            </a:r>
            <a:r>
              <a:rPr lang="en-GB" sz="1800" dirty="0" err="1"/>
              <a:t>Lucidchart</a:t>
            </a:r>
            <a:r>
              <a:rPr lang="en-GB" sz="1800" dirty="0"/>
              <a:t>, Confluence</a:t>
            </a:r>
          </a:p>
          <a:p>
            <a:pPr marL="444500" lvl="1" indent="-258763"/>
            <a:endParaRPr lang="en-GB" sz="1800" dirty="0"/>
          </a:p>
          <a:p>
            <a:pPr marL="444500" lvl="1" indent="-258763"/>
            <a:r>
              <a:rPr lang="en-GB" sz="1800" b="1" dirty="0"/>
              <a:t>UX/UI Designer</a:t>
            </a:r>
            <a:r>
              <a:rPr lang="en-GB" sz="1800" dirty="0"/>
              <a:t>: Figma, Adobe XD, Sketch, user research tools</a:t>
            </a:r>
          </a:p>
          <a:p>
            <a:pPr marL="444500" lvl="1" indent="-258763"/>
            <a:endParaRPr lang="en-GB" sz="1800" dirty="0"/>
          </a:p>
          <a:p>
            <a:pPr marL="444500" lvl="1" indent="-258763"/>
            <a:r>
              <a:rPr lang="en-GB" sz="1800" b="1" dirty="0"/>
              <a:t>Developer</a:t>
            </a:r>
            <a:r>
              <a:rPr lang="en-GB" sz="1800" dirty="0"/>
              <a:t>: GitHub, VS Code, IntelliJ, CI/CD tools (Jenkins, GitLab CI)</a:t>
            </a:r>
          </a:p>
        </p:txBody>
      </p:sp>
      <p:sp>
        <p:nvSpPr>
          <p:cNvPr id="4" name="Content Placeholder 2">
            <a:extLst>
              <a:ext uri="{FF2B5EF4-FFF2-40B4-BE49-F238E27FC236}">
                <a16:creationId xmlns:a16="http://schemas.microsoft.com/office/drawing/2014/main" id="{D2F78249-2134-2BD6-1F03-14DEC9A9A9E4}"/>
              </a:ext>
            </a:extLst>
          </p:cNvPr>
          <p:cNvSpPr txBox="1">
            <a:spLocks noChangeArrowheads="1"/>
          </p:cNvSpPr>
          <p:nvPr/>
        </p:nvSpPr>
        <p:spPr bwMode="auto">
          <a:xfrm>
            <a:off x="368406" y="4221088"/>
            <a:ext cx="4464496"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marL="444500" lvl="1" indent="-258763"/>
            <a:r>
              <a:rPr lang="en-GB" sz="1800" b="1" dirty="0"/>
              <a:t>Operations Engineer</a:t>
            </a:r>
            <a:r>
              <a:rPr lang="en-GB" sz="1800" dirty="0"/>
              <a:t>: Docker, Kubernetes, AWS/Azure, monitoring tools (Grafana, Prometheus)</a:t>
            </a:r>
          </a:p>
          <a:p>
            <a:pPr marL="444500" lvl="1" indent="-258763"/>
            <a:endParaRPr lang="en-GB" sz="1800" dirty="0"/>
          </a:p>
          <a:p>
            <a:pPr marL="444500" lvl="1" indent="-258763"/>
            <a:r>
              <a:rPr lang="en-GB" sz="1800" b="1" dirty="0"/>
              <a:t>Security Engineer</a:t>
            </a:r>
            <a:r>
              <a:rPr lang="en-GB" sz="1800" dirty="0"/>
              <a:t>: OWASP ZAP, Nessus, firewalls, SIEM tools (Splunk, </a:t>
            </a:r>
            <a:r>
              <a:rPr lang="en-GB" sz="1800" dirty="0" err="1"/>
              <a:t>QRadar</a:t>
            </a:r>
            <a:r>
              <a:rPr lang="en-GB" sz="1800" dirty="0"/>
              <a:t>)</a:t>
            </a:r>
          </a:p>
          <a:p>
            <a:pPr marL="542925" lvl="1" indent="-271463"/>
            <a:endParaRPr lang="en-GB" sz="1600" kern="0" dirty="0"/>
          </a:p>
        </p:txBody>
      </p:sp>
      <p:pic>
        <p:nvPicPr>
          <p:cNvPr id="2052" name="Picture 4" descr="Software Development tools">
            <a:extLst>
              <a:ext uri="{FF2B5EF4-FFF2-40B4-BE49-F238E27FC236}">
                <a16:creationId xmlns:a16="http://schemas.microsoft.com/office/drawing/2014/main" id="{8B0A05B1-00DF-B2CA-E3F4-8E3294D9F9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112" y="4279404"/>
            <a:ext cx="2817629" cy="2276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44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16F6-B5A8-181A-A88A-8C4949B5A2B5}"/>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857E2B6F-ABC8-689C-6C9F-EF2A21E5A22F}"/>
              </a:ext>
            </a:extLst>
          </p:cNvPr>
          <p:cNvSpPr>
            <a:spLocks noGrp="1" noChangeArrowheads="1"/>
          </p:cNvSpPr>
          <p:nvPr>
            <p:ph type="title"/>
          </p:nvPr>
        </p:nvSpPr>
        <p:spPr>
          <a:xfrm>
            <a:off x="1187450" y="404813"/>
            <a:ext cx="7721600" cy="939800"/>
          </a:xfrm>
        </p:spPr>
        <p:txBody>
          <a:bodyPr/>
          <a:lstStyle/>
          <a:p>
            <a:r>
              <a:rPr lang="en-GB" sz="3600" b="1" dirty="0">
                <a:solidFill>
                  <a:srgbClr val="0070C0"/>
                </a:solidFill>
              </a:rPr>
              <a:t>Systems Analyst</a:t>
            </a:r>
            <a:endParaRPr lang="en-GB" altLang="en-US" sz="3600" b="1" dirty="0">
              <a:solidFill>
                <a:srgbClr val="0070C0"/>
              </a:solidFill>
            </a:endParaRPr>
          </a:p>
        </p:txBody>
      </p:sp>
      <p:sp>
        <p:nvSpPr>
          <p:cNvPr id="20484" name="Content Placeholder 2">
            <a:extLst>
              <a:ext uri="{FF2B5EF4-FFF2-40B4-BE49-F238E27FC236}">
                <a16:creationId xmlns:a16="http://schemas.microsoft.com/office/drawing/2014/main" id="{941F292F-FDC1-FCFD-2C63-10B77F0E8E61}"/>
              </a:ext>
            </a:extLst>
          </p:cNvPr>
          <p:cNvSpPr txBox="1">
            <a:spLocks/>
          </p:cNvSpPr>
          <p:nvPr/>
        </p:nvSpPr>
        <p:spPr bwMode="auto">
          <a:xfrm>
            <a:off x="301884" y="1988914"/>
            <a:ext cx="8607166" cy="172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Evaluates the existing system and gathers requirements to design new software solutions.</a:t>
            </a:r>
          </a:p>
          <a:p>
            <a:pPr marL="0" indent="0">
              <a:buNone/>
            </a:pPr>
            <a:endParaRPr lang="en-GB" sz="1800" dirty="0"/>
          </a:p>
          <a:p>
            <a:r>
              <a:rPr lang="en-GB" sz="1800" b="1" dirty="0"/>
              <a:t>Intent: </a:t>
            </a:r>
            <a:r>
              <a:rPr lang="en-GB" sz="1800" dirty="0"/>
              <a:t>Bridge the gap between the technical team and business stakeholders by translating business needs into system specifications.</a:t>
            </a:r>
            <a:endParaRPr lang="en-GB" altLang="en-US" sz="1800" b="1" dirty="0"/>
          </a:p>
        </p:txBody>
      </p:sp>
      <p:sp>
        <p:nvSpPr>
          <p:cNvPr id="2" name="Content Placeholder 2">
            <a:extLst>
              <a:ext uri="{FF2B5EF4-FFF2-40B4-BE49-F238E27FC236}">
                <a16:creationId xmlns:a16="http://schemas.microsoft.com/office/drawing/2014/main" id="{C0A49142-1FBC-3EBD-B1E2-2E3426B1D8AC}"/>
              </a:ext>
            </a:extLst>
          </p:cNvPr>
          <p:cNvSpPr txBox="1">
            <a:spLocks/>
          </p:cNvSpPr>
          <p:nvPr/>
        </p:nvSpPr>
        <p:spPr bwMode="auto">
          <a:xfrm>
            <a:off x="332179" y="4221088"/>
            <a:ext cx="3447734"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Tools used: </a:t>
            </a:r>
            <a:r>
              <a:rPr lang="en-GB" sz="1800" dirty="0"/>
              <a:t>UML diagrams, data flow diagrams, requirement gathering techniques, BPMN tools.</a:t>
            </a:r>
          </a:p>
        </p:txBody>
      </p:sp>
      <p:pic>
        <p:nvPicPr>
          <p:cNvPr id="13314" name="Picture 2" descr="What are the roles of a systems analyst?">
            <a:extLst>
              <a:ext uri="{FF2B5EF4-FFF2-40B4-BE49-F238E27FC236}">
                <a16:creationId xmlns:a16="http://schemas.microsoft.com/office/drawing/2014/main" id="{952AD82F-09FF-1970-CE1A-3714C1F177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428" y="3537758"/>
            <a:ext cx="2295393" cy="1728192"/>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Differences, Duties and Responsibilities of Business Analysts and System  Analysts">
            <a:extLst>
              <a:ext uri="{FF2B5EF4-FFF2-40B4-BE49-F238E27FC236}">
                <a16:creationId xmlns:a16="http://schemas.microsoft.com/office/drawing/2014/main" id="{8749C842-115D-1C18-8D2D-27377ECA89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4286" y="5232866"/>
            <a:ext cx="2904913" cy="1428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657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3CC18-F32A-E9C5-1AA1-B6CC33AF8EC0}"/>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B19692EA-E07C-060F-E9BA-00369CB767A0}"/>
              </a:ext>
            </a:extLst>
          </p:cNvPr>
          <p:cNvSpPr>
            <a:spLocks noGrp="1" noChangeArrowheads="1"/>
          </p:cNvSpPr>
          <p:nvPr>
            <p:ph type="title"/>
          </p:nvPr>
        </p:nvSpPr>
        <p:spPr>
          <a:xfrm>
            <a:off x="1187450" y="404813"/>
            <a:ext cx="7721600" cy="939800"/>
          </a:xfrm>
        </p:spPr>
        <p:txBody>
          <a:bodyPr/>
          <a:lstStyle/>
          <a:p>
            <a:r>
              <a:rPr lang="en-GB" sz="3600" b="1" dirty="0">
                <a:solidFill>
                  <a:srgbClr val="0070C0"/>
                </a:solidFill>
              </a:rPr>
              <a:t>UX/UI Designer</a:t>
            </a:r>
            <a:endParaRPr lang="en-GB" altLang="en-US" sz="3600" b="1" dirty="0">
              <a:solidFill>
                <a:srgbClr val="0070C0"/>
              </a:solidFill>
            </a:endParaRPr>
          </a:p>
        </p:txBody>
      </p:sp>
      <p:sp>
        <p:nvSpPr>
          <p:cNvPr id="20484" name="Content Placeholder 2">
            <a:extLst>
              <a:ext uri="{FF2B5EF4-FFF2-40B4-BE49-F238E27FC236}">
                <a16:creationId xmlns:a16="http://schemas.microsoft.com/office/drawing/2014/main" id="{9C19A22A-6E36-E00C-5451-86C37FD85533}"/>
              </a:ext>
            </a:extLst>
          </p:cNvPr>
          <p:cNvSpPr txBox="1">
            <a:spLocks/>
          </p:cNvSpPr>
          <p:nvPr/>
        </p:nvSpPr>
        <p:spPr bwMode="auto">
          <a:xfrm>
            <a:off x="301884" y="1988914"/>
            <a:ext cx="8607166" cy="172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Researches user needs and market trends to design intuitive and attractive user interfaces.</a:t>
            </a:r>
          </a:p>
          <a:p>
            <a:pPr marL="0" indent="0">
              <a:buNone/>
            </a:pPr>
            <a:endParaRPr lang="en-GB" sz="1800" dirty="0"/>
          </a:p>
          <a:p>
            <a:r>
              <a:rPr lang="en-GB" sz="1800" b="1" dirty="0"/>
              <a:t>Intent: </a:t>
            </a:r>
            <a:r>
              <a:rPr lang="en-GB" sz="1800" dirty="0"/>
              <a:t>Improve user satisfaction through usability, accessibility, and aesthetics.</a:t>
            </a:r>
            <a:endParaRPr lang="en-GB" altLang="en-US" sz="1800" b="1" dirty="0"/>
          </a:p>
        </p:txBody>
      </p:sp>
      <p:sp>
        <p:nvSpPr>
          <p:cNvPr id="2" name="Content Placeholder 2">
            <a:extLst>
              <a:ext uri="{FF2B5EF4-FFF2-40B4-BE49-F238E27FC236}">
                <a16:creationId xmlns:a16="http://schemas.microsoft.com/office/drawing/2014/main" id="{517944B8-75B3-48E6-7F44-D1EC4F0D14B1}"/>
              </a:ext>
            </a:extLst>
          </p:cNvPr>
          <p:cNvSpPr txBox="1">
            <a:spLocks/>
          </p:cNvSpPr>
          <p:nvPr/>
        </p:nvSpPr>
        <p:spPr bwMode="auto">
          <a:xfrm>
            <a:off x="332179" y="4221088"/>
            <a:ext cx="3447734"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Tools used: </a:t>
            </a:r>
            <a:r>
              <a:rPr lang="en-GB" sz="1800" dirty="0"/>
              <a:t>Figma, Adobe XD, Sketch, usability testing tools, wireframing software.</a:t>
            </a:r>
          </a:p>
        </p:txBody>
      </p:sp>
      <p:sp>
        <p:nvSpPr>
          <p:cNvPr id="3" name="Content Placeholder 2">
            <a:extLst>
              <a:ext uri="{FF2B5EF4-FFF2-40B4-BE49-F238E27FC236}">
                <a16:creationId xmlns:a16="http://schemas.microsoft.com/office/drawing/2014/main" id="{C4D3A9C4-D0B2-D06A-E295-82C3517DB60A}"/>
              </a:ext>
            </a:extLst>
          </p:cNvPr>
          <p:cNvSpPr txBox="1">
            <a:spLocks/>
          </p:cNvSpPr>
          <p:nvPr/>
        </p:nvSpPr>
        <p:spPr bwMode="auto">
          <a:xfrm>
            <a:off x="244142" y="6121697"/>
            <a:ext cx="8607166" cy="360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latin typeface="Arial" pitchFamily="34" charset="0"/>
              </a:rPr>
              <a:t>Note: </a:t>
            </a:r>
            <a:r>
              <a:rPr lang="en-GB" sz="1800" dirty="0">
                <a:latin typeface="Arial" pitchFamily="34" charset="0"/>
              </a:rPr>
              <a:t>UX/UI stands for User Experience and User Interface</a:t>
            </a:r>
            <a:endParaRPr lang="en-US" altLang="en-US" sz="1800" dirty="0"/>
          </a:p>
        </p:txBody>
      </p:sp>
      <p:pic>
        <p:nvPicPr>
          <p:cNvPr id="5" name="Picture 4">
            <a:extLst>
              <a:ext uri="{FF2B5EF4-FFF2-40B4-BE49-F238E27FC236}">
                <a16:creationId xmlns:a16="http://schemas.microsoft.com/office/drawing/2014/main" id="{CD785397-BFB2-656D-01E2-62D921653C07}"/>
              </a:ext>
            </a:extLst>
          </p:cNvPr>
          <p:cNvPicPr>
            <a:picLocks noChangeAspect="1"/>
          </p:cNvPicPr>
          <p:nvPr/>
        </p:nvPicPr>
        <p:blipFill>
          <a:blip r:embed="rId3"/>
          <a:stretch>
            <a:fillRect/>
          </a:stretch>
        </p:blipFill>
        <p:spPr>
          <a:xfrm>
            <a:off x="4283968" y="3654152"/>
            <a:ext cx="4427984" cy="2213992"/>
          </a:xfrm>
          <a:prstGeom prst="rect">
            <a:avLst/>
          </a:prstGeom>
        </p:spPr>
      </p:pic>
    </p:spTree>
    <p:extLst>
      <p:ext uri="{BB962C8B-B14F-4D97-AF65-F5344CB8AC3E}">
        <p14:creationId xmlns:p14="http://schemas.microsoft.com/office/powerpoint/2010/main" val="1877219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EFE6B-3E6B-1C8D-E75E-9752A7F90FD9}"/>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4855D667-4C6A-439A-F4A7-749485B2DD0C}"/>
              </a:ext>
            </a:extLst>
          </p:cNvPr>
          <p:cNvSpPr>
            <a:spLocks noGrp="1" noChangeArrowheads="1"/>
          </p:cNvSpPr>
          <p:nvPr>
            <p:ph type="title"/>
          </p:nvPr>
        </p:nvSpPr>
        <p:spPr>
          <a:xfrm>
            <a:off x="1187450" y="404813"/>
            <a:ext cx="7721600" cy="939800"/>
          </a:xfrm>
        </p:spPr>
        <p:txBody>
          <a:bodyPr/>
          <a:lstStyle/>
          <a:p>
            <a:r>
              <a:rPr lang="en-GB" sz="3600" b="1" dirty="0">
                <a:solidFill>
                  <a:srgbClr val="0070C0"/>
                </a:solidFill>
              </a:rPr>
              <a:t>Software Developer / Engineer</a:t>
            </a:r>
            <a:endParaRPr lang="en-GB" altLang="en-US" sz="3600" b="1" dirty="0">
              <a:solidFill>
                <a:srgbClr val="0070C0"/>
              </a:solidFill>
            </a:endParaRPr>
          </a:p>
        </p:txBody>
      </p:sp>
      <p:sp>
        <p:nvSpPr>
          <p:cNvPr id="20484" name="Content Placeholder 2">
            <a:extLst>
              <a:ext uri="{FF2B5EF4-FFF2-40B4-BE49-F238E27FC236}">
                <a16:creationId xmlns:a16="http://schemas.microsoft.com/office/drawing/2014/main" id="{1C8B1E16-B5F6-A275-F746-C221BE4C971A}"/>
              </a:ext>
            </a:extLst>
          </p:cNvPr>
          <p:cNvSpPr txBox="1">
            <a:spLocks/>
          </p:cNvSpPr>
          <p:nvPr/>
        </p:nvSpPr>
        <p:spPr bwMode="auto">
          <a:xfrm>
            <a:off x="301884" y="1988914"/>
            <a:ext cx="8607166" cy="172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Converts designs and requirements into a functional, secure, and stable software product.</a:t>
            </a:r>
          </a:p>
          <a:p>
            <a:pPr marL="0" indent="0">
              <a:buNone/>
            </a:pPr>
            <a:endParaRPr lang="en-GB" sz="1800" dirty="0"/>
          </a:p>
          <a:p>
            <a:r>
              <a:rPr lang="en-GB" sz="1800" b="1" dirty="0"/>
              <a:t>Intent: </a:t>
            </a:r>
            <a:r>
              <a:rPr lang="en-GB" sz="1800" dirty="0"/>
              <a:t>Build and maintain code that fulfils user needs and meets technical and security standards.</a:t>
            </a:r>
            <a:endParaRPr lang="en-GB" altLang="en-US" sz="1800" b="1" dirty="0"/>
          </a:p>
        </p:txBody>
      </p:sp>
      <p:sp>
        <p:nvSpPr>
          <p:cNvPr id="2" name="Content Placeholder 2">
            <a:extLst>
              <a:ext uri="{FF2B5EF4-FFF2-40B4-BE49-F238E27FC236}">
                <a16:creationId xmlns:a16="http://schemas.microsoft.com/office/drawing/2014/main" id="{DC4FF081-DF51-FEF5-1571-4C70B0E61FFA}"/>
              </a:ext>
            </a:extLst>
          </p:cNvPr>
          <p:cNvSpPr txBox="1">
            <a:spLocks/>
          </p:cNvSpPr>
          <p:nvPr/>
        </p:nvSpPr>
        <p:spPr bwMode="auto">
          <a:xfrm>
            <a:off x="332179" y="4221088"/>
            <a:ext cx="3447734"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Tools used: </a:t>
            </a:r>
            <a:r>
              <a:rPr lang="en-GB" sz="1800" dirty="0"/>
              <a:t>IDEs (Visual Studio, IntelliJ), Git, CI/CD pipelines, testing frameworks.</a:t>
            </a:r>
          </a:p>
        </p:txBody>
      </p:sp>
      <p:pic>
        <p:nvPicPr>
          <p:cNvPr id="11266" name="Picture 2" descr="Software Developer vs. Software Engineer">
            <a:extLst>
              <a:ext uri="{FF2B5EF4-FFF2-40B4-BE49-F238E27FC236}">
                <a16:creationId xmlns:a16="http://schemas.microsoft.com/office/drawing/2014/main" id="{C02CBB75-5641-CAF6-3ED4-A2B23A5CBF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6759" y="3674276"/>
            <a:ext cx="4820394" cy="2814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060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F3A36-BF86-27DC-253B-589681C396E1}"/>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59C8B847-FF5A-57D6-4C9D-45CC8EEF03F8}"/>
              </a:ext>
            </a:extLst>
          </p:cNvPr>
          <p:cNvSpPr>
            <a:spLocks noGrp="1" noChangeArrowheads="1"/>
          </p:cNvSpPr>
          <p:nvPr>
            <p:ph type="title"/>
          </p:nvPr>
        </p:nvSpPr>
        <p:spPr>
          <a:xfrm>
            <a:off x="1187450" y="404813"/>
            <a:ext cx="7721600" cy="939800"/>
          </a:xfrm>
        </p:spPr>
        <p:txBody>
          <a:bodyPr/>
          <a:lstStyle/>
          <a:p>
            <a:r>
              <a:rPr lang="en-GB" sz="3600" b="1" dirty="0">
                <a:solidFill>
                  <a:srgbClr val="0070C0"/>
                </a:solidFill>
              </a:rPr>
              <a:t>Operations Engineer</a:t>
            </a:r>
            <a:endParaRPr lang="en-GB" altLang="en-US" sz="3600" b="1" dirty="0">
              <a:solidFill>
                <a:srgbClr val="0070C0"/>
              </a:solidFill>
            </a:endParaRPr>
          </a:p>
        </p:txBody>
      </p:sp>
      <p:sp>
        <p:nvSpPr>
          <p:cNvPr id="20484" name="Content Placeholder 2">
            <a:extLst>
              <a:ext uri="{FF2B5EF4-FFF2-40B4-BE49-F238E27FC236}">
                <a16:creationId xmlns:a16="http://schemas.microsoft.com/office/drawing/2014/main" id="{576D8D0A-2484-CF5C-CD5B-8F7C668A6260}"/>
              </a:ext>
            </a:extLst>
          </p:cNvPr>
          <p:cNvSpPr txBox="1">
            <a:spLocks/>
          </p:cNvSpPr>
          <p:nvPr/>
        </p:nvSpPr>
        <p:spPr bwMode="auto">
          <a:xfrm>
            <a:off x="301884" y="1988914"/>
            <a:ext cx="8607166" cy="172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Manages deployment, infrastructure, and monitoring to maintain system uptime and performance.</a:t>
            </a:r>
          </a:p>
          <a:p>
            <a:pPr marL="0" indent="0">
              <a:buNone/>
            </a:pPr>
            <a:endParaRPr lang="en-GB" sz="1800" dirty="0"/>
          </a:p>
          <a:p>
            <a:r>
              <a:rPr lang="en-GB" sz="1800" b="1" dirty="0"/>
              <a:t>Intent: </a:t>
            </a:r>
            <a:r>
              <a:rPr lang="en-GB" sz="1800" dirty="0"/>
              <a:t>Ensure the system runs smoothly and responds quickly to operational issues.</a:t>
            </a:r>
            <a:endParaRPr lang="en-GB" altLang="en-US" sz="1800" b="1" dirty="0"/>
          </a:p>
        </p:txBody>
      </p:sp>
      <p:sp>
        <p:nvSpPr>
          <p:cNvPr id="2" name="Content Placeholder 2">
            <a:extLst>
              <a:ext uri="{FF2B5EF4-FFF2-40B4-BE49-F238E27FC236}">
                <a16:creationId xmlns:a16="http://schemas.microsoft.com/office/drawing/2014/main" id="{65BA4582-B87F-928B-46D8-DFC0EA6A46AD}"/>
              </a:ext>
            </a:extLst>
          </p:cNvPr>
          <p:cNvSpPr txBox="1">
            <a:spLocks/>
          </p:cNvSpPr>
          <p:nvPr/>
        </p:nvSpPr>
        <p:spPr bwMode="auto">
          <a:xfrm>
            <a:off x="332178" y="4221088"/>
            <a:ext cx="3519741" cy="15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Tools used: </a:t>
            </a:r>
            <a:r>
              <a:rPr lang="en-GB" sz="1800" dirty="0"/>
              <a:t>Docker, Kubernetes, AWS/Azure, monitoring tools (Prometheus, Grafana, New Relic).</a:t>
            </a:r>
          </a:p>
        </p:txBody>
      </p:sp>
      <p:pic>
        <p:nvPicPr>
          <p:cNvPr id="10242" name="Picture 2" descr="Blog Image">
            <a:extLst>
              <a:ext uri="{FF2B5EF4-FFF2-40B4-BE49-F238E27FC236}">
                <a16:creationId xmlns:a16="http://schemas.microsoft.com/office/drawing/2014/main" id="{97C8B5A9-E9CE-34FE-2FC7-DB5FD8B69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6299" y="3717105"/>
            <a:ext cx="4788024" cy="2593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6442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D3EA5-5C21-9778-C5F8-601298584715}"/>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F767EFBC-9423-9EDD-0326-FDCA581E0CEC}"/>
              </a:ext>
            </a:extLst>
          </p:cNvPr>
          <p:cNvSpPr>
            <a:spLocks noGrp="1" noChangeArrowheads="1"/>
          </p:cNvSpPr>
          <p:nvPr>
            <p:ph type="title"/>
          </p:nvPr>
        </p:nvSpPr>
        <p:spPr>
          <a:xfrm>
            <a:off x="1187450" y="404813"/>
            <a:ext cx="7721600" cy="939800"/>
          </a:xfrm>
        </p:spPr>
        <p:txBody>
          <a:bodyPr/>
          <a:lstStyle/>
          <a:p>
            <a:r>
              <a:rPr lang="en-GB" sz="3600" b="1" dirty="0">
                <a:solidFill>
                  <a:srgbClr val="0070C0"/>
                </a:solidFill>
              </a:rPr>
              <a:t>Security Engineer</a:t>
            </a:r>
            <a:endParaRPr lang="en-GB" altLang="en-US" sz="3600" b="1" dirty="0">
              <a:solidFill>
                <a:srgbClr val="0070C0"/>
              </a:solidFill>
            </a:endParaRPr>
          </a:p>
        </p:txBody>
      </p:sp>
      <p:sp>
        <p:nvSpPr>
          <p:cNvPr id="20484" name="Content Placeholder 2">
            <a:extLst>
              <a:ext uri="{FF2B5EF4-FFF2-40B4-BE49-F238E27FC236}">
                <a16:creationId xmlns:a16="http://schemas.microsoft.com/office/drawing/2014/main" id="{050E4FC9-E235-1925-13B5-7E1352A3CA2E}"/>
              </a:ext>
            </a:extLst>
          </p:cNvPr>
          <p:cNvSpPr txBox="1">
            <a:spLocks/>
          </p:cNvSpPr>
          <p:nvPr/>
        </p:nvSpPr>
        <p:spPr bwMode="auto">
          <a:xfrm>
            <a:off x="301884" y="1988914"/>
            <a:ext cx="8607166" cy="172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Implements and monitors security practices across the software and infrastructure.</a:t>
            </a:r>
          </a:p>
          <a:p>
            <a:pPr marL="0" indent="0">
              <a:buNone/>
            </a:pPr>
            <a:endParaRPr lang="en-GB" sz="1800" dirty="0"/>
          </a:p>
          <a:p>
            <a:r>
              <a:rPr lang="en-GB" sz="1800" b="1" dirty="0"/>
              <a:t>Intent: </a:t>
            </a:r>
            <a:r>
              <a:rPr lang="en-GB" sz="1800" dirty="0"/>
              <a:t>Protect data, prevent breaches, and ensure compliance with security standards.</a:t>
            </a:r>
            <a:endParaRPr lang="en-GB" altLang="en-US" sz="1800" b="1" dirty="0"/>
          </a:p>
        </p:txBody>
      </p:sp>
      <p:sp>
        <p:nvSpPr>
          <p:cNvPr id="2" name="Content Placeholder 2">
            <a:extLst>
              <a:ext uri="{FF2B5EF4-FFF2-40B4-BE49-F238E27FC236}">
                <a16:creationId xmlns:a16="http://schemas.microsoft.com/office/drawing/2014/main" id="{1EC8BA73-3855-F7C3-7BB9-854411C01402}"/>
              </a:ext>
            </a:extLst>
          </p:cNvPr>
          <p:cNvSpPr txBox="1">
            <a:spLocks/>
          </p:cNvSpPr>
          <p:nvPr/>
        </p:nvSpPr>
        <p:spPr bwMode="auto">
          <a:xfrm>
            <a:off x="332178" y="4221088"/>
            <a:ext cx="3519741" cy="15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Tools used: </a:t>
            </a:r>
            <a:r>
              <a:rPr lang="en-GB" sz="1800" dirty="0"/>
              <a:t>Vulnerability scanners, firewalls, SIEM tools (Splunk), OWASP guidelines.</a:t>
            </a:r>
          </a:p>
        </p:txBody>
      </p:sp>
      <p:pic>
        <p:nvPicPr>
          <p:cNvPr id="9218" name="Picture 2" descr="Cyber Security VS Software Development: All You Need To Know">
            <a:extLst>
              <a:ext uri="{FF2B5EF4-FFF2-40B4-BE49-F238E27FC236}">
                <a16:creationId xmlns:a16="http://schemas.microsoft.com/office/drawing/2014/main" id="{CB0245D6-8456-599C-26D4-5CF374A1D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3943731"/>
            <a:ext cx="4320480" cy="2287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191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E9CC-CF68-6EB6-F506-A7AC59C24442}"/>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87A9E675-3304-4EEB-9A5F-BCBA41309AA7}"/>
              </a:ext>
            </a:extLst>
          </p:cNvPr>
          <p:cNvSpPr>
            <a:spLocks noGrp="1" noChangeArrowheads="1"/>
          </p:cNvSpPr>
          <p:nvPr>
            <p:ph type="title"/>
          </p:nvPr>
        </p:nvSpPr>
        <p:spPr>
          <a:xfrm>
            <a:off x="1187450" y="404813"/>
            <a:ext cx="7721600" cy="939800"/>
          </a:xfrm>
        </p:spPr>
        <p:txBody>
          <a:bodyPr/>
          <a:lstStyle/>
          <a:p>
            <a:r>
              <a:rPr lang="en-GB" sz="3600" b="1" dirty="0">
                <a:solidFill>
                  <a:srgbClr val="0070C0"/>
                </a:solidFill>
              </a:rPr>
              <a:t>Software Testers</a:t>
            </a:r>
            <a:endParaRPr lang="en-GB" altLang="en-US" sz="3600" b="1" dirty="0">
              <a:solidFill>
                <a:srgbClr val="0070C0"/>
              </a:solidFill>
            </a:endParaRPr>
          </a:p>
        </p:txBody>
      </p:sp>
      <p:sp>
        <p:nvSpPr>
          <p:cNvPr id="20484" name="Content Placeholder 2">
            <a:extLst>
              <a:ext uri="{FF2B5EF4-FFF2-40B4-BE49-F238E27FC236}">
                <a16:creationId xmlns:a16="http://schemas.microsoft.com/office/drawing/2014/main" id="{CB90983C-344C-5F6D-7594-1A821D5C68FE}"/>
              </a:ext>
            </a:extLst>
          </p:cNvPr>
          <p:cNvSpPr txBox="1">
            <a:spLocks/>
          </p:cNvSpPr>
          <p:nvPr/>
        </p:nvSpPr>
        <p:spPr bwMode="auto">
          <a:xfrm>
            <a:off x="301884" y="1988914"/>
            <a:ext cx="8607166" cy="172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dirty="0"/>
              <a:t>Validates the functionality, performance, and stability of the software through testing.</a:t>
            </a:r>
          </a:p>
          <a:p>
            <a:pPr marL="0" indent="0">
              <a:buNone/>
            </a:pPr>
            <a:endParaRPr lang="en-GB" sz="1800" dirty="0"/>
          </a:p>
          <a:p>
            <a:r>
              <a:rPr lang="en-GB" sz="1800" b="1" dirty="0"/>
              <a:t>Intent: </a:t>
            </a:r>
            <a:r>
              <a:rPr lang="en-GB" sz="1800" dirty="0"/>
              <a:t>Ensure a quality product is delivered by identifying and resolving defects.</a:t>
            </a:r>
            <a:endParaRPr lang="en-GB" altLang="en-US" sz="1800" b="1" dirty="0"/>
          </a:p>
        </p:txBody>
      </p:sp>
      <p:sp>
        <p:nvSpPr>
          <p:cNvPr id="2" name="Content Placeholder 2">
            <a:extLst>
              <a:ext uri="{FF2B5EF4-FFF2-40B4-BE49-F238E27FC236}">
                <a16:creationId xmlns:a16="http://schemas.microsoft.com/office/drawing/2014/main" id="{A92B5C2A-45B2-9F9E-1AE7-CCB2DF1D10EB}"/>
              </a:ext>
            </a:extLst>
          </p:cNvPr>
          <p:cNvSpPr txBox="1">
            <a:spLocks/>
          </p:cNvSpPr>
          <p:nvPr/>
        </p:nvSpPr>
        <p:spPr bwMode="auto">
          <a:xfrm>
            <a:off x="332178" y="4221088"/>
            <a:ext cx="3519741" cy="15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GB" sz="1800" b="1" dirty="0"/>
              <a:t>Tools used: </a:t>
            </a:r>
            <a:r>
              <a:rPr lang="en-GB" sz="1800" dirty="0"/>
              <a:t>Selenium, JUnit, TestRail, Postman, automated and manual testing tools.</a:t>
            </a:r>
          </a:p>
        </p:txBody>
      </p:sp>
      <p:pic>
        <p:nvPicPr>
          <p:cNvPr id="8194" name="Picture 2" descr="111 Types of Testing in Software ...">
            <a:extLst>
              <a:ext uri="{FF2B5EF4-FFF2-40B4-BE49-F238E27FC236}">
                <a16:creationId xmlns:a16="http://schemas.microsoft.com/office/drawing/2014/main" id="{554A63B5-8C46-F1CE-8AFE-C9A7C5C65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3634480"/>
            <a:ext cx="3763119" cy="2818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435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000581A6-E896-C5FF-A556-2B8798C279D4}"/>
              </a:ext>
            </a:extLst>
          </p:cNvPr>
          <p:cNvSpPr>
            <a:spLocks noGrp="1" noChangeArrowheads="1"/>
          </p:cNvSpPr>
          <p:nvPr>
            <p:ph type="title"/>
          </p:nvPr>
        </p:nvSpPr>
        <p:spPr>
          <a:xfrm>
            <a:off x="1331913" y="404813"/>
            <a:ext cx="7577137" cy="939800"/>
          </a:xfrm>
        </p:spPr>
        <p:txBody>
          <a:bodyPr/>
          <a:lstStyle/>
          <a:p>
            <a:r>
              <a:rPr lang="en-GB" altLang="en-US" sz="3200" b="1" dirty="0">
                <a:solidFill>
                  <a:srgbClr val="FF0000"/>
                </a:solidFill>
              </a:rPr>
              <a:t>Activity -</a:t>
            </a:r>
            <a:r>
              <a:rPr lang="en-GB" sz="3200" b="1" dirty="0">
                <a:solidFill>
                  <a:srgbClr val="FF0000"/>
                </a:solidFill>
              </a:rPr>
              <a:t> roles and responsibilities </a:t>
            </a:r>
            <a:endParaRPr lang="en-GB" altLang="en-US" sz="3200" b="1" dirty="0">
              <a:solidFill>
                <a:srgbClr val="FF0000"/>
              </a:solidFill>
            </a:endParaRPr>
          </a:p>
        </p:txBody>
      </p:sp>
      <p:sp>
        <p:nvSpPr>
          <p:cNvPr id="29699" name="Content Placeholder 2">
            <a:extLst>
              <a:ext uri="{FF2B5EF4-FFF2-40B4-BE49-F238E27FC236}">
                <a16:creationId xmlns:a16="http://schemas.microsoft.com/office/drawing/2014/main" id="{9EA8128A-7131-6219-C023-D1A2EB3574C9}"/>
              </a:ext>
            </a:extLst>
          </p:cNvPr>
          <p:cNvSpPr>
            <a:spLocks noGrp="1" noChangeArrowheads="1"/>
          </p:cNvSpPr>
          <p:nvPr>
            <p:ph idx="1"/>
          </p:nvPr>
        </p:nvSpPr>
        <p:spPr>
          <a:xfrm>
            <a:off x="395535" y="1759856"/>
            <a:ext cx="8311107" cy="1047502"/>
          </a:xfrm>
        </p:spPr>
        <p:txBody>
          <a:bodyPr/>
          <a:lstStyle/>
          <a:p>
            <a:r>
              <a:rPr lang="en-GB" sz="1800" b="1" dirty="0"/>
              <a:t>Objective:</a:t>
            </a:r>
          </a:p>
          <a:p>
            <a:pPr lvl="1"/>
            <a:r>
              <a:rPr lang="en-GB" sz="1800" dirty="0"/>
              <a:t>Understand and apply the roles and responsibilities of digital team members involved in software development.</a:t>
            </a:r>
          </a:p>
        </p:txBody>
      </p:sp>
      <p:pic>
        <p:nvPicPr>
          <p:cNvPr id="29700" name="Picture 4" descr="Diagram&#10;&#10;Description automatically generated">
            <a:extLst>
              <a:ext uri="{FF2B5EF4-FFF2-40B4-BE49-F238E27FC236}">
                <a16:creationId xmlns:a16="http://schemas.microsoft.com/office/drawing/2014/main" id="{C47C3030-BF0C-AF63-C11A-FEC47576CD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6130" y="3100040"/>
            <a:ext cx="2982515" cy="19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a:extLst>
              <a:ext uri="{FF2B5EF4-FFF2-40B4-BE49-F238E27FC236}">
                <a16:creationId xmlns:a16="http://schemas.microsoft.com/office/drawing/2014/main" id="{FDDB2D72-7A51-7774-A293-8151183EC526}"/>
              </a:ext>
            </a:extLst>
          </p:cNvPr>
          <p:cNvSpPr txBox="1">
            <a:spLocks noChangeArrowheads="1"/>
          </p:cNvSpPr>
          <p:nvPr/>
        </p:nvSpPr>
        <p:spPr bwMode="auto">
          <a:xfrm>
            <a:off x="395535" y="2972012"/>
            <a:ext cx="5184576" cy="2833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Instructions:</a:t>
            </a:r>
          </a:p>
          <a:p>
            <a:pPr lvl="1"/>
            <a:r>
              <a:rPr lang="en-GB" sz="1800" dirty="0"/>
              <a:t>Work in your teams</a:t>
            </a:r>
          </a:p>
          <a:p>
            <a:pPr lvl="1"/>
            <a:r>
              <a:rPr lang="en-GB" sz="1800" dirty="0"/>
              <a:t>Design a Minimum Viable Product (MVP) for an </a:t>
            </a:r>
            <a:r>
              <a:rPr lang="en-GB" sz="1800" b="1" dirty="0"/>
              <a:t>online food delivery app</a:t>
            </a:r>
            <a:endParaRPr lang="en-GB" sz="1800" dirty="0"/>
          </a:p>
          <a:p>
            <a:pPr lvl="1"/>
            <a:r>
              <a:rPr lang="en-GB" sz="1800" dirty="0"/>
              <a:t>Each team member will take on </a:t>
            </a:r>
            <a:r>
              <a:rPr lang="en-GB" sz="1800" b="1" dirty="0"/>
              <a:t>multiple roles</a:t>
            </a:r>
            <a:r>
              <a:rPr lang="en-GB" sz="1800" dirty="0"/>
              <a:t> from a real-world development team</a:t>
            </a:r>
          </a:p>
          <a:p>
            <a:pPr lvl="1"/>
            <a:r>
              <a:rPr lang="en-GB" sz="1800" dirty="0"/>
              <a:t>Collaborate, plan, and present how your team will deliver the MVP</a:t>
            </a:r>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136AE44-3216-4CC0-B2D7-D9E64DAA4FF6}"/>
</file>

<file path=customXml/itemProps2.xml><?xml version="1.0" encoding="utf-8"?>
<ds:datastoreItem xmlns:ds="http://schemas.openxmlformats.org/officeDocument/2006/customXml" ds:itemID="{B2F86606-FC18-4692-A93B-813AD11AF483}"/>
</file>

<file path=customXml/itemProps3.xml><?xml version="1.0" encoding="utf-8"?>
<ds:datastoreItem xmlns:ds="http://schemas.openxmlformats.org/officeDocument/2006/customXml" ds:itemID="{B1D8FE5A-6D51-4595-AF22-B2E5E5F97690}"/>
</file>

<file path=docProps/app.xml><?xml version="1.0" encoding="utf-8"?>
<Properties xmlns="http://schemas.openxmlformats.org/officeDocument/2006/extended-properties" xmlns:vt="http://schemas.openxmlformats.org/officeDocument/2006/docPropsVTypes">
  <Template/>
  <TotalTime>3290</TotalTime>
  <Words>1592</Words>
  <Application>Microsoft Office PowerPoint</Application>
  <PresentationFormat>On-screen Show (4:3)</PresentationFormat>
  <Paragraphs>147</Paragraphs>
  <Slides>17</Slides>
  <Notes>17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17</vt:i4>
      </vt:variant>
    </vt:vector>
  </HeadingPairs>
  <TitlesOfParts>
    <vt:vector size="22" baseType="lpstr">
      <vt:lpstr>Arial</vt:lpstr>
      <vt:lpstr>Tahoma</vt:lpstr>
      <vt:lpstr>Wingdings</vt:lpstr>
      <vt:lpstr>Blends</vt:lpstr>
      <vt:lpstr>1_Blends</vt:lpstr>
      <vt:lpstr>Occupational Specialist Component Content: Digital Production, Design  and Development</vt:lpstr>
      <vt:lpstr>The unit outcomes</vt:lpstr>
      <vt:lpstr>Learning Objectives</vt:lpstr>
      <vt:lpstr>Product Owner / Client</vt:lpstr>
      <vt:lpstr>Scrum Master</vt:lpstr>
      <vt:lpstr>Technical Lead</vt:lpstr>
      <vt:lpstr>Project Manager</vt:lpstr>
      <vt:lpstr>Software Development Team – Roles and Responsibilities</vt:lpstr>
      <vt:lpstr>Software Development Team – Roles and Responsibilities</vt:lpstr>
      <vt:lpstr>Software Development Team Tools</vt:lpstr>
      <vt:lpstr>Systems Analyst</vt:lpstr>
      <vt:lpstr>UX/UI Designer</vt:lpstr>
      <vt:lpstr>Software Developer / Engineer</vt:lpstr>
      <vt:lpstr>Operations Engineer</vt:lpstr>
      <vt:lpstr>Security Engineer</vt:lpstr>
      <vt:lpstr>Software Testers</vt:lpstr>
      <vt:lpstr>Activity - roles and responsibilities </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522</cp:revision>
  <dcterms:created xsi:type="dcterms:W3CDTF">2010-11-28T12:04:27Z</dcterms:created>
  <dcterms:modified xsi:type="dcterms:W3CDTF">2025-07-31T09:04:19Z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