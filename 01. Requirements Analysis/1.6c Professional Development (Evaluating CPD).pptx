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entation.xml" ContentType="application/vnd.openxmlformats-officedocument.presentationml.presentation.main+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23"/>
  </p:notesMasterIdLst>
  <p:sldIdLst>
    <p:sldId id="345" r:id="rId3"/>
    <p:sldId id="344" r:id="rId4"/>
    <p:sldId id="358" r:id="rId5"/>
    <p:sldId id="359" r:id="rId6"/>
    <p:sldId id="360" r:id="rId7"/>
    <p:sldId id="361" r:id="rId8"/>
    <p:sldId id="362" r:id="rId9"/>
    <p:sldId id="363" r:id="rId10"/>
    <p:sldId id="336" r:id="rId11"/>
    <p:sldId id="337" r:id="rId12"/>
    <p:sldId id="364" r:id="rId13"/>
    <p:sldId id="365" r:id="rId14"/>
    <p:sldId id="366" r:id="rId15"/>
    <p:sldId id="367" r:id="rId16"/>
    <p:sldId id="368" r:id="rId17"/>
    <p:sldId id="369" r:id="rId18"/>
    <p:sldId id="370" r:id="rId19"/>
    <p:sldId id="371" r:id="rId20"/>
    <p:sldId id="372" r:id="rId21"/>
    <p:sldId id="335" r:id="rId22"/>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00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7" autoAdjust="0"/>
    <p:restoredTop sz="73209" autoAdjust="0"/>
  </p:normalViewPr>
  <p:slideViewPr>
    <p:cSldViewPr>
      <p:cViewPr varScale="1">
        <p:scale>
          <a:sx n="77" d="100"/>
          <a:sy n="77" d="100"/>
        </p:scale>
        <p:origin x="1638" y="84"/>
      </p:cViewPr>
      <p:guideLst>
        <p:guide orient="horz" pos="2341"/>
        <p:guide pos="2880"/>
      </p:guideLst>
    </p:cSldViewPr>
  </p:slideViewPr>
  <p:notesTextViewPr>
    <p:cViewPr>
      <p:scale>
        <a:sx n="100" d="100"/>
        <a:sy n="100" d="100"/>
      </p:scale>
      <p:origin x="0" y="0"/>
    </p:cViewPr>
  </p:notesTextViewPr>
  <p:notesViewPr>
    <p:cSldViewPr>
      <p:cViewPr>
        <p:scale>
          <a:sx n="75" d="100"/>
          <a:sy n="75" d="100"/>
        </p:scale>
        <p:origin x="-1536" y="283"/>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 Id="rId30"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D15B3007-7C98-80F2-FB98-7252E7C55CF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DBB26313-5F25-FD75-49F8-E7C26BD6257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366C6ECA-A09C-6F4B-A01D-09EF1CFA262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3E0B1EE0-7A2E-6138-5FA0-75B97940658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04D053E7-9D39-A261-E041-F5FDEADDDC3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D6E01214-6F09-40F7-C424-1DC5D2CFD2DA}"/>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2C02D2B-775D-4A47-805A-0826653367B0}"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google.co.uk/search?q=how+research+based+best+practices+are+used+for+evaluating+the+pd+program&amp;sa=X&amp;ved=2ahUKEwjLpuO4zOrpAhW0WRUIHcVzCUkQ1QIoA3oECBsQBA&amp;biw=1235&amp;bih=824&amp;safe=active&amp;ssui=on"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9B039956-87D1-C977-C50A-4269650EA0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8270F23-0C4B-420A-A525-FF98079D2340}"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FFE3A78F-9CE6-B3CC-81D8-8FF8E776751C}"/>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2D15D812-AEAF-0DB8-8D25-8346D61726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BC519D09-BEC2-3A62-7506-D37F4D574F6E}"/>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77F1CD00-A2D3-B6C5-7C0C-EF26EF6B386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9460" name="Slide Number Placeholder 3">
            <a:extLst>
              <a:ext uri="{FF2B5EF4-FFF2-40B4-BE49-F238E27FC236}">
                <a16:creationId xmlns:a16="http://schemas.microsoft.com/office/drawing/2014/main" id="{1C9776B2-85F6-A1D9-B497-BAA02C9499C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D24E20F-E9D0-4535-8CAB-BF408098BB6E}" type="slidenum">
              <a:rPr lang="en-GB" altLang="en-US" smtClean="0"/>
              <a:pPr>
                <a:spcBef>
                  <a:spcPct val="0"/>
                </a:spcBef>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6D4125F2-4A78-5E54-5AAF-7295EA505B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2554711-D0D9-4087-866F-A3C00A4052AB}" type="slidenum">
              <a:rPr lang="en-GB" altLang="en-US" smtClean="0"/>
              <a:pPr>
                <a:spcBef>
                  <a:spcPct val="0"/>
                </a:spcBef>
              </a:pPr>
              <a:t>3</a:t>
            </a:fld>
            <a:endParaRPr lang="en-GB" altLang="en-US"/>
          </a:p>
        </p:txBody>
      </p:sp>
      <p:sp>
        <p:nvSpPr>
          <p:cNvPr id="71683" name="Rectangle 2">
            <a:extLst>
              <a:ext uri="{FF2B5EF4-FFF2-40B4-BE49-F238E27FC236}">
                <a16:creationId xmlns:a16="http://schemas.microsoft.com/office/drawing/2014/main" id="{8E68D2F1-2344-179E-60C2-4E5F56C1C325}"/>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2048C1C5-83EE-B4B9-8E34-73E907FC55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altLang="en-US" sz="1200" b="1" dirty="0">
                <a:solidFill>
                  <a:srgbClr val="0070C0"/>
                </a:solidFill>
              </a:rPr>
              <a:t>Evaluating CPD</a:t>
            </a:r>
          </a:p>
          <a:p>
            <a:pPr eaLnBrk="1" hangingPunct="1"/>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D2AE00E4-0AF0-69FE-4607-8A1EE7666D3B}"/>
              </a:ext>
            </a:extLst>
          </p:cNvPr>
          <p:cNvSpPr>
            <a:spLocks noGrp="1" noRot="1" noChangeAspect="1" noChangeArrowheads="1" noTextEdit="1"/>
          </p:cNvSpPr>
          <p:nvPr>
            <p:ph type="sldImg"/>
          </p:nvPr>
        </p:nvSpPr>
        <p:spPr>
          <a:ln/>
        </p:spPr>
      </p:sp>
      <p:sp>
        <p:nvSpPr>
          <p:cNvPr id="73731" name="Notes Placeholder 2">
            <a:extLst>
              <a:ext uri="{FF2B5EF4-FFF2-40B4-BE49-F238E27FC236}">
                <a16:creationId xmlns:a16="http://schemas.microsoft.com/office/drawing/2014/main" id="{B5593433-DA39-509F-38C2-5AB6E88290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3732" name="Slide Number Placeholder 3">
            <a:extLst>
              <a:ext uri="{FF2B5EF4-FFF2-40B4-BE49-F238E27FC236}">
                <a16:creationId xmlns:a16="http://schemas.microsoft.com/office/drawing/2014/main" id="{B6507AE2-1D08-649C-7885-2DCEFE33DC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2C9D7EF-E2A7-498F-A507-6476FBB482EE}"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E1B0A16E-87BA-5D25-54F4-C34E5934006A}"/>
              </a:ext>
            </a:extLst>
          </p:cNvPr>
          <p:cNvSpPr>
            <a:spLocks noGrp="1" noRot="1" noChangeAspect="1" noChangeArrowheads="1" noTextEdit="1"/>
          </p:cNvSpPr>
          <p:nvPr>
            <p:ph type="sldImg"/>
          </p:nvPr>
        </p:nvSpPr>
        <p:spPr>
          <a:ln/>
        </p:spPr>
      </p:sp>
      <p:sp>
        <p:nvSpPr>
          <p:cNvPr id="75779" name="Notes Placeholder 2">
            <a:extLst>
              <a:ext uri="{FF2B5EF4-FFF2-40B4-BE49-F238E27FC236}">
                <a16:creationId xmlns:a16="http://schemas.microsoft.com/office/drawing/2014/main" id="{426C6C08-5CAB-298E-203D-73729C0203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5780" name="Slide Number Placeholder 3">
            <a:extLst>
              <a:ext uri="{FF2B5EF4-FFF2-40B4-BE49-F238E27FC236}">
                <a16:creationId xmlns:a16="http://schemas.microsoft.com/office/drawing/2014/main" id="{722F580A-FE50-4C8E-88D0-C27DDD3C2C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6743311-3AC7-4711-9DB6-A851F788F323}" type="slidenum">
              <a:rPr lang="en-GB" altLang="en-US" smtClean="0"/>
              <a:pPr/>
              <a:t>5</a:t>
            </a:fld>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0D0984D3-2608-E505-3768-5252CA457B1A}"/>
              </a:ext>
            </a:extLst>
          </p:cNvPr>
          <p:cNvSpPr>
            <a:spLocks noGrp="1" noRot="1" noChangeAspect="1" noChangeArrowheads="1" noTextEdit="1"/>
          </p:cNvSpPr>
          <p:nvPr>
            <p:ph type="sldImg"/>
          </p:nvPr>
        </p:nvSpPr>
        <p:spPr>
          <a:ln/>
        </p:spPr>
      </p:sp>
      <p:sp>
        <p:nvSpPr>
          <p:cNvPr id="77827" name="Notes Placeholder 2">
            <a:extLst>
              <a:ext uri="{FF2B5EF4-FFF2-40B4-BE49-F238E27FC236}">
                <a16:creationId xmlns:a16="http://schemas.microsoft.com/office/drawing/2014/main" id="{469593BE-36F4-2B8D-C0C5-753B8C92D7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77828" name="Slide Number Placeholder 3">
            <a:extLst>
              <a:ext uri="{FF2B5EF4-FFF2-40B4-BE49-F238E27FC236}">
                <a16:creationId xmlns:a16="http://schemas.microsoft.com/office/drawing/2014/main" id="{D442DF66-38B9-28A5-A905-1BFB48D14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1914F3C-C381-46ED-9064-385D64D328F0}" type="slidenum">
              <a:rPr lang="en-GB" altLang="en-US" smtClean="0"/>
              <a:pPr/>
              <a:t>6</a:t>
            </a:fld>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CF43023B-3DF5-F4F0-8FED-288150FC97B8}"/>
              </a:ext>
            </a:extLst>
          </p:cNvPr>
          <p:cNvSpPr>
            <a:spLocks noGrp="1" noRot="1" noChangeAspect="1" noChangeArrowheads="1" noTextEdit="1"/>
          </p:cNvSpPr>
          <p:nvPr>
            <p:ph type="sldImg"/>
          </p:nvPr>
        </p:nvSpPr>
        <p:spPr>
          <a:ln/>
        </p:spPr>
      </p:sp>
      <p:sp>
        <p:nvSpPr>
          <p:cNvPr id="79875" name="Notes Placeholder 2">
            <a:extLst>
              <a:ext uri="{FF2B5EF4-FFF2-40B4-BE49-F238E27FC236}">
                <a16:creationId xmlns:a16="http://schemas.microsoft.com/office/drawing/2014/main" id="{46256221-8D35-9301-B354-C427A647B7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9876" name="Slide Number Placeholder 3">
            <a:extLst>
              <a:ext uri="{FF2B5EF4-FFF2-40B4-BE49-F238E27FC236}">
                <a16:creationId xmlns:a16="http://schemas.microsoft.com/office/drawing/2014/main" id="{5173EB74-111E-3B26-8ECB-591EEB14DF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4935CC4-D8AE-4E2E-A458-EDF66706ED17}" type="slidenum">
              <a:rPr lang="en-GB" altLang="en-US" smtClean="0"/>
              <a:pPr/>
              <a:t>7</a:t>
            </a:fld>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5E16E050-2132-7176-7851-5B8F0087FF7E}"/>
              </a:ext>
            </a:extLst>
          </p:cNvPr>
          <p:cNvSpPr>
            <a:spLocks noGrp="1" noRot="1" noChangeAspect="1" noChangeArrowheads="1" noTextEdit="1"/>
          </p:cNvSpPr>
          <p:nvPr>
            <p:ph type="sldImg"/>
          </p:nvPr>
        </p:nvSpPr>
        <p:spPr>
          <a:ln/>
        </p:spPr>
      </p:sp>
      <p:sp>
        <p:nvSpPr>
          <p:cNvPr id="81923" name="Notes Placeholder 2">
            <a:extLst>
              <a:ext uri="{FF2B5EF4-FFF2-40B4-BE49-F238E27FC236}">
                <a16:creationId xmlns:a16="http://schemas.microsoft.com/office/drawing/2014/main" id="{CA890167-4520-9B23-25A6-6C01FE07A3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hlinkClick r:id="rId3"/>
              </a:rPr>
              <a:t>https://www.google.co.uk/search?q=how+research+based+best+practices+are+used+for+evaluating+the+pd+program&amp;sa=X&amp;ved=2ahUKEwjLpuO4zOrpAhW0WRUIHcVzCUkQ1QIoA3oECBsQBA&amp;biw=1235&amp;bih=824&amp;safe=active&amp;ssui=on</a:t>
            </a:r>
            <a:endParaRPr lang="en-US" altLang="en-US"/>
          </a:p>
        </p:txBody>
      </p:sp>
      <p:sp>
        <p:nvSpPr>
          <p:cNvPr id="81924" name="Slide Number Placeholder 3">
            <a:extLst>
              <a:ext uri="{FF2B5EF4-FFF2-40B4-BE49-F238E27FC236}">
                <a16:creationId xmlns:a16="http://schemas.microsoft.com/office/drawing/2014/main" id="{57A02A84-2E1D-BA22-863C-F75F605042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2535CB8-D9DD-4E0A-9144-5141B8FA2B68}" type="slidenum">
              <a:rPr lang="en-GB" altLang="en-US" smtClean="0"/>
              <a:pPr/>
              <a:t>8</a:t>
            </a:fld>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id="{98EC50B1-406B-E73C-CFC7-9B8D7EE1B009}"/>
              </a:ext>
            </a:extLst>
          </p:cNvPr>
          <p:cNvSpPr>
            <a:spLocks noGrp="1" noRot="1" noChangeAspect="1" noChangeArrowheads="1" noTextEdit="1"/>
          </p:cNvSpPr>
          <p:nvPr>
            <p:ph type="sldImg"/>
          </p:nvPr>
        </p:nvSpPr>
        <p:spPr>
          <a:ln/>
        </p:spPr>
      </p:sp>
      <p:sp>
        <p:nvSpPr>
          <p:cNvPr id="84995" name="Notes Placeholder 2">
            <a:extLst>
              <a:ext uri="{FF2B5EF4-FFF2-40B4-BE49-F238E27FC236}">
                <a16:creationId xmlns:a16="http://schemas.microsoft.com/office/drawing/2014/main" id="{C997B518-F06A-1144-C492-ABF8BB3C30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4996" name="Slide Number Placeholder 3">
            <a:extLst>
              <a:ext uri="{FF2B5EF4-FFF2-40B4-BE49-F238E27FC236}">
                <a16:creationId xmlns:a16="http://schemas.microsoft.com/office/drawing/2014/main" id="{978185A5-8C34-C6BB-C1B8-FF34F97750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2368FB7-B135-48B9-9B6C-869793E168DE}" type="slidenum">
              <a:rPr lang="en-GB" altLang="en-US" smtClean="0"/>
              <a:pPr/>
              <a:t>10</a:t>
            </a:fld>
            <a:endParaRPr lang="en-GB"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id="{DC299B62-E96B-91AC-1290-28146A56CB3D}"/>
              </a:ext>
            </a:extLst>
          </p:cNvPr>
          <p:cNvSpPr>
            <a:spLocks noGrp="1" noRot="1" noChangeAspect="1" noChangeArrowheads="1" noTextEdit="1"/>
          </p:cNvSpPr>
          <p:nvPr>
            <p:ph type="sldImg"/>
          </p:nvPr>
        </p:nvSpPr>
        <p:spPr>
          <a:ln/>
        </p:spPr>
      </p:sp>
      <p:sp>
        <p:nvSpPr>
          <p:cNvPr id="87043" name="Notes Placeholder 2">
            <a:extLst>
              <a:ext uri="{FF2B5EF4-FFF2-40B4-BE49-F238E27FC236}">
                <a16:creationId xmlns:a16="http://schemas.microsoft.com/office/drawing/2014/main" id="{78C7F078-7CAC-5FF6-F6CA-BADE0F0452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7044" name="Slide Number Placeholder 3">
            <a:extLst>
              <a:ext uri="{FF2B5EF4-FFF2-40B4-BE49-F238E27FC236}">
                <a16:creationId xmlns:a16="http://schemas.microsoft.com/office/drawing/2014/main" id="{9AA1A610-6205-0BE2-A489-DDE7DE7908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C511868-211E-45D6-8AC1-2D28EC34DA71}" type="slidenum">
              <a:rPr lang="en-GB" altLang="en-US" smtClean="0"/>
              <a:pPr/>
              <a:t>11</a:t>
            </a:fld>
            <a:endParaRPr lang="en-GB"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a16="http://schemas.microsoft.com/office/drawing/2014/main" id="{FE706ABD-8A2C-31A7-EE66-70B3A1EA8DD5}"/>
              </a:ext>
            </a:extLst>
          </p:cNvPr>
          <p:cNvSpPr>
            <a:spLocks noGrp="1" noRot="1" noChangeAspect="1" noChangeArrowheads="1" noTextEdit="1"/>
          </p:cNvSpPr>
          <p:nvPr>
            <p:ph type="sldImg"/>
          </p:nvPr>
        </p:nvSpPr>
        <p:spPr>
          <a:ln/>
        </p:spPr>
      </p:sp>
      <p:sp>
        <p:nvSpPr>
          <p:cNvPr id="89091" name="Notes Placeholder 2">
            <a:extLst>
              <a:ext uri="{FF2B5EF4-FFF2-40B4-BE49-F238E27FC236}">
                <a16:creationId xmlns:a16="http://schemas.microsoft.com/office/drawing/2014/main" id="{174ED0E2-B810-C7E8-0568-453C659033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9092" name="Slide Number Placeholder 3">
            <a:extLst>
              <a:ext uri="{FF2B5EF4-FFF2-40B4-BE49-F238E27FC236}">
                <a16:creationId xmlns:a16="http://schemas.microsoft.com/office/drawing/2014/main" id="{A78C28D1-0F03-DD93-1899-7B533FD97A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82237CB-F065-4B69-8304-36A225730D8A}" type="slidenum">
              <a:rPr lang="en-GB" altLang="en-US" smtClean="0"/>
              <a:pPr/>
              <a:t>12</a:t>
            </a:fld>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C6B4E67D-8086-CB15-1E3A-22C92830C029}"/>
              </a:ext>
            </a:extLst>
          </p:cNvPr>
          <p:cNvSpPr>
            <a:spLocks noGrp="1" noRot="1" noChangeAspect="1" noChangeArrowheads="1" noTextEdit="1"/>
          </p:cNvSpPr>
          <p:nvPr>
            <p:ph type="sldImg"/>
          </p:nvPr>
        </p:nvSpPr>
        <p:spPr>
          <a:ln/>
        </p:spPr>
      </p:sp>
      <p:sp>
        <p:nvSpPr>
          <p:cNvPr id="91139" name="Notes Placeholder 2">
            <a:extLst>
              <a:ext uri="{FF2B5EF4-FFF2-40B4-BE49-F238E27FC236}">
                <a16:creationId xmlns:a16="http://schemas.microsoft.com/office/drawing/2014/main" id="{752E1CAA-89FE-96C3-6688-8DDA4202D6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It is helpful to document your thinking during the review process. This means you can look back next time and remember why you changed your goals or activities. It also helps to articulate the reasons behind the decisions, and make sure that they are not just ‘</a:t>
            </a:r>
            <a:r>
              <a:rPr lang="en-US" altLang="en-US" i="1"/>
              <a:t>I couldn’t really be bothered</a:t>
            </a:r>
            <a:r>
              <a:rPr lang="en-US" altLang="en-US"/>
              <a:t>’.</a:t>
            </a:r>
            <a:endParaRPr lang="en-GB" altLang="en-US"/>
          </a:p>
        </p:txBody>
      </p:sp>
      <p:sp>
        <p:nvSpPr>
          <p:cNvPr id="91140" name="Slide Number Placeholder 3">
            <a:extLst>
              <a:ext uri="{FF2B5EF4-FFF2-40B4-BE49-F238E27FC236}">
                <a16:creationId xmlns:a16="http://schemas.microsoft.com/office/drawing/2014/main" id="{311A8D58-BC2F-AB57-994F-1C85C27F78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B1D9EE3-BDF9-496E-A36D-0A101199756C}" type="slidenum">
              <a:rPr lang="en-GB" altLang="en-US" smtClean="0"/>
              <a:pPr/>
              <a:t>13</a:t>
            </a:fld>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499EED2D-718E-1789-DEDF-1F93AECBAED1}"/>
              </a:ext>
            </a:extLst>
          </p:cNvPr>
          <p:cNvSpPr>
            <a:spLocks noGrp="1" noRot="1" noChangeAspect="1" noChangeArrowheads="1" noTextEdit="1"/>
          </p:cNvSpPr>
          <p:nvPr>
            <p:ph type="sldImg"/>
          </p:nvPr>
        </p:nvSpPr>
        <p:spPr>
          <a:ln/>
        </p:spPr>
      </p:sp>
      <p:sp>
        <p:nvSpPr>
          <p:cNvPr id="93187" name="Notes Placeholder 2">
            <a:extLst>
              <a:ext uri="{FF2B5EF4-FFF2-40B4-BE49-F238E27FC236}">
                <a16:creationId xmlns:a16="http://schemas.microsoft.com/office/drawing/2014/main" id="{A44D6372-AF7B-A557-CBF0-67D8FB3EA0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93188" name="Slide Number Placeholder 3">
            <a:extLst>
              <a:ext uri="{FF2B5EF4-FFF2-40B4-BE49-F238E27FC236}">
                <a16:creationId xmlns:a16="http://schemas.microsoft.com/office/drawing/2014/main" id="{1A80627A-595F-9031-B4E1-C63627AC97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1C68DEA-3464-425D-B6F0-B04580BEFAED}" type="slidenum">
              <a:rPr lang="en-GB" altLang="en-US" smtClean="0"/>
              <a:pPr/>
              <a:t>14</a:t>
            </a:fld>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id="{B470778A-9767-B6C1-A549-7F9117A1B68A}"/>
              </a:ext>
            </a:extLst>
          </p:cNvPr>
          <p:cNvSpPr>
            <a:spLocks noGrp="1" noRot="1" noChangeAspect="1" noChangeArrowheads="1" noTextEdit="1"/>
          </p:cNvSpPr>
          <p:nvPr>
            <p:ph type="sldImg"/>
          </p:nvPr>
        </p:nvSpPr>
        <p:spPr>
          <a:ln/>
        </p:spPr>
      </p:sp>
      <p:sp>
        <p:nvSpPr>
          <p:cNvPr id="96259" name="Notes Placeholder 2">
            <a:extLst>
              <a:ext uri="{FF2B5EF4-FFF2-40B4-BE49-F238E27FC236}">
                <a16:creationId xmlns:a16="http://schemas.microsoft.com/office/drawing/2014/main" id="{FE3C48A0-B838-70EF-7934-0B869C4383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6260" name="Slide Number Placeholder 3">
            <a:extLst>
              <a:ext uri="{FF2B5EF4-FFF2-40B4-BE49-F238E27FC236}">
                <a16:creationId xmlns:a16="http://schemas.microsoft.com/office/drawing/2014/main" id="{04CB728D-DE39-80F5-38C2-9FD9247444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1555DBF-9D7A-4226-A365-06B9E38967B7}" type="slidenum">
              <a:rPr lang="en-GB" altLang="en-US" smtClean="0"/>
              <a:pPr/>
              <a:t>16</a:t>
            </a:fld>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27F4A80C-E2E6-29AE-73C8-6916BDDA96F2}"/>
              </a:ext>
            </a:extLst>
          </p:cNvPr>
          <p:cNvSpPr>
            <a:spLocks noGrp="1" noRot="1" noChangeAspect="1" noChangeArrowheads="1" noTextEdit="1"/>
          </p:cNvSpPr>
          <p:nvPr>
            <p:ph type="sldImg"/>
          </p:nvPr>
        </p:nvSpPr>
        <p:spPr>
          <a:ln/>
        </p:spPr>
      </p:sp>
      <p:sp>
        <p:nvSpPr>
          <p:cNvPr id="98307" name="Notes Placeholder 2">
            <a:extLst>
              <a:ext uri="{FF2B5EF4-FFF2-40B4-BE49-F238E27FC236}">
                <a16:creationId xmlns:a16="http://schemas.microsoft.com/office/drawing/2014/main" id="{BB7E1DA7-D3DF-EBB1-D747-D25151C37B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r>
              <a:rPr lang="en-US" altLang="en-US" b="1"/>
              <a:t>The answer, however, is more likely to be ‘yes, but…’</a:t>
            </a:r>
          </a:p>
          <a:p>
            <a:r>
              <a:rPr lang="en-US" altLang="en-US"/>
              <a:t>In other words, yes, that is still more or less what you want, but you have refined your thinking consciously or unconsciously. In that case, tweak your goal until you are feeling more inspired, and it really is what you want to achieve more than anything else.</a:t>
            </a:r>
          </a:p>
          <a:p>
            <a:r>
              <a:rPr lang="en-US" altLang="en-US"/>
              <a:t>Once you have your revised goals, you can then go through the process of deciding what activities you need to develop your skills.</a:t>
            </a:r>
          </a:p>
          <a:p>
            <a:endParaRPr lang="en-US" altLang="en-US"/>
          </a:p>
          <a:p>
            <a:endParaRPr lang="en-GB" altLang="en-US"/>
          </a:p>
        </p:txBody>
      </p:sp>
      <p:sp>
        <p:nvSpPr>
          <p:cNvPr id="98308" name="Slide Number Placeholder 3">
            <a:extLst>
              <a:ext uri="{FF2B5EF4-FFF2-40B4-BE49-F238E27FC236}">
                <a16:creationId xmlns:a16="http://schemas.microsoft.com/office/drawing/2014/main" id="{DA135D9B-B245-1380-6D75-487395147F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F52E6F2-5175-45BC-96C4-7D37E1728574}" type="slidenum">
              <a:rPr lang="en-GB" altLang="en-US" smtClean="0"/>
              <a:pPr/>
              <a:t>17</a:t>
            </a:fld>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64A71557-F8E6-163D-39A9-EFCD5369EA1D}"/>
              </a:ext>
            </a:extLst>
          </p:cNvPr>
          <p:cNvSpPr>
            <a:spLocks noGrp="1" noRot="1" noChangeAspect="1" noChangeArrowheads="1" noTextEdit="1"/>
          </p:cNvSpPr>
          <p:nvPr>
            <p:ph type="sldImg"/>
          </p:nvPr>
        </p:nvSpPr>
        <p:spPr>
          <a:ln/>
        </p:spPr>
      </p:sp>
      <p:sp>
        <p:nvSpPr>
          <p:cNvPr id="100355" name="Notes Placeholder 2">
            <a:extLst>
              <a:ext uri="{FF2B5EF4-FFF2-40B4-BE49-F238E27FC236}">
                <a16:creationId xmlns:a16="http://schemas.microsoft.com/office/drawing/2014/main" id="{C34DD0F7-BAC2-FB78-D72E-04F93A9CAB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00356" name="Slide Number Placeholder 3">
            <a:extLst>
              <a:ext uri="{FF2B5EF4-FFF2-40B4-BE49-F238E27FC236}">
                <a16:creationId xmlns:a16="http://schemas.microsoft.com/office/drawing/2014/main" id="{8BF0C306-7991-9992-929B-DF5B3DBE72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4F7EBE5-F974-45CC-AEFD-7D9A3BD758C3}" type="slidenum">
              <a:rPr lang="en-GB" altLang="en-US" smtClean="0"/>
              <a:pPr/>
              <a:t>18</a:t>
            </a:fld>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a:extLst>
              <a:ext uri="{FF2B5EF4-FFF2-40B4-BE49-F238E27FC236}">
                <a16:creationId xmlns:a16="http://schemas.microsoft.com/office/drawing/2014/main" id="{0BC84323-30E4-6998-9304-BFBA23644782}"/>
              </a:ext>
            </a:extLst>
          </p:cNvPr>
          <p:cNvSpPr>
            <a:spLocks noGrp="1" noRot="1" noChangeAspect="1" noChangeArrowheads="1" noTextEdit="1"/>
          </p:cNvSpPr>
          <p:nvPr>
            <p:ph type="sldImg"/>
          </p:nvPr>
        </p:nvSpPr>
        <p:spPr>
          <a:ln/>
        </p:spPr>
      </p:sp>
      <p:sp>
        <p:nvSpPr>
          <p:cNvPr id="102403" name="Notes Placeholder 2">
            <a:extLst>
              <a:ext uri="{FF2B5EF4-FFF2-40B4-BE49-F238E27FC236}">
                <a16:creationId xmlns:a16="http://schemas.microsoft.com/office/drawing/2014/main" id="{2BB00C5A-8DA9-8EB3-0360-B2CA5E7DB8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102404" name="Slide Number Placeholder 3">
            <a:extLst>
              <a:ext uri="{FF2B5EF4-FFF2-40B4-BE49-F238E27FC236}">
                <a16:creationId xmlns:a16="http://schemas.microsoft.com/office/drawing/2014/main" id="{61048FB1-4CCF-D564-44AA-93C136FC67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A09F79E-CFB4-4BE1-B44A-2853BC944F1E}" type="slidenum">
              <a:rPr lang="en-GB" altLang="en-US" smtClean="0"/>
              <a:pPr/>
              <a:t>19</a:t>
            </a:fld>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a:extLst>
              <a:ext uri="{FF2B5EF4-FFF2-40B4-BE49-F238E27FC236}">
                <a16:creationId xmlns:a16="http://schemas.microsoft.com/office/drawing/2014/main" id="{314A1011-7F98-9B58-0BEF-259143F6A274}"/>
              </a:ext>
            </a:extLst>
          </p:cNvPr>
          <p:cNvSpPr>
            <a:spLocks noGrp="1" noRot="1" noChangeAspect="1" noChangeArrowheads="1" noTextEdit="1"/>
          </p:cNvSpPr>
          <p:nvPr>
            <p:ph type="sldImg"/>
          </p:nvPr>
        </p:nvSpPr>
        <p:spPr>
          <a:ln/>
        </p:spPr>
      </p:sp>
      <p:sp>
        <p:nvSpPr>
          <p:cNvPr id="104451" name="Notes Placeholder 2">
            <a:extLst>
              <a:ext uri="{FF2B5EF4-FFF2-40B4-BE49-F238E27FC236}">
                <a16:creationId xmlns:a16="http://schemas.microsoft.com/office/drawing/2014/main" id="{6E72C7DC-6A02-AC09-0B02-FF4F26AFC2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04452" name="Slide Number Placeholder 3">
            <a:extLst>
              <a:ext uri="{FF2B5EF4-FFF2-40B4-BE49-F238E27FC236}">
                <a16:creationId xmlns:a16="http://schemas.microsoft.com/office/drawing/2014/main" id="{3D90F851-4EDB-2222-11A4-31C59AC6F9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1ECD128-B7A6-4E50-A1D0-8E74C73ED9FE}" type="slidenum">
              <a:rPr lang="en-GB" altLang="en-US" smtClean="0"/>
              <a:pPr/>
              <a:t>20</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1EC40A5-3AE6-4285-6D45-E50BC4CE0308}"/>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7AE600CA-28D2-CAA3-8A6B-EB7D2B55853C}"/>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79E5C09C-6268-EE52-79EF-4BC1E4F556BE}"/>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5">
                <a:extLst>
                  <a:ext uri="{FF2B5EF4-FFF2-40B4-BE49-F238E27FC236}">
                    <a16:creationId xmlns:a16="http://schemas.microsoft.com/office/drawing/2014/main" id="{2241FC25-F1E5-81B8-AF6F-382CDC111C2E}"/>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4" name="Group 6">
              <a:extLst>
                <a:ext uri="{FF2B5EF4-FFF2-40B4-BE49-F238E27FC236}">
                  <a16:creationId xmlns:a16="http://schemas.microsoft.com/office/drawing/2014/main" id="{C165F4EE-66F4-E1EE-C711-C02C291E66A3}"/>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944277E1-EC31-84C7-2888-1B872674B8EB}"/>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8">
                <a:extLst>
                  <a:ext uri="{FF2B5EF4-FFF2-40B4-BE49-F238E27FC236}">
                    <a16:creationId xmlns:a16="http://schemas.microsoft.com/office/drawing/2014/main" id="{171B20E0-C0B5-6AA9-B053-C391E5E66802}"/>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5" name="Rectangle 9">
              <a:extLst>
                <a:ext uri="{FF2B5EF4-FFF2-40B4-BE49-F238E27FC236}">
                  <a16:creationId xmlns:a16="http://schemas.microsoft.com/office/drawing/2014/main" id="{7EA52753-7734-2971-6201-5A8B0614FEA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6" name="Rectangle 10">
              <a:extLst>
                <a:ext uri="{FF2B5EF4-FFF2-40B4-BE49-F238E27FC236}">
                  <a16:creationId xmlns:a16="http://schemas.microsoft.com/office/drawing/2014/main" id="{EBEC58B4-3F29-4480-7C05-02B1FBF1E347}"/>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7" name="Rectangle 11">
              <a:extLst>
                <a:ext uri="{FF2B5EF4-FFF2-40B4-BE49-F238E27FC236}">
                  <a16:creationId xmlns:a16="http://schemas.microsoft.com/office/drawing/2014/main" id="{D82F67EA-BE17-5002-5546-DC98F18DBC77}"/>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2" name="TextBox 17">
            <a:extLst>
              <a:ext uri="{FF2B5EF4-FFF2-40B4-BE49-F238E27FC236}">
                <a16:creationId xmlns:a16="http://schemas.microsoft.com/office/drawing/2014/main" id="{02840936-9336-BCC6-BC3D-8E84E5B18B83}"/>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Date Placeholder 14">
            <a:extLst>
              <a:ext uri="{FF2B5EF4-FFF2-40B4-BE49-F238E27FC236}">
                <a16:creationId xmlns:a16="http://schemas.microsoft.com/office/drawing/2014/main" id="{0B3A160C-2BD2-0D3F-83FC-256A6FE1E982}"/>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4" name="Footer Placeholder 15">
            <a:extLst>
              <a:ext uri="{FF2B5EF4-FFF2-40B4-BE49-F238E27FC236}">
                <a16:creationId xmlns:a16="http://schemas.microsoft.com/office/drawing/2014/main" id="{D4687C34-AA4A-97CA-ED89-9D919D7263D8}"/>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2982482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8E994EFD-3CBF-6F59-AA25-21D30E916F43}"/>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0B962E4-FEE3-54F0-F37D-F35532DB0EDF}"/>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C8752572-3CFD-F6AE-D8C3-6E86CE780339}"/>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9AF9E5B-EBAE-4633-A500-DD80C94CD083}" type="slidenum">
              <a:rPr lang="en-US" altLang="en-US"/>
              <a:pPr>
                <a:defRPr/>
              </a:pPr>
              <a:t>‹#›</a:t>
            </a:fld>
            <a:endParaRPr lang="en-US" altLang="en-US"/>
          </a:p>
        </p:txBody>
      </p:sp>
    </p:spTree>
    <p:extLst>
      <p:ext uri="{BB962C8B-B14F-4D97-AF65-F5344CB8AC3E}">
        <p14:creationId xmlns:p14="http://schemas.microsoft.com/office/powerpoint/2010/main" val="3536293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9A07BFD5-6C96-9C7C-4B47-61A55088936A}"/>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2D7FE363-246C-349C-7ABB-3C709A5990BD}"/>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EB93AE8-46EA-AC61-9E20-389FA1D20F4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4F78024-A046-4937-AB5E-7D7DAF5412B5}" type="slidenum">
              <a:rPr lang="en-US" altLang="en-US"/>
              <a:pPr>
                <a:defRPr/>
              </a:pPr>
              <a:t>‹#›</a:t>
            </a:fld>
            <a:endParaRPr lang="en-US" altLang="en-US"/>
          </a:p>
        </p:txBody>
      </p:sp>
    </p:spTree>
    <p:extLst>
      <p:ext uri="{BB962C8B-B14F-4D97-AF65-F5344CB8AC3E}">
        <p14:creationId xmlns:p14="http://schemas.microsoft.com/office/powerpoint/2010/main" val="4135550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0EA4443A-AD73-C57A-8ECE-910DADE70D39}"/>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42CE1F9B-2AE8-F2DA-34F2-423C92BB6D8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14D69ECA-E976-945E-214E-3A70A56B5E00}"/>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F6DF0AA-62F7-4F6A-9793-1C88EA6137D9}" type="slidenum">
              <a:rPr lang="en-US" altLang="en-US"/>
              <a:pPr>
                <a:defRPr/>
              </a:pPr>
              <a:t>‹#›</a:t>
            </a:fld>
            <a:endParaRPr lang="en-US" altLang="en-US"/>
          </a:p>
        </p:txBody>
      </p:sp>
    </p:spTree>
    <p:extLst>
      <p:ext uri="{BB962C8B-B14F-4D97-AF65-F5344CB8AC3E}">
        <p14:creationId xmlns:p14="http://schemas.microsoft.com/office/powerpoint/2010/main" val="3029621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749AF724-18F0-4D4B-8880-E014BF1413B4}"/>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231632D0-6091-1537-B080-93326261D957}"/>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35893745-2582-0FDE-763F-78CFD4C88D6B}"/>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BC42040-88A3-4F10-B948-6D37506370EF}" type="slidenum">
              <a:rPr lang="en-US" altLang="en-US"/>
              <a:pPr>
                <a:defRPr/>
              </a:pPr>
              <a:t>‹#›</a:t>
            </a:fld>
            <a:endParaRPr lang="en-US" altLang="en-US"/>
          </a:p>
        </p:txBody>
      </p:sp>
    </p:spTree>
    <p:extLst>
      <p:ext uri="{BB962C8B-B14F-4D97-AF65-F5344CB8AC3E}">
        <p14:creationId xmlns:p14="http://schemas.microsoft.com/office/powerpoint/2010/main" val="1102443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13CA811C-8340-43AA-60B0-AB21084F919A}"/>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DF33055A-C84E-8AD6-D877-2868EBDA0BCB}"/>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EDDA2AFA-F24D-FF03-A776-19268DBB2BC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6F10FE4-3388-4347-A568-533D7A6044F0}" type="slidenum">
              <a:rPr lang="en-US" altLang="en-US"/>
              <a:pPr>
                <a:defRPr/>
              </a:pPr>
              <a:t>‹#›</a:t>
            </a:fld>
            <a:endParaRPr lang="en-US" altLang="en-US"/>
          </a:p>
        </p:txBody>
      </p:sp>
    </p:spTree>
    <p:extLst>
      <p:ext uri="{BB962C8B-B14F-4D97-AF65-F5344CB8AC3E}">
        <p14:creationId xmlns:p14="http://schemas.microsoft.com/office/powerpoint/2010/main" val="937942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75E70F84-77BF-6391-65A5-31F347B81920}"/>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10590CD7-1A07-13CE-74D4-488ED5F3D2E9}"/>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1CA68709-28D7-469A-332F-2DC405C5393E}"/>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C598FA5-8452-49F3-A931-B953A184FD35}" type="slidenum">
              <a:rPr lang="en-US" altLang="en-US"/>
              <a:pPr>
                <a:defRPr/>
              </a:pPr>
              <a:t>‹#›</a:t>
            </a:fld>
            <a:endParaRPr lang="en-US" altLang="en-US"/>
          </a:p>
        </p:txBody>
      </p:sp>
    </p:spTree>
    <p:extLst>
      <p:ext uri="{BB962C8B-B14F-4D97-AF65-F5344CB8AC3E}">
        <p14:creationId xmlns:p14="http://schemas.microsoft.com/office/powerpoint/2010/main" val="3186998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ACC042EA-1DD9-12DF-D941-5B3F8AEF82B7}"/>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EC2C002F-BCDD-8ADF-6BA6-637D07B75FB9}"/>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A9DA80E3-ACCD-0FB7-DC17-4DEDE585176D}"/>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0ACBC75-E545-4AF6-93D3-6338CA30912C}" type="slidenum">
              <a:rPr lang="en-US" altLang="en-US"/>
              <a:pPr>
                <a:defRPr/>
              </a:pPr>
              <a:t>‹#›</a:t>
            </a:fld>
            <a:endParaRPr lang="en-US" altLang="en-US"/>
          </a:p>
        </p:txBody>
      </p:sp>
    </p:spTree>
    <p:extLst>
      <p:ext uri="{BB962C8B-B14F-4D97-AF65-F5344CB8AC3E}">
        <p14:creationId xmlns:p14="http://schemas.microsoft.com/office/powerpoint/2010/main" val="3353070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F2C0C210-029A-71C5-38E9-0D3FA204D054}"/>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9545D3DD-BB03-ABD5-7E10-5D7E4BEBD69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E302C5F2-5E97-51E0-6B51-094F1D49A43B}"/>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3A3D81B-44CA-4EF7-9C63-7B20F3D09034}" type="slidenum">
              <a:rPr lang="en-US" altLang="en-US"/>
              <a:pPr>
                <a:defRPr/>
              </a:pPr>
              <a:t>‹#›</a:t>
            </a:fld>
            <a:endParaRPr lang="en-US" altLang="en-US"/>
          </a:p>
        </p:txBody>
      </p:sp>
    </p:spTree>
    <p:extLst>
      <p:ext uri="{BB962C8B-B14F-4D97-AF65-F5344CB8AC3E}">
        <p14:creationId xmlns:p14="http://schemas.microsoft.com/office/powerpoint/2010/main" val="3482278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CE041A08-6E86-8EDA-0B84-76C12C03A2BA}"/>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4AEE7BC4-CE35-FD4A-BD57-A4957F7D2224}"/>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874D6B96-0E59-5A20-0EF3-50043C4AD6BD}"/>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147F4E7-D077-44EF-A1C2-A6F2354F2933}" type="slidenum">
              <a:rPr lang="en-US" altLang="en-US"/>
              <a:pPr>
                <a:defRPr/>
              </a:pPr>
              <a:t>‹#›</a:t>
            </a:fld>
            <a:endParaRPr lang="en-US" altLang="en-US"/>
          </a:p>
        </p:txBody>
      </p:sp>
    </p:spTree>
    <p:extLst>
      <p:ext uri="{BB962C8B-B14F-4D97-AF65-F5344CB8AC3E}">
        <p14:creationId xmlns:p14="http://schemas.microsoft.com/office/powerpoint/2010/main" val="2438338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2C2F51AE-B0D1-9B78-CE13-B7721D5FF99F}"/>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5D46C99-7EC1-42F0-31FB-D0825A62D905}"/>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68F2A0C-A0E6-F29E-4B5C-06441D268DB1}"/>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790E606-F086-4256-818B-3631486C6936}" type="slidenum">
              <a:rPr lang="en-US" altLang="en-US"/>
              <a:pPr>
                <a:defRPr/>
              </a:pPr>
              <a:t>‹#›</a:t>
            </a:fld>
            <a:endParaRPr lang="en-US" altLang="en-US"/>
          </a:p>
        </p:txBody>
      </p:sp>
    </p:spTree>
    <p:extLst>
      <p:ext uri="{BB962C8B-B14F-4D97-AF65-F5344CB8AC3E}">
        <p14:creationId xmlns:p14="http://schemas.microsoft.com/office/powerpoint/2010/main" val="17624923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CE42DC1-69BE-14F8-287C-87B821268334}"/>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27692126-3841-F018-9A53-7EE1779A4F27}"/>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4628ACA9-628A-7A05-62DE-87479582909B}"/>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5">
                <a:extLst>
                  <a:ext uri="{FF2B5EF4-FFF2-40B4-BE49-F238E27FC236}">
                    <a16:creationId xmlns:a16="http://schemas.microsoft.com/office/drawing/2014/main" id="{B3394B80-5598-A968-8BF6-710C96CE834A}"/>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4" name="Group 6">
              <a:extLst>
                <a:ext uri="{FF2B5EF4-FFF2-40B4-BE49-F238E27FC236}">
                  <a16:creationId xmlns:a16="http://schemas.microsoft.com/office/drawing/2014/main" id="{DFBCBEBB-C765-C5FD-CA60-FB099F77B8AA}"/>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B332282D-8E2A-EB67-DECE-51036F4B61A8}"/>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8">
                <a:extLst>
                  <a:ext uri="{FF2B5EF4-FFF2-40B4-BE49-F238E27FC236}">
                    <a16:creationId xmlns:a16="http://schemas.microsoft.com/office/drawing/2014/main" id="{402ED0ED-D2A7-3B35-5B74-6EC3701805CA}"/>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5" name="Rectangle 9">
              <a:extLst>
                <a:ext uri="{FF2B5EF4-FFF2-40B4-BE49-F238E27FC236}">
                  <a16:creationId xmlns:a16="http://schemas.microsoft.com/office/drawing/2014/main" id="{76ABD327-9332-188B-48C5-639042D0E94A}"/>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6" name="Rectangle 10">
              <a:extLst>
                <a:ext uri="{FF2B5EF4-FFF2-40B4-BE49-F238E27FC236}">
                  <a16:creationId xmlns:a16="http://schemas.microsoft.com/office/drawing/2014/main" id="{103E13FC-5D87-F760-4710-26DE2AF4F164}"/>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7" name="Rectangle 11">
              <a:extLst>
                <a:ext uri="{FF2B5EF4-FFF2-40B4-BE49-F238E27FC236}">
                  <a16:creationId xmlns:a16="http://schemas.microsoft.com/office/drawing/2014/main" id="{1B8CD7F7-FE85-8BF5-8A51-AF8B1962D4BE}"/>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8580BBF6-8B69-A41F-6CFD-EF95EF8CE19F}"/>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3" name="Rectangle 15">
            <a:extLst>
              <a:ext uri="{FF2B5EF4-FFF2-40B4-BE49-F238E27FC236}">
                <a16:creationId xmlns:a16="http://schemas.microsoft.com/office/drawing/2014/main" id="{6FD6F8DE-5CFA-5F41-25D9-0CAF7862A67E}"/>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4" name="Rectangle 16">
            <a:extLst>
              <a:ext uri="{FF2B5EF4-FFF2-40B4-BE49-F238E27FC236}">
                <a16:creationId xmlns:a16="http://schemas.microsoft.com/office/drawing/2014/main" id="{51BCCAF2-F9C5-A62E-3C53-17A3BF3A8514}"/>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4FDC42B5-45DB-4307-AAA5-359EFC322EE2}" type="slidenum">
              <a:rPr lang="en-US" altLang="en-US"/>
              <a:pPr>
                <a:defRPr/>
              </a:pPr>
              <a:t>‹#›</a:t>
            </a:fld>
            <a:endParaRPr lang="en-US" altLang="en-US"/>
          </a:p>
        </p:txBody>
      </p:sp>
    </p:spTree>
    <p:extLst>
      <p:ext uri="{BB962C8B-B14F-4D97-AF65-F5344CB8AC3E}">
        <p14:creationId xmlns:p14="http://schemas.microsoft.com/office/powerpoint/2010/main" val="3520450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1CE43FA7-853F-337F-29A1-0EEB74387E5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37C61B5-DCB9-2BEE-4F1E-64A6A870EF6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4424287A-65C6-DD66-9806-17E870B37B97}"/>
              </a:ext>
            </a:extLst>
          </p:cNvPr>
          <p:cNvSpPr>
            <a:spLocks noGrp="1" noChangeArrowheads="1"/>
          </p:cNvSpPr>
          <p:nvPr>
            <p:ph type="sldNum" sz="quarter" idx="12"/>
          </p:nvPr>
        </p:nvSpPr>
        <p:spPr>
          <a:ln/>
        </p:spPr>
        <p:txBody>
          <a:bodyPr/>
          <a:lstStyle>
            <a:lvl1pPr>
              <a:defRPr/>
            </a:lvl1pPr>
          </a:lstStyle>
          <a:p>
            <a:pPr>
              <a:defRPr/>
            </a:pPr>
            <a:fld id="{32DDFB07-4773-4D36-BF00-BAA64ECB5D0C}" type="slidenum">
              <a:rPr lang="en-US" altLang="en-US"/>
              <a:pPr>
                <a:defRPr/>
              </a:pPr>
              <a:t>‹#›</a:t>
            </a:fld>
            <a:endParaRPr lang="en-US" altLang="en-US"/>
          </a:p>
        </p:txBody>
      </p:sp>
    </p:spTree>
    <p:extLst>
      <p:ext uri="{BB962C8B-B14F-4D97-AF65-F5344CB8AC3E}">
        <p14:creationId xmlns:p14="http://schemas.microsoft.com/office/powerpoint/2010/main" val="2799816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DE2E2290-A6A2-8B80-49D3-5B8E139394C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D487FAB-1188-48B8-770E-85FB0EAA1B6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25600F5-82A9-F29F-2CE5-09421B15FF6D}"/>
              </a:ext>
            </a:extLst>
          </p:cNvPr>
          <p:cNvSpPr>
            <a:spLocks noGrp="1" noChangeArrowheads="1"/>
          </p:cNvSpPr>
          <p:nvPr>
            <p:ph type="sldNum" sz="quarter" idx="12"/>
          </p:nvPr>
        </p:nvSpPr>
        <p:spPr>
          <a:ln/>
        </p:spPr>
        <p:txBody>
          <a:bodyPr/>
          <a:lstStyle>
            <a:lvl1pPr>
              <a:defRPr/>
            </a:lvl1pPr>
          </a:lstStyle>
          <a:p>
            <a:pPr>
              <a:defRPr/>
            </a:pPr>
            <a:fld id="{513A69B2-8A3D-4101-AAC8-5F336C33191A}" type="slidenum">
              <a:rPr lang="en-US" altLang="en-US"/>
              <a:pPr>
                <a:defRPr/>
              </a:pPr>
              <a:t>‹#›</a:t>
            </a:fld>
            <a:endParaRPr lang="en-US" altLang="en-US"/>
          </a:p>
        </p:txBody>
      </p:sp>
    </p:spTree>
    <p:extLst>
      <p:ext uri="{BB962C8B-B14F-4D97-AF65-F5344CB8AC3E}">
        <p14:creationId xmlns:p14="http://schemas.microsoft.com/office/powerpoint/2010/main" val="50892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06C77D42-6FDA-8BF5-CD36-4ED31C45865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AA35256-5E56-2F3B-CFB7-45E829DA4C4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CCA986B8-44FF-C560-E2DE-34EE2F96799F}"/>
              </a:ext>
            </a:extLst>
          </p:cNvPr>
          <p:cNvSpPr>
            <a:spLocks noGrp="1" noChangeArrowheads="1"/>
          </p:cNvSpPr>
          <p:nvPr>
            <p:ph type="sldNum" sz="quarter" idx="12"/>
          </p:nvPr>
        </p:nvSpPr>
        <p:spPr>
          <a:ln/>
        </p:spPr>
        <p:txBody>
          <a:bodyPr/>
          <a:lstStyle>
            <a:lvl1pPr>
              <a:defRPr/>
            </a:lvl1pPr>
          </a:lstStyle>
          <a:p>
            <a:pPr>
              <a:defRPr/>
            </a:pPr>
            <a:fld id="{6A401AE8-06EA-4B08-8082-6A9B490ABE95}" type="slidenum">
              <a:rPr lang="en-US" altLang="en-US"/>
              <a:pPr>
                <a:defRPr/>
              </a:pPr>
              <a:t>‹#›</a:t>
            </a:fld>
            <a:endParaRPr lang="en-US" altLang="en-US"/>
          </a:p>
        </p:txBody>
      </p:sp>
    </p:spTree>
    <p:extLst>
      <p:ext uri="{BB962C8B-B14F-4D97-AF65-F5344CB8AC3E}">
        <p14:creationId xmlns:p14="http://schemas.microsoft.com/office/powerpoint/2010/main" val="4873114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0A41FC96-36CC-88BF-F62E-E762FAB90020}"/>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1D7C7AA9-0493-55A3-E9B5-590D67B84B8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91715C7C-8454-1A06-28F9-637F3FD0BB8A}"/>
              </a:ext>
            </a:extLst>
          </p:cNvPr>
          <p:cNvSpPr>
            <a:spLocks noGrp="1" noChangeArrowheads="1"/>
          </p:cNvSpPr>
          <p:nvPr>
            <p:ph type="sldNum" sz="quarter" idx="12"/>
          </p:nvPr>
        </p:nvSpPr>
        <p:spPr>
          <a:ln/>
        </p:spPr>
        <p:txBody>
          <a:bodyPr/>
          <a:lstStyle>
            <a:lvl1pPr>
              <a:defRPr/>
            </a:lvl1pPr>
          </a:lstStyle>
          <a:p>
            <a:pPr>
              <a:defRPr/>
            </a:pPr>
            <a:fld id="{7C8882D2-30C7-4B14-86AF-F5B34ABCE25E}" type="slidenum">
              <a:rPr lang="en-US" altLang="en-US"/>
              <a:pPr>
                <a:defRPr/>
              </a:pPr>
              <a:t>‹#›</a:t>
            </a:fld>
            <a:endParaRPr lang="en-US" altLang="en-US"/>
          </a:p>
        </p:txBody>
      </p:sp>
    </p:spTree>
    <p:extLst>
      <p:ext uri="{BB962C8B-B14F-4D97-AF65-F5344CB8AC3E}">
        <p14:creationId xmlns:p14="http://schemas.microsoft.com/office/powerpoint/2010/main" val="11942319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21CA0873-C9A3-F068-2EC8-56369B2B11A3}"/>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E70ABF50-C494-3D73-69A9-69AB3B89657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50E7CE16-9781-C79A-CDD8-A71C3C427804}"/>
              </a:ext>
            </a:extLst>
          </p:cNvPr>
          <p:cNvSpPr>
            <a:spLocks noGrp="1" noChangeArrowheads="1"/>
          </p:cNvSpPr>
          <p:nvPr>
            <p:ph type="sldNum" sz="quarter" idx="12"/>
          </p:nvPr>
        </p:nvSpPr>
        <p:spPr>
          <a:ln/>
        </p:spPr>
        <p:txBody>
          <a:bodyPr/>
          <a:lstStyle>
            <a:lvl1pPr>
              <a:defRPr/>
            </a:lvl1pPr>
          </a:lstStyle>
          <a:p>
            <a:pPr>
              <a:defRPr/>
            </a:pPr>
            <a:fld id="{2727EB53-C180-48F6-A210-0E3E9929EC6C}" type="slidenum">
              <a:rPr lang="en-US" altLang="en-US"/>
              <a:pPr>
                <a:defRPr/>
              </a:pPr>
              <a:t>‹#›</a:t>
            </a:fld>
            <a:endParaRPr lang="en-US" altLang="en-US"/>
          </a:p>
        </p:txBody>
      </p:sp>
    </p:spTree>
    <p:extLst>
      <p:ext uri="{BB962C8B-B14F-4D97-AF65-F5344CB8AC3E}">
        <p14:creationId xmlns:p14="http://schemas.microsoft.com/office/powerpoint/2010/main" val="23520874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1A72E5AD-1CF1-7C29-8E02-9A7C93D7E8AF}"/>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740B7C1D-3885-82B1-E2DF-CB6842EC099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8518A0F2-9977-6602-085C-E6A1A83D0231}"/>
              </a:ext>
            </a:extLst>
          </p:cNvPr>
          <p:cNvSpPr>
            <a:spLocks noGrp="1" noChangeArrowheads="1"/>
          </p:cNvSpPr>
          <p:nvPr>
            <p:ph type="sldNum" sz="quarter" idx="12"/>
          </p:nvPr>
        </p:nvSpPr>
        <p:spPr>
          <a:ln/>
        </p:spPr>
        <p:txBody>
          <a:bodyPr/>
          <a:lstStyle>
            <a:lvl1pPr>
              <a:defRPr/>
            </a:lvl1pPr>
          </a:lstStyle>
          <a:p>
            <a:pPr>
              <a:defRPr/>
            </a:pPr>
            <a:fld id="{8FA7C5E0-D798-43C0-A3DE-72951B9DAE6A}" type="slidenum">
              <a:rPr lang="en-US" altLang="en-US"/>
              <a:pPr>
                <a:defRPr/>
              </a:pPr>
              <a:t>‹#›</a:t>
            </a:fld>
            <a:endParaRPr lang="en-US" altLang="en-US"/>
          </a:p>
        </p:txBody>
      </p:sp>
    </p:spTree>
    <p:extLst>
      <p:ext uri="{BB962C8B-B14F-4D97-AF65-F5344CB8AC3E}">
        <p14:creationId xmlns:p14="http://schemas.microsoft.com/office/powerpoint/2010/main" val="22295206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F2F29989-3E4A-30F1-F851-FED0A7D800A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68096EE6-390D-0579-44BF-DED21360DB5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DD41F733-ACE3-916D-828F-ACCFE3CD2C2B}"/>
              </a:ext>
            </a:extLst>
          </p:cNvPr>
          <p:cNvSpPr>
            <a:spLocks noGrp="1" noChangeArrowheads="1"/>
          </p:cNvSpPr>
          <p:nvPr>
            <p:ph type="sldNum" sz="quarter" idx="12"/>
          </p:nvPr>
        </p:nvSpPr>
        <p:spPr>
          <a:ln/>
        </p:spPr>
        <p:txBody>
          <a:bodyPr/>
          <a:lstStyle>
            <a:lvl1pPr>
              <a:defRPr/>
            </a:lvl1pPr>
          </a:lstStyle>
          <a:p>
            <a:pPr>
              <a:defRPr/>
            </a:pPr>
            <a:fld id="{744342D6-818D-468A-ABE5-E391EA8700DC}" type="slidenum">
              <a:rPr lang="en-US" altLang="en-US"/>
              <a:pPr>
                <a:defRPr/>
              </a:pPr>
              <a:t>‹#›</a:t>
            </a:fld>
            <a:endParaRPr lang="en-US" altLang="en-US"/>
          </a:p>
        </p:txBody>
      </p:sp>
    </p:spTree>
    <p:extLst>
      <p:ext uri="{BB962C8B-B14F-4D97-AF65-F5344CB8AC3E}">
        <p14:creationId xmlns:p14="http://schemas.microsoft.com/office/powerpoint/2010/main" val="5824643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C7CAFA60-A922-7DD2-5394-6CBCCF9CA98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3DB15287-0AD1-B5FA-2AB6-C09DDB23152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3219131-96F0-F715-AA5F-CAD1E2DE981D}"/>
              </a:ext>
            </a:extLst>
          </p:cNvPr>
          <p:cNvSpPr>
            <a:spLocks noGrp="1" noChangeArrowheads="1"/>
          </p:cNvSpPr>
          <p:nvPr>
            <p:ph type="sldNum" sz="quarter" idx="12"/>
          </p:nvPr>
        </p:nvSpPr>
        <p:spPr>
          <a:ln/>
        </p:spPr>
        <p:txBody>
          <a:bodyPr/>
          <a:lstStyle>
            <a:lvl1pPr>
              <a:defRPr/>
            </a:lvl1pPr>
          </a:lstStyle>
          <a:p>
            <a:pPr>
              <a:defRPr/>
            </a:pPr>
            <a:fld id="{314DEE63-CB19-40F3-ACC0-5AE230CA1F63}" type="slidenum">
              <a:rPr lang="en-US" altLang="en-US"/>
              <a:pPr>
                <a:defRPr/>
              </a:pPr>
              <a:t>‹#›</a:t>
            </a:fld>
            <a:endParaRPr lang="en-US" altLang="en-US"/>
          </a:p>
        </p:txBody>
      </p:sp>
    </p:spTree>
    <p:extLst>
      <p:ext uri="{BB962C8B-B14F-4D97-AF65-F5344CB8AC3E}">
        <p14:creationId xmlns:p14="http://schemas.microsoft.com/office/powerpoint/2010/main" val="30688881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F7E215BB-8CFA-AD86-650F-5F22DA8F68B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4681245B-7B15-B061-9EEF-6DFCCBBC9F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67148D28-AE37-0D24-2A62-77BB1E7F24F1}"/>
              </a:ext>
            </a:extLst>
          </p:cNvPr>
          <p:cNvSpPr>
            <a:spLocks noGrp="1" noChangeArrowheads="1"/>
          </p:cNvSpPr>
          <p:nvPr>
            <p:ph type="sldNum" sz="quarter" idx="12"/>
          </p:nvPr>
        </p:nvSpPr>
        <p:spPr>
          <a:ln/>
        </p:spPr>
        <p:txBody>
          <a:bodyPr/>
          <a:lstStyle>
            <a:lvl1pPr>
              <a:defRPr/>
            </a:lvl1pPr>
          </a:lstStyle>
          <a:p>
            <a:pPr>
              <a:defRPr/>
            </a:pPr>
            <a:fld id="{1072113B-5A0E-4EAD-AEB0-6B45535FAD20}" type="slidenum">
              <a:rPr lang="en-US" altLang="en-US"/>
              <a:pPr>
                <a:defRPr/>
              </a:pPr>
              <a:t>‹#›</a:t>
            </a:fld>
            <a:endParaRPr lang="en-US" altLang="en-US"/>
          </a:p>
        </p:txBody>
      </p:sp>
    </p:spTree>
    <p:extLst>
      <p:ext uri="{BB962C8B-B14F-4D97-AF65-F5344CB8AC3E}">
        <p14:creationId xmlns:p14="http://schemas.microsoft.com/office/powerpoint/2010/main" val="16058360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3BFE9BA5-D97B-4EC4-3C7C-2A049BF5A7D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9441C10A-F0EA-36D0-E3E1-A92F0CADBF1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73506DDD-D9B4-3FD9-BA05-87DBAE3DB528}"/>
              </a:ext>
            </a:extLst>
          </p:cNvPr>
          <p:cNvSpPr>
            <a:spLocks noGrp="1" noChangeArrowheads="1"/>
          </p:cNvSpPr>
          <p:nvPr>
            <p:ph type="sldNum" sz="quarter" idx="12"/>
          </p:nvPr>
        </p:nvSpPr>
        <p:spPr>
          <a:ln/>
        </p:spPr>
        <p:txBody>
          <a:bodyPr/>
          <a:lstStyle>
            <a:lvl1pPr>
              <a:defRPr/>
            </a:lvl1pPr>
          </a:lstStyle>
          <a:p>
            <a:pPr>
              <a:defRPr/>
            </a:pPr>
            <a:fld id="{88CD2E6E-A6A1-474C-95CF-468072A0A072}" type="slidenum">
              <a:rPr lang="en-US" altLang="en-US"/>
              <a:pPr>
                <a:defRPr/>
              </a:pPr>
              <a:t>‹#›</a:t>
            </a:fld>
            <a:endParaRPr lang="en-US" altLang="en-US"/>
          </a:p>
        </p:txBody>
      </p:sp>
    </p:spTree>
    <p:extLst>
      <p:ext uri="{BB962C8B-B14F-4D97-AF65-F5344CB8AC3E}">
        <p14:creationId xmlns:p14="http://schemas.microsoft.com/office/powerpoint/2010/main" val="471527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0B6A1DE-C9A2-3E31-E6AC-081028CF55BC}"/>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BA9D7096-C866-DC75-36C0-4F1A0CD70A8B}"/>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A2F49553-056F-BDFA-66D4-8CBD7CA5A1F6}"/>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4F443EA0-57DE-0A68-8CEB-0E005C42403B}"/>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846260A7-6DBE-C95A-C617-8F878C890180}"/>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EBA1B7CA-3025-EEE6-476F-C7274F4290F0}"/>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F12CF89B-685F-E090-ED4E-FA4B20932311}"/>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52031356-2456-1EE2-8C83-9A197080E700}"/>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20540D04-D899-7E99-9094-0BB478F66B16}"/>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66A9C9DD-8A8A-6C5B-C9A2-D284BB4F13A2}"/>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732098BB-589C-D82A-2D9B-C9D74075E9BD}"/>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F8883258-42D1-AE14-75F8-80C7054B8652}"/>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4728" r:id="rId1"/>
    <p:sldLayoutId id="2147484729" r:id="rId2"/>
    <p:sldLayoutId id="2147484730" r:id="rId3"/>
    <p:sldLayoutId id="2147484731" r:id="rId4"/>
    <p:sldLayoutId id="2147484732" r:id="rId5"/>
    <p:sldLayoutId id="2147484733" r:id="rId6"/>
    <p:sldLayoutId id="2147484734" r:id="rId7"/>
    <p:sldLayoutId id="2147484735" r:id="rId8"/>
    <p:sldLayoutId id="2147484736" r:id="rId9"/>
    <p:sldLayoutId id="2147484737" r:id="rId10"/>
    <p:sldLayoutId id="2147484738"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E81D759-34DC-D3FC-556A-9B5A761F3502}"/>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E251DEA6-738F-F0F4-00B5-F096460A9F72}"/>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DC65EF38-9F38-9C16-EEE6-2EF266241E75}"/>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1369722E-5F1A-C100-69B9-096FF71E9DEF}"/>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ECB3A700-0AB4-7794-A990-345119228EAC}"/>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A89799C1-B367-C7EE-15BE-9483CEC6E240}"/>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032E92CA-0E94-DFC9-8B4F-B24E799FB421}"/>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A517BE5F-97A4-4346-2F91-646D4A6F59BC}"/>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1F60F9F4-C446-FCE4-B87B-00253F509481}"/>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78CE9DA5-E0A4-2779-860B-E24A5A91E376}"/>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F0140D93-3F4C-E161-36F2-A8866352586F}"/>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7606AA84-22EB-3175-550C-4DCED5EBEC99}"/>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F5EE9EB0-BAF2-4F60-9E32-C6A492214C9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739" r:id="rId1"/>
    <p:sldLayoutId id="2147484718" r:id="rId2"/>
    <p:sldLayoutId id="2147484719" r:id="rId3"/>
    <p:sldLayoutId id="2147484720" r:id="rId4"/>
    <p:sldLayoutId id="2147484721" r:id="rId5"/>
    <p:sldLayoutId id="2147484722" r:id="rId6"/>
    <p:sldLayoutId id="2147484723" r:id="rId7"/>
    <p:sldLayoutId id="2147484724" r:id="rId8"/>
    <p:sldLayoutId id="2147484725" r:id="rId9"/>
    <p:sldLayoutId id="2147484726" r:id="rId10"/>
    <p:sldLayoutId id="2147484727"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11AF293-AD10-4DA4-76CE-6A23739C0BAF}"/>
              </a:ext>
            </a:extLst>
          </p:cNvPr>
          <p:cNvSpPr>
            <a:spLocks noGrp="1" noChangeArrowheads="1"/>
          </p:cNvSpPr>
          <p:nvPr>
            <p:ph type="ctrTitle"/>
          </p:nvPr>
        </p:nvSpPr>
        <p:spPr>
          <a:xfrm>
            <a:off x="990600" y="1828800"/>
            <a:ext cx="7542213" cy="1143000"/>
          </a:xfrm>
        </p:spPr>
        <p:txBody>
          <a:bodyPr/>
          <a:lstStyle/>
          <a:p>
            <a:r>
              <a:rPr lang="en-GB" altLang="en-US" sz="2800" b="1">
                <a:solidFill>
                  <a:srgbClr val="0070C0"/>
                </a:solidFill>
              </a:rPr>
              <a:t>Occupational Specialist Component Content: Digital Production, Design  and Development</a:t>
            </a:r>
          </a:p>
        </p:txBody>
      </p:sp>
      <p:sp>
        <p:nvSpPr>
          <p:cNvPr id="15363" name="TextBox 4">
            <a:extLst>
              <a:ext uri="{FF2B5EF4-FFF2-40B4-BE49-F238E27FC236}">
                <a16:creationId xmlns:a16="http://schemas.microsoft.com/office/drawing/2014/main" id="{BFCAC261-1371-68ED-4A3A-85E18DBD77E9}"/>
              </a:ext>
            </a:extLst>
          </p:cNvPr>
          <p:cNvSpPr txBox="1">
            <a:spLocks noChangeArrowheads="1"/>
          </p:cNvSpPr>
          <p:nvPr/>
        </p:nvSpPr>
        <p:spPr bwMode="auto">
          <a:xfrm>
            <a:off x="323850" y="3716338"/>
            <a:ext cx="8613775" cy="2952750"/>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defRPr/>
            </a:pPr>
            <a:r>
              <a:rPr lang="en-GB" sz="140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pPr>
              <a:defRPr/>
            </a:pPr>
            <a:r>
              <a:rPr lang="en-GB" sz="140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pPr>
              <a:defRPr/>
            </a:pPr>
            <a:r>
              <a:rPr lang="en-GB" sz="140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A5C75CA4-94E6-0F9B-EAE6-F8E42B018FF4}"/>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18435" name="Content Placeholder 2">
            <a:extLst>
              <a:ext uri="{FF2B5EF4-FFF2-40B4-BE49-F238E27FC236}">
                <a16:creationId xmlns:a16="http://schemas.microsoft.com/office/drawing/2014/main" id="{633EADBF-2670-508F-3F2C-DC44D9CFC9BA}"/>
              </a:ext>
            </a:extLst>
          </p:cNvPr>
          <p:cNvSpPr>
            <a:spLocks noGrp="1" noChangeArrowheads="1"/>
          </p:cNvSpPr>
          <p:nvPr>
            <p:ph idx="1"/>
          </p:nvPr>
        </p:nvSpPr>
        <p:spPr>
          <a:xfrm>
            <a:off x="323850" y="1844675"/>
            <a:ext cx="8585200" cy="4338638"/>
          </a:xfrm>
        </p:spPr>
        <p:txBody>
          <a:bodyPr/>
          <a:lstStyle/>
          <a:p>
            <a:r>
              <a:rPr lang="en-GB" altLang="en-US" sz="1800" b="1"/>
              <a:t>1.6 </a:t>
            </a:r>
            <a:r>
              <a:rPr lang="en-GB" altLang="en-US" sz="1800"/>
              <a:t>Understand how to identify and be able to address personal training needs that can boost job performance during the software development process.</a:t>
            </a:r>
          </a:p>
          <a:p>
            <a:endParaRPr lang="en-GB" altLang="en-US" sz="1800"/>
          </a:p>
          <a:p>
            <a:pPr lvl="1"/>
            <a:r>
              <a:rPr lang="en-GB" altLang="en-US" sz="1600"/>
              <a:t>Considerations to ensure the software developer is able to complete the required solution:</a:t>
            </a:r>
          </a:p>
          <a:p>
            <a:pPr lvl="2"/>
            <a:r>
              <a:rPr lang="en-GB" altLang="en-US" sz="1600"/>
              <a:t>identify what further knowledge is needed.</a:t>
            </a:r>
          </a:p>
          <a:p>
            <a:pPr lvl="2"/>
            <a:r>
              <a:rPr lang="en-GB" altLang="en-US" sz="1600"/>
              <a:t>identify what new skills are needed.</a:t>
            </a:r>
          </a:p>
          <a:p>
            <a:pPr lvl="2"/>
            <a:r>
              <a:rPr lang="en-GB" altLang="en-US" sz="1600"/>
              <a:t>determine if software developer has the ability needed to complete the required solution.</a:t>
            </a:r>
          </a:p>
          <a:p>
            <a:pPr lvl="1"/>
            <a:r>
              <a:rPr lang="en-GB" altLang="en-US" sz="1600"/>
              <a:t>Use different methods to address personal training needs required to enable completion of project:</a:t>
            </a:r>
          </a:p>
          <a:p>
            <a:pPr lvl="2"/>
            <a:r>
              <a:rPr lang="en-GB" altLang="en-US" sz="1600"/>
              <a:t>undertake coaching from a professional or peer.</a:t>
            </a:r>
          </a:p>
          <a:p>
            <a:pPr lvl="2"/>
            <a:r>
              <a:rPr lang="en-GB" altLang="en-US" sz="1600"/>
              <a:t>learn new skills on the job.</a:t>
            </a:r>
          </a:p>
          <a:p>
            <a:pPr lvl="2"/>
            <a:r>
              <a:rPr lang="en-GB" altLang="en-US" sz="1600"/>
              <a:t>carry out self-study.</a:t>
            </a:r>
          </a:p>
          <a:p>
            <a:pPr lvl="2"/>
            <a:r>
              <a:rPr lang="en-GB" altLang="en-US" sz="1600"/>
              <a:t>use online professional forums.</a:t>
            </a:r>
          </a:p>
          <a:p>
            <a:pPr lvl="2"/>
            <a:r>
              <a:rPr lang="en-GB" altLang="en-US" sz="1600"/>
              <a:t>sign up to internet workshops for additional training.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99BC8ADA-F726-F42B-6059-8786A8C483EF}"/>
              </a:ext>
            </a:extLst>
          </p:cNvPr>
          <p:cNvSpPr>
            <a:spLocks noGrp="1" noChangeArrowheads="1"/>
          </p:cNvSpPr>
          <p:nvPr>
            <p:ph type="title"/>
          </p:nvPr>
        </p:nvSpPr>
        <p:spPr>
          <a:xfrm>
            <a:off x="1403350" y="404813"/>
            <a:ext cx="7505700" cy="939800"/>
          </a:xfrm>
        </p:spPr>
        <p:txBody>
          <a:bodyPr/>
          <a:lstStyle/>
          <a:p>
            <a:pPr eaLnBrk="1" hangingPunct="1"/>
            <a:r>
              <a:rPr lang="en-GB" altLang="en-US" sz="3600" b="1">
                <a:solidFill>
                  <a:srgbClr val="0070C0"/>
                </a:solidFill>
              </a:rPr>
              <a:t>Learning Objectives</a:t>
            </a:r>
          </a:p>
        </p:txBody>
      </p:sp>
      <p:sp>
        <p:nvSpPr>
          <p:cNvPr id="5" name="Rectangle 3">
            <a:extLst>
              <a:ext uri="{FF2B5EF4-FFF2-40B4-BE49-F238E27FC236}">
                <a16:creationId xmlns:a16="http://schemas.microsoft.com/office/drawing/2014/main" id="{CD690FC0-A345-969E-9856-6055AAA59E86}"/>
              </a:ext>
            </a:extLst>
          </p:cNvPr>
          <p:cNvSpPr txBox="1">
            <a:spLocks noChangeArrowheads="1"/>
          </p:cNvSpPr>
          <p:nvPr/>
        </p:nvSpPr>
        <p:spPr bwMode="auto">
          <a:xfrm>
            <a:off x="971550" y="2133600"/>
            <a:ext cx="7772400" cy="237648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eaLnBrk="1" hangingPunct="1">
              <a:defRPr/>
            </a:pPr>
            <a:r>
              <a:rPr lang="en-GB" sz="2000" b="1" kern="0" dirty="0">
                <a:latin typeface="Arial" pitchFamily="34" charset="0"/>
              </a:rPr>
              <a:t>Aims:</a:t>
            </a:r>
          </a:p>
          <a:p>
            <a:pPr lvl="1" eaLnBrk="1" hangingPunct="1">
              <a:defRPr/>
            </a:pPr>
            <a:r>
              <a:rPr lang="en-GB" sz="2000" kern="0" dirty="0"/>
              <a:t>To introduce evaluation of personal development plans</a:t>
            </a:r>
          </a:p>
          <a:p>
            <a:pPr marL="457200" lvl="1" indent="0" eaLnBrk="1" hangingPunct="1">
              <a:buFont typeface="Wingdings" pitchFamily="2" charset="2"/>
              <a:buNone/>
              <a:defRPr/>
            </a:pPr>
            <a:endParaRPr lang="en-GB" sz="2000" kern="0" dirty="0">
              <a:latin typeface="Arial" pitchFamily="34" charset="0"/>
            </a:endParaRPr>
          </a:p>
          <a:p>
            <a:pPr eaLnBrk="1" hangingPunct="1">
              <a:defRPr/>
            </a:pPr>
            <a:r>
              <a:rPr lang="en-GB" sz="2000" b="1" kern="0" dirty="0">
                <a:latin typeface="Arial" pitchFamily="34" charset="0"/>
              </a:rPr>
              <a:t>Objectives</a:t>
            </a:r>
            <a:r>
              <a:rPr lang="en-US" sz="2000" b="1" kern="0" dirty="0">
                <a:latin typeface="Arial" pitchFamily="34" charset="0"/>
              </a:rPr>
              <a:t>:</a:t>
            </a:r>
          </a:p>
          <a:p>
            <a:pPr lvl="1" eaLnBrk="1" hangingPunct="1">
              <a:defRPr/>
            </a:pPr>
            <a:r>
              <a:rPr lang="en-US" sz="2000" kern="0" dirty="0">
                <a:latin typeface="Arial" pitchFamily="34" charset="0"/>
              </a:rPr>
              <a:t>To be able to define how personal development plans are reviewed both from an employer’s and personal perspective.</a:t>
            </a:r>
            <a:endParaRPr lang="en-US" sz="2000" b="1" kern="0" dirty="0">
              <a:latin typeface="Arial" pitchFamily="34" charset="0"/>
            </a:endParaRPr>
          </a:p>
          <a:p>
            <a:pPr lvl="1" eaLnBrk="1" hangingPunct="1">
              <a:defRPr/>
            </a:pPr>
            <a:endParaRPr lang="en-GB" sz="2000" kern="0" dirty="0"/>
          </a:p>
          <a:p>
            <a:pPr lvl="1" eaLnBrk="1" hangingPunct="1">
              <a:defRPr/>
            </a:pPr>
            <a:endParaRPr lang="en-GB" sz="2000" kern="0" dirty="0"/>
          </a:p>
          <a:p>
            <a:pPr marL="457200" lvl="1" indent="0" eaLnBrk="1" hangingPunct="1">
              <a:buFont typeface="Wingdings" pitchFamily="2" charset="2"/>
              <a:buNone/>
              <a:defRPr/>
            </a:pPr>
            <a:endParaRPr lang="en-GB" sz="2000" kern="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70B93E4C-63D9-A379-1072-00B75C037379}"/>
              </a:ext>
            </a:extLst>
          </p:cNvPr>
          <p:cNvSpPr>
            <a:spLocks noGrp="1" noChangeArrowheads="1"/>
          </p:cNvSpPr>
          <p:nvPr>
            <p:ph type="title"/>
          </p:nvPr>
        </p:nvSpPr>
        <p:spPr/>
        <p:txBody>
          <a:bodyPr/>
          <a:lstStyle/>
          <a:p>
            <a:r>
              <a:rPr lang="en-GB" altLang="en-US" sz="2800" b="1">
                <a:solidFill>
                  <a:srgbClr val="0070C0"/>
                </a:solidFill>
              </a:rPr>
              <a:t>Continuing Professional Development</a:t>
            </a:r>
          </a:p>
        </p:txBody>
      </p:sp>
      <p:sp>
        <p:nvSpPr>
          <p:cNvPr id="3" name="Content Placeholder 2">
            <a:extLst>
              <a:ext uri="{FF2B5EF4-FFF2-40B4-BE49-F238E27FC236}">
                <a16:creationId xmlns:a16="http://schemas.microsoft.com/office/drawing/2014/main" id="{01EF9E7D-5313-8E64-DD8F-056A7C6D007E}"/>
              </a:ext>
            </a:extLst>
          </p:cNvPr>
          <p:cNvSpPr>
            <a:spLocks noGrp="1"/>
          </p:cNvSpPr>
          <p:nvPr>
            <p:ph idx="1"/>
          </p:nvPr>
        </p:nvSpPr>
        <p:spPr>
          <a:xfrm>
            <a:off x="468313" y="1949450"/>
            <a:ext cx="4535487" cy="3711575"/>
          </a:xfrm>
        </p:spPr>
        <p:txBody>
          <a:bodyPr/>
          <a:lstStyle/>
          <a:p>
            <a:pPr>
              <a:defRPr/>
            </a:pPr>
            <a:r>
              <a:rPr lang="en-US" sz="1600" kern="1200" dirty="0">
                <a:latin typeface="Arial" pitchFamily="34" charset="0"/>
              </a:rPr>
              <a:t>Professional development is about CHANGE. </a:t>
            </a:r>
          </a:p>
          <a:p>
            <a:pPr>
              <a:defRPr/>
            </a:pPr>
            <a:endParaRPr lang="en-US" sz="1600" kern="1200" dirty="0">
              <a:latin typeface="Arial" pitchFamily="34" charset="0"/>
            </a:endParaRPr>
          </a:p>
          <a:p>
            <a:pPr>
              <a:defRPr/>
            </a:pPr>
            <a:r>
              <a:rPr lang="en-US" sz="1600" kern="1200" dirty="0">
                <a:latin typeface="Arial" pitchFamily="34" charset="0"/>
              </a:rPr>
              <a:t>The purpose of professional development is to improve learner outcomes by changing instructional behavior to achieve a pre-determined goal(s).</a:t>
            </a:r>
          </a:p>
          <a:p>
            <a:pPr>
              <a:defRPr/>
            </a:pPr>
            <a:endParaRPr lang="en-US" sz="1600" kern="1200" dirty="0">
              <a:latin typeface="Arial" pitchFamily="34" charset="0"/>
            </a:endParaRPr>
          </a:p>
          <a:p>
            <a:pPr>
              <a:defRPr/>
            </a:pPr>
            <a:r>
              <a:rPr lang="en-US" sz="1600" kern="1200" dirty="0">
                <a:latin typeface="Arial" pitchFamily="34" charset="0"/>
              </a:rPr>
              <a:t>While learning about such innovations may be relatively easy, applying them in a consistent and insightful manner is another matter</a:t>
            </a:r>
          </a:p>
          <a:p>
            <a:pPr>
              <a:defRPr/>
            </a:pPr>
            <a:endParaRPr lang="en-GB" sz="1600" dirty="0"/>
          </a:p>
        </p:txBody>
      </p:sp>
      <p:sp>
        <p:nvSpPr>
          <p:cNvPr id="4" name="Content Placeholder 2">
            <a:extLst>
              <a:ext uri="{FF2B5EF4-FFF2-40B4-BE49-F238E27FC236}">
                <a16:creationId xmlns:a16="http://schemas.microsoft.com/office/drawing/2014/main" id="{A9B7A87E-6213-0B7A-0B04-43F3FDD68EDC}"/>
              </a:ext>
            </a:extLst>
          </p:cNvPr>
          <p:cNvSpPr txBox="1">
            <a:spLocks/>
          </p:cNvSpPr>
          <p:nvPr/>
        </p:nvSpPr>
        <p:spPr bwMode="auto">
          <a:xfrm>
            <a:off x="468313" y="5751513"/>
            <a:ext cx="8440737" cy="7207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dirty="0">
                <a:latin typeface="Arial" pitchFamily="34" charset="0"/>
              </a:rPr>
              <a:t>As </a:t>
            </a:r>
            <a:r>
              <a:rPr lang="en-US" sz="1600" dirty="0" err="1">
                <a:latin typeface="Arial" pitchFamily="34" charset="0"/>
              </a:rPr>
              <a:t>Guskey</a:t>
            </a:r>
            <a:r>
              <a:rPr lang="en-US" sz="1600" dirty="0">
                <a:latin typeface="Arial" pitchFamily="34" charset="0"/>
              </a:rPr>
              <a:t> (1986) notes, practitioners appear to be most motivated to change as they observe learner success and satisfaction and this cannot occur immediately. </a:t>
            </a:r>
          </a:p>
          <a:p>
            <a:pPr>
              <a:defRPr/>
            </a:pPr>
            <a:endParaRPr lang="en-GB" sz="1600" kern="0" dirty="0"/>
          </a:p>
        </p:txBody>
      </p:sp>
      <p:pic>
        <p:nvPicPr>
          <p:cNvPr id="72709" name="Picture 5" descr="A close up of a logo&#10;&#10;Description automatically generated">
            <a:extLst>
              <a:ext uri="{FF2B5EF4-FFF2-40B4-BE49-F238E27FC236}">
                <a16:creationId xmlns:a16="http://schemas.microsoft.com/office/drawing/2014/main" id="{6C6D80A5-3217-E762-5EC6-3158B7B3B2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0" y="2189163"/>
            <a:ext cx="3765550" cy="282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4FCF567B-EA98-53F2-F1D3-1A2E1C8B517E}"/>
              </a:ext>
            </a:extLst>
          </p:cNvPr>
          <p:cNvSpPr>
            <a:spLocks noGrp="1" noChangeArrowheads="1"/>
          </p:cNvSpPr>
          <p:nvPr>
            <p:ph type="title"/>
          </p:nvPr>
        </p:nvSpPr>
        <p:spPr/>
        <p:txBody>
          <a:bodyPr/>
          <a:lstStyle/>
          <a:p>
            <a:r>
              <a:rPr lang="en-GB" altLang="en-US" sz="2800" b="1">
                <a:solidFill>
                  <a:srgbClr val="0070C0"/>
                </a:solidFill>
              </a:rPr>
              <a:t>Continuing Professional Development</a:t>
            </a:r>
            <a:endParaRPr lang="en-GB" altLang="en-US" sz="2800">
              <a:solidFill>
                <a:srgbClr val="0070C0"/>
              </a:solidFill>
            </a:endParaRPr>
          </a:p>
        </p:txBody>
      </p:sp>
      <p:sp>
        <p:nvSpPr>
          <p:cNvPr id="3" name="Content Placeholder 2">
            <a:extLst>
              <a:ext uri="{FF2B5EF4-FFF2-40B4-BE49-F238E27FC236}">
                <a16:creationId xmlns:a16="http://schemas.microsoft.com/office/drawing/2014/main" id="{556EA731-D63E-4AEA-A3A0-9D576AF21C45}"/>
              </a:ext>
            </a:extLst>
          </p:cNvPr>
          <p:cNvSpPr>
            <a:spLocks noGrp="1"/>
          </p:cNvSpPr>
          <p:nvPr>
            <p:ph idx="1"/>
          </p:nvPr>
        </p:nvSpPr>
        <p:spPr>
          <a:xfrm>
            <a:off x="685800" y="1916113"/>
            <a:ext cx="4102100" cy="3529012"/>
          </a:xfrm>
        </p:spPr>
        <p:txBody>
          <a:bodyPr/>
          <a:lstStyle/>
          <a:p>
            <a:pPr>
              <a:defRPr/>
            </a:pPr>
            <a:r>
              <a:rPr lang="en-US" sz="1600" kern="1200" dirty="0">
                <a:latin typeface="Arial" pitchFamily="34" charset="0"/>
              </a:rPr>
              <a:t>Furthermore, for professional development, like learning, to be successful, it “must be adapted to the complex and dynamic characteristics of specific contexts” (</a:t>
            </a:r>
            <a:r>
              <a:rPr lang="en-US" sz="1600" kern="1200" dirty="0" err="1">
                <a:latin typeface="Arial" pitchFamily="34" charset="0"/>
              </a:rPr>
              <a:t>Guskey</a:t>
            </a:r>
            <a:r>
              <a:rPr lang="en-US" sz="1600" kern="1200" dirty="0">
                <a:latin typeface="Arial" pitchFamily="34" charset="0"/>
              </a:rPr>
              <a:t>, 1995). </a:t>
            </a:r>
          </a:p>
          <a:p>
            <a:pPr>
              <a:defRPr/>
            </a:pPr>
            <a:r>
              <a:rPr lang="en-US" sz="1600" kern="1200" dirty="0">
                <a:latin typeface="Arial" pitchFamily="34" charset="0"/>
              </a:rPr>
              <a:t>This change process takes time.</a:t>
            </a:r>
          </a:p>
          <a:p>
            <a:pPr>
              <a:defRPr/>
            </a:pPr>
            <a:r>
              <a:rPr lang="en-US" sz="1600" kern="1200" dirty="0">
                <a:latin typeface="Arial" pitchFamily="34" charset="0"/>
              </a:rPr>
              <a:t>Therefore, it is unreasonable to expect that individual professional development activities will immediately result in altered long-term instructional </a:t>
            </a:r>
            <a:r>
              <a:rPr lang="en-US" sz="1600" kern="1200" dirty="0" err="1">
                <a:latin typeface="Arial" pitchFamily="34" charset="0"/>
              </a:rPr>
              <a:t>behaviour</a:t>
            </a:r>
            <a:r>
              <a:rPr lang="en-US" sz="1600" kern="1200" dirty="0">
                <a:latin typeface="Arial" pitchFamily="34" charset="0"/>
              </a:rPr>
              <a:t>, improved learner performance, or changed organizational structures and practices. </a:t>
            </a:r>
          </a:p>
          <a:p>
            <a:pPr>
              <a:defRPr/>
            </a:pPr>
            <a:endParaRPr lang="en-GB" sz="1600" dirty="0"/>
          </a:p>
        </p:txBody>
      </p:sp>
      <p:sp>
        <p:nvSpPr>
          <p:cNvPr id="4" name="Content Placeholder 2">
            <a:extLst>
              <a:ext uri="{FF2B5EF4-FFF2-40B4-BE49-F238E27FC236}">
                <a16:creationId xmlns:a16="http://schemas.microsoft.com/office/drawing/2014/main" id="{8308112E-D6B2-AFE7-4429-5A414A88C1BD}"/>
              </a:ext>
            </a:extLst>
          </p:cNvPr>
          <p:cNvSpPr txBox="1">
            <a:spLocks/>
          </p:cNvSpPr>
          <p:nvPr/>
        </p:nvSpPr>
        <p:spPr bwMode="auto">
          <a:xfrm>
            <a:off x="539750" y="5661025"/>
            <a:ext cx="8369300" cy="9763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dirty="0">
                <a:latin typeface="Arial" pitchFamily="34" charset="0"/>
              </a:rPr>
              <a:t>The role of evaluation, then, is not only to provide information on the impact of professional development, but also to provide data for refining and adjusting professional development activities to ensure that services can be improved on an ongoing basis. </a:t>
            </a:r>
          </a:p>
          <a:p>
            <a:pPr>
              <a:defRPr/>
            </a:pPr>
            <a:endParaRPr lang="en-GB" sz="1600" kern="0" dirty="0"/>
          </a:p>
        </p:txBody>
      </p:sp>
      <p:pic>
        <p:nvPicPr>
          <p:cNvPr id="74757" name="Picture 5" descr="A close up of a piece of paper&#10;&#10;Description automatically generated">
            <a:extLst>
              <a:ext uri="{FF2B5EF4-FFF2-40B4-BE49-F238E27FC236}">
                <a16:creationId xmlns:a16="http://schemas.microsoft.com/office/drawing/2014/main" id="{1F59852C-2004-42C2-B131-8A0D02330E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5375" y="2109788"/>
            <a:ext cx="4003675"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F496BFF6-91DE-A511-2F7F-435A98E7BE16}"/>
              </a:ext>
            </a:extLst>
          </p:cNvPr>
          <p:cNvSpPr>
            <a:spLocks noGrp="1" noChangeArrowheads="1"/>
          </p:cNvSpPr>
          <p:nvPr>
            <p:ph type="title"/>
          </p:nvPr>
        </p:nvSpPr>
        <p:spPr>
          <a:xfrm>
            <a:off x="1331913" y="404813"/>
            <a:ext cx="7577137" cy="939800"/>
          </a:xfrm>
        </p:spPr>
        <p:txBody>
          <a:bodyPr/>
          <a:lstStyle/>
          <a:p>
            <a:r>
              <a:rPr lang="en-GB" altLang="en-US" sz="3600" b="1">
                <a:solidFill>
                  <a:srgbClr val="0070C0"/>
                </a:solidFill>
              </a:rPr>
              <a:t>Employers - Evaluating CPD</a:t>
            </a:r>
          </a:p>
        </p:txBody>
      </p:sp>
      <p:sp>
        <p:nvSpPr>
          <p:cNvPr id="3" name="Content Placeholder 2">
            <a:extLst>
              <a:ext uri="{FF2B5EF4-FFF2-40B4-BE49-F238E27FC236}">
                <a16:creationId xmlns:a16="http://schemas.microsoft.com/office/drawing/2014/main" id="{8C75D0C5-6761-BFDF-7AC0-DC0EA28095AF}"/>
              </a:ext>
            </a:extLst>
          </p:cNvPr>
          <p:cNvSpPr>
            <a:spLocks noGrp="1"/>
          </p:cNvSpPr>
          <p:nvPr>
            <p:ph idx="1"/>
          </p:nvPr>
        </p:nvSpPr>
        <p:spPr>
          <a:xfrm>
            <a:off x="468313" y="1824038"/>
            <a:ext cx="7772400" cy="2016125"/>
          </a:xfrm>
        </p:spPr>
        <p:txBody>
          <a:bodyPr/>
          <a:lstStyle/>
          <a:p>
            <a:pPr>
              <a:defRPr/>
            </a:pPr>
            <a:r>
              <a:rPr lang="en-GB" sz="1600" dirty="0"/>
              <a:t>It is in the employer's interest to evaluate their investment in service delivery, stakeholders and the organisation as well as individual workers.</a:t>
            </a:r>
          </a:p>
          <a:p>
            <a:pPr>
              <a:defRPr/>
            </a:pPr>
            <a:r>
              <a:rPr lang="en-US" sz="1600" kern="1200" dirty="0"/>
              <a:t>Often evaluation only concentrates on the training course and sometimes on the outcomes </a:t>
            </a:r>
            <a:r>
              <a:rPr lang="en-US" sz="1600" b="1" kern="1200" dirty="0">
                <a:solidFill>
                  <a:srgbClr val="0070C0"/>
                </a:solidFill>
              </a:rPr>
              <a:t>for the individual learner</a:t>
            </a:r>
            <a:r>
              <a:rPr lang="en-US" sz="1600" i="1" kern="1200" dirty="0"/>
              <a:t>. </a:t>
            </a:r>
          </a:p>
          <a:p>
            <a:pPr>
              <a:defRPr/>
            </a:pPr>
            <a:r>
              <a:rPr lang="en-US" sz="1600" kern="1200" dirty="0"/>
              <a:t>Although these outcomes are important, they only indicate whether a learning opportunity has achieved its immediate objectives and not whether it has improved practice or </a:t>
            </a:r>
            <a:r>
              <a:rPr lang="en-US" sz="1600" b="1" kern="1200" dirty="0">
                <a:solidFill>
                  <a:srgbClr val="0070C0"/>
                </a:solidFill>
              </a:rPr>
              <a:t>service delivery outcomes</a:t>
            </a:r>
            <a:r>
              <a:rPr lang="en-US" sz="1600" i="1" kern="1200" dirty="0"/>
              <a:t>. </a:t>
            </a:r>
            <a:endParaRPr lang="en-GB" sz="1600" dirty="0"/>
          </a:p>
          <a:p>
            <a:pPr>
              <a:defRPr/>
            </a:pPr>
            <a:endParaRPr lang="en-US" sz="1600" i="1" kern="1200" dirty="0">
              <a:latin typeface="Arial" pitchFamily="34" charset="0"/>
            </a:endParaRPr>
          </a:p>
          <a:p>
            <a:pPr>
              <a:defRPr/>
            </a:pPr>
            <a:endParaRPr lang="en-GB" sz="1600" dirty="0"/>
          </a:p>
        </p:txBody>
      </p:sp>
      <p:sp>
        <p:nvSpPr>
          <p:cNvPr id="4" name="Content Placeholder 2">
            <a:extLst>
              <a:ext uri="{FF2B5EF4-FFF2-40B4-BE49-F238E27FC236}">
                <a16:creationId xmlns:a16="http://schemas.microsoft.com/office/drawing/2014/main" id="{207CC193-446A-2156-28B8-60830AD89F41}"/>
              </a:ext>
            </a:extLst>
          </p:cNvPr>
          <p:cNvSpPr txBox="1">
            <a:spLocks/>
          </p:cNvSpPr>
          <p:nvPr/>
        </p:nvSpPr>
        <p:spPr bwMode="auto">
          <a:xfrm>
            <a:off x="468313" y="4149725"/>
            <a:ext cx="5183187" cy="20161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dirty="0"/>
              <a:t>Therefore, it helps to measure desired outcomes such as: </a:t>
            </a:r>
          </a:p>
          <a:p>
            <a:pPr lvl="1">
              <a:defRPr/>
            </a:pPr>
            <a:r>
              <a:rPr lang="en-US" sz="1600" dirty="0"/>
              <a:t>changes in services and delivery </a:t>
            </a:r>
          </a:p>
          <a:p>
            <a:pPr lvl="1">
              <a:defRPr/>
            </a:pPr>
            <a:r>
              <a:rPr lang="en-US" sz="1600" dirty="0"/>
              <a:t>improvements in recruitment and retention </a:t>
            </a:r>
          </a:p>
          <a:p>
            <a:pPr lvl="1">
              <a:defRPr/>
            </a:pPr>
            <a:r>
              <a:rPr lang="en-GB" sz="1600" dirty="0"/>
              <a:t>improvements in performance </a:t>
            </a:r>
          </a:p>
          <a:p>
            <a:pPr lvl="1">
              <a:defRPr/>
            </a:pPr>
            <a:r>
              <a:rPr lang="en-GB" sz="1600" dirty="0"/>
              <a:t>increased staff motivation </a:t>
            </a:r>
          </a:p>
          <a:p>
            <a:pPr lvl="1">
              <a:defRPr/>
            </a:pPr>
            <a:r>
              <a:rPr lang="en-GB" sz="1600" dirty="0"/>
              <a:t>reduction in stress levels. </a:t>
            </a:r>
          </a:p>
          <a:p>
            <a:pPr>
              <a:defRPr/>
            </a:pPr>
            <a:endParaRPr lang="en-US" sz="1600" i="1" dirty="0">
              <a:latin typeface="Arial" pitchFamily="34" charset="0"/>
            </a:endParaRPr>
          </a:p>
          <a:p>
            <a:pPr>
              <a:defRPr/>
            </a:pPr>
            <a:endParaRPr lang="en-GB" sz="1600" kern="0" dirty="0"/>
          </a:p>
        </p:txBody>
      </p:sp>
      <p:pic>
        <p:nvPicPr>
          <p:cNvPr id="76805" name="Picture 5" descr="A picture containing drawing&#10;&#10;Description automatically generated">
            <a:extLst>
              <a:ext uri="{FF2B5EF4-FFF2-40B4-BE49-F238E27FC236}">
                <a16:creationId xmlns:a16="http://schemas.microsoft.com/office/drawing/2014/main" id="{F054B04D-E6C0-2E2E-C2C1-F4800A2EAA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5038" y="4149725"/>
            <a:ext cx="272415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E961F60B-40C8-C94C-E8C5-7902E23C435E}"/>
              </a:ext>
            </a:extLst>
          </p:cNvPr>
          <p:cNvSpPr>
            <a:spLocks noGrp="1" noChangeArrowheads="1"/>
          </p:cNvSpPr>
          <p:nvPr>
            <p:ph type="title"/>
          </p:nvPr>
        </p:nvSpPr>
        <p:spPr>
          <a:xfrm>
            <a:off x="1136650" y="404813"/>
            <a:ext cx="7772400" cy="939800"/>
          </a:xfrm>
        </p:spPr>
        <p:txBody>
          <a:bodyPr/>
          <a:lstStyle/>
          <a:p>
            <a:r>
              <a:rPr lang="en-GB" altLang="en-US" sz="3600" b="1">
                <a:solidFill>
                  <a:srgbClr val="0070C0"/>
                </a:solidFill>
              </a:rPr>
              <a:t>Employers - Evaluating CPD</a:t>
            </a:r>
            <a:endParaRPr lang="en-GB" altLang="en-US" sz="3600"/>
          </a:p>
        </p:txBody>
      </p:sp>
      <p:sp>
        <p:nvSpPr>
          <p:cNvPr id="3" name="Content Placeholder 2">
            <a:extLst>
              <a:ext uri="{FF2B5EF4-FFF2-40B4-BE49-F238E27FC236}">
                <a16:creationId xmlns:a16="http://schemas.microsoft.com/office/drawing/2014/main" id="{8EC253A3-F7D7-DC33-600E-28C4F77956A2}"/>
              </a:ext>
            </a:extLst>
          </p:cNvPr>
          <p:cNvSpPr>
            <a:spLocks noGrp="1"/>
          </p:cNvSpPr>
          <p:nvPr>
            <p:ph idx="1"/>
          </p:nvPr>
        </p:nvSpPr>
        <p:spPr>
          <a:xfrm>
            <a:off x="468313" y="1930400"/>
            <a:ext cx="7978775" cy="1857375"/>
          </a:xfrm>
        </p:spPr>
        <p:txBody>
          <a:bodyPr/>
          <a:lstStyle/>
          <a:p>
            <a:pPr>
              <a:defRPr/>
            </a:pPr>
            <a:r>
              <a:rPr lang="en-US" sz="1600" kern="1200" dirty="0"/>
              <a:t>The employer’s approach to evaluation will help to identify what needs to be achieved from developing their workers and the most cost-effective way of doing it.</a:t>
            </a:r>
          </a:p>
          <a:p>
            <a:pPr>
              <a:defRPr/>
            </a:pPr>
            <a:r>
              <a:rPr lang="en-US" sz="1600" kern="1200" dirty="0"/>
              <a:t>The employer will need to know what skills and qualifications their workers need to provide services that meet the requirements of people who use their services and the learning opportunities which meet their needs and employee's career aspirations. </a:t>
            </a:r>
          </a:p>
          <a:p>
            <a:pPr>
              <a:defRPr/>
            </a:pPr>
            <a:endParaRPr lang="en-US" sz="1600" kern="1200" dirty="0"/>
          </a:p>
          <a:p>
            <a:pPr>
              <a:defRPr/>
            </a:pPr>
            <a:endParaRPr lang="en-GB" sz="1600" dirty="0"/>
          </a:p>
        </p:txBody>
      </p:sp>
      <p:pic>
        <p:nvPicPr>
          <p:cNvPr id="78852" name="Picture 6" descr="A close up of a logo&#10;&#10;Description automatically generated">
            <a:extLst>
              <a:ext uri="{FF2B5EF4-FFF2-40B4-BE49-F238E27FC236}">
                <a16:creationId xmlns:a16="http://schemas.microsoft.com/office/drawing/2014/main" id="{25657059-906F-3683-185A-2572C2E212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9638" y="4200525"/>
            <a:ext cx="245745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a:extLst>
              <a:ext uri="{FF2B5EF4-FFF2-40B4-BE49-F238E27FC236}">
                <a16:creationId xmlns:a16="http://schemas.microsoft.com/office/drawing/2014/main" id="{2CE68B61-2282-DC32-BE8C-535B30E6DB5B}"/>
              </a:ext>
            </a:extLst>
          </p:cNvPr>
          <p:cNvSpPr txBox="1">
            <a:spLocks/>
          </p:cNvSpPr>
          <p:nvPr/>
        </p:nvSpPr>
        <p:spPr bwMode="auto">
          <a:xfrm>
            <a:off x="468313" y="3787775"/>
            <a:ext cx="5697537" cy="2643188"/>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endParaRPr lang="en-US" sz="1600" dirty="0"/>
          </a:p>
          <a:p>
            <a:pPr>
              <a:defRPr/>
            </a:pPr>
            <a:r>
              <a:rPr lang="en-US" sz="1600" dirty="0"/>
              <a:t>The process starts with: </a:t>
            </a:r>
          </a:p>
          <a:p>
            <a:pPr lvl="1">
              <a:defRPr/>
            </a:pPr>
            <a:r>
              <a:rPr lang="en-US" sz="1600" dirty="0"/>
              <a:t>identifying the purpose of learning and training </a:t>
            </a:r>
          </a:p>
          <a:p>
            <a:pPr lvl="1">
              <a:defRPr/>
            </a:pPr>
            <a:r>
              <a:rPr lang="en-US" sz="1600" dirty="0"/>
              <a:t>identifying the expected benefits for the user of the service and the </a:t>
            </a:r>
            <a:r>
              <a:rPr lang="en-US" sz="1600" dirty="0" err="1"/>
              <a:t>organisation</a:t>
            </a:r>
            <a:r>
              <a:rPr lang="en-US" sz="1600" dirty="0"/>
              <a:t> </a:t>
            </a:r>
          </a:p>
          <a:p>
            <a:pPr lvl="1">
              <a:defRPr/>
            </a:pPr>
            <a:r>
              <a:rPr lang="en-US" sz="1600" dirty="0"/>
              <a:t>clarifying what business objectives or needs it will meet </a:t>
            </a:r>
          </a:p>
          <a:p>
            <a:pPr lvl="1">
              <a:defRPr/>
            </a:pPr>
            <a:r>
              <a:rPr lang="en-US" sz="1600" dirty="0"/>
              <a:t>developing criteria to demonstrate these have been achieved. </a:t>
            </a:r>
          </a:p>
          <a:p>
            <a:pPr>
              <a:defRPr/>
            </a:pPr>
            <a:endParaRPr lang="en-GB" sz="1600" kern="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1A40D067-3A58-F005-BCC2-CAE4A7FFEB2C}"/>
              </a:ext>
            </a:extLst>
          </p:cNvPr>
          <p:cNvSpPr>
            <a:spLocks noGrp="1" noChangeArrowheads="1"/>
          </p:cNvSpPr>
          <p:nvPr>
            <p:ph type="title"/>
          </p:nvPr>
        </p:nvSpPr>
        <p:spPr/>
        <p:txBody>
          <a:bodyPr/>
          <a:lstStyle/>
          <a:p>
            <a:r>
              <a:rPr lang="en-GB" altLang="en-US" sz="3600" b="1">
                <a:solidFill>
                  <a:srgbClr val="0070C0"/>
                </a:solidFill>
              </a:rPr>
              <a:t>Employers - Evaluating CPD</a:t>
            </a:r>
            <a:endParaRPr lang="en-GB" altLang="en-US" sz="3600"/>
          </a:p>
        </p:txBody>
      </p:sp>
      <p:sp>
        <p:nvSpPr>
          <p:cNvPr id="80899" name="Content Placeholder 2">
            <a:extLst>
              <a:ext uri="{FF2B5EF4-FFF2-40B4-BE49-F238E27FC236}">
                <a16:creationId xmlns:a16="http://schemas.microsoft.com/office/drawing/2014/main" id="{D4F25535-8B21-1DF4-4660-B94A86A87B4D}"/>
              </a:ext>
            </a:extLst>
          </p:cNvPr>
          <p:cNvSpPr>
            <a:spLocks noGrp="1" noChangeArrowheads="1"/>
          </p:cNvSpPr>
          <p:nvPr>
            <p:ph idx="1"/>
          </p:nvPr>
        </p:nvSpPr>
        <p:spPr>
          <a:xfrm>
            <a:off x="395288" y="1931988"/>
            <a:ext cx="7772400" cy="4503737"/>
          </a:xfrm>
        </p:spPr>
        <p:txBody>
          <a:bodyPr/>
          <a:lstStyle/>
          <a:p>
            <a:r>
              <a:rPr lang="en-US" altLang="en-US" sz="1600"/>
              <a:t>Effective professional development evaluations require the collection and analysis of the five critical levels of information shown in Figure 1 (Guskey, 2000a).</a:t>
            </a:r>
          </a:p>
          <a:p>
            <a:r>
              <a:rPr lang="en-US" altLang="en-US" sz="1600"/>
              <a:t>With each succeeding level, the process of gathering evaluation information gets a bit more complex as each level builds on those that come before, success at one level is usually necessary for success at higher levels.</a:t>
            </a:r>
          </a:p>
          <a:p>
            <a:endParaRPr lang="en-US" altLang="en-US" sz="1600"/>
          </a:p>
          <a:p>
            <a:r>
              <a:rPr lang="en-US" altLang="en-US" sz="1600"/>
              <a:t>The five level of Guskey’s professional development evaluation are:</a:t>
            </a:r>
          </a:p>
          <a:p>
            <a:pPr lvl="1">
              <a:buFont typeface="Tahoma" panose="020B0604030504040204" pitchFamily="34" charset="0"/>
              <a:buAutoNum type="arabicPeriod"/>
            </a:pPr>
            <a:r>
              <a:rPr lang="en-US" altLang="en-US" sz="1600"/>
              <a:t>Participant's reaction</a:t>
            </a:r>
          </a:p>
          <a:p>
            <a:pPr lvl="1">
              <a:buFont typeface="Tahoma" panose="020B0604030504040204" pitchFamily="34" charset="0"/>
              <a:buAutoNum type="arabicPeriod"/>
            </a:pPr>
            <a:r>
              <a:rPr lang="en-GB" altLang="en-US" sz="1600"/>
              <a:t>Participants' Learning</a:t>
            </a:r>
          </a:p>
          <a:p>
            <a:pPr lvl="1">
              <a:buFont typeface="Tahoma" panose="020B0604030504040204" pitchFamily="34" charset="0"/>
              <a:buAutoNum type="arabicPeriod"/>
            </a:pPr>
            <a:r>
              <a:rPr lang="en-GB" altLang="en-US" sz="1600"/>
              <a:t>Organization Support &amp; Change</a:t>
            </a:r>
          </a:p>
          <a:p>
            <a:pPr lvl="1">
              <a:buFont typeface="Tahoma" panose="020B0604030504040204" pitchFamily="34" charset="0"/>
              <a:buAutoNum type="arabicPeriod"/>
            </a:pPr>
            <a:r>
              <a:rPr lang="en-US" altLang="en-US" sz="1600"/>
              <a:t>Participants' Use of New Knowledge and Skills</a:t>
            </a:r>
          </a:p>
          <a:p>
            <a:pPr lvl="1">
              <a:buFont typeface="Tahoma" panose="020B0604030504040204" pitchFamily="34" charset="0"/>
              <a:buAutoNum type="arabicPeriod"/>
            </a:pPr>
            <a:r>
              <a:rPr lang="en-GB" altLang="en-US" sz="1600"/>
              <a:t>Student Learning Outcomes</a:t>
            </a:r>
          </a:p>
        </p:txBody>
      </p:sp>
      <p:pic>
        <p:nvPicPr>
          <p:cNvPr id="80900" name="Picture 3" descr="A screenshot of a cell phone&#10;&#10;Description automatically generated">
            <a:extLst>
              <a:ext uri="{FF2B5EF4-FFF2-40B4-BE49-F238E27FC236}">
                <a16:creationId xmlns:a16="http://schemas.microsoft.com/office/drawing/2014/main" id="{3BE65393-722C-D24E-184F-4A27C542AD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050" y="4365625"/>
            <a:ext cx="2676525"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a:extLst>
              <a:ext uri="{FF2B5EF4-FFF2-40B4-BE49-F238E27FC236}">
                <a16:creationId xmlns:a16="http://schemas.microsoft.com/office/drawing/2014/main" id="{D1A824DD-7025-EA3D-5719-CBA6A0F5D5F7}"/>
              </a:ext>
            </a:extLst>
          </p:cNvPr>
          <p:cNvSpPr>
            <a:spLocks noGrp="1" noChangeArrowheads="1"/>
          </p:cNvSpPr>
          <p:nvPr>
            <p:ph type="title"/>
          </p:nvPr>
        </p:nvSpPr>
        <p:spPr>
          <a:xfrm>
            <a:off x="1476375" y="404813"/>
            <a:ext cx="7432675" cy="939800"/>
          </a:xfrm>
        </p:spPr>
        <p:txBody>
          <a:bodyPr/>
          <a:lstStyle/>
          <a:p>
            <a:r>
              <a:rPr lang="en-GB" altLang="en-US" sz="3600" b="1">
                <a:solidFill>
                  <a:srgbClr val="FF0000"/>
                </a:solidFill>
              </a:rPr>
              <a:t>Activity</a:t>
            </a:r>
          </a:p>
        </p:txBody>
      </p:sp>
      <p:sp>
        <p:nvSpPr>
          <p:cNvPr id="82947" name="Content Placeholder 2">
            <a:extLst>
              <a:ext uri="{FF2B5EF4-FFF2-40B4-BE49-F238E27FC236}">
                <a16:creationId xmlns:a16="http://schemas.microsoft.com/office/drawing/2014/main" id="{CCE196FB-3935-190A-DD7C-F6BD97792AA5}"/>
              </a:ext>
            </a:extLst>
          </p:cNvPr>
          <p:cNvSpPr>
            <a:spLocks noGrp="1" noChangeArrowheads="1"/>
          </p:cNvSpPr>
          <p:nvPr>
            <p:ph idx="1"/>
          </p:nvPr>
        </p:nvSpPr>
        <p:spPr>
          <a:xfrm>
            <a:off x="827088" y="1844675"/>
            <a:ext cx="7772400" cy="4503738"/>
          </a:xfrm>
        </p:spPr>
        <p:txBody>
          <a:bodyPr/>
          <a:lstStyle/>
          <a:p>
            <a:r>
              <a:rPr lang="en-GB" altLang="en-US" sz="1800"/>
              <a:t>In groups, discuss what will make good personal development goals for work and then share them with your peer groups.</a:t>
            </a:r>
          </a:p>
          <a:p>
            <a:endParaRPr lang="en-GB" altLang="en-US" sz="1800"/>
          </a:p>
          <a:p>
            <a:r>
              <a:rPr lang="en-GB" altLang="en-US" sz="1800"/>
              <a:t>Some areas you might want to consider are:</a:t>
            </a:r>
          </a:p>
          <a:p>
            <a:endParaRPr lang="en-GB" altLang="en-US" sz="1800"/>
          </a:p>
          <a:p>
            <a:pPr lvl="1"/>
            <a:r>
              <a:rPr lang="en-US" altLang="en-US" sz="1800"/>
              <a:t>Improve your time management.</a:t>
            </a:r>
          </a:p>
          <a:p>
            <a:pPr lvl="1"/>
            <a:r>
              <a:rPr lang="en-US" altLang="en-US" sz="1800"/>
              <a:t>Develop emotional intelligence.</a:t>
            </a:r>
          </a:p>
          <a:p>
            <a:pPr lvl="1"/>
            <a:r>
              <a:rPr lang="en-US" altLang="en-US" sz="1800"/>
              <a:t>Cultivate resilience.</a:t>
            </a:r>
          </a:p>
          <a:p>
            <a:pPr lvl="1"/>
            <a:r>
              <a:rPr lang="en-US" altLang="en-US" sz="1800"/>
              <a:t>Listen actively.</a:t>
            </a:r>
          </a:p>
          <a:p>
            <a:pPr lvl="1"/>
            <a:r>
              <a:rPr lang="en-US" altLang="en-US" sz="1800"/>
              <a:t>Develop a growth mindset.</a:t>
            </a:r>
          </a:p>
          <a:p>
            <a:pPr lvl="1"/>
            <a:r>
              <a:rPr lang="en-US" altLang="en-US" sz="1800"/>
              <a:t>Develop a reading habit.</a:t>
            </a:r>
          </a:p>
          <a:p>
            <a:pPr lvl="1"/>
            <a:r>
              <a:rPr lang="en-US" altLang="en-US" sz="1800"/>
              <a:t>Learn new things.</a:t>
            </a:r>
          </a:p>
          <a:p>
            <a:pPr lvl="1"/>
            <a:r>
              <a:rPr lang="en-US" altLang="en-US" sz="1800"/>
              <a:t>Improve your public speaking skills.</a:t>
            </a:r>
          </a:p>
          <a:p>
            <a:endParaRPr lang="en-GB"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B89DF-5945-49B6-FC81-DDC7B604F6F6}"/>
              </a:ext>
            </a:extLst>
          </p:cNvPr>
          <p:cNvSpPr>
            <a:spLocks noGrp="1"/>
          </p:cNvSpPr>
          <p:nvPr>
            <p:ph type="title"/>
          </p:nvPr>
        </p:nvSpPr>
        <p:spPr>
          <a:xfrm>
            <a:off x="1403350" y="404813"/>
            <a:ext cx="7505700" cy="939800"/>
          </a:xfrm>
        </p:spPr>
        <p:txBody>
          <a:bodyPr/>
          <a:lstStyle/>
          <a:p>
            <a:pPr>
              <a:defRPr/>
            </a:pPr>
            <a:r>
              <a:rPr lang="en-US" sz="3600" b="1" kern="1200" dirty="0">
                <a:solidFill>
                  <a:srgbClr val="0070C0"/>
                </a:solidFill>
                <a:latin typeface="+mn-lt"/>
              </a:rPr>
              <a:t>Personal Development Plan</a:t>
            </a:r>
            <a:endParaRPr lang="en-GB" sz="3600" b="1" dirty="0">
              <a:solidFill>
                <a:srgbClr val="0070C0"/>
              </a:solidFill>
              <a:latin typeface="+mn-lt"/>
            </a:endParaRPr>
          </a:p>
        </p:txBody>
      </p:sp>
      <p:sp>
        <p:nvSpPr>
          <p:cNvPr id="3" name="Content Placeholder 2">
            <a:extLst>
              <a:ext uri="{FF2B5EF4-FFF2-40B4-BE49-F238E27FC236}">
                <a16:creationId xmlns:a16="http://schemas.microsoft.com/office/drawing/2014/main" id="{F63FD0F3-F774-802F-EA06-80E85DA029D8}"/>
              </a:ext>
            </a:extLst>
          </p:cNvPr>
          <p:cNvSpPr>
            <a:spLocks noGrp="1"/>
          </p:cNvSpPr>
          <p:nvPr>
            <p:ph idx="1"/>
          </p:nvPr>
        </p:nvSpPr>
        <p:spPr>
          <a:xfrm>
            <a:off x="323850" y="1844675"/>
            <a:ext cx="5184775" cy="3455988"/>
          </a:xfrm>
        </p:spPr>
        <p:txBody>
          <a:bodyPr/>
          <a:lstStyle/>
          <a:p>
            <a:pPr>
              <a:defRPr/>
            </a:pPr>
            <a:r>
              <a:rPr lang="en-US" sz="1600" kern="1200" dirty="0"/>
              <a:t>It could be argued that an employer’s PDP could be the same for all employees.</a:t>
            </a:r>
          </a:p>
          <a:p>
            <a:pPr>
              <a:defRPr/>
            </a:pPr>
            <a:r>
              <a:rPr lang="en-US" sz="1600" kern="1200" dirty="0"/>
              <a:t>However, there is no such thing as a one-size-fits-all approach to development. </a:t>
            </a:r>
          </a:p>
          <a:p>
            <a:pPr>
              <a:defRPr/>
            </a:pPr>
            <a:r>
              <a:rPr lang="en-US" sz="1600" kern="1200" dirty="0"/>
              <a:t>We all have our own strengths and weaknesses, and our own needs when it comes to what will help us </a:t>
            </a:r>
            <a:r>
              <a:rPr lang="en-US" sz="1600" kern="1200" dirty="0" err="1"/>
              <a:t>realise</a:t>
            </a:r>
            <a:r>
              <a:rPr lang="en-US" sz="1600" kern="1200" dirty="0"/>
              <a:t> our potential.</a:t>
            </a:r>
          </a:p>
          <a:p>
            <a:pPr>
              <a:defRPr/>
            </a:pPr>
            <a:r>
              <a:rPr lang="en-US" sz="1600" kern="1200" dirty="0"/>
              <a:t>That’s where the </a:t>
            </a:r>
            <a:r>
              <a:rPr lang="en-US" sz="1600" b="1" kern="1200" dirty="0">
                <a:solidFill>
                  <a:srgbClr val="0070C0"/>
                </a:solidFill>
              </a:rPr>
              <a:t>Personal Development Plan</a:t>
            </a:r>
            <a:r>
              <a:rPr lang="en-US" sz="1600" kern="1200" dirty="0"/>
              <a:t>, or PDP, comes in! </a:t>
            </a:r>
          </a:p>
          <a:p>
            <a:pPr>
              <a:defRPr/>
            </a:pPr>
            <a:r>
              <a:rPr lang="en-US" sz="1600" kern="1200" dirty="0"/>
              <a:t>It’s also known as the IDP (Individual Development Plan), and it acts as a roadmap for how an individual should drive their professional growth.</a:t>
            </a:r>
          </a:p>
          <a:p>
            <a:pPr>
              <a:defRPr/>
            </a:pPr>
            <a:endParaRPr lang="en-US" sz="1600" kern="1200" dirty="0"/>
          </a:p>
          <a:p>
            <a:pPr>
              <a:defRPr/>
            </a:pPr>
            <a:endParaRPr lang="en-GB" sz="1800" dirty="0"/>
          </a:p>
        </p:txBody>
      </p:sp>
      <p:sp>
        <p:nvSpPr>
          <p:cNvPr id="4" name="Content Placeholder 2">
            <a:extLst>
              <a:ext uri="{FF2B5EF4-FFF2-40B4-BE49-F238E27FC236}">
                <a16:creationId xmlns:a16="http://schemas.microsoft.com/office/drawing/2014/main" id="{2A154157-5DB8-72E8-9A2E-25D3069326D9}"/>
              </a:ext>
            </a:extLst>
          </p:cNvPr>
          <p:cNvSpPr txBox="1">
            <a:spLocks/>
          </p:cNvSpPr>
          <p:nvPr/>
        </p:nvSpPr>
        <p:spPr bwMode="auto">
          <a:xfrm>
            <a:off x="358775" y="5321300"/>
            <a:ext cx="8426450" cy="118427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dirty="0"/>
              <a:t>So an employee should be able to look at their PDP at any time to find out exactly what work they should be doing to develop their knowledge and skills. </a:t>
            </a:r>
          </a:p>
          <a:p>
            <a:pPr>
              <a:defRPr/>
            </a:pPr>
            <a:r>
              <a:rPr lang="en-US" sz="1600" dirty="0"/>
              <a:t>Because it’s tailored to them, a good PDP acts like a jigsaw piece, filling in any gaps in an employee’s skillset and making them into a perfect, beautiful picture!</a:t>
            </a:r>
          </a:p>
          <a:p>
            <a:pPr>
              <a:defRPr/>
            </a:pPr>
            <a:endParaRPr lang="en-US" sz="1600" dirty="0"/>
          </a:p>
          <a:p>
            <a:pPr>
              <a:defRPr/>
            </a:pPr>
            <a:endParaRPr lang="en-GB" sz="1800" kern="0" dirty="0"/>
          </a:p>
        </p:txBody>
      </p:sp>
      <p:pic>
        <p:nvPicPr>
          <p:cNvPr id="83973" name="Picture 5" descr="A picture containing person, man, outdoor, wearing&#10;&#10;Description automatically generated">
            <a:extLst>
              <a:ext uri="{FF2B5EF4-FFF2-40B4-BE49-F238E27FC236}">
                <a16:creationId xmlns:a16="http://schemas.microsoft.com/office/drawing/2014/main" id="{2F2A1133-256D-2146-1FBA-192264A1AC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7763" y="1709738"/>
            <a:ext cx="2298700"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4" name="Picture 7" descr="A picture containing drawing&#10;&#10;Description automatically generated">
            <a:extLst>
              <a:ext uri="{FF2B5EF4-FFF2-40B4-BE49-F238E27FC236}">
                <a16:creationId xmlns:a16="http://schemas.microsoft.com/office/drawing/2014/main" id="{B2DF1529-F626-76BA-23B2-53F52C28A8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1550" y="3557588"/>
            <a:ext cx="28575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C1F37-6B7E-5073-DCFC-21B86EA802E0}"/>
              </a:ext>
            </a:extLst>
          </p:cNvPr>
          <p:cNvSpPr>
            <a:spLocks noGrp="1"/>
          </p:cNvSpPr>
          <p:nvPr>
            <p:ph type="title"/>
          </p:nvPr>
        </p:nvSpPr>
        <p:spPr/>
        <p:txBody>
          <a:bodyPr/>
          <a:lstStyle/>
          <a:p>
            <a:pPr>
              <a:defRPr/>
            </a:pPr>
            <a:r>
              <a:rPr lang="en-US" sz="3200" b="1" kern="1200" dirty="0">
                <a:solidFill>
                  <a:srgbClr val="0070C0"/>
                </a:solidFill>
                <a:latin typeface="+mn-lt"/>
              </a:rPr>
              <a:t>Personal - Evaluating your Success</a:t>
            </a:r>
            <a:endParaRPr lang="en-GB" sz="3200" b="1" dirty="0">
              <a:solidFill>
                <a:srgbClr val="0070C0"/>
              </a:solidFill>
              <a:latin typeface="+mn-lt"/>
            </a:endParaRPr>
          </a:p>
        </p:txBody>
      </p:sp>
      <p:sp>
        <p:nvSpPr>
          <p:cNvPr id="3" name="Content Placeholder 2">
            <a:extLst>
              <a:ext uri="{FF2B5EF4-FFF2-40B4-BE49-F238E27FC236}">
                <a16:creationId xmlns:a16="http://schemas.microsoft.com/office/drawing/2014/main" id="{732156C1-096E-39DF-B6F5-154F969C09F2}"/>
              </a:ext>
            </a:extLst>
          </p:cNvPr>
          <p:cNvSpPr>
            <a:spLocks noGrp="1"/>
          </p:cNvSpPr>
          <p:nvPr>
            <p:ph idx="1"/>
          </p:nvPr>
        </p:nvSpPr>
        <p:spPr>
          <a:xfrm>
            <a:off x="468313" y="1949450"/>
            <a:ext cx="7772400" cy="4503738"/>
          </a:xfrm>
        </p:spPr>
        <p:txBody>
          <a:bodyPr/>
          <a:lstStyle/>
          <a:p>
            <a:pPr>
              <a:defRPr/>
            </a:pPr>
            <a:r>
              <a:rPr lang="en-US" sz="1600" kern="1200" dirty="0"/>
              <a:t>The learning process is a cyclical process in which you need to identify your development goal, initiate the action(s) that you need to reach your goal and then periodically you have to evaluate your progress. </a:t>
            </a:r>
          </a:p>
          <a:p>
            <a:pPr>
              <a:defRPr/>
            </a:pPr>
            <a:endParaRPr lang="en-US" sz="1600" kern="1200" dirty="0"/>
          </a:p>
          <a:p>
            <a:pPr>
              <a:defRPr/>
            </a:pPr>
            <a:r>
              <a:rPr lang="en-US" sz="1600" kern="1200" dirty="0"/>
              <a:t>Taking time to evaluate and reflect your progress is essential to enable you to make necessary changes to your plan. </a:t>
            </a:r>
          </a:p>
          <a:p>
            <a:pPr>
              <a:defRPr/>
            </a:pPr>
            <a:endParaRPr lang="en-US" sz="1600" kern="1200" dirty="0"/>
          </a:p>
          <a:p>
            <a:pPr>
              <a:defRPr/>
            </a:pPr>
            <a:r>
              <a:rPr lang="en-US" sz="1600" kern="1200" dirty="0"/>
              <a:t>When evaluating your progress you need to ask yourself:</a:t>
            </a:r>
          </a:p>
          <a:p>
            <a:pPr lvl="1">
              <a:defRPr/>
            </a:pPr>
            <a:r>
              <a:rPr lang="en-US" sz="1600" kern="1200" dirty="0">
                <a:ea typeface="+mn-ea"/>
              </a:rPr>
              <a:t>What have I learnt?</a:t>
            </a:r>
          </a:p>
          <a:p>
            <a:pPr lvl="1">
              <a:defRPr/>
            </a:pPr>
            <a:r>
              <a:rPr lang="en-US" sz="1600" kern="1200" dirty="0">
                <a:ea typeface="+mn-ea"/>
              </a:rPr>
              <a:t>What more do I need to do to achieve my goals?</a:t>
            </a:r>
          </a:p>
          <a:p>
            <a:pPr lvl="1">
              <a:defRPr/>
            </a:pPr>
            <a:r>
              <a:rPr lang="en-US" sz="1600" kern="1200" dirty="0">
                <a:ea typeface="+mn-ea"/>
              </a:rPr>
              <a:t>Is my progress too slow or ahead of schedule?</a:t>
            </a:r>
          </a:p>
          <a:p>
            <a:pPr lvl="1">
              <a:defRPr/>
            </a:pPr>
            <a:r>
              <a:rPr lang="en-US" sz="1600" kern="1200" dirty="0">
                <a:ea typeface="+mn-ea"/>
              </a:rPr>
              <a:t>Do I need any assistance to achieve my goal?</a:t>
            </a:r>
          </a:p>
          <a:p>
            <a:pPr lvl="1">
              <a:defRPr/>
            </a:pPr>
            <a:r>
              <a:rPr lang="en-US" sz="1600" kern="1200" dirty="0">
                <a:ea typeface="+mn-ea"/>
              </a:rPr>
              <a:t>What’s hindering my progress?</a:t>
            </a:r>
          </a:p>
          <a:p>
            <a:pPr lvl="1">
              <a:defRPr/>
            </a:pPr>
            <a:r>
              <a:rPr lang="en-US" sz="1600" kern="1200" dirty="0">
                <a:ea typeface="+mn-ea"/>
              </a:rPr>
              <a:t>Do I need to change my plan?</a:t>
            </a:r>
          </a:p>
          <a:p>
            <a:pPr lvl="1">
              <a:defRPr/>
            </a:pPr>
            <a:r>
              <a:rPr lang="en-US" sz="1600" kern="1200" dirty="0">
                <a:ea typeface="+mn-ea"/>
              </a:rPr>
              <a:t>What additional benefits am I gaining from the process?</a:t>
            </a:r>
          </a:p>
          <a:p>
            <a:pPr>
              <a:defRPr/>
            </a:pPr>
            <a:endParaRPr lang="en-GB" sz="1600" dirty="0"/>
          </a:p>
        </p:txBody>
      </p:sp>
      <p:pic>
        <p:nvPicPr>
          <p:cNvPr id="86020" name="Picture 4" descr="A picture containing food, beverage, coffee, cup&#10;&#10;Description automatically generated">
            <a:extLst>
              <a:ext uri="{FF2B5EF4-FFF2-40B4-BE49-F238E27FC236}">
                <a16:creationId xmlns:a16="http://schemas.microsoft.com/office/drawing/2014/main" id="{7A5CFB22-1F49-16BA-A0CC-FAC25FB01B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4232275"/>
            <a:ext cx="291465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D7A56-A2F4-AA2B-5962-3462BA5AA791}"/>
              </a:ext>
            </a:extLst>
          </p:cNvPr>
          <p:cNvSpPr>
            <a:spLocks noGrp="1"/>
          </p:cNvSpPr>
          <p:nvPr>
            <p:ph type="title"/>
          </p:nvPr>
        </p:nvSpPr>
        <p:spPr/>
        <p:txBody>
          <a:bodyPr/>
          <a:lstStyle/>
          <a:p>
            <a:pPr>
              <a:defRPr/>
            </a:pPr>
            <a:r>
              <a:rPr lang="en-US" sz="2800" b="1" kern="1200" dirty="0">
                <a:solidFill>
                  <a:srgbClr val="0070C0"/>
                </a:solidFill>
                <a:latin typeface="+mn-lt"/>
              </a:rPr>
              <a:t>Evaluating Your Personal Development</a:t>
            </a:r>
            <a:endParaRPr lang="en-GB" sz="2800" b="1" dirty="0">
              <a:solidFill>
                <a:srgbClr val="0070C0"/>
              </a:solidFill>
              <a:latin typeface="+mn-lt"/>
            </a:endParaRPr>
          </a:p>
        </p:txBody>
      </p:sp>
      <p:sp>
        <p:nvSpPr>
          <p:cNvPr id="3" name="Content Placeholder 2">
            <a:extLst>
              <a:ext uri="{FF2B5EF4-FFF2-40B4-BE49-F238E27FC236}">
                <a16:creationId xmlns:a16="http://schemas.microsoft.com/office/drawing/2014/main" id="{542F8F77-AB17-FD5D-0606-93260A646B97}"/>
              </a:ext>
            </a:extLst>
          </p:cNvPr>
          <p:cNvSpPr>
            <a:spLocks noGrp="1"/>
          </p:cNvSpPr>
          <p:nvPr>
            <p:ph idx="1"/>
          </p:nvPr>
        </p:nvSpPr>
        <p:spPr>
          <a:xfrm>
            <a:off x="488950" y="1844675"/>
            <a:ext cx="7772400" cy="2520950"/>
          </a:xfrm>
        </p:spPr>
        <p:txBody>
          <a:bodyPr/>
          <a:lstStyle/>
          <a:p>
            <a:pPr>
              <a:defRPr/>
            </a:pPr>
            <a:r>
              <a:rPr lang="en-US" sz="1600" kern="1200" dirty="0"/>
              <a:t>It is worth taking time to review your activities against your plans on a regular basis, probably every quarter or so.</a:t>
            </a:r>
          </a:p>
          <a:p>
            <a:pPr>
              <a:defRPr/>
            </a:pPr>
            <a:r>
              <a:rPr lang="en-US" sz="1600" kern="1200" dirty="0"/>
              <a:t>Less often, and you may find that you are not placing a high enough priority on your development activities and letting progress slip.</a:t>
            </a:r>
          </a:p>
          <a:p>
            <a:pPr>
              <a:defRPr/>
            </a:pPr>
            <a:r>
              <a:rPr lang="en-US" sz="1600" kern="1200" dirty="0"/>
              <a:t>More often, and you are likely to find that you have not made enough progress, or that you are tempted to put the review off, because the last one was so recent.</a:t>
            </a:r>
          </a:p>
          <a:p>
            <a:pPr>
              <a:defRPr/>
            </a:pPr>
            <a:r>
              <a:rPr lang="en-US" sz="1600" kern="1200" dirty="0"/>
              <a:t>Regular review will ensure that you keep tabs on your activity and are not tempted to make personal development a lower priority.</a:t>
            </a:r>
          </a:p>
        </p:txBody>
      </p:sp>
      <p:sp>
        <p:nvSpPr>
          <p:cNvPr id="88068" name="Content Placeholder 2">
            <a:extLst>
              <a:ext uri="{FF2B5EF4-FFF2-40B4-BE49-F238E27FC236}">
                <a16:creationId xmlns:a16="http://schemas.microsoft.com/office/drawing/2014/main" id="{C10AF940-B561-40AC-3013-DD4F0E87B7E6}"/>
              </a:ext>
            </a:extLst>
          </p:cNvPr>
          <p:cNvSpPr txBox="1">
            <a:spLocks/>
          </p:cNvSpPr>
          <p:nvPr/>
        </p:nvSpPr>
        <p:spPr bwMode="auto">
          <a:xfrm>
            <a:off x="488950" y="4395788"/>
            <a:ext cx="3290888"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r>
              <a:rPr lang="en-US" altLang="en-US" sz="1600"/>
              <a:t>It is easy to forget about personal development, especially if you have just started a new job or course of study. </a:t>
            </a:r>
          </a:p>
          <a:p>
            <a:r>
              <a:rPr lang="en-US" altLang="en-US" sz="1600"/>
              <a:t>But a regular review of your development plan keeps the process on track.</a:t>
            </a:r>
          </a:p>
        </p:txBody>
      </p:sp>
      <p:pic>
        <p:nvPicPr>
          <p:cNvPr id="88069" name="Picture 5" descr="A picture containing device&#10;&#10;Description automatically generated">
            <a:extLst>
              <a:ext uri="{FF2B5EF4-FFF2-40B4-BE49-F238E27FC236}">
                <a16:creationId xmlns:a16="http://schemas.microsoft.com/office/drawing/2014/main" id="{932C7F3B-AD36-31C4-3A6D-1E5C1D154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100" y="4433888"/>
            <a:ext cx="4092575" cy="180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C8E4F1D6-CA06-830B-82F8-DD31E18A7FD6}"/>
              </a:ext>
            </a:extLst>
          </p:cNvPr>
          <p:cNvSpPr>
            <a:spLocks noGrp="1" noChangeArrowheads="1"/>
          </p:cNvSpPr>
          <p:nvPr>
            <p:ph type="title"/>
          </p:nvPr>
        </p:nvSpPr>
        <p:spPr>
          <a:xfrm>
            <a:off x="1187450" y="404813"/>
            <a:ext cx="7721600" cy="939800"/>
          </a:xfrm>
        </p:spPr>
        <p:txBody>
          <a:bodyPr/>
          <a:lstStyle/>
          <a:p>
            <a:pPr>
              <a:defRPr/>
            </a:pPr>
            <a:r>
              <a:rPr lang="en-GB" altLang="en-US" sz="4000" b="1" dirty="0">
                <a:solidFill>
                  <a:srgbClr val="0070C0"/>
                </a:solidFill>
                <a:latin typeface="+mn-lt"/>
              </a:rPr>
              <a:t>A possible review process</a:t>
            </a:r>
          </a:p>
        </p:txBody>
      </p:sp>
      <p:sp>
        <p:nvSpPr>
          <p:cNvPr id="3" name="Content Placeholder 2">
            <a:extLst>
              <a:ext uri="{FF2B5EF4-FFF2-40B4-BE49-F238E27FC236}">
                <a16:creationId xmlns:a16="http://schemas.microsoft.com/office/drawing/2014/main" id="{7CEAA241-2247-EE0E-6C42-50EF564556B0}"/>
              </a:ext>
            </a:extLst>
          </p:cNvPr>
          <p:cNvSpPr>
            <a:spLocks noGrp="1"/>
          </p:cNvSpPr>
          <p:nvPr>
            <p:ph idx="1"/>
          </p:nvPr>
        </p:nvSpPr>
        <p:spPr>
          <a:xfrm>
            <a:off x="315913" y="1989138"/>
            <a:ext cx="8512175" cy="4318000"/>
          </a:xfrm>
        </p:spPr>
        <p:txBody>
          <a:bodyPr/>
          <a:lstStyle/>
          <a:p>
            <a:pPr>
              <a:buFont typeface="+mj-lt"/>
              <a:buAutoNum type="arabicParenR"/>
              <a:defRPr/>
            </a:pPr>
            <a:r>
              <a:rPr lang="en-US" sz="1400" kern="1200" dirty="0"/>
              <a:t>Set aside time for your review. It is no good trying to reflect meaningfully in just five minutes. Make sure you are in no rush, and also that your environment is conducive to quiet reflection.</a:t>
            </a:r>
          </a:p>
          <a:p>
            <a:pPr>
              <a:buFont typeface="+mj-lt"/>
              <a:buAutoNum type="arabicParenR"/>
              <a:defRPr/>
            </a:pPr>
            <a:r>
              <a:rPr lang="en-US" sz="1400" kern="1200" dirty="0"/>
              <a:t>Find your original plan, with your goals and planned activities. You need to know what you said you were going to do.</a:t>
            </a:r>
          </a:p>
          <a:p>
            <a:pPr>
              <a:buFont typeface="+mj-lt"/>
              <a:buAutoNum type="arabicParenR"/>
              <a:defRPr/>
            </a:pPr>
            <a:r>
              <a:rPr lang="en-US" sz="1400" kern="1200" dirty="0"/>
              <a:t>For each planned activity, assess how far what you have done by way of activity was in line with your plan. You need to be honest with yourself:</a:t>
            </a:r>
          </a:p>
          <a:p>
            <a:pPr lvl="1">
              <a:buFont typeface="+mj-lt"/>
              <a:buAutoNum type="arabicParenR"/>
              <a:defRPr/>
            </a:pPr>
            <a:r>
              <a:rPr lang="en-US" sz="1400" kern="1200" dirty="0"/>
              <a:t>How much did you do?</a:t>
            </a:r>
          </a:p>
          <a:p>
            <a:pPr lvl="1">
              <a:buFont typeface="+mj-lt"/>
              <a:buAutoNum type="arabicParenR"/>
              <a:defRPr/>
            </a:pPr>
            <a:r>
              <a:rPr lang="en-US" sz="1400" kern="1200" dirty="0"/>
              <a:t>Was it as much as you were expecting to achieve?</a:t>
            </a:r>
          </a:p>
          <a:p>
            <a:pPr lvl="1">
              <a:buFont typeface="+mj-lt"/>
              <a:buAutoNum type="arabicParenR"/>
              <a:defRPr/>
            </a:pPr>
            <a:r>
              <a:rPr lang="en-US" sz="1400" kern="1200" dirty="0"/>
              <a:t>Did you do something different, but more effective?</a:t>
            </a:r>
          </a:p>
          <a:p>
            <a:pPr>
              <a:buFont typeface="+mj-lt"/>
              <a:buAutoNum type="arabicParenR"/>
              <a:defRPr/>
            </a:pPr>
            <a:r>
              <a:rPr lang="en-US" sz="1400" kern="1200" dirty="0"/>
              <a:t>Consider how successful you feel your development has been in getting you to your goals.</a:t>
            </a:r>
          </a:p>
          <a:p>
            <a:pPr lvl="1">
              <a:buFont typeface="+mj-lt"/>
              <a:buAutoNum type="arabicParenR"/>
              <a:defRPr/>
            </a:pPr>
            <a:r>
              <a:rPr lang="en-US" sz="1400" kern="1200" dirty="0"/>
              <a:t>Have you made progress towards your goals?</a:t>
            </a:r>
          </a:p>
          <a:p>
            <a:pPr lvl="1">
              <a:buFont typeface="+mj-lt"/>
              <a:buAutoNum type="arabicParenR"/>
              <a:defRPr/>
            </a:pPr>
            <a:r>
              <a:rPr lang="en-US" sz="1400" kern="1200" dirty="0"/>
              <a:t>Have you identified more activities that will need doing that might slow down your progress?</a:t>
            </a:r>
          </a:p>
          <a:p>
            <a:pPr lvl="1">
              <a:buFont typeface="+mj-lt"/>
              <a:buAutoNum type="arabicParenR"/>
              <a:defRPr/>
            </a:pPr>
            <a:r>
              <a:rPr lang="en-US" sz="1400" kern="1200" dirty="0"/>
              <a:t>Are your goals (and their timing) still realistic?</a:t>
            </a:r>
          </a:p>
          <a:p>
            <a:pPr>
              <a:buFont typeface="+mj-lt"/>
              <a:buAutoNum type="arabicParenR"/>
              <a:defRPr/>
            </a:pPr>
            <a:r>
              <a:rPr lang="en-US" sz="1400" kern="1200" dirty="0"/>
              <a:t>Decide what you need to do next.</a:t>
            </a:r>
          </a:p>
          <a:p>
            <a:pPr lvl="1">
              <a:buFont typeface="+mj-lt"/>
              <a:buAutoNum type="arabicParenR"/>
              <a:defRPr/>
            </a:pPr>
            <a:r>
              <a:rPr lang="en-US" sz="1400" kern="1200" dirty="0"/>
              <a:t>Is it more of the same, or something different?</a:t>
            </a:r>
          </a:p>
          <a:p>
            <a:pPr lvl="1">
              <a:buFont typeface="+mj-lt"/>
              <a:buAutoNum type="arabicParenR"/>
              <a:defRPr/>
            </a:pPr>
            <a:r>
              <a:rPr lang="en-US" sz="1400" kern="1200" dirty="0"/>
              <a:t>Do you need to take more time, or find some external support, perhaps?</a:t>
            </a:r>
          </a:p>
          <a:p>
            <a:pPr marL="365125" lvl="1" indent="0">
              <a:buFont typeface="Wingdings" panose="05000000000000000000" pitchFamily="2" charset="2"/>
              <a:buNone/>
              <a:defRPr/>
            </a:pPr>
            <a:r>
              <a:rPr lang="en-US" sz="1400" kern="1200" dirty="0"/>
              <a:t>Revise your plan to set out your new activities.</a:t>
            </a:r>
            <a:endParaRPr lang="en-GB"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a:extLst>
              <a:ext uri="{FF2B5EF4-FFF2-40B4-BE49-F238E27FC236}">
                <a16:creationId xmlns:a16="http://schemas.microsoft.com/office/drawing/2014/main" id="{86FC8206-E054-9F0B-02DE-0D5753EE90AE}"/>
              </a:ext>
            </a:extLst>
          </p:cNvPr>
          <p:cNvSpPr>
            <a:spLocks noGrp="1" noChangeArrowheads="1"/>
          </p:cNvSpPr>
          <p:nvPr>
            <p:ph type="title"/>
          </p:nvPr>
        </p:nvSpPr>
        <p:spPr>
          <a:xfrm>
            <a:off x="1258888" y="404813"/>
            <a:ext cx="7650162" cy="939800"/>
          </a:xfrm>
        </p:spPr>
        <p:txBody>
          <a:bodyPr/>
          <a:lstStyle/>
          <a:p>
            <a:r>
              <a:rPr lang="en-US" altLang="en-US" sz="3600" b="1">
                <a:solidFill>
                  <a:srgbClr val="0070C0"/>
                </a:solidFill>
              </a:rPr>
              <a:t>Reviewing Your Goals</a:t>
            </a:r>
          </a:p>
        </p:txBody>
      </p:sp>
      <p:sp>
        <p:nvSpPr>
          <p:cNvPr id="36867" name="Content Placeholder 2">
            <a:extLst>
              <a:ext uri="{FF2B5EF4-FFF2-40B4-BE49-F238E27FC236}">
                <a16:creationId xmlns:a16="http://schemas.microsoft.com/office/drawing/2014/main" id="{7A30F663-0C96-314D-69E3-0713111CE0A2}"/>
              </a:ext>
            </a:extLst>
          </p:cNvPr>
          <p:cNvSpPr>
            <a:spLocks noGrp="1" noChangeArrowheads="1"/>
          </p:cNvSpPr>
          <p:nvPr>
            <p:ph idx="1"/>
          </p:nvPr>
        </p:nvSpPr>
        <p:spPr>
          <a:xfrm>
            <a:off x="323850" y="1844675"/>
            <a:ext cx="4824413" cy="3800475"/>
          </a:xfrm>
        </p:spPr>
        <p:txBody>
          <a:bodyPr/>
          <a:lstStyle/>
          <a:p>
            <a:pPr>
              <a:defRPr/>
            </a:pPr>
            <a:r>
              <a:rPr lang="en-US" altLang="en-US" sz="1600" dirty="0"/>
              <a:t>Every year or so, it is also likely to be helpful to review your personal development goals. </a:t>
            </a:r>
          </a:p>
          <a:p>
            <a:pPr>
              <a:defRPr/>
            </a:pPr>
            <a:endParaRPr lang="en-US" altLang="en-US" sz="1600" dirty="0"/>
          </a:p>
          <a:p>
            <a:pPr>
              <a:defRPr/>
            </a:pPr>
            <a:r>
              <a:rPr lang="en-US" altLang="en-US" sz="1600" dirty="0"/>
              <a:t>As with the review of your planned activity, it is important to set time aside for this process. </a:t>
            </a:r>
          </a:p>
          <a:p>
            <a:pPr>
              <a:defRPr/>
            </a:pPr>
            <a:endParaRPr lang="en-US" altLang="en-US" sz="1600" dirty="0"/>
          </a:p>
          <a:p>
            <a:pPr>
              <a:defRPr/>
            </a:pPr>
            <a:r>
              <a:rPr lang="en-US" altLang="en-US" sz="1600" dirty="0"/>
              <a:t>Again, it is also helpful to document it, because this forces you to articulate your reasoning.</a:t>
            </a:r>
          </a:p>
          <a:p>
            <a:pPr>
              <a:defRPr/>
            </a:pPr>
            <a:endParaRPr lang="en-US" altLang="en-US" sz="1600" dirty="0"/>
          </a:p>
          <a:p>
            <a:pPr>
              <a:defRPr/>
            </a:pPr>
            <a:r>
              <a:rPr lang="en-US" altLang="en-US" sz="1600" dirty="0"/>
              <a:t>Ask yourself:</a:t>
            </a:r>
          </a:p>
          <a:p>
            <a:pPr lvl="1">
              <a:defRPr/>
            </a:pPr>
            <a:r>
              <a:rPr lang="en-US" altLang="en-US" sz="1600" dirty="0"/>
              <a:t>Are these goals really what I want to achieve more than anything else?</a:t>
            </a:r>
          </a:p>
          <a:p>
            <a:pPr lvl="1">
              <a:defRPr/>
            </a:pPr>
            <a:r>
              <a:rPr lang="en-US" altLang="en-US" sz="1600" dirty="0"/>
              <a:t>Do they inspire me to take action?</a:t>
            </a:r>
          </a:p>
          <a:p>
            <a:pPr marL="457200" lvl="1" indent="0">
              <a:buFont typeface="Wingdings" panose="05000000000000000000" pitchFamily="2" charset="2"/>
              <a:buNone/>
              <a:defRPr/>
            </a:pPr>
            <a:endParaRPr lang="en-US" altLang="en-US" sz="1200" dirty="0"/>
          </a:p>
        </p:txBody>
      </p:sp>
      <p:sp>
        <p:nvSpPr>
          <p:cNvPr id="4" name="Content Placeholder 2">
            <a:extLst>
              <a:ext uri="{FF2B5EF4-FFF2-40B4-BE49-F238E27FC236}">
                <a16:creationId xmlns:a16="http://schemas.microsoft.com/office/drawing/2014/main" id="{74AB5628-917B-51DF-C7AD-764F838E53F6}"/>
              </a:ext>
            </a:extLst>
          </p:cNvPr>
          <p:cNvSpPr txBox="1">
            <a:spLocks noChangeArrowheads="1"/>
          </p:cNvSpPr>
          <p:nvPr/>
        </p:nvSpPr>
        <p:spPr bwMode="auto">
          <a:xfrm>
            <a:off x="323850" y="5999163"/>
            <a:ext cx="8280400" cy="54292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altLang="en-US" sz="1600" kern="0" dirty="0"/>
              <a:t>If the answer to either of those is ‘no’, then you probably have the wrong goals.</a:t>
            </a:r>
          </a:p>
          <a:p>
            <a:pPr>
              <a:defRPr/>
            </a:pPr>
            <a:endParaRPr lang="en-US" altLang="en-US" sz="1600" kern="0" dirty="0"/>
          </a:p>
        </p:txBody>
      </p:sp>
      <p:pic>
        <p:nvPicPr>
          <p:cNvPr id="92165" name="Picture 2" descr="A close up of a logo&#10;&#10;Description automatically generated">
            <a:extLst>
              <a:ext uri="{FF2B5EF4-FFF2-40B4-BE49-F238E27FC236}">
                <a16:creationId xmlns:a16="http://schemas.microsoft.com/office/drawing/2014/main" id="{8D1932F2-76A2-ECDE-B6A5-3FD5253386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7975" y="2025650"/>
            <a:ext cx="302895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6" name="Picture 5" descr="A body of water&#10;&#10;Description automatically generated">
            <a:extLst>
              <a:ext uri="{FF2B5EF4-FFF2-40B4-BE49-F238E27FC236}">
                <a16:creationId xmlns:a16="http://schemas.microsoft.com/office/drawing/2014/main" id="{4F4BA1F8-1BE1-A5BD-54F1-B1E571BD56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3700" y="4221163"/>
            <a:ext cx="28575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FE04EBFA-1A9F-671B-2C09-FBCA1872AF76}"/>
              </a:ext>
            </a:extLst>
          </p:cNvPr>
          <p:cNvSpPr>
            <a:spLocks noGrp="1" noChangeArrowheads="1"/>
          </p:cNvSpPr>
          <p:nvPr>
            <p:ph type="title"/>
          </p:nvPr>
        </p:nvSpPr>
        <p:spPr>
          <a:xfrm>
            <a:off x="1258888" y="404813"/>
            <a:ext cx="7650162" cy="939800"/>
          </a:xfrm>
        </p:spPr>
        <p:txBody>
          <a:bodyPr/>
          <a:lstStyle/>
          <a:p>
            <a:r>
              <a:rPr lang="en-US" altLang="en-US" sz="3600" b="1">
                <a:solidFill>
                  <a:srgbClr val="0070C0"/>
                </a:solidFill>
              </a:rPr>
              <a:t>Self-motivation, personal goals and achievement </a:t>
            </a:r>
            <a:endParaRPr lang="en-GB" altLang="en-US" sz="3600" b="1">
              <a:solidFill>
                <a:srgbClr val="0070C0"/>
              </a:solidFill>
            </a:endParaRPr>
          </a:p>
        </p:txBody>
      </p:sp>
      <p:sp>
        <p:nvSpPr>
          <p:cNvPr id="94211" name="Content Placeholder 2">
            <a:extLst>
              <a:ext uri="{FF2B5EF4-FFF2-40B4-BE49-F238E27FC236}">
                <a16:creationId xmlns:a16="http://schemas.microsoft.com/office/drawing/2014/main" id="{7C96F4BF-32B9-C562-1621-02FA6B957F05}"/>
              </a:ext>
            </a:extLst>
          </p:cNvPr>
          <p:cNvSpPr>
            <a:spLocks noGrp="1" noChangeArrowheads="1"/>
          </p:cNvSpPr>
          <p:nvPr>
            <p:ph idx="1"/>
          </p:nvPr>
        </p:nvSpPr>
        <p:spPr>
          <a:xfrm>
            <a:off x="468313" y="1931988"/>
            <a:ext cx="5472112" cy="2505075"/>
          </a:xfrm>
        </p:spPr>
        <p:txBody>
          <a:bodyPr/>
          <a:lstStyle/>
          <a:p>
            <a:r>
              <a:rPr lang="en-US" altLang="en-US" sz="1600"/>
              <a:t>There is a strong correlation between self-motivation, personal goals and achievement. </a:t>
            </a:r>
          </a:p>
          <a:p>
            <a:endParaRPr lang="en-US" altLang="en-US" sz="1600"/>
          </a:p>
          <a:p>
            <a:r>
              <a:rPr lang="en-US" altLang="en-US" sz="1600"/>
              <a:t>In order to get properly motivated, and indeed to achieve, it helps to spend some time thinking about your personal goals and what you want to achieve in your life.</a:t>
            </a:r>
          </a:p>
          <a:p>
            <a:endParaRPr lang="en-US" altLang="en-US" sz="1600"/>
          </a:p>
          <a:p>
            <a:r>
              <a:rPr lang="en-US" altLang="en-US" sz="1600"/>
              <a:t>We all have an inbuilt desire to achieve.</a:t>
            </a:r>
          </a:p>
          <a:p>
            <a:endParaRPr lang="en-US" altLang="en-US" sz="1600"/>
          </a:p>
        </p:txBody>
      </p:sp>
      <p:pic>
        <p:nvPicPr>
          <p:cNvPr id="94212" name="Picture 4" descr="A cup of coffee&#10;&#10;Description automatically generated">
            <a:extLst>
              <a:ext uri="{FF2B5EF4-FFF2-40B4-BE49-F238E27FC236}">
                <a16:creationId xmlns:a16="http://schemas.microsoft.com/office/drawing/2014/main" id="{035B3146-3FAA-D601-A2B6-CAA7656608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9650" y="2060575"/>
            <a:ext cx="2619375"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2">
            <a:extLst>
              <a:ext uri="{FF2B5EF4-FFF2-40B4-BE49-F238E27FC236}">
                <a16:creationId xmlns:a16="http://schemas.microsoft.com/office/drawing/2014/main" id="{A7001D17-788A-4D57-A317-75E0398CB177}"/>
              </a:ext>
            </a:extLst>
          </p:cNvPr>
          <p:cNvSpPr txBox="1">
            <a:spLocks/>
          </p:cNvSpPr>
          <p:nvPr/>
        </p:nvSpPr>
        <p:spPr bwMode="auto">
          <a:xfrm>
            <a:off x="468313" y="4713288"/>
            <a:ext cx="8351837" cy="1739900"/>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sz="1600" b="1" kern="0" dirty="0">
                <a:solidFill>
                  <a:srgbClr val="0070C0"/>
                </a:solidFill>
              </a:rPr>
              <a:t>What we want to achieve, however, is personal to us and may change through life. At school, for example, you may want to achieve good grades, then later you may want to pass your driving test or get a job.</a:t>
            </a:r>
          </a:p>
          <a:p>
            <a:pPr>
              <a:defRPr/>
            </a:pPr>
            <a:endParaRPr lang="en-US" sz="1600" b="1" kern="0" dirty="0"/>
          </a:p>
          <a:p>
            <a:pPr>
              <a:defRPr/>
            </a:pPr>
            <a:r>
              <a:rPr lang="en-US" sz="1600" b="1" kern="0" dirty="0">
                <a:solidFill>
                  <a:srgbClr val="0070C0"/>
                </a:solidFill>
              </a:rPr>
              <a:t>It is important to set yourself clear goals if you wish to achieve your ambitions.</a:t>
            </a:r>
          </a:p>
          <a:p>
            <a:pPr>
              <a:defRPr/>
            </a:pPr>
            <a:endParaRPr lang="en-GB" sz="1600" kern="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59AC4-2860-6852-229B-99497D16E17E}"/>
              </a:ext>
            </a:extLst>
          </p:cNvPr>
          <p:cNvSpPr>
            <a:spLocks noGrp="1"/>
          </p:cNvSpPr>
          <p:nvPr>
            <p:ph type="title"/>
          </p:nvPr>
        </p:nvSpPr>
        <p:spPr>
          <a:xfrm>
            <a:off x="1331913" y="404813"/>
            <a:ext cx="7577137" cy="939800"/>
          </a:xfrm>
        </p:spPr>
        <p:txBody>
          <a:bodyPr/>
          <a:lstStyle/>
          <a:p>
            <a:pPr>
              <a:defRPr/>
            </a:pPr>
            <a:r>
              <a:rPr lang="en-US" sz="3600" b="1" kern="1200" dirty="0">
                <a:solidFill>
                  <a:srgbClr val="0070C0"/>
                </a:solidFill>
                <a:latin typeface="+mn-lt"/>
              </a:rPr>
              <a:t>Making Your Goals SMART</a:t>
            </a:r>
            <a:endParaRPr lang="en-GB" sz="3600" b="1" dirty="0">
              <a:solidFill>
                <a:srgbClr val="0070C0"/>
              </a:solidFill>
              <a:latin typeface="+mn-lt"/>
            </a:endParaRPr>
          </a:p>
        </p:txBody>
      </p:sp>
      <p:sp>
        <p:nvSpPr>
          <p:cNvPr id="3" name="Content Placeholder 2">
            <a:extLst>
              <a:ext uri="{FF2B5EF4-FFF2-40B4-BE49-F238E27FC236}">
                <a16:creationId xmlns:a16="http://schemas.microsoft.com/office/drawing/2014/main" id="{3B33F799-7915-21ED-7470-4514826C1D5B}"/>
              </a:ext>
            </a:extLst>
          </p:cNvPr>
          <p:cNvSpPr>
            <a:spLocks noGrp="1"/>
          </p:cNvSpPr>
          <p:nvPr>
            <p:ph idx="1"/>
          </p:nvPr>
        </p:nvSpPr>
        <p:spPr>
          <a:xfrm>
            <a:off x="541338" y="1916113"/>
            <a:ext cx="8061325" cy="360362"/>
          </a:xfrm>
        </p:spPr>
        <p:txBody>
          <a:bodyPr/>
          <a:lstStyle/>
          <a:p>
            <a:pPr>
              <a:defRPr/>
            </a:pPr>
            <a:r>
              <a:rPr lang="en-US" sz="1800" kern="1200" dirty="0">
                <a:latin typeface="Arial" pitchFamily="34" charset="0"/>
              </a:rPr>
              <a:t>It can be useful to make your goals and sub-goals fit the SMART criteria</a:t>
            </a:r>
            <a:endParaRPr lang="en-GB" sz="1800" dirty="0"/>
          </a:p>
        </p:txBody>
      </p:sp>
      <p:graphicFrame>
        <p:nvGraphicFramePr>
          <p:cNvPr id="4" name="Table 4">
            <a:extLst>
              <a:ext uri="{FF2B5EF4-FFF2-40B4-BE49-F238E27FC236}">
                <a16:creationId xmlns:a16="http://schemas.microsoft.com/office/drawing/2014/main" id="{3D311E56-20E0-0F3D-0E2F-157F032C195A}"/>
              </a:ext>
            </a:extLst>
          </p:cNvPr>
          <p:cNvGraphicFramePr>
            <a:graphicFrameLocks noGrp="1"/>
          </p:cNvGraphicFramePr>
          <p:nvPr/>
        </p:nvGraphicFramePr>
        <p:xfrm>
          <a:off x="504825" y="2420938"/>
          <a:ext cx="8369300" cy="4114800"/>
        </p:xfrm>
        <a:graphic>
          <a:graphicData uri="http://schemas.openxmlformats.org/drawingml/2006/table">
            <a:tbl>
              <a:tblPr firstRow="1" bandRow="1">
                <a:tableStyleId>{5C22544A-7EE6-4342-B048-85BDC9FD1C3A}</a:tableStyleId>
              </a:tblPr>
              <a:tblGrid>
                <a:gridCol w="936082">
                  <a:extLst>
                    <a:ext uri="{9D8B030D-6E8A-4147-A177-3AD203B41FA5}">
                      <a16:colId xmlns:a16="http://schemas.microsoft.com/office/drawing/2014/main" val="20000"/>
                    </a:ext>
                  </a:extLst>
                </a:gridCol>
                <a:gridCol w="7433218">
                  <a:extLst>
                    <a:ext uri="{9D8B030D-6E8A-4147-A177-3AD203B41FA5}">
                      <a16:colId xmlns:a16="http://schemas.microsoft.com/office/drawing/2014/main" val="20001"/>
                    </a:ext>
                  </a:extLst>
                </a:gridCol>
              </a:tblGrid>
              <a:tr h="370840">
                <a:tc>
                  <a:txBody>
                    <a:bodyPr/>
                    <a:lstStyle/>
                    <a:p>
                      <a:pPr algn="ctr"/>
                      <a:r>
                        <a:rPr lang="en-GB" sz="3600" b="1" dirty="0">
                          <a:solidFill>
                            <a:srgbClr val="0070C0"/>
                          </a:solidFill>
                        </a:rPr>
                        <a:t>S</a:t>
                      </a:r>
                    </a:p>
                  </a:txBody>
                  <a:tcPr marL="91438" marR="91438" anchor="ctr"/>
                </a:tc>
                <a:tc>
                  <a:txBody>
                    <a:bodyPr/>
                    <a:lstStyle/>
                    <a:p>
                      <a:r>
                        <a:rPr lang="en-US" sz="1200" b="1" i="0" kern="1200" dirty="0">
                          <a:solidFill>
                            <a:srgbClr val="0070C0"/>
                          </a:solidFill>
                          <a:effectLst/>
                          <a:latin typeface="+mn-lt"/>
                          <a:ea typeface="+mn-ea"/>
                          <a:cs typeface="+mn-cs"/>
                        </a:rPr>
                        <a:t>Specific</a:t>
                      </a:r>
                    </a:p>
                    <a:p>
                      <a:r>
                        <a:rPr lang="en-US" sz="1200" b="0" i="1" kern="1200" dirty="0">
                          <a:solidFill>
                            <a:schemeClr val="tx1"/>
                          </a:solidFill>
                          <a:effectLst/>
                          <a:latin typeface="+mn-lt"/>
                          <a:ea typeface="+mn-ea"/>
                          <a:cs typeface="+mn-cs"/>
                        </a:rPr>
                        <a:t>Make each goal specific, so you know exactly what it is.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Take some time to clearly define your goals and sub-goals, the more detail about what your goals are and how you intend to achieve them the better.</a:t>
                      </a:r>
                    </a:p>
                  </a:txBody>
                  <a:tcPr marL="91438" marR="91438"/>
                </a:tc>
                <a:extLst>
                  <a:ext uri="{0D108BD9-81ED-4DB2-BD59-A6C34878D82A}">
                    <a16:rowId xmlns:a16="http://schemas.microsoft.com/office/drawing/2014/main" val="10000"/>
                  </a:ext>
                </a:extLst>
              </a:tr>
              <a:tr h="370840">
                <a:tc>
                  <a:txBody>
                    <a:bodyPr/>
                    <a:lstStyle/>
                    <a:p>
                      <a:pPr algn="ctr"/>
                      <a:r>
                        <a:rPr lang="en-GB" sz="3600" b="1" dirty="0">
                          <a:solidFill>
                            <a:srgbClr val="0070C0"/>
                          </a:solidFill>
                        </a:rPr>
                        <a:t>M</a:t>
                      </a:r>
                    </a:p>
                  </a:txBody>
                  <a:tcPr marL="91438" marR="91438" anchor="ctr"/>
                </a:tc>
                <a:tc>
                  <a:txBody>
                    <a:bodyPr/>
                    <a:lstStyle/>
                    <a:p>
                      <a:r>
                        <a:rPr lang="en-US" sz="1200" b="1" i="0" kern="1200" dirty="0">
                          <a:solidFill>
                            <a:srgbClr val="0070C0"/>
                          </a:solidFill>
                          <a:effectLst/>
                          <a:latin typeface="+mn-lt"/>
                          <a:ea typeface="+mn-ea"/>
                          <a:cs typeface="+mn-cs"/>
                        </a:rPr>
                        <a:t>Measurable</a:t>
                      </a:r>
                    </a:p>
                    <a:p>
                      <a:r>
                        <a:rPr lang="en-US" sz="1200" b="0" i="1" kern="1200" dirty="0">
                          <a:solidFill>
                            <a:schemeClr val="dk1"/>
                          </a:solidFill>
                          <a:effectLst/>
                          <a:latin typeface="+mn-lt"/>
                          <a:ea typeface="+mn-ea"/>
                          <a:cs typeface="+mn-cs"/>
                        </a:rPr>
                        <a:t>Make each goal measurable so you know how you are progressing.</a:t>
                      </a:r>
                      <a:endParaRPr lang="en-US" sz="1200" b="0" i="0" kern="1200" dirty="0">
                        <a:solidFill>
                          <a:schemeClr val="dk1"/>
                        </a:solidFill>
                        <a:effectLst/>
                        <a:latin typeface="+mn-lt"/>
                        <a:ea typeface="+mn-ea"/>
                        <a:cs typeface="+mn-cs"/>
                      </a:endParaRPr>
                    </a:p>
                    <a:p>
                      <a:r>
                        <a:rPr lang="en-US" sz="1200" b="0" i="0" kern="1200" dirty="0">
                          <a:solidFill>
                            <a:schemeClr val="dk1"/>
                          </a:solidFill>
                          <a:effectLst/>
                          <a:latin typeface="+mn-lt"/>
                          <a:ea typeface="+mn-ea"/>
                          <a:cs typeface="+mn-cs"/>
                        </a:rPr>
                        <a:t>You need to be able to see how you are progressing to reaching your goals. What metrics can you use to measure your progress?</a:t>
                      </a:r>
                    </a:p>
                  </a:txBody>
                  <a:tcPr marL="91438" marR="91438"/>
                </a:tc>
                <a:extLst>
                  <a:ext uri="{0D108BD9-81ED-4DB2-BD59-A6C34878D82A}">
                    <a16:rowId xmlns:a16="http://schemas.microsoft.com/office/drawing/2014/main" val="10001"/>
                  </a:ext>
                </a:extLst>
              </a:tr>
              <a:tr h="370840">
                <a:tc>
                  <a:txBody>
                    <a:bodyPr/>
                    <a:lstStyle/>
                    <a:p>
                      <a:pPr algn="ctr"/>
                      <a:r>
                        <a:rPr lang="en-GB" sz="3600" b="1" dirty="0">
                          <a:solidFill>
                            <a:srgbClr val="0070C0"/>
                          </a:solidFill>
                        </a:rPr>
                        <a:t>A</a:t>
                      </a:r>
                    </a:p>
                  </a:txBody>
                  <a:tcPr marL="91438" marR="91438" anchor="ctr"/>
                </a:tc>
                <a:tc>
                  <a:txBody>
                    <a:bodyPr/>
                    <a:lstStyle/>
                    <a:p>
                      <a:r>
                        <a:rPr lang="en-US" sz="1200" b="1" i="0" kern="1200" dirty="0">
                          <a:solidFill>
                            <a:srgbClr val="0070C0"/>
                          </a:solidFill>
                          <a:effectLst/>
                          <a:latin typeface="+mn-lt"/>
                          <a:ea typeface="+mn-ea"/>
                          <a:cs typeface="+mn-cs"/>
                        </a:rPr>
                        <a:t>Attainable</a:t>
                      </a:r>
                    </a:p>
                    <a:p>
                      <a:r>
                        <a:rPr lang="en-US" sz="1200" b="0" i="1" kern="1200" dirty="0">
                          <a:solidFill>
                            <a:schemeClr val="dk1"/>
                          </a:solidFill>
                          <a:effectLst/>
                          <a:latin typeface="+mn-lt"/>
                          <a:ea typeface="+mn-ea"/>
                          <a:cs typeface="+mn-cs"/>
                        </a:rPr>
                        <a:t>Don’t set impossible goals, make sure each goal and sub-goal is attainable.</a:t>
                      </a:r>
                      <a:endParaRPr lang="en-US" sz="1200" b="0" i="0" kern="1200" dirty="0">
                        <a:solidFill>
                          <a:schemeClr val="dk1"/>
                        </a:solidFill>
                        <a:effectLst/>
                        <a:latin typeface="+mn-lt"/>
                        <a:ea typeface="+mn-ea"/>
                        <a:cs typeface="+mn-cs"/>
                      </a:endParaRPr>
                    </a:p>
                    <a:p>
                      <a:r>
                        <a:rPr lang="en-US" sz="1200" b="0" i="0" kern="1200" dirty="0">
                          <a:solidFill>
                            <a:schemeClr val="dk1"/>
                          </a:solidFill>
                          <a:effectLst/>
                          <a:latin typeface="+mn-lt"/>
                          <a:ea typeface="+mn-ea"/>
                          <a:cs typeface="+mn-cs"/>
                        </a:rPr>
                        <a:t>The larger the goal the more impossible it may seem but if you split it down into simple sub-goals then you will find each step is more attainable.</a:t>
                      </a:r>
                    </a:p>
                  </a:txBody>
                  <a:tcPr marL="91438" marR="91438"/>
                </a:tc>
                <a:extLst>
                  <a:ext uri="{0D108BD9-81ED-4DB2-BD59-A6C34878D82A}">
                    <a16:rowId xmlns:a16="http://schemas.microsoft.com/office/drawing/2014/main" val="10002"/>
                  </a:ext>
                </a:extLst>
              </a:tr>
              <a:tr h="370840">
                <a:tc>
                  <a:txBody>
                    <a:bodyPr/>
                    <a:lstStyle/>
                    <a:p>
                      <a:pPr algn="ctr"/>
                      <a:r>
                        <a:rPr lang="en-GB" sz="3600" b="1" dirty="0">
                          <a:solidFill>
                            <a:srgbClr val="0070C0"/>
                          </a:solidFill>
                        </a:rPr>
                        <a:t>R</a:t>
                      </a:r>
                    </a:p>
                  </a:txBody>
                  <a:tcPr marL="91438" marR="91438" anchor="ctr"/>
                </a:tc>
                <a:tc>
                  <a:txBody>
                    <a:bodyPr/>
                    <a:lstStyle/>
                    <a:p>
                      <a:r>
                        <a:rPr lang="en-US" sz="1200" b="1" i="0" kern="1200" dirty="0">
                          <a:solidFill>
                            <a:srgbClr val="0070C0"/>
                          </a:solidFill>
                          <a:effectLst/>
                          <a:latin typeface="+mn-lt"/>
                          <a:ea typeface="+mn-ea"/>
                          <a:cs typeface="+mn-cs"/>
                        </a:rPr>
                        <a:t>Relevant</a:t>
                      </a:r>
                    </a:p>
                    <a:p>
                      <a:r>
                        <a:rPr lang="en-US" sz="1200" b="0" i="1" kern="1200" dirty="0">
                          <a:solidFill>
                            <a:schemeClr val="dk1"/>
                          </a:solidFill>
                          <a:effectLst/>
                          <a:latin typeface="+mn-lt"/>
                          <a:ea typeface="+mn-ea"/>
                          <a:cs typeface="+mn-cs"/>
                        </a:rPr>
                        <a:t>Make your goals relevant.</a:t>
                      </a:r>
                      <a:endParaRPr lang="en-US" sz="1200" b="0" i="0" kern="1200" dirty="0">
                        <a:solidFill>
                          <a:schemeClr val="dk1"/>
                        </a:solidFill>
                        <a:effectLst/>
                        <a:latin typeface="+mn-lt"/>
                        <a:ea typeface="+mn-ea"/>
                        <a:cs typeface="+mn-cs"/>
                      </a:endParaRPr>
                    </a:p>
                    <a:p>
                      <a:r>
                        <a:rPr lang="en-US" sz="1200" b="0" i="0" kern="1200" dirty="0">
                          <a:solidFill>
                            <a:schemeClr val="dk1"/>
                          </a:solidFill>
                          <a:effectLst/>
                          <a:latin typeface="+mn-lt"/>
                          <a:ea typeface="+mn-ea"/>
                          <a:cs typeface="+mn-cs"/>
                        </a:rPr>
                        <a:t>Ensure your sub-goals are relevant to your life goals. Try not to set goals that don't ultimately help you to achieve your overall life goals.</a:t>
                      </a:r>
                    </a:p>
                  </a:txBody>
                  <a:tcPr marL="91438" marR="91438"/>
                </a:tc>
                <a:extLst>
                  <a:ext uri="{0D108BD9-81ED-4DB2-BD59-A6C34878D82A}">
                    <a16:rowId xmlns:a16="http://schemas.microsoft.com/office/drawing/2014/main" val="10003"/>
                  </a:ext>
                </a:extLst>
              </a:tr>
              <a:tr h="370840">
                <a:tc>
                  <a:txBody>
                    <a:bodyPr/>
                    <a:lstStyle/>
                    <a:p>
                      <a:pPr algn="ctr"/>
                      <a:r>
                        <a:rPr lang="en-GB" sz="3600" b="1" dirty="0">
                          <a:solidFill>
                            <a:srgbClr val="0070C0"/>
                          </a:solidFill>
                        </a:rPr>
                        <a:t>T</a:t>
                      </a:r>
                    </a:p>
                  </a:txBody>
                  <a:tcPr marL="91438" marR="91438" anchor="ctr"/>
                </a:tc>
                <a:tc>
                  <a:txBody>
                    <a:bodyPr/>
                    <a:lstStyle/>
                    <a:p>
                      <a:r>
                        <a:rPr lang="en-US" sz="1200" b="1" i="0" kern="1200" dirty="0">
                          <a:solidFill>
                            <a:srgbClr val="0070C0"/>
                          </a:solidFill>
                          <a:effectLst/>
                          <a:latin typeface="+mn-lt"/>
                          <a:ea typeface="+mn-ea"/>
                          <a:cs typeface="+mn-cs"/>
                        </a:rPr>
                        <a:t>Timed</a:t>
                      </a:r>
                    </a:p>
                    <a:p>
                      <a:r>
                        <a:rPr lang="en-US" sz="1200" b="0" i="1" kern="1200" dirty="0">
                          <a:solidFill>
                            <a:schemeClr val="dk1"/>
                          </a:solidFill>
                          <a:effectLst/>
                          <a:latin typeface="+mn-lt"/>
                          <a:ea typeface="+mn-ea"/>
                          <a:cs typeface="+mn-cs"/>
                        </a:rPr>
                        <a:t>Set time-limits or deadlines for each goal and sub-goal.</a:t>
                      </a:r>
                      <a:endParaRPr lang="en-US" sz="1200" b="0" i="0" kern="1200" dirty="0">
                        <a:solidFill>
                          <a:schemeClr val="dk1"/>
                        </a:solidFill>
                        <a:effectLst/>
                        <a:latin typeface="+mn-lt"/>
                        <a:ea typeface="+mn-ea"/>
                        <a:cs typeface="+mn-cs"/>
                      </a:endParaRPr>
                    </a:p>
                    <a:p>
                      <a:r>
                        <a:rPr lang="en-US" sz="1200" b="0" i="0" kern="1200" dirty="0">
                          <a:solidFill>
                            <a:schemeClr val="dk1"/>
                          </a:solidFill>
                          <a:effectLst/>
                          <a:latin typeface="+mn-lt"/>
                          <a:ea typeface="+mn-ea"/>
                          <a:cs typeface="+mn-cs"/>
                        </a:rPr>
                        <a:t>If you can set and stick to realistic deadlines, then you'll avoid too much distraction or procrastination and keep yourself motivated.</a:t>
                      </a:r>
                    </a:p>
                  </a:txBody>
                  <a:tcPr marL="91438" marR="91438"/>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F5A1A4C5-6A3F-BD48-807A-23F374623D7F}"/>
              </a:ext>
            </a:extLst>
          </p:cNvPr>
          <p:cNvSpPr>
            <a:spLocks noGrp="1" noChangeArrowheads="1"/>
          </p:cNvSpPr>
          <p:nvPr>
            <p:ph type="title"/>
          </p:nvPr>
        </p:nvSpPr>
        <p:spPr>
          <a:xfrm>
            <a:off x="1187450" y="404813"/>
            <a:ext cx="7721600" cy="939800"/>
          </a:xfrm>
        </p:spPr>
        <p:txBody>
          <a:bodyPr/>
          <a:lstStyle/>
          <a:p>
            <a:r>
              <a:rPr lang="en-US" altLang="en-US" sz="3600" b="1">
                <a:solidFill>
                  <a:srgbClr val="0070C0"/>
                </a:solidFill>
              </a:rPr>
              <a:t>Changing the picture</a:t>
            </a:r>
          </a:p>
        </p:txBody>
      </p:sp>
      <p:sp>
        <p:nvSpPr>
          <p:cNvPr id="97283" name="Content Placeholder 2">
            <a:extLst>
              <a:ext uri="{FF2B5EF4-FFF2-40B4-BE49-F238E27FC236}">
                <a16:creationId xmlns:a16="http://schemas.microsoft.com/office/drawing/2014/main" id="{2D883A4E-C7D2-4082-7E55-C2BABA0E9CA1}"/>
              </a:ext>
            </a:extLst>
          </p:cNvPr>
          <p:cNvSpPr>
            <a:spLocks noGrp="1" noChangeArrowheads="1"/>
          </p:cNvSpPr>
          <p:nvPr>
            <p:ph idx="1"/>
          </p:nvPr>
        </p:nvSpPr>
        <p:spPr>
          <a:xfrm>
            <a:off x="395288" y="1844675"/>
            <a:ext cx="8353425" cy="4503738"/>
          </a:xfrm>
        </p:spPr>
        <p:txBody>
          <a:bodyPr/>
          <a:lstStyle/>
          <a:p>
            <a:r>
              <a:rPr lang="en-US" altLang="en-US" sz="1600"/>
              <a:t>If you are struggling to identify your real goals, try doing something different.</a:t>
            </a:r>
          </a:p>
          <a:p>
            <a:r>
              <a:rPr lang="en-US" altLang="en-US" sz="1600"/>
              <a:t>For example, take yourself away for the weekend and go for a long walk. Walk up a hill and sit and look at the view.</a:t>
            </a:r>
          </a:p>
          <a:p>
            <a:endParaRPr lang="en-US" altLang="en-US" sz="1600"/>
          </a:p>
          <a:p>
            <a:r>
              <a:rPr lang="en-US" altLang="en-US" sz="1600"/>
              <a:t>Think about what matters to you. </a:t>
            </a:r>
            <a:r>
              <a:rPr lang="en-US" altLang="en-US" sz="1600" b="1">
                <a:solidFill>
                  <a:srgbClr val="0070C0"/>
                </a:solidFill>
              </a:rPr>
              <a:t>What do you really want out of life?</a:t>
            </a:r>
          </a:p>
          <a:p>
            <a:endParaRPr lang="en-US" altLang="en-US" sz="1600">
              <a:solidFill>
                <a:srgbClr val="0070C0"/>
              </a:solidFill>
            </a:endParaRPr>
          </a:p>
          <a:p>
            <a:r>
              <a:rPr lang="en-US" altLang="en-US" sz="1600"/>
              <a:t>The advantage of going somewhere outdoors is that the landscape has been there a long time, and it has a way of making things look simpler. But you can try doing almost anything that takes you away from your usual environment and gives you time to think.</a:t>
            </a:r>
          </a:p>
          <a:p>
            <a:endParaRPr lang="en-US" altLang="en-US" sz="1600"/>
          </a:p>
          <a:p>
            <a:r>
              <a:rPr lang="en-US" altLang="en-US" sz="1600"/>
              <a:t>It is fine if the answer is ‘</a:t>
            </a:r>
            <a:r>
              <a:rPr lang="en-US" altLang="en-US" sz="1600" i="1">
                <a:solidFill>
                  <a:srgbClr val="0070C0"/>
                </a:solidFill>
              </a:rPr>
              <a:t>I don’t really have any goals right now, because I’m pretty happy with my life</a:t>
            </a:r>
            <a:r>
              <a:rPr lang="en-US" altLang="en-US" sz="1600">
                <a:solidFill>
                  <a:srgbClr val="0070C0"/>
                </a:solidFill>
              </a:rPr>
              <a:t>’. </a:t>
            </a:r>
            <a:r>
              <a:rPr lang="en-US" altLang="en-US" sz="1600"/>
              <a:t>In that case, give yourself a break and don’t worry too much about personal development for a bit. But do come back to it in a few months, a year at most, and make sure that this is still the case.</a:t>
            </a:r>
          </a:p>
          <a:p>
            <a:endParaRPr lang="en-US" altLang="en-US" sz="1600"/>
          </a:p>
        </p:txBody>
      </p:sp>
      <p:pic>
        <p:nvPicPr>
          <p:cNvPr id="97284" name="Picture 2" descr="A close up of a piece of paper&#10;&#10;Description automatically generated">
            <a:extLst>
              <a:ext uri="{FF2B5EF4-FFF2-40B4-BE49-F238E27FC236}">
                <a16:creationId xmlns:a16="http://schemas.microsoft.com/office/drawing/2014/main" id="{E5CC5E2F-FF76-A813-46F6-4EFA18CEC5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5638" y="227013"/>
            <a:ext cx="1916112"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99448403-1D48-0F26-EE9B-F48CD29E3740}"/>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Reviewing your Life Goals</a:t>
            </a:r>
          </a:p>
        </p:txBody>
      </p:sp>
      <p:sp>
        <p:nvSpPr>
          <p:cNvPr id="3" name="Content Placeholder 2">
            <a:extLst>
              <a:ext uri="{FF2B5EF4-FFF2-40B4-BE49-F238E27FC236}">
                <a16:creationId xmlns:a16="http://schemas.microsoft.com/office/drawing/2014/main" id="{B1EB846B-58B0-6DF6-862B-DF3CD31C173D}"/>
              </a:ext>
            </a:extLst>
          </p:cNvPr>
          <p:cNvSpPr>
            <a:spLocks noGrp="1"/>
          </p:cNvSpPr>
          <p:nvPr>
            <p:ph idx="1"/>
          </p:nvPr>
        </p:nvSpPr>
        <p:spPr>
          <a:xfrm>
            <a:off x="452438" y="2257425"/>
            <a:ext cx="6408737" cy="3711575"/>
          </a:xfrm>
        </p:spPr>
        <p:txBody>
          <a:bodyPr/>
          <a:lstStyle/>
          <a:p>
            <a:pPr>
              <a:defRPr/>
            </a:pPr>
            <a:r>
              <a:rPr lang="en-US" sz="1600" b="1" kern="1200" dirty="0">
                <a:solidFill>
                  <a:srgbClr val="0070C0"/>
                </a:solidFill>
              </a:rPr>
              <a:t>As with anything in life, just setting goals is not enough.</a:t>
            </a:r>
          </a:p>
          <a:p>
            <a:pPr>
              <a:defRPr/>
            </a:pPr>
            <a:r>
              <a:rPr lang="en-US" sz="1600" kern="1200" dirty="0"/>
              <a:t>You have to review your goals regularly, perhaps every few months, and certainly every year, to make sure that:</a:t>
            </a:r>
          </a:p>
          <a:p>
            <a:pPr lvl="1">
              <a:defRPr/>
            </a:pPr>
            <a:r>
              <a:rPr lang="en-US" sz="1600" kern="1200" dirty="0">
                <a:ea typeface="+mn-ea"/>
              </a:rPr>
              <a:t>The goals are still relevant to what you want to achieve; and</a:t>
            </a:r>
          </a:p>
          <a:p>
            <a:pPr lvl="1">
              <a:defRPr/>
            </a:pPr>
            <a:r>
              <a:rPr lang="en-US" sz="1600" kern="1200" dirty="0">
                <a:ea typeface="+mn-ea"/>
              </a:rPr>
              <a:t>You are on track to achieve them.</a:t>
            </a:r>
          </a:p>
          <a:p>
            <a:pPr>
              <a:defRPr/>
            </a:pPr>
            <a:r>
              <a:rPr lang="en-US" sz="1600" kern="1200" dirty="0"/>
              <a:t>If not, you need to revise them, in line with your current situation.</a:t>
            </a:r>
          </a:p>
          <a:p>
            <a:pPr>
              <a:defRPr/>
            </a:pPr>
            <a:endParaRPr lang="en-US" sz="1600" kern="1200" dirty="0"/>
          </a:p>
          <a:p>
            <a:pPr>
              <a:defRPr/>
            </a:pPr>
            <a:r>
              <a:rPr lang="en-US" sz="1600" b="1" kern="1200" dirty="0">
                <a:solidFill>
                  <a:srgbClr val="0070C0"/>
                </a:solidFill>
              </a:rPr>
              <a:t>Your goals need to motivate you and excite you</a:t>
            </a:r>
          </a:p>
          <a:p>
            <a:pPr>
              <a:defRPr/>
            </a:pPr>
            <a:r>
              <a:rPr lang="en-US" sz="1600" kern="1200" dirty="0"/>
              <a:t>It doesn’t matter if you haven’t had as much time as you would have liked to devote to learning to play the piano; it does matter if you haven’t done anything towards it because you’re really not that bothered about it.</a:t>
            </a:r>
          </a:p>
          <a:p>
            <a:pPr>
              <a:defRPr/>
            </a:pPr>
            <a:endParaRPr lang="en-GB" sz="1600" dirty="0"/>
          </a:p>
        </p:txBody>
      </p:sp>
      <p:pic>
        <p:nvPicPr>
          <p:cNvPr id="99332" name="Picture 4" descr="A picture containing drawing&#10;&#10;Description automatically generated">
            <a:extLst>
              <a:ext uri="{FF2B5EF4-FFF2-40B4-BE49-F238E27FC236}">
                <a16:creationId xmlns:a16="http://schemas.microsoft.com/office/drawing/2014/main" id="{78853836-5F92-DA08-4E7F-DAB5EC2D6B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1363" y="2349500"/>
            <a:ext cx="1600200"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8495808C-80FE-1232-DF0B-4A64AF0DDE69}"/>
              </a:ext>
            </a:extLst>
          </p:cNvPr>
          <p:cNvSpPr>
            <a:spLocks noGrp="1" noChangeArrowheads="1"/>
          </p:cNvSpPr>
          <p:nvPr>
            <p:ph type="title"/>
          </p:nvPr>
        </p:nvSpPr>
        <p:spPr/>
        <p:txBody>
          <a:bodyPr/>
          <a:lstStyle/>
          <a:p>
            <a:r>
              <a:rPr lang="en-US" altLang="en-US" sz="3200" b="1">
                <a:solidFill>
                  <a:srgbClr val="0070C0"/>
                </a:solidFill>
              </a:rPr>
              <a:t>Moving Towards Reflective Practice</a:t>
            </a:r>
          </a:p>
        </p:txBody>
      </p:sp>
      <p:sp>
        <p:nvSpPr>
          <p:cNvPr id="101379" name="Content Placeholder 2">
            <a:extLst>
              <a:ext uri="{FF2B5EF4-FFF2-40B4-BE49-F238E27FC236}">
                <a16:creationId xmlns:a16="http://schemas.microsoft.com/office/drawing/2014/main" id="{F67DB86C-1798-3AD6-F4D8-41181B3C7440}"/>
              </a:ext>
            </a:extLst>
          </p:cNvPr>
          <p:cNvSpPr>
            <a:spLocks noGrp="1" noChangeArrowheads="1"/>
          </p:cNvSpPr>
          <p:nvPr>
            <p:ph idx="1"/>
          </p:nvPr>
        </p:nvSpPr>
        <p:spPr>
          <a:xfrm>
            <a:off x="395288" y="1949450"/>
            <a:ext cx="4321175" cy="3135313"/>
          </a:xfrm>
        </p:spPr>
        <p:txBody>
          <a:bodyPr/>
          <a:lstStyle/>
          <a:p>
            <a:r>
              <a:rPr lang="en-US" altLang="en-US" sz="1600"/>
              <a:t>In time, regular review and reflection on what you have achieved should become a habit. </a:t>
            </a:r>
          </a:p>
          <a:p>
            <a:r>
              <a:rPr lang="en-US" altLang="en-US" sz="1600"/>
              <a:t>You may find it helpful to read our page on </a:t>
            </a:r>
            <a:r>
              <a:rPr lang="en-US" altLang="en-US" sz="1600" b="1">
                <a:solidFill>
                  <a:srgbClr val="0070C0"/>
                </a:solidFill>
              </a:rPr>
              <a:t>Reflective Practice</a:t>
            </a:r>
            <a:r>
              <a:rPr lang="en-US" altLang="en-US" sz="1600">
                <a:solidFill>
                  <a:srgbClr val="0070C0"/>
                </a:solidFill>
              </a:rPr>
              <a:t> </a:t>
            </a:r>
            <a:r>
              <a:rPr lang="en-US" altLang="en-US" sz="1600"/>
              <a:t>to understand more about this.</a:t>
            </a:r>
          </a:p>
          <a:p>
            <a:r>
              <a:rPr lang="en-US" altLang="en-US" sz="1600"/>
              <a:t>The process outlined on this page of reviewing your plans and goals on a regular basis is a step in that direction.</a:t>
            </a:r>
          </a:p>
          <a:p>
            <a:r>
              <a:rPr lang="en-US" altLang="en-US" sz="1600"/>
              <a:t>It ensures that you set aside time for reflection, and hopefully, that you start to document your thinking and progress on personal development.</a:t>
            </a:r>
          </a:p>
        </p:txBody>
      </p:sp>
      <p:sp>
        <p:nvSpPr>
          <p:cNvPr id="4" name="Content Placeholder 2">
            <a:extLst>
              <a:ext uri="{FF2B5EF4-FFF2-40B4-BE49-F238E27FC236}">
                <a16:creationId xmlns:a16="http://schemas.microsoft.com/office/drawing/2014/main" id="{D65C4CC7-8C98-F04E-0E0A-2003928BB0E8}"/>
              </a:ext>
            </a:extLst>
          </p:cNvPr>
          <p:cNvSpPr txBox="1">
            <a:spLocks noChangeArrowheads="1"/>
          </p:cNvSpPr>
          <p:nvPr/>
        </p:nvSpPr>
        <p:spPr bwMode="auto">
          <a:xfrm>
            <a:off x="420688" y="5786438"/>
            <a:ext cx="8502650" cy="703262"/>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altLang="en-US" sz="1600" kern="0" dirty="0"/>
              <a:t>Remember, though, that there is no rush. </a:t>
            </a:r>
          </a:p>
          <a:p>
            <a:pPr>
              <a:defRPr/>
            </a:pPr>
            <a:r>
              <a:rPr lang="en-US" altLang="en-US" sz="1600" kern="0" dirty="0"/>
              <a:t>There is a reason why personal development is sometimes called </a:t>
            </a:r>
            <a:r>
              <a:rPr lang="en-US" altLang="en-US" sz="1600" b="1" kern="0" dirty="0">
                <a:solidFill>
                  <a:srgbClr val="0070C0"/>
                </a:solidFill>
              </a:rPr>
              <a:t>‘lifelong learning’…</a:t>
            </a:r>
          </a:p>
          <a:p>
            <a:pPr>
              <a:defRPr/>
            </a:pPr>
            <a:endParaRPr lang="en-US" altLang="en-US" sz="1600" kern="0" dirty="0"/>
          </a:p>
        </p:txBody>
      </p:sp>
      <p:pic>
        <p:nvPicPr>
          <p:cNvPr id="101381" name="Picture 2" descr="A picture containing food&#10;&#10;Description automatically generated">
            <a:extLst>
              <a:ext uri="{FF2B5EF4-FFF2-40B4-BE49-F238E27FC236}">
                <a16:creationId xmlns:a16="http://schemas.microsoft.com/office/drawing/2014/main" id="{0AF0FDB1-58E1-D741-C739-15C6768343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1738" y="1738313"/>
            <a:ext cx="3687762" cy="207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2" name="Picture 5" descr="A close up of a sign&#10;&#10;Description automatically generated">
            <a:extLst>
              <a:ext uri="{FF2B5EF4-FFF2-40B4-BE49-F238E27FC236}">
                <a16:creationId xmlns:a16="http://schemas.microsoft.com/office/drawing/2014/main" id="{C3579E65-3E9E-875E-99E7-07FF871293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1000" y="3978275"/>
            <a:ext cx="27908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a:extLst>
              <a:ext uri="{FF2B5EF4-FFF2-40B4-BE49-F238E27FC236}">
                <a16:creationId xmlns:a16="http://schemas.microsoft.com/office/drawing/2014/main" id="{31D5AE4C-9DCB-FA7E-9076-967C709AF0A4}"/>
              </a:ext>
            </a:extLst>
          </p:cNvPr>
          <p:cNvSpPr>
            <a:spLocks noGrp="1" noChangeArrowheads="1"/>
          </p:cNvSpPr>
          <p:nvPr>
            <p:ph type="title"/>
          </p:nvPr>
        </p:nvSpPr>
        <p:spPr>
          <a:xfrm>
            <a:off x="1331913" y="404813"/>
            <a:ext cx="7577137" cy="939800"/>
          </a:xfrm>
        </p:spPr>
        <p:txBody>
          <a:bodyPr/>
          <a:lstStyle/>
          <a:p>
            <a:r>
              <a:rPr lang="en-GB" altLang="en-US" sz="3600" b="1">
                <a:solidFill>
                  <a:srgbClr val="FF0000"/>
                </a:solidFill>
              </a:rPr>
              <a:t>Activity</a:t>
            </a:r>
          </a:p>
        </p:txBody>
      </p:sp>
      <p:sp>
        <p:nvSpPr>
          <p:cNvPr id="3" name="Content Placeholder 2">
            <a:extLst>
              <a:ext uri="{FF2B5EF4-FFF2-40B4-BE49-F238E27FC236}">
                <a16:creationId xmlns:a16="http://schemas.microsoft.com/office/drawing/2014/main" id="{DD0FB70B-0EFF-13C7-1C36-197F3C66B7A9}"/>
              </a:ext>
            </a:extLst>
          </p:cNvPr>
          <p:cNvSpPr>
            <a:spLocks noGrp="1"/>
          </p:cNvSpPr>
          <p:nvPr>
            <p:ph idx="1"/>
          </p:nvPr>
        </p:nvSpPr>
        <p:spPr>
          <a:xfrm>
            <a:off x="431800" y="1773238"/>
            <a:ext cx="8280400" cy="4503737"/>
          </a:xfrm>
        </p:spPr>
        <p:txBody>
          <a:bodyPr/>
          <a:lstStyle/>
          <a:p>
            <a:pPr>
              <a:defRPr/>
            </a:pPr>
            <a:r>
              <a:rPr lang="en-US" sz="1600" b="1" kern="1200" dirty="0">
                <a:solidFill>
                  <a:srgbClr val="0070C0"/>
                </a:solidFill>
              </a:rPr>
              <a:t>Identifying areas for improvement in your personal development plan </a:t>
            </a:r>
          </a:p>
          <a:p>
            <a:pPr>
              <a:defRPr/>
            </a:pPr>
            <a:endParaRPr lang="en-US" sz="1600" b="1" kern="1200" dirty="0">
              <a:solidFill>
                <a:srgbClr val="0070C0"/>
              </a:solidFill>
            </a:endParaRPr>
          </a:p>
          <a:p>
            <a:pPr>
              <a:defRPr/>
            </a:pPr>
            <a:r>
              <a:rPr lang="en-US" sz="1600" kern="1200" dirty="0"/>
              <a:t>Reviewing progress on a personal development plan will automatically help you identify different directions that you can go within your current role. </a:t>
            </a:r>
          </a:p>
          <a:p>
            <a:pPr>
              <a:defRPr/>
            </a:pPr>
            <a:endParaRPr lang="en-US" sz="1600" kern="1200" dirty="0"/>
          </a:p>
          <a:p>
            <a:pPr>
              <a:defRPr/>
            </a:pPr>
            <a:r>
              <a:rPr lang="en-US" sz="1600" kern="1200" dirty="0"/>
              <a:t>The specific areas you should look at are:</a:t>
            </a:r>
          </a:p>
          <a:p>
            <a:pPr lvl="1">
              <a:defRPr/>
            </a:pPr>
            <a:r>
              <a:rPr lang="en-US" sz="1600" kern="1200" dirty="0">
                <a:ea typeface="+mn-ea"/>
              </a:rPr>
              <a:t>Progressed against set targets.</a:t>
            </a:r>
          </a:p>
          <a:p>
            <a:pPr lvl="1">
              <a:defRPr/>
            </a:pPr>
            <a:r>
              <a:rPr lang="en-US" sz="1600" kern="1200" dirty="0"/>
              <a:t>K</a:t>
            </a:r>
            <a:r>
              <a:rPr lang="en-US" sz="1600" kern="1200" dirty="0">
                <a:ea typeface="+mn-ea"/>
              </a:rPr>
              <a:t>ey communication skills needed within your present role and identify how you can improve on these </a:t>
            </a:r>
          </a:p>
          <a:p>
            <a:pPr lvl="1">
              <a:defRPr/>
            </a:pPr>
            <a:r>
              <a:rPr lang="en-US" sz="1600" kern="1200" dirty="0">
                <a:ea typeface="+mn-ea"/>
              </a:rPr>
              <a:t>Technical skills that you need to develop </a:t>
            </a:r>
            <a:endParaRPr lang="en-US" sz="1600" kern="1200" dirty="0"/>
          </a:p>
          <a:p>
            <a:pPr lvl="1">
              <a:defRPr/>
            </a:pPr>
            <a:r>
              <a:rPr lang="en-US" sz="1600" kern="1200" dirty="0">
                <a:ea typeface="+mn-ea"/>
              </a:rPr>
              <a:t>Other areas that you can identify to be improve as part of a personal development plan</a:t>
            </a:r>
          </a:p>
          <a:p>
            <a:pPr lvl="1">
              <a:defRPr/>
            </a:pPr>
            <a:r>
              <a:rPr lang="en-US" sz="1600" kern="1200" dirty="0">
                <a:ea typeface="+mn-ea"/>
              </a:rPr>
              <a:t>Set new targets and look at additional training opportunities which will help you get the best out of your personal development within the workplace.</a:t>
            </a:r>
            <a:endParaRPr lang="en-GB" sz="1600" dirty="0"/>
          </a:p>
        </p:txBody>
      </p:sp>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0" ma:contentTypeDescription="Create a new document." ma:contentTypeScope="" ma:versionID="5dd15dd6ca134e1876e3a61e71abe85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E391598-D80C-48F2-8157-C45E6504ECA8}"/>
</file>

<file path=customXml/itemProps2.xml><?xml version="1.0" encoding="utf-8"?>
<ds:datastoreItem xmlns:ds="http://schemas.openxmlformats.org/officeDocument/2006/customXml" ds:itemID="{92DE7833-4B18-4E2F-B32F-9CA0DEB9774B}"/>
</file>

<file path=customXml/itemProps3.xml><?xml version="1.0" encoding="utf-8"?>
<ds:datastoreItem xmlns:ds="http://schemas.openxmlformats.org/officeDocument/2006/customXml" ds:itemID="{A73B018F-14CE-423A-B0BC-037489F0F589}"/>
</file>

<file path=docProps/app.xml><?xml version="1.0" encoding="utf-8"?>
<Properties xmlns="http://schemas.openxmlformats.org/officeDocument/2006/extended-properties" xmlns:vt="http://schemas.openxmlformats.org/officeDocument/2006/docPropsVTypes">
  <Template/>
  <TotalTime>2210</TotalTime>
  <Words>2799</Words>
  <Application>Microsoft Office PowerPoint</Application>
  <PresentationFormat>On-screen Show (4:3)</PresentationFormat>
  <Paragraphs>224</Paragraphs>
  <Slides>20</Slides>
  <Notes>18</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20</vt:i4>
      </vt:variant>
    </vt:vector>
  </HeadingPairs>
  <TitlesOfParts>
    <vt:vector size="25" baseType="lpstr">
      <vt:lpstr>Arial</vt:lpstr>
      <vt:lpstr>Tahoma</vt:lpstr>
      <vt:lpstr>Wingdings</vt:lpstr>
      <vt:lpstr>Blends</vt:lpstr>
      <vt:lpstr>1_Blends</vt:lpstr>
      <vt:lpstr>Occupational Specialist Component Content: Digital Production, Design  and Development</vt:lpstr>
      <vt:lpstr>The unit outcomes</vt:lpstr>
      <vt:lpstr>Learning Objectives</vt:lpstr>
      <vt:lpstr>Continuing Professional Development</vt:lpstr>
      <vt:lpstr>Continuing Professional Development</vt:lpstr>
      <vt:lpstr>Employers - Evaluating CPD</vt:lpstr>
      <vt:lpstr>Employers - Evaluating CPD</vt:lpstr>
      <vt:lpstr>Employers - Evaluating CPD</vt:lpstr>
      <vt:lpstr>Activity</vt:lpstr>
      <vt:lpstr>Personal Development Plan</vt:lpstr>
      <vt:lpstr>Personal - Evaluating your Success</vt:lpstr>
      <vt:lpstr>Evaluating Your Personal Development</vt:lpstr>
      <vt:lpstr>A possible review process</vt:lpstr>
      <vt:lpstr>Reviewing Your Goals</vt:lpstr>
      <vt:lpstr>Self-motivation, personal goals and achievement </vt:lpstr>
      <vt:lpstr>Making Your Goals SMART</vt:lpstr>
      <vt:lpstr>Changing the picture</vt:lpstr>
      <vt:lpstr>Reviewing your Life Goals</vt:lpstr>
      <vt:lpstr>Moving Towards Reflective Practice</vt:lpstr>
      <vt:lpstr>Activity</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328</cp:revision>
  <dcterms:created xsi:type="dcterms:W3CDTF">2010-11-28T12:04:27Z</dcterms:created>
  <dcterms:modified xsi:type="dcterms:W3CDTF">2025-07-31T15:06:19Z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