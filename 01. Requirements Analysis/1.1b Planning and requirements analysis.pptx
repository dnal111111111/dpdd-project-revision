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20"/>
  </p:notesMasterIdLst>
  <p:sldIdLst>
    <p:sldId id="345" r:id="rId3"/>
    <p:sldId id="322" r:id="rId4"/>
    <p:sldId id="339" r:id="rId5"/>
    <p:sldId id="359" r:id="rId6"/>
    <p:sldId id="360" r:id="rId7"/>
    <p:sldId id="361" r:id="rId8"/>
    <p:sldId id="362" r:id="rId9"/>
    <p:sldId id="363" r:id="rId10"/>
    <p:sldId id="364" r:id="rId11"/>
    <p:sldId id="365" r:id="rId12"/>
    <p:sldId id="366" r:id="rId13"/>
    <p:sldId id="367" r:id="rId14"/>
    <p:sldId id="368" r:id="rId15"/>
    <p:sldId id="369" r:id="rId16"/>
    <p:sldId id="370" r:id="rId17"/>
    <p:sldId id="371" r:id="rId18"/>
    <p:sldId id="358" r:id="rId19"/>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4" autoAdjust="0"/>
    <p:restoredTop sz="73932" autoAdjust="0"/>
  </p:normalViewPr>
  <p:slideViewPr>
    <p:cSldViewPr>
      <p:cViewPr varScale="1">
        <p:scale>
          <a:sx n="68" d="100"/>
          <a:sy n="68" d="100"/>
        </p:scale>
        <p:origin x="1986" y="78"/>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ustomXml" Target="../customXml/item2.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940A51-201F-2351-71C6-B4FD2B9FBF3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B280B3D8-857A-E746-A934-C8A0952AE45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40675924-EEC4-D767-C865-94CF2594D5B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4F066F8-E822-4AF1-D553-2CB8587DFF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975CFB8E-8328-555A-29DF-6FF2C823828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AC11D630-E80E-F54B-C9ED-F09AE6E6C2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DB2A87-D564-4DE6-835A-A71E29C50696}"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286854D-B51F-B122-51DB-5E26BFC45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F7C91B-4A08-45C7-A46E-E6AC2E38224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7EDD4AF-2AEA-F1F8-E122-8EFAB017263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C3F1A77-2241-F733-7948-98E44C391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4668945-73DA-742E-5F7A-1FD7364914B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6A66FF55-358E-C373-20D1-5CEF269CD1F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https://medium.com/@panicpotatoe/business-requirements-vs-stakeholder-requirements-8a5127c4fb12</a:t>
            </a:r>
          </a:p>
        </p:txBody>
      </p:sp>
      <p:sp>
        <p:nvSpPr>
          <p:cNvPr id="19460" name="Slide Number Placeholder 3">
            <a:extLst>
              <a:ext uri="{FF2B5EF4-FFF2-40B4-BE49-F238E27FC236}">
                <a16:creationId xmlns:a16="http://schemas.microsoft.com/office/drawing/2014/main" id="{2D8448A5-CC05-FA38-FBC6-F282EE22000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DD5C-8D2A-1D6E-C280-C1DCE53CD296}"/>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123DEA19-8CA8-D722-E980-7F6833C038A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0466E570-D66A-4361-D54C-4EE4BFA6F5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https://www.workpack.in/2018/01/23/return-investment-roi-engineering-construction-project-management-software/</a:t>
            </a:r>
          </a:p>
        </p:txBody>
      </p:sp>
      <p:sp>
        <p:nvSpPr>
          <p:cNvPr id="19460" name="Slide Number Placeholder 3">
            <a:extLst>
              <a:ext uri="{FF2B5EF4-FFF2-40B4-BE49-F238E27FC236}">
                <a16:creationId xmlns:a16="http://schemas.microsoft.com/office/drawing/2014/main" id="{5CF907AC-22F7-6DA1-67D3-31C231A5B4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709206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F0D1B-D693-EC45-FD8A-6E5193EF1D2E}"/>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30282929-D891-2EBD-E98E-4364CEED881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4A2603A8-663E-E09F-CFFA-666861E325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59A6A330-C4A8-5CE2-50B1-418913C6AF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2690954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77621-D9E0-2296-2225-48886854E3CA}"/>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775470A-5338-068A-C002-6A79685386B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4821548-9FFB-3462-0B79-6355D0F0DD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BE6AC6E9-9496-7D21-79B4-FBB31AE7A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2112459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201A-9F76-A28E-198D-36C329569F8D}"/>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A6528CBF-5F32-6E15-EDE6-B3D0FA19D9D8}"/>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90C1645-0501-7DA7-3269-C990DDD5D0B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187F6A0C-8947-E243-BF48-41891C1B26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2764474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0CA6-096E-EC05-834F-16698621060C}"/>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6B000FB-90B5-C0CB-C496-5B86DAB2DB1B}"/>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4C6000-4C30-FFB5-AF1B-41CC2219E4A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628BE276-2615-0DDA-6352-D76214F1B6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33852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BA998-BD04-0682-0E1D-8B56B74B50C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C657FCA-6A33-7B65-B5D0-F4D095399C1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80C894F6-DC75-91AD-E9BD-036150F65E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B6D019C7-B6C1-F97F-1C3C-7595465646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21004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F7DFA-5866-76AA-1BE7-A4423972DA06}"/>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5ACEB48-5AA6-A339-0FE2-FFCFDA84507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2892F24-61D7-6161-C176-42BA141F4E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Calendar with task cards or Gantt chart visual</a:t>
            </a:r>
            <a:endParaRPr lang="en-US" altLang="en-US" dirty="0"/>
          </a:p>
        </p:txBody>
      </p:sp>
      <p:sp>
        <p:nvSpPr>
          <p:cNvPr id="19460" name="Slide Number Placeholder 3">
            <a:extLst>
              <a:ext uri="{FF2B5EF4-FFF2-40B4-BE49-F238E27FC236}">
                <a16:creationId xmlns:a16="http://schemas.microsoft.com/office/drawing/2014/main" id="{AF8016AF-88A6-EE56-BDA7-0AAAB7544C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3709352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249BA-8116-5A1E-0D73-F8B997BDAA1B}"/>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8DF00BB-5815-CBFB-848E-06B782A4BE9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831DBA12-D3CC-E461-7E93-60B7F56901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9F65A477-7D82-5343-379F-0E45039039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11</a:t>
            </a:fld>
            <a:endParaRPr lang="en-GB" altLang="en-US"/>
          </a:p>
        </p:txBody>
      </p:sp>
    </p:spTree>
    <p:extLst>
      <p:ext uri="{BB962C8B-B14F-4D97-AF65-F5344CB8AC3E}">
        <p14:creationId xmlns:p14="http://schemas.microsoft.com/office/powerpoint/2010/main" val="2114953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1971-DB5C-212F-7C80-BA7C5023AC82}"/>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630F0CE-779E-3CDF-3B31-702A4311B68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D260C1D5-87A1-803E-C2AB-830EB8662D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F8BFA469-B322-576F-B4EA-AAEBBCD442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12</a:t>
            </a:fld>
            <a:endParaRPr lang="en-GB" altLang="en-US"/>
          </a:p>
        </p:txBody>
      </p:sp>
    </p:spTree>
    <p:extLst>
      <p:ext uri="{BB962C8B-B14F-4D97-AF65-F5344CB8AC3E}">
        <p14:creationId xmlns:p14="http://schemas.microsoft.com/office/powerpoint/2010/main" val="1217122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9395C-8AE4-D157-363D-9A99040C2352}"/>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A3C71CE-283C-F585-A721-1EBF72BC7C8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34D41641-533D-E041-09E6-97499930721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D86DCFF0-54CD-6B54-960E-0B5192BB20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13</a:t>
            </a:fld>
            <a:endParaRPr lang="en-GB" altLang="en-US"/>
          </a:p>
        </p:txBody>
      </p:sp>
    </p:spTree>
    <p:extLst>
      <p:ext uri="{BB962C8B-B14F-4D97-AF65-F5344CB8AC3E}">
        <p14:creationId xmlns:p14="http://schemas.microsoft.com/office/powerpoint/2010/main" val="2862479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72DA-2EA2-8804-8164-F5F7C6521D9D}"/>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B092FC8-42C8-F4A0-8674-307F6EF81091}"/>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D7921E82-DB74-FE5F-5894-C91B0CCFF07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139FDB48-C48B-AE42-6E18-AD2205CD14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14</a:t>
            </a:fld>
            <a:endParaRPr lang="en-GB" altLang="en-US"/>
          </a:p>
        </p:txBody>
      </p:sp>
    </p:spTree>
    <p:extLst>
      <p:ext uri="{BB962C8B-B14F-4D97-AF65-F5344CB8AC3E}">
        <p14:creationId xmlns:p14="http://schemas.microsoft.com/office/powerpoint/2010/main" val="6333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B8AA4-BA8E-52E8-85E5-8DADBD6E457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AD09046D-3CFA-D2E0-338A-3D4511F1B16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36951A26-C590-398A-A1BF-7FEC50E374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FC750F09-F222-B74B-69CE-63A2852410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15</a:t>
            </a:fld>
            <a:endParaRPr lang="en-GB" altLang="en-US"/>
          </a:p>
        </p:txBody>
      </p:sp>
    </p:spTree>
    <p:extLst>
      <p:ext uri="{BB962C8B-B14F-4D97-AF65-F5344CB8AC3E}">
        <p14:creationId xmlns:p14="http://schemas.microsoft.com/office/powerpoint/2010/main" val="2734620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19CA-F153-1E58-0FC7-8CA3A3D1B06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377BBC50-9E34-B6A8-B253-A1985431176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F3F7E80D-9688-52B4-F40D-FF2CCD8A45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9460" name="Slide Number Placeholder 3">
            <a:extLst>
              <a:ext uri="{FF2B5EF4-FFF2-40B4-BE49-F238E27FC236}">
                <a16:creationId xmlns:a16="http://schemas.microsoft.com/office/drawing/2014/main" id="{FD521993-3CBD-6381-8B57-FEB101D126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16</a:t>
            </a:fld>
            <a:endParaRPr lang="en-GB" altLang="en-US"/>
          </a:p>
        </p:txBody>
      </p:sp>
    </p:spTree>
    <p:extLst>
      <p:ext uri="{BB962C8B-B14F-4D97-AF65-F5344CB8AC3E}">
        <p14:creationId xmlns:p14="http://schemas.microsoft.com/office/powerpoint/2010/main" val="250123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3C570CA6-FD78-FC58-7E4B-572345673435}"/>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02A3262B-BFBA-6D79-6E81-AEE7FA29C5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Time:</a:t>
            </a:r>
            <a:r>
              <a:rPr lang="en-GB" dirty="0"/>
              <a:t> 45–60 mins</a:t>
            </a:r>
            <a:br>
              <a:rPr lang="en-GB" dirty="0"/>
            </a:br>
            <a:r>
              <a:rPr lang="en-GB" b="1" dirty="0"/>
              <a:t>Deliverable:</a:t>
            </a:r>
            <a:r>
              <a:rPr lang="en-GB" dirty="0"/>
              <a:t> 5-minute team presentation</a:t>
            </a:r>
          </a:p>
          <a:p>
            <a:endParaRPr lang="en-GB" altLang="en-US" dirty="0"/>
          </a:p>
          <a:p>
            <a:r>
              <a:rPr lang="en-GB" b="1" dirty="0"/>
              <a:t>Instructions:</a:t>
            </a:r>
          </a:p>
          <a:p>
            <a:r>
              <a:rPr lang="en-GB" b="1" dirty="0"/>
              <a:t>Review the brief</a:t>
            </a:r>
            <a:r>
              <a:rPr lang="en-GB" dirty="0"/>
              <a:t> as a team (5–10 mins)</a:t>
            </a:r>
          </a:p>
          <a:p>
            <a:r>
              <a:rPr lang="en-GB" dirty="0"/>
              <a:t>Each role completes their assigned tasks independently or in pairs (20 mins)</a:t>
            </a:r>
          </a:p>
          <a:p>
            <a:r>
              <a:rPr lang="en-GB" dirty="0"/>
              <a:t>Collaborate to combine findings into a 5-minute mini-presentation (15 mins)</a:t>
            </a:r>
          </a:p>
          <a:p>
            <a:r>
              <a:rPr lang="en-GB" dirty="0"/>
              <a:t>Present to the class or another team and get feedback (10–15 mins)</a:t>
            </a:r>
          </a:p>
          <a:p>
            <a:endParaRPr lang="en-GB" altLang="en-US" dirty="0"/>
          </a:p>
          <a:p>
            <a:endParaRPr lang="en-GB" altLang="en-US" dirty="0"/>
          </a:p>
          <a:p>
            <a:r>
              <a:rPr lang="en-GB" b="1" dirty="0"/>
              <a:t>What They’ll Learn:</a:t>
            </a:r>
          </a:p>
          <a:p>
            <a:r>
              <a:rPr lang="en-GB" dirty="0"/>
              <a:t>How to identify and define project requirements</a:t>
            </a:r>
          </a:p>
          <a:p>
            <a:r>
              <a:rPr lang="en-GB" dirty="0"/>
              <a:t>How to use analytical and computational thinking</a:t>
            </a:r>
          </a:p>
          <a:p>
            <a:r>
              <a:rPr lang="en-GB" dirty="0"/>
              <a:t>How to align technical choices with business needs</a:t>
            </a:r>
          </a:p>
          <a:p>
            <a:r>
              <a:rPr lang="en-GB" dirty="0"/>
              <a:t>How to structure a plan using scheduling and budgeting</a:t>
            </a:r>
          </a:p>
          <a:p>
            <a:r>
              <a:rPr lang="en-GB" dirty="0"/>
              <a:t>How to think collaboratively like a real-world team</a:t>
            </a:r>
          </a:p>
          <a:p>
            <a:endParaRPr lang="en-GB" altLang="en-US" dirty="0"/>
          </a:p>
          <a:p>
            <a:endParaRPr lang="en-GB" altLang="en-US" dirty="0"/>
          </a:p>
          <a:p>
            <a:r>
              <a:rPr lang="en-GB" altLang="en-US" dirty="0"/>
              <a:t>Suggested visual aids</a:t>
            </a:r>
          </a:p>
          <a:p>
            <a:endParaRPr lang="en-GB" altLang="en-US" dirty="0"/>
          </a:p>
          <a:p>
            <a:r>
              <a:rPr lang="en-GB" dirty="0"/>
              <a:t>Blank Gantt chart or Trello-style task board template</a:t>
            </a:r>
          </a:p>
          <a:p>
            <a:r>
              <a:rPr lang="en-GB" dirty="0"/>
              <a:t>Risk matrix or checklist</a:t>
            </a:r>
          </a:p>
          <a:p>
            <a:r>
              <a:rPr lang="en-GB" dirty="0"/>
              <a:t>Requirement template with functional/non-functional columns</a:t>
            </a:r>
          </a:p>
          <a:p>
            <a:r>
              <a:rPr lang="en-GB" dirty="0"/>
              <a:t>Programming language comparison chart</a:t>
            </a:r>
          </a:p>
          <a:p>
            <a:endParaRPr lang="en-GB" altLang="en-US" dirty="0"/>
          </a:p>
        </p:txBody>
      </p:sp>
      <p:sp>
        <p:nvSpPr>
          <p:cNvPr id="32772" name="Slide Number Placeholder 3">
            <a:extLst>
              <a:ext uri="{FF2B5EF4-FFF2-40B4-BE49-F238E27FC236}">
                <a16:creationId xmlns:a16="http://schemas.microsoft.com/office/drawing/2014/main" id="{0FFB193A-6D19-A90C-5B33-0A3F1F5972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17</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810480-5ECB-BE87-58F2-A360C2C4615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0EA3AFF-358A-33A6-DEE8-58A6CC08022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EF0B258-F8AE-51A1-4410-D5988A97708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F530CAED-1744-ACF9-76BA-4F49ADE2E19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1C4AD0B-BCCD-DDF6-D6B8-3C7EF96688B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BF9E7C4-36E9-B353-CFEE-63935B65C93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C615290-51F2-89BA-91D4-3E9E1C9444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68F637F3-1CFD-F37D-6BB7-2F941BDD907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36F9B091-71A7-A578-D31F-69DC6C1898F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E9529A3F-D0CC-2872-9695-C20454AE92B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4CEED1C-466E-C63E-0433-0A4779C35D36}"/>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84E402D-E460-1685-E2AD-09F35FE9B13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ECBE94BF-49CC-A36E-AA69-68E1D83672D6}"/>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5621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2FBF1F4-BFFF-A3B3-1F2A-87802D682FF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4CAE9D0-28B5-ABC5-9AAF-66C831B9D2E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052FBC-CFBA-25ED-6E3F-5FE2E540B8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C7FA066-CA49-4154-8229-AEE565484061}" type="slidenum">
              <a:rPr lang="en-US" altLang="en-US"/>
              <a:pPr>
                <a:defRPr/>
              </a:pPr>
              <a:t>‹#›</a:t>
            </a:fld>
            <a:endParaRPr lang="en-US" altLang="en-US"/>
          </a:p>
        </p:txBody>
      </p:sp>
    </p:spTree>
    <p:extLst>
      <p:ext uri="{BB962C8B-B14F-4D97-AF65-F5344CB8AC3E}">
        <p14:creationId xmlns:p14="http://schemas.microsoft.com/office/powerpoint/2010/main" val="406847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5B97E7-C65B-0657-F08B-2CE5FF0C725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5EF6BDE-FBD2-812C-4C6B-79D1F2311A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4228EBA-1B5D-D071-427A-674FE56ACC9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C81816-4314-4942-BF52-621C2956052E}" type="slidenum">
              <a:rPr lang="en-US" altLang="en-US"/>
              <a:pPr>
                <a:defRPr/>
              </a:pPr>
              <a:t>‹#›</a:t>
            </a:fld>
            <a:endParaRPr lang="en-US" altLang="en-US"/>
          </a:p>
        </p:txBody>
      </p:sp>
    </p:spTree>
    <p:extLst>
      <p:ext uri="{BB962C8B-B14F-4D97-AF65-F5344CB8AC3E}">
        <p14:creationId xmlns:p14="http://schemas.microsoft.com/office/powerpoint/2010/main" val="65841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CD645D-12E7-88CB-87CF-6C7837A5F99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B5CE3A2-9405-7B89-7B1B-768B33B59AE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68623B-024A-1FDE-EAF1-DD056BB7748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70E24D-D6C3-411D-A3D5-2E70EB9C69AD}" type="slidenum">
              <a:rPr lang="en-US" altLang="en-US"/>
              <a:pPr>
                <a:defRPr/>
              </a:pPr>
              <a:t>‹#›</a:t>
            </a:fld>
            <a:endParaRPr lang="en-US" altLang="en-US"/>
          </a:p>
        </p:txBody>
      </p:sp>
    </p:spTree>
    <p:extLst>
      <p:ext uri="{BB962C8B-B14F-4D97-AF65-F5344CB8AC3E}">
        <p14:creationId xmlns:p14="http://schemas.microsoft.com/office/powerpoint/2010/main" val="155929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8038F72-D80F-C0AE-35EC-EED3B3C4890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E0DF27D-8CE0-50AB-5783-55C0262A2844}"/>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2031FD85-94F1-3025-73B8-2DEA60C7A5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6A4DB9-C831-460C-B5AC-600D0EDA1D81}" type="slidenum">
              <a:rPr lang="en-US" altLang="en-US"/>
              <a:pPr>
                <a:defRPr/>
              </a:pPr>
              <a:t>‹#›</a:t>
            </a:fld>
            <a:endParaRPr lang="en-US" altLang="en-US"/>
          </a:p>
        </p:txBody>
      </p:sp>
    </p:spTree>
    <p:extLst>
      <p:ext uri="{BB962C8B-B14F-4D97-AF65-F5344CB8AC3E}">
        <p14:creationId xmlns:p14="http://schemas.microsoft.com/office/powerpoint/2010/main" val="29840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DAC0BDE-56E6-5888-5425-19CEAB1F98F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108F2EA-921C-BC5E-210D-0CEDDC33EF0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938DC64-0E0B-9E40-2AEB-0FF810F56E6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32A1E8-2368-4792-8E4C-0608C616614C}" type="slidenum">
              <a:rPr lang="en-US" altLang="en-US"/>
              <a:pPr>
                <a:defRPr/>
              </a:pPr>
              <a:t>‹#›</a:t>
            </a:fld>
            <a:endParaRPr lang="en-US" altLang="en-US"/>
          </a:p>
        </p:txBody>
      </p:sp>
    </p:spTree>
    <p:extLst>
      <p:ext uri="{BB962C8B-B14F-4D97-AF65-F5344CB8AC3E}">
        <p14:creationId xmlns:p14="http://schemas.microsoft.com/office/powerpoint/2010/main" val="236899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F3F14EE0-EBD6-D6DA-A9E5-EC13E32AC2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01C9496-8095-A124-5646-484544CF7C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6BE1709-17D9-E6E3-5ABB-E4B30B15384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29AF96-B952-46EC-BF3B-07E3BB25340A}" type="slidenum">
              <a:rPr lang="en-US" altLang="en-US"/>
              <a:pPr>
                <a:defRPr/>
              </a:pPr>
              <a:t>‹#›</a:t>
            </a:fld>
            <a:endParaRPr lang="en-US" altLang="en-US"/>
          </a:p>
        </p:txBody>
      </p:sp>
    </p:spTree>
    <p:extLst>
      <p:ext uri="{BB962C8B-B14F-4D97-AF65-F5344CB8AC3E}">
        <p14:creationId xmlns:p14="http://schemas.microsoft.com/office/powerpoint/2010/main" val="138571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05AB5C6-BD50-A6BF-B5FE-22C8E407ADC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A7603A1-5900-D00D-4D8B-08F208B8C01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4C9998E-4D02-1C08-708F-DECA68A7A85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C78E55-6717-4E6B-9F78-CE359F379F1E}" type="slidenum">
              <a:rPr lang="en-US" altLang="en-US"/>
              <a:pPr>
                <a:defRPr/>
              </a:pPr>
              <a:t>‹#›</a:t>
            </a:fld>
            <a:endParaRPr lang="en-US" altLang="en-US"/>
          </a:p>
        </p:txBody>
      </p:sp>
    </p:spTree>
    <p:extLst>
      <p:ext uri="{BB962C8B-B14F-4D97-AF65-F5344CB8AC3E}">
        <p14:creationId xmlns:p14="http://schemas.microsoft.com/office/powerpoint/2010/main" val="20859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63948DC-6D8B-6569-DA51-FDF05F57715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27E2FDE-24F3-07D0-AEFF-4CB105FDFAA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985341-E5D8-3F30-BFAE-8830A58E0E8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8F0B2A-B223-426C-816D-62612E31A5A9}" type="slidenum">
              <a:rPr lang="en-US" altLang="en-US"/>
              <a:pPr>
                <a:defRPr/>
              </a:pPr>
              <a:t>‹#›</a:t>
            </a:fld>
            <a:endParaRPr lang="en-US" altLang="en-US"/>
          </a:p>
        </p:txBody>
      </p:sp>
    </p:spTree>
    <p:extLst>
      <p:ext uri="{BB962C8B-B14F-4D97-AF65-F5344CB8AC3E}">
        <p14:creationId xmlns:p14="http://schemas.microsoft.com/office/powerpoint/2010/main" val="10836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9353A6-EA69-6442-57C0-88AA9F8813B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3C72383-4845-DC68-9243-081EF763980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D30F085-A0EC-C47B-DA3C-BFEA3439592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C239488-D800-4312-B8E5-3AF7F2140D42}" type="slidenum">
              <a:rPr lang="en-US" altLang="en-US"/>
              <a:pPr>
                <a:defRPr/>
              </a:pPr>
              <a:t>‹#›</a:t>
            </a:fld>
            <a:endParaRPr lang="en-US" altLang="en-US"/>
          </a:p>
        </p:txBody>
      </p:sp>
    </p:spTree>
    <p:extLst>
      <p:ext uri="{BB962C8B-B14F-4D97-AF65-F5344CB8AC3E}">
        <p14:creationId xmlns:p14="http://schemas.microsoft.com/office/powerpoint/2010/main" val="400387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64B57A7-5304-4B74-E062-42790573BB3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EE7DAE4-5415-A8BB-9266-22D89E2C2F0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39206F7-B389-1394-207F-70B202F0541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B506300-EC2B-4410-BAC1-029937E7BA4C}" type="slidenum">
              <a:rPr lang="en-US" altLang="en-US"/>
              <a:pPr>
                <a:defRPr/>
              </a:pPr>
              <a:t>‹#›</a:t>
            </a:fld>
            <a:endParaRPr lang="en-US" altLang="en-US"/>
          </a:p>
        </p:txBody>
      </p:sp>
    </p:spTree>
    <p:extLst>
      <p:ext uri="{BB962C8B-B14F-4D97-AF65-F5344CB8AC3E}">
        <p14:creationId xmlns:p14="http://schemas.microsoft.com/office/powerpoint/2010/main" val="3182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8BE732-F038-221C-983A-85EDF89C445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212D868-F7C7-433D-CEC8-BF70F92640D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FF7FE1B-A3AC-CC37-9DA6-8FEFD1060921}"/>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048631EF-4B04-3AC7-9DEA-E9A9D9196A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0AA0BA8-3CE6-8861-96EB-BC4665E4CA82}"/>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6C408B-8C65-C11C-F154-EA06B87D0AF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A3EC4121-1BDD-A77C-2AF6-CFC21BF1D7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004D551-9CD0-3404-6B1D-0EE5258A72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5CBDE54-9BAF-9128-48E8-350C0154B1B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A89C34F5-B039-A826-E05B-929D398CE95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3DF1A86-7E14-A3D0-EE1F-1D860A85C69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F6B49424-7492-3521-6B6C-71AC3935C9F2}"/>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202321B8-1831-0921-413C-4B8F441F1380}"/>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5327ECCC-955A-4CC1-B570-8D3B1F26AC5A}" type="slidenum">
              <a:rPr lang="en-US" altLang="en-US"/>
              <a:pPr>
                <a:defRPr/>
              </a:pPr>
              <a:t>‹#›</a:t>
            </a:fld>
            <a:endParaRPr lang="en-US" altLang="en-US"/>
          </a:p>
        </p:txBody>
      </p:sp>
    </p:spTree>
    <p:extLst>
      <p:ext uri="{BB962C8B-B14F-4D97-AF65-F5344CB8AC3E}">
        <p14:creationId xmlns:p14="http://schemas.microsoft.com/office/powerpoint/2010/main" val="2342449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EBB6AC-FA83-9165-EB13-97F6867853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96AD3C7-BB8A-E8C6-6A4A-2BAECCE801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5E43890-5611-4E4D-27B3-507F3FB773F8}"/>
              </a:ext>
            </a:extLst>
          </p:cNvPr>
          <p:cNvSpPr>
            <a:spLocks noGrp="1" noChangeArrowheads="1"/>
          </p:cNvSpPr>
          <p:nvPr>
            <p:ph type="sldNum" sz="quarter" idx="12"/>
          </p:nvPr>
        </p:nvSpPr>
        <p:spPr>
          <a:ln/>
        </p:spPr>
        <p:txBody>
          <a:bodyPr/>
          <a:lstStyle>
            <a:lvl1pPr>
              <a:defRPr/>
            </a:lvl1pPr>
          </a:lstStyle>
          <a:p>
            <a:pPr>
              <a:defRPr/>
            </a:pPr>
            <a:fld id="{FF767D69-45F3-4FD5-A3C3-B99BBBA31BBD}" type="slidenum">
              <a:rPr lang="en-US" altLang="en-US"/>
              <a:pPr>
                <a:defRPr/>
              </a:pPr>
              <a:t>‹#›</a:t>
            </a:fld>
            <a:endParaRPr lang="en-US" altLang="en-US"/>
          </a:p>
        </p:txBody>
      </p:sp>
    </p:spTree>
    <p:extLst>
      <p:ext uri="{BB962C8B-B14F-4D97-AF65-F5344CB8AC3E}">
        <p14:creationId xmlns:p14="http://schemas.microsoft.com/office/powerpoint/2010/main" val="35787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3551835-1EB1-BE40-E14F-0DB9C8B010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7FFF9D5-FCE7-7433-15F7-F01060F97B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ABEA767-ED31-8429-9361-BD51593BF268}"/>
              </a:ext>
            </a:extLst>
          </p:cNvPr>
          <p:cNvSpPr>
            <a:spLocks noGrp="1" noChangeArrowheads="1"/>
          </p:cNvSpPr>
          <p:nvPr>
            <p:ph type="sldNum" sz="quarter" idx="12"/>
          </p:nvPr>
        </p:nvSpPr>
        <p:spPr>
          <a:ln/>
        </p:spPr>
        <p:txBody>
          <a:bodyPr/>
          <a:lstStyle>
            <a:lvl1pPr>
              <a:defRPr/>
            </a:lvl1pPr>
          </a:lstStyle>
          <a:p>
            <a:pPr>
              <a:defRPr/>
            </a:pPr>
            <a:fld id="{29BC801C-8383-4F07-ACD9-5073A90B612C}" type="slidenum">
              <a:rPr lang="en-US" altLang="en-US"/>
              <a:pPr>
                <a:defRPr/>
              </a:pPr>
              <a:t>‹#›</a:t>
            </a:fld>
            <a:endParaRPr lang="en-US" altLang="en-US"/>
          </a:p>
        </p:txBody>
      </p:sp>
    </p:spTree>
    <p:extLst>
      <p:ext uri="{BB962C8B-B14F-4D97-AF65-F5344CB8AC3E}">
        <p14:creationId xmlns:p14="http://schemas.microsoft.com/office/powerpoint/2010/main" val="427116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26AACF1-B63A-3DFC-1F61-3039DA6B10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826BBD-55C8-1989-390F-9D8BB3B20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08D2122-4961-52C1-A0A1-25B856B95E61}"/>
              </a:ext>
            </a:extLst>
          </p:cNvPr>
          <p:cNvSpPr>
            <a:spLocks noGrp="1" noChangeArrowheads="1"/>
          </p:cNvSpPr>
          <p:nvPr>
            <p:ph type="sldNum" sz="quarter" idx="12"/>
          </p:nvPr>
        </p:nvSpPr>
        <p:spPr>
          <a:ln/>
        </p:spPr>
        <p:txBody>
          <a:bodyPr/>
          <a:lstStyle>
            <a:lvl1pPr>
              <a:defRPr/>
            </a:lvl1pPr>
          </a:lstStyle>
          <a:p>
            <a:pPr>
              <a:defRPr/>
            </a:pPr>
            <a:fld id="{B7CFB11A-E562-49AA-80DC-C2571ABBF94D}" type="slidenum">
              <a:rPr lang="en-US" altLang="en-US"/>
              <a:pPr>
                <a:defRPr/>
              </a:pPr>
              <a:t>‹#›</a:t>
            </a:fld>
            <a:endParaRPr lang="en-US" altLang="en-US"/>
          </a:p>
        </p:txBody>
      </p:sp>
    </p:spTree>
    <p:extLst>
      <p:ext uri="{BB962C8B-B14F-4D97-AF65-F5344CB8AC3E}">
        <p14:creationId xmlns:p14="http://schemas.microsoft.com/office/powerpoint/2010/main" val="181140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56C2847-55F0-DD56-5C8E-1231F2C1553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87D3154-3BC8-E8E2-AAD4-C364E9E842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F0C017E7-C01B-0610-C669-C955CE07FABD}"/>
              </a:ext>
            </a:extLst>
          </p:cNvPr>
          <p:cNvSpPr>
            <a:spLocks noGrp="1" noChangeArrowheads="1"/>
          </p:cNvSpPr>
          <p:nvPr>
            <p:ph type="sldNum" sz="quarter" idx="12"/>
          </p:nvPr>
        </p:nvSpPr>
        <p:spPr>
          <a:ln/>
        </p:spPr>
        <p:txBody>
          <a:bodyPr/>
          <a:lstStyle>
            <a:lvl1pPr>
              <a:defRPr/>
            </a:lvl1pPr>
          </a:lstStyle>
          <a:p>
            <a:pPr>
              <a:defRPr/>
            </a:pPr>
            <a:fld id="{1F35F7B0-D026-4293-B387-BEA254A949BD}" type="slidenum">
              <a:rPr lang="en-US" altLang="en-US"/>
              <a:pPr>
                <a:defRPr/>
              </a:pPr>
              <a:t>‹#›</a:t>
            </a:fld>
            <a:endParaRPr lang="en-US" altLang="en-US"/>
          </a:p>
        </p:txBody>
      </p:sp>
    </p:spTree>
    <p:extLst>
      <p:ext uri="{BB962C8B-B14F-4D97-AF65-F5344CB8AC3E}">
        <p14:creationId xmlns:p14="http://schemas.microsoft.com/office/powerpoint/2010/main" val="2717326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00ECBADA-2525-B62F-7A70-A314EA8BEF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346302F-0967-F140-6DEA-624042BDE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B32ECB1-2364-7712-2F8E-EFAD5C1DC074}"/>
              </a:ext>
            </a:extLst>
          </p:cNvPr>
          <p:cNvSpPr>
            <a:spLocks noGrp="1" noChangeArrowheads="1"/>
          </p:cNvSpPr>
          <p:nvPr>
            <p:ph type="sldNum" sz="quarter" idx="12"/>
          </p:nvPr>
        </p:nvSpPr>
        <p:spPr>
          <a:ln/>
        </p:spPr>
        <p:txBody>
          <a:bodyPr/>
          <a:lstStyle>
            <a:lvl1pPr>
              <a:defRPr/>
            </a:lvl1pPr>
          </a:lstStyle>
          <a:p>
            <a:pPr>
              <a:defRPr/>
            </a:pPr>
            <a:fld id="{849B93AF-BFC4-493F-B243-EF000CB9545D}" type="slidenum">
              <a:rPr lang="en-US" altLang="en-US"/>
              <a:pPr>
                <a:defRPr/>
              </a:pPr>
              <a:t>‹#›</a:t>
            </a:fld>
            <a:endParaRPr lang="en-US" altLang="en-US"/>
          </a:p>
        </p:txBody>
      </p:sp>
    </p:spTree>
    <p:extLst>
      <p:ext uri="{BB962C8B-B14F-4D97-AF65-F5344CB8AC3E}">
        <p14:creationId xmlns:p14="http://schemas.microsoft.com/office/powerpoint/2010/main" val="19128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E7FD273-A0D2-D288-91BF-A5DA22EED2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905A923-9AA7-BC26-4416-7870884694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C3B1E04-B1C3-C195-C6D2-692162C5CF7A}"/>
              </a:ext>
            </a:extLst>
          </p:cNvPr>
          <p:cNvSpPr>
            <a:spLocks noGrp="1" noChangeArrowheads="1"/>
          </p:cNvSpPr>
          <p:nvPr>
            <p:ph type="sldNum" sz="quarter" idx="12"/>
          </p:nvPr>
        </p:nvSpPr>
        <p:spPr>
          <a:ln/>
        </p:spPr>
        <p:txBody>
          <a:bodyPr/>
          <a:lstStyle>
            <a:lvl1pPr>
              <a:defRPr/>
            </a:lvl1pPr>
          </a:lstStyle>
          <a:p>
            <a:pPr>
              <a:defRPr/>
            </a:pPr>
            <a:fld id="{552C8C92-F3C4-41A1-A272-FAD3D86FC32D}" type="slidenum">
              <a:rPr lang="en-US" altLang="en-US"/>
              <a:pPr>
                <a:defRPr/>
              </a:pPr>
              <a:t>‹#›</a:t>
            </a:fld>
            <a:endParaRPr lang="en-US" altLang="en-US"/>
          </a:p>
        </p:txBody>
      </p:sp>
    </p:spTree>
    <p:extLst>
      <p:ext uri="{BB962C8B-B14F-4D97-AF65-F5344CB8AC3E}">
        <p14:creationId xmlns:p14="http://schemas.microsoft.com/office/powerpoint/2010/main" val="3945790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77A97C1-F48E-66DD-52D0-E3E4D6541A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96221AF-4EA4-7CA5-0B02-403ACB29D9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FBBC1B4-5118-0E12-A6FA-297F485E64A2}"/>
              </a:ext>
            </a:extLst>
          </p:cNvPr>
          <p:cNvSpPr>
            <a:spLocks noGrp="1" noChangeArrowheads="1"/>
          </p:cNvSpPr>
          <p:nvPr>
            <p:ph type="sldNum" sz="quarter" idx="12"/>
          </p:nvPr>
        </p:nvSpPr>
        <p:spPr>
          <a:ln/>
        </p:spPr>
        <p:txBody>
          <a:bodyPr/>
          <a:lstStyle>
            <a:lvl1pPr>
              <a:defRPr/>
            </a:lvl1pPr>
          </a:lstStyle>
          <a:p>
            <a:pPr>
              <a:defRPr/>
            </a:pPr>
            <a:fld id="{C87CC952-187B-420C-823A-0957A1D872BA}" type="slidenum">
              <a:rPr lang="en-US" altLang="en-US"/>
              <a:pPr>
                <a:defRPr/>
              </a:pPr>
              <a:t>‹#›</a:t>
            </a:fld>
            <a:endParaRPr lang="en-US" altLang="en-US"/>
          </a:p>
        </p:txBody>
      </p:sp>
    </p:spTree>
    <p:extLst>
      <p:ext uri="{BB962C8B-B14F-4D97-AF65-F5344CB8AC3E}">
        <p14:creationId xmlns:p14="http://schemas.microsoft.com/office/powerpoint/2010/main" val="3263192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9FA3A97C-2D58-EEFA-FE88-E7198426C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6BA85AC-A44C-9B4D-3684-32D92A16AB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612D42-88EC-4F56-DCEF-935F4C8A88BB}"/>
              </a:ext>
            </a:extLst>
          </p:cNvPr>
          <p:cNvSpPr>
            <a:spLocks noGrp="1" noChangeArrowheads="1"/>
          </p:cNvSpPr>
          <p:nvPr>
            <p:ph type="sldNum" sz="quarter" idx="12"/>
          </p:nvPr>
        </p:nvSpPr>
        <p:spPr>
          <a:ln/>
        </p:spPr>
        <p:txBody>
          <a:bodyPr/>
          <a:lstStyle>
            <a:lvl1pPr>
              <a:defRPr/>
            </a:lvl1pPr>
          </a:lstStyle>
          <a:p>
            <a:pPr>
              <a:defRPr/>
            </a:pPr>
            <a:fld id="{9715BFFA-586B-41EA-93C2-A393E68CCD90}" type="slidenum">
              <a:rPr lang="en-US" altLang="en-US"/>
              <a:pPr>
                <a:defRPr/>
              </a:pPr>
              <a:t>‹#›</a:t>
            </a:fld>
            <a:endParaRPr lang="en-US" altLang="en-US"/>
          </a:p>
        </p:txBody>
      </p:sp>
    </p:spTree>
    <p:extLst>
      <p:ext uri="{BB962C8B-B14F-4D97-AF65-F5344CB8AC3E}">
        <p14:creationId xmlns:p14="http://schemas.microsoft.com/office/powerpoint/2010/main" val="16732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0BD873B-AA66-998A-294A-52F656B999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19282D3-63D2-0502-B93C-DB95C92FA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504B96-0FF0-2E89-DFAD-6A0005370227}"/>
              </a:ext>
            </a:extLst>
          </p:cNvPr>
          <p:cNvSpPr>
            <a:spLocks noGrp="1" noChangeArrowheads="1"/>
          </p:cNvSpPr>
          <p:nvPr>
            <p:ph type="sldNum" sz="quarter" idx="12"/>
          </p:nvPr>
        </p:nvSpPr>
        <p:spPr>
          <a:ln/>
        </p:spPr>
        <p:txBody>
          <a:bodyPr/>
          <a:lstStyle>
            <a:lvl1pPr>
              <a:defRPr/>
            </a:lvl1pPr>
          </a:lstStyle>
          <a:p>
            <a:pPr>
              <a:defRPr/>
            </a:pPr>
            <a:fld id="{8C374F23-174C-4BC6-ABD9-92A28803ED65}" type="slidenum">
              <a:rPr lang="en-US" altLang="en-US"/>
              <a:pPr>
                <a:defRPr/>
              </a:pPr>
              <a:t>‹#›</a:t>
            </a:fld>
            <a:endParaRPr lang="en-US" altLang="en-US"/>
          </a:p>
        </p:txBody>
      </p:sp>
    </p:spTree>
    <p:extLst>
      <p:ext uri="{BB962C8B-B14F-4D97-AF65-F5344CB8AC3E}">
        <p14:creationId xmlns:p14="http://schemas.microsoft.com/office/powerpoint/2010/main" val="1706328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DF6778D-C9BA-FDE6-E0DC-BEBA9643D4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CF16D62-8A9F-EC79-37FD-49E13CE873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67F1255-9B56-F3F4-3618-DB1FB151A5F6}"/>
              </a:ext>
            </a:extLst>
          </p:cNvPr>
          <p:cNvSpPr>
            <a:spLocks noGrp="1" noChangeArrowheads="1"/>
          </p:cNvSpPr>
          <p:nvPr>
            <p:ph type="sldNum" sz="quarter" idx="12"/>
          </p:nvPr>
        </p:nvSpPr>
        <p:spPr>
          <a:ln/>
        </p:spPr>
        <p:txBody>
          <a:bodyPr/>
          <a:lstStyle>
            <a:lvl1pPr>
              <a:defRPr/>
            </a:lvl1pPr>
          </a:lstStyle>
          <a:p>
            <a:pPr>
              <a:defRPr/>
            </a:pPr>
            <a:fld id="{21A0EC92-9C02-4F18-9503-339AEB0637AD}" type="slidenum">
              <a:rPr lang="en-US" altLang="en-US"/>
              <a:pPr>
                <a:defRPr/>
              </a:pPr>
              <a:t>‹#›</a:t>
            </a:fld>
            <a:endParaRPr lang="en-US" altLang="en-US"/>
          </a:p>
        </p:txBody>
      </p:sp>
    </p:spTree>
    <p:extLst>
      <p:ext uri="{BB962C8B-B14F-4D97-AF65-F5344CB8AC3E}">
        <p14:creationId xmlns:p14="http://schemas.microsoft.com/office/powerpoint/2010/main" val="177793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345E34-E467-7991-B2AF-73ED4FE19623}"/>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05615F89-67FA-18BB-54CC-1494E69CBFB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536EC21-8289-B48F-80BD-83B0CD94B0C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C04DC27-63D0-3D8D-3281-D351460C6D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2D29420-F452-E089-A911-0930C3BFA7FF}"/>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76690800-EE9D-ADDF-DD3A-ABF42BC27FA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1A6BA7B5-B51C-EA65-A7D9-A663DD263E4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0B7EB65F-68BB-567E-2181-5E000C6608A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56CC82B-5F89-170B-DA89-463DCE6009B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A6E5069-418D-82BB-7BD4-79DBAA86756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DB11F4D-39C3-F6F1-42B5-94F30E61E058}"/>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3A2BDE6-4A4A-A6D6-D3F9-016479D9FFFF}"/>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D2ED16-8D4E-7549-7322-669566DDEF8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3DBD444D-C319-928E-2736-4C296846DF9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BD98CEAA-AF5D-8770-A48A-A8071463FDCC}"/>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D7D0FA5F-A8A5-8118-8E28-4963A530277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4B22AED-ED09-9FB5-1E17-D495065FFA6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CDE2BA21-D4DC-8931-A8B5-D8AAB43D9CD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B6CE866-230A-C23F-6068-9405CD83702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B000EBEF-B402-B8C4-12D1-8E1D7CC7FD6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DE1ED43-47FA-6F0C-BAA9-D0C309B3A4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25BEB87-A1D8-A59E-E8E5-7F29E963ADD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193B0F29-A731-67D2-4118-018B4E5D8A0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C124B84F-BA24-F2F7-D46E-C5A9F1600C5F}"/>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A5519EAE-4E3C-4F6D-9DF4-99D2019ECA5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E89979B-9D2C-B40E-9393-37FBFA0B9F2D}"/>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a:t>
            </a:r>
            <a:r>
              <a:rPr lang="en-GB" altLang="en-US" sz="2800" b="1" dirty="0">
                <a:solidFill>
                  <a:srgbClr val="0070C0"/>
                </a:solidFill>
              </a:rPr>
              <a:t>Specialist Component Content: Digital Production, </a:t>
            </a:r>
            <a:r>
              <a:rPr lang="en-GB" altLang="en-US" sz="2800" b="1">
                <a:solidFill>
                  <a:srgbClr val="0070C0"/>
                </a:solidFill>
              </a:rPr>
              <a:t>Design and </a:t>
            </a:r>
            <a:r>
              <a:rPr lang="en-GB" altLang="en-US" sz="2800" b="1" dirty="0">
                <a:solidFill>
                  <a:srgbClr val="0070C0"/>
                </a:solidFill>
              </a:rPr>
              <a:t>Development</a:t>
            </a:r>
          </a:p>
        </p:txBody>
      </p:sp>
      <p:sp>
        <p:nvSpPr>
          <p:cNvPr id="15363" name="TextBox 4">
            <a:extLst>
              <a:ext uri="{FF2B5EF4-FFF2-40B4-BE49-F238E27FC236}">
                <a16:creationId xmlns:a16="http://schemas.microsoft.com/office/drawing/2014/main" id="{BEEFD9BD-28E1-0CCC-6C56-6D5A9AA9EC2B}"/>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611560" y="1803709"/>
            <a:ext cx="8424936" cy="4681239"/>
          </a:xfrm>
        </p:spPr>
        <p:txBody>
          <a:bodyPr/>
          <a:lstStyle/>
          <a:p>
            <a:pPr eaLnBrk="1" hangingPunct="1">
              <a:defRPr/>
            </a:pPr>
            <a:r>
              <a:rPr lang="en-GB" sz="2000" b="1" dirty="0"/>
              <a:t>Aims:</a:t>
            </a:r>
          </a:p>
          <a:p>
            <a:pPr lvl="1" eaLnBrk="1" hangingPunct="1">
              <a:defRPr/>
            </a:pPr>
            <a:r>
              <a:rPr lang="en-GB" sz="2000" dirty="0"/>
              <a:t>To understand planning and requirement analysis</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plan and conduct a requirement analysis with specific references to:</a:t>
            </a:r>
          </a:p>
          <a:p>
            <a:pPr lvl="2" eaLnBrk="1" hangingPunct="1"/>
            <a:r>
              <a:rPr lang="en-GB" sz="1400" dirty="0"/>
              <a:t>Identify business requirements such as new software and amending/increasing security. </a:t>
            </a:r>
          </a:p>
          <a:p>
            <a:pPr lvl="2" eaLnBrk="1" hangingPunct="1"/>
            <a:r>
              <a:rPr lang="en-GB" sz="1400" dirty="0"/>
              <a:t>Assess the measurable value of the proposed solution in relation to the user  and the client/business. </a:t>
            </a:r>
          </a:p>
          <a:p>
            <a:pPr lvl="2" eaLnBrk="1" hangingPunct="1"/>
            <a:r>
              <a:rPr lang="en-GB" sz="1400" dirty="0"/>
              <a:t>Apply computational thinking (decomposition, pattern recognition and abstraction) to split the problem into discrete objects. </a:t>
            </a:r>
          </a:p>
          <a:p>
            <a:pPr lvl="2" eaLnBrk="1" hangingPunct="1"/>
            <a:r>
              <a:rPr lang="en-GB" sz="1400" dirty="0"/>
              <a:t>Define the functional and non-functional requirements of the solution.</a:t>
            </a:r>
          </a:p>
          <a:p>
            <a:pPr lvl="2" eaLnBrk="1" hangingPunct="1"/>
            <a:r>
              <a:rPr lang="en-GB" sz="1400" dirty="0"/>
              <a:t>Define the key performance indicators (</a:t>
            </a:r>
            <a:r>
              <a:rPr lang="en-GB" sz="1400" dirty="0" err="1"/>
              <a:t>KPls</a:t>
            </a:r>
            <a:r>
              <a:rPr lang="en-GB" sz="1400" dirty="0"/>
              <a:t>) of the solution. </a:t>
            </a:r>
          </a:p>
          <a:p>
            <a:pPr lvl="2" eaLnBrk="1" hangingPunct="1"/>
            <a:r>
              <a:rPr lang="en-GB" sz="1400" dirty="0"/>
              <a:t>Identify the performance constraints in digital projects. </a:t>
            </a:r>
          </a:p>
          <a:p>
            <a:pPr lvl="2" eaLnBrk="1" hangingPunct="1"/>
            <a:r>
              <a:rPr lang="en-GB" sz="1400" dirty="0"/>
              <a:t>Create user acceptance criteria.</a:t>
            </a:r>
          </a:p>
          <a:p>
            <a:pPr lvl="2" eaLnBrk="1" hangingPunct="1"/>
            <a:r>
              <a:rPr lang="en-GB" sz="1400" dirty="0"/>
              <a:t>Schedule projects (tasks, subtasks, milestones).</a:t>
            </a:r>
          </a:p>
          <a:p>
            <a:pPr lvl="2" eaLnBrk="1" hangingPunct="1"/>
            <a:r>
              <a:rPr lang="en-GB" sz="1400" dirty="0"/>
              <a:t> Allocate appropriate resources to digital projects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871ADF7-58D2-8339-EBB0-0AD873843B03}"/>
              </a:ext>
            </a:extLst>
          </p:cNvPr>
          <p:cNvSpPr>
            <a:spLocks noGrp="1" noChangeArrowheads="1"/>
          </p:cNvSpPr>
          <p:nvPr>
            <p:ph type="title"/>
          </p:nvPr>
        </p:nvSpPr>
        <p:spPr>
          <a:xfrm>
            <a:off x="1331640" y="446193"/>
            <a:ext cx="7650162" cy="939800"/>
          </a:xfrm>
        </p:spPr>
        <p:txBody>
          <a:bodyPr/>
          <a:lstStyle/>
          <a:p>
            <a:r>
              <a:rPr lang="en-GB" sz="3200" b="1" dirty="0">
                <a:solidFill>
                  <a:srgbClr val="0070C0"/>
                </a:solidFill>
              </a:rPr>
              <a:t>Identifying Business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DD20326B-8666-8C4D-280F-5E5ACAE14B9E}"/>
              </a:ext>
            </a:extLst>
          </p:cNvPr>
          <p:cNvSpPr>
            <a:spLocks noGrp="1" noChangeArrowheads="1"/>
          </p:cNvSpPr>
          <p:nvPr>
            <p:ph idx="1"/>
          </p:nvPr>
        </p:nvSpPr>
        <p:spPr>
          <a:xfrm>
            <a:off x="396081" y="1988840"/>
            <a:ext cx="8351838" cy="575766"/>
          </a:xfrm>
        </p:spPr>
        <p:txBody>
          <a:bodyPr/>
          <a:lstStyle/>
          <a:p>
            <a:r>
              <a:rPr lang="en-GB" sz="1800" dirty="0"/>
              <a:t>Business requirements define what the organisation needs from a digital solution.</a:t>
            </a:r>
            <a:endParaRPr lang="en-GB" altLang="en-US" sz="1800" dirty="0"/>
          </a:p>
        </p:txBody>
      </p:sp>
      <p:sp>
        <p:nvSpPr>
          <p:cNvPr id="2" name="Content Placeholder 2">
            <a:extLst>
              <a:ext uri="{FF2B5EF4-FFF2-40B4-BE49-F238E27FC236}">
                <a16:creationId xmlns:a16="http://schemas.microsoft.com/office/drawing/2014/main" id="{C480DB7E-BF60-2242-EAB2-2FD401BF9630}"/>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uncover what must be built, changed, or secured.</a:t>
            </a:r>
            <a:endParaRPr lang="en-GB" altLang="en-US" sz="1800" kern="0" dirty="0"/>
          </a:p>
        </p:txBody>
      </p:sp>
      <p:sp>
        <p:nvSpPr>
          <p:cNvPr id="3" name="Content Placeholder 2">
            <a:extLst>
              <a:ext uri="{FF2B5EF4-FFF2-40B4-BE49-F238E27FC236}">
                <a16:creationId xmlns:a16="http://schemas.microsoft.com/office/drawing/2014/main" id="{6BB9867C-96B5-E0D6-9F76-8C82FA4E7E90}"/>
              </a:ext>
            </a:extLst>
          </p:cNvPr>
          <p:cNvSpPr txBox="1">
            <a:spLocks noChangeArrowheads="1"/>
          </p:cNvSpPr>
          <p:nvPr/>
        </p:nvSpPr>
        <p:spPr bwMode="auto">
          <a:xfrm>
            <a:off x="234950" y="3770301"/>
            <a:ext cx="4467072" cy="2664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Understand the client’s goals and pain points</a:t>
            </a:r>
          </a:p>
          <a:p>
            <a:pPr lvl="1"/>
            <a:r>
              <a:rPr lang="en-GB" sz="1800" dirty="0"/>
              <a:t>Identify needs like new software features or improved security</a:t>
            </a:r>
          </a:p>
          <a:p>
            <a:pPr lvl="1"/>
            <a:r>
              <a:rPr lang="en-GB" sz="1800" dirty="0"/>
              <a:t>Align requirements with business strategy and operations</a:t>
            </a:r>
          </a:p>
          <a:p>
            <a:pPr lvl="1"/>
            <a:r>
              <a:rPr lang="en-GB" sz="1800" dirty="0"/>
              <a:t>Differentiate between essential and nice-to-have needs</a:t>
            </a:r>
          </a:p>
          <a:p>
            <a:endParaRPr lang="en-GB" altLang="en-US" sz="1800" kern="0" dirty="0"/>
          </a:p>
        </p:txBody>
      </p:sp>
      <p:pic>
        <p:nvPicPr>
          <p:cNvPr id="15362" name="Picture 2">
            <a:extLst>
              <a:ext uri="{FF2B5EF4-FFF2-40B4-BE49-F238E27FC236}">
                <a16:creationId xmlns:a16="http://schemas.microsoft.com/office/drawing/2014/main" id="{F051417E-0BF2-148C-A48F-D3CE351C5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6820494" y="3132708"/>
            <a:ext cx="2065923" cy="2065923"/>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a:extLst>
              <a:ext uri="{FF2B5EF4-FFF2-40B4-BE49-F238E27FC236}">
                <a16:creationId xmlns:a16="http://schemas.microsoft.com/office/drawing/2014/main" id="{8E4171E7-F52C-2323-D40E-90FC8BCB37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4932040" y="5733905"/>
            <a:ext cx="2520280" cy="9522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269A-D580-99FD-8FE3-4680F576330C}"/>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5FC2C50-D9B9-0E9E-31D4-898B9D852391}"/>
              </a:ext>
            </a:extLst>
          </p:cNvPr>
          <p:cNvSpPr>
            <a:spLocks noGrp="1" noChangeArrowheads="1"/>
          </p:cNvSpPr>
          <p:nvPr>
            <p:ph type="title"/>
          </p:nvPr>
        </p:nvSpPr>
        <p:spPr>
          <a:xfrm>
            <a:off x="1331640" y="446193"/>
            <a:ext cx="7650162" cy="939800"/>
          </a:xfrm>
        </p:spPr>
        <p:txBody>
          <a:bodyPr/>
          <a:lstStyle/>
          <a:p>
            <a:r>
              <a:rPr lang="en-GB" sz="3600" b="1" dirty="0">
                <a:solidFill>
                  <a:srgbClr val="0070C0"/>
                </a:solidFill>
              </a:rPr>
              <a:t>Assessing Measurable Value</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B8DA858-946A-A4C1-004E-447A6E0615A1}"/>
              </a:ext>
            </a:extLst>
          </p:cNvPr>
          <p:cNvSpPr>
            <a:spLocks noGrp="1" noChangeArrowheads="1"/>
          </p:cNvSpPr>
          <p:nvPr>
            <p:ph idx="1"/>
          </p:nvPr>
        </p:nvSpPr>
        <p:spPr>
          <a:xfrm>
            <a:off x="396081" y="1988840"/>
            <a:ext cx="8351838" cy="575766"/>
          </a:xfrm>
        </p:spPr>
        <p:txBody>
          <a:bodyPr/>
          <a:lstStyle/>
          <a:p>
            <a:r>
              <a:rPr lang="en-GB" sz="1800" dirty="0"/>
              <a:t>Value must be clear for both the end-user and the business.</a:t>
            </a:r>
            <a:endParaRPr lang="en-GB" altLang="en-US" sz="1800" dirty="0"/>
          </a:p>
        </p:txBody>
      </p:sp>
      <p:sp>
        <p:nvSpPr>
          <p:cNvPr id="2" name="Content Placeholder 2">
            <a:extLst>
              <a:ext uri="{FF2B5EF4-FFF2-40B4-BE49-F238E27FC236}">
                <a16:creationId xmlns:a16="http://schemas.microsoft.com/office/drawing/2014/main" id="{FCC5436D-0E28-B4F8-409E-1F6172F9275F}"/>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ensure the proposed solution justifies its cost and effort.</a:t>
            </a:r>
            <a:endParaRPr lang="en-GB" altLang="en-US" sz="1800" kern="0" dirty="0"/>
          </a:p>
        </p:txBody>
      </p:sp>
      <p:sp>
        <p:nvSpPr>
          <p:cNvPr id="3" name="Content Placeholder 2">
            <a:extLst>
              <a:ext uri="{FF2B5EF4-FFF2-40B4-BE49-F238E27FC236}">
                <a16:creationId xmlns:a16="http://schemas.microsoft.com/office/drawing/2014/main" id="{96A53BF6-7B17-FD39-0BFA-9294672FF385}"/>
              </a:ext>
            </a:extLst>
          </p:cNvPr>
          <p:cNvSpPr txBox="1">
            <a:spLocks noChangeArrowheads="1"/>
          </p:cNvSpPr>
          <p:nvPr/>
        </p:nvSpPr>
        <p:spPr bwMode="auto">
          <a:xfrm>
            <a:off x="234950" y="3770301"/>
            <a:ext cx="4467072" cy="2664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Time saved, productivity improved, or costs reduced</a:t>
            </a:r>
          </a:p>
          <a:p>
            <a:pPr lvl="1"/>
            <a:r>
              <a:rPr lang="en-GB" sz="1800" dirty="0"/>
              <a:t>Enhanced user experience or accessibility</a:t>
            </a:r>
          </a:p>
          <a:p>
            <a:pPr lvl="1"/>
            <a:r>
              <a:rPr lang="en-GB" sz="1800" dirty="0"/>
              <a:t>Alignment with client KPIs (e.g., revenue, retention)</a:t>
            </a:r>
          </a:p>
          <a:p>
            <a:pPr lvl="1"/>
            <a:r>
              <a:rPr lang="en-GB" sz="1800" dirty="0"/>
              <a:t>ROI: Does the benefit outweigh the investment?</a:t>
            </a:r>
          </a:p>
          <a:p>
            <a:endParaRPr lang="en-GB" altLang="en-US" sz="1800" kern="0" dirty="0"/>
          </a:p>
        </p:txBody>
      </p:sp>
      <p:pic>
        <p:nvPicPr>
          <p:cNvPr id="5" name="Picture 4">
            <a:extLst>
              <a:ext uri="{FF2B5EF4-FFF2-40B4-BE49-F238E27FC236}">
                <a16:creationId xmlns:a16="http://schemas.microsoft.com/office/drawing/2014/main" id="{A10DF3A9-17BD-AEC5-7723-4FEB2198C538}"/>
              </a:ext>
            </a:extLst>
          </p:cNvPr>
          <p:cNvPicPr>
            <a:picLocks noChangeAspect="1"/>
          </p:cNvPicPr>
          <p:nvPr/>
        </p:nvPicPr>
        <p:blipFill>
          <a:blip r:embed="rId3"/>
          <a:stretch>
            <a:fillRect/>
          </a:stretch>
        </p:blipFill>
        <p:spPr>
          <a:xfrm>
            <a:off x="7034171" y="3578960"/>
            <a:ext cx="1713748" cy="1506224"/>
          </a:xfrm>
          <a:prstGeom prst="rect">
            <a:avLst/>
          </a:prstGeom>
        </p:spPr>
      </p:pic>
      <p:pic>
        <p:nvPicPr>
          <p:cNvPr id="14340" name="Picture 4" descr="PMP Exam Prep: Return on Investment ...">
            <a:extLst>
              <a:ext uri="{FF2B5EF4-FFF2-40B4-BE49-F238E27FC236}">
                <a16:creationId xmlns:a16="http://schemas.microsoft.com/office/drawing/2014/main" id="{774B1E63-58D4-8211-C6E7-182FDB861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5282992"/>
            <a:ext cx="3455839" cy="1182024"/>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What is the Return on Investment (ROI) for Engineering &amp; Construction  project management software? - WorkPack">
            <a:extLst>
              <a:ext uri="{FF2B5EF4-FFF2-40B4-BE49-F238E27FC236}">
                <a16:creationId xmlns:a16="http://schemas.microsoft.com/office/drawing/2014/main" id="{349ECAF3-51E1-670A-2122-E12AABCF2F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2022" y="3578960"/>
            <a:ext cx="1891742" cy="1261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947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1215A-8508-C59D-A5FA-BB0DA991A4E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3B6CB8F-281B-9D6B-D139-3E0272F3EFF2}"/>
              </a:ext>
            </a:extLst>
          </p:cNvPr>
          <p:cNvSpPr>
            <a:spLocks noGrp="1" noChangeArrowheads="1"/>
          </p:cNvSpPr>
          <p:nvPr>
            <p:ph type="title"/>
          </p:nvPr>
        </p:nvSpPr>
        <p:spPr>
          <a:xfrm>
            <a:off x="1331640" y="446193"/>
            <a:ext cx="7650162" cy="939800"/>
          </a:xfrm>
        </p:spPr>
        <p:txBody>
          <a:bodyPr/>
          <a:lstStyle/>
          <a:p>
            <a:r>
              <a:rPr lang="en-GB" sz="3200" b="1" dirty="0">
                <a:solidFill>
                  <a:srgbClr val="0070C0"/>
                </a:solidFill>
              </a:rPr>
              <a:t>Applying Computational Thinking</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038FFC0E-C2D3-D56F-2DB6-69E3C4FF520E}"/>
              </a:ext>
            </a:extLst>
          </p:cNvPr>
          <p:cNvSpPr>
            <a:spLocks noGrp="1" noChangeArrowheads="1"/>
          </p:cNvSpPr>
          <p:nvPr>
            <p:ph idx="1"/>
          </p:nvPr>
        </p:nvSpPr>
        <p:spPr>
          <a:xfrm>
            <a:off x="396081" y="1988840"/>
            <a:ext cx="8351838" cy="575766"/>
          </a:xfrm>
        </p:spPr>
        <p:txBody>
          <a:bodyPr/>
          <a:lstStyle/>
          <a:p>
            <a:r>
              <a:rPr lang="en-GB" sz="1800" dirty="0"/>
              <a:t>Breaking complex problems into manageable parts helps define a structured solution.</a:t>
            </a:r>
            <a:endParaRPr lang="en-GB" altLang="en-US" sz="1800" dirty="0"/>
          </a:p>
        </p:txBody>
      </p:sp>
      <p:sp>
        <p:nvSpPr>
          <p:cNvPr id="2" name="Content Placeholder 2">
            <a:extLst>
              <a:ext uri="{FF2B5EF4-FFF2-40B4-BE49-F238E27FC236}">
                <a16:creationId xmlns:a16="http://schemas.microsoft.com/office/drawing/2014/main" id="{0ABBA64A-3272-7EFC-B898-3721245898B9}"/>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simplify design through logical decomposition.</a:t>
            </a:r>
            <a:endParaRPr lang="en-GB" altLang="en-US" sz="1800" kern="0" dirty="0"/>
          </a:p>
        </p:txBody>
      </p:sp>
      <p:sp>
        <p:nvSpPr>
          <p:cNvPr id="3" name="Content Placeholder 2">
            <a:extLst>
              <a:ext uri="{FF2B5EF4-FFF2-40B4-BE49-F238E27FC236}">
                <a16:creationId xmlns:a16="http://schemas.microsoft.com/office/drawing/2014/main" id="{A0270688-DF57-9CBC-B206-15F702F9203B}"/>
              </a:ext>
            </a:extLst>
          </p:cNvPr>
          <p:cNvSpPr txBox="1">
            <a:spLocks noChangeArrowheads="1"/>
          </p:cNvSpPr>
          <p:nvPr/>
        </p:nvSpPr>
        <p:spPr bwMode="auto">
          <a:xfrm>
            <a:off x="227067" y="3471363"/>
            <a:ext cx="4481066" cy="2755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b="1" dirty="0"/>
              <a:t>Decomposition:</a:t>
            </a:r>
            <a:r>
              <a:rPr lang="en-GB" sz="1800" dirty="0"/>
              <a:t> Break down the problem into smaller components</a:t>
            </a:r>
          </a:p>
          <a:p>
            <a:pPr lvl="1"/>
            <a:r>
              <a:rPr lang="en-GB" sz="1800" b="1" dirty="0"/>
              <a:t>Pattern recognition:</a:t>
            </a:r>
            <a:r>
              <a:rPr lang="en-GB" sz="1800" dirty="0"/>
              <a:t> Identify common elements and reuse logic</a:t>
            </a:r>
          </a:p>
          <a:p>
            <a:pPr lvl="1"/>
            <a:r>
              <a:rPr lang="en-GB" sz="1800" b="1" dirty="0"/>
              <a:t>Abstraction:</a:t>
            </a:r>
            <a:r>
              <a:rPr lang="en-GB" sz="1800" dirty="0"/>
              <a:t> Focus on essential features only</a:t>
            </a:r>
          </a:p>
          <a:p>
            <a:pPr lvl="1"/>
            <a:r>
              <a:rPr lang="en-GB" sz="1800" b="1" dirty="0"/>
              <a:t>Algorithmic Thinking: </a:t>
            </a:r>
            <a:r>
              <a:rPr lang="en-GB" sz="1800" dirty="0"/>
              <a:t>a step-by-step set of instructions or rules (an algorithm) to solve a problem.</a:t>
            </a:r>
          </a:p>
          <a:p>
            <a:endParaRPr lang="en-GB" altLang="en-US" sz="1800" kern="0" dirty="0"/>
          </a:p>
        </p:txBody>
      </p:sp>
      <p:pic>
        <p:nvPicPr>
          <p:cNvPr id="13314" name="Picture 2" descr="Computational Thinking: Projects, Skills &amp; Examples">
            <a:extLst>
              <a:ext uri="{FF2B5EF4-FFF2-40B4-BE49-F238E27FC236}">
                <a16:creationId xmlns:a16="http://schemas.microsoft.com/office/drawing/2014/main" id="{32AB13EC-A22E-2FA3-56F2-12C746E72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5013" y="3770301"/>
            <a:ext cx="3851920" cy="2168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06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9B1D8-0B5D-06ED-E525-C75131ADAB16}"/>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1F9E8A07-CD0A-D943-0885-F137FA011DA4}"/>
              </a:ext>
            </a:extLst>
          </p:cNvPr>
          <p:cNvSpPr>
            <a:spLocks noGrp="1" noChangeArrowheads="1"/>
          </p:cNvSpPr>
          <p:nvPr>
            <p:ph type="title"/>
          </p:nvPr>
        </p:nvSpPr>
        <p:spPr>
          <a:xfrm>
            <a:off x="1547664" y="446193"/>
            <a:ext cx="7596336" cy="939800"/>
          </a:xfrm>
        </p:spPr>
        <p:txBody>
          <a:bodyPr/>
          <a:lstStyle/>
          <a:p>
            <a:r>
              <a:rPr lang="en-GB" sz="3200" b="1" dirty="0">
                <a:solidFill>
                  <a:srgbClr val="0070C0"/>
                </a:solidFill>
              </a:rPr>
              <a:t>Functional &amp; Non-Functional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C3775112-36F6-6F41-0C19-1244EDC6FD14}"/>
              </a:ext>
            </a:extLst>
          </p:cNvPr>
          <p:cNvSpPr>
            <a:spLocks noGrp="1" noChangeArrowheads="1"/>
          </p:cNvSpPr>
          <p:nvPr>
            <p:ph idx="1"/>
          </p:nvPr>
        </p:nvSpPr>
        <p:spPr>
          <a:xfrm>
            <a:off x="396081" y="1988840"/>
            <a:ext cx="8351838" cy="575766"/>
          </a:xfrm>
        </p:spPr>
        <p:txBody>
          <a:bodyPr/>
          <a:lstStyle/>
          <a:p>
            <a:r>
              <a:rPr lang="en-GB" sz="1800" dirty="0"/>
              <a:t>Requirements must describe both what a system does and how it performs.</a:t>
            </a:r>
            <a:endParaRPr lang="en-GB" altLang="en-US" sz="1800" dirty="0"/>
          </a:p>
        </p:txBody>
      </p:sp>
      <p:sp>
        <p:nvSpPr>
          <p:cNvPr id="2" name="Content Placeholder 2">
            <a:extLst>
              <a:ext uri="{FF2B5EF4-FFF2-40B4-BE49-F238E27FC236}">
                <a16:creationId xmlns:a16="http://schemas.microsoft.com/office/drawing/2014/main" id="{FEF4C90E-1219-B638-F165-E9BA6533B629}"/>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produce a complete and testable specification.</a:t>
            </a:r>
            <a:endParaRPr lang="en-GB" altLang="en-US" sz="1800" kern="0" dirty="0"/>
          </a:p>
        </p:txBody>
      </p:sp>
      <p:sp>
        <p:nvSpPr>
          <p:cNvPr id="3" name="Content Placeholder 2">
            <a:extLst>
              <a:ext uri="{FF2B5EF4-FFF2-40B4-BE49-F238E27FC236}">
                <a16:creationId xmlns:a16="http://schemas.microsoft.com/office/drawing/2014/main" id="{58C4E8E2-E37A-0634-EF7D-FDDCBA52A9B1}"/>
              </a:ext>
            </a:extLst>
          </p:cNvPr>
          <p:cNvSpPr txBox="1">
            <a:spLocks noChangeArrowheads="1"/>
          </p:cNvSpPr>
          <p:nvPr/>
        </p:nvSpPr>
        <p:spPr bwMode="auto">
          <a:xfrm>
            <a:off x="234950" y="3770301"/>
            <a:ext cx="4467072" cy="21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b="1" dirty="0"/>
              <a:t>Functional:</a:t>
            </a:r>
            <a:r>
              <a:rPr lang="en-GB" sz="1800" dirty="0"/>
              <a:t> Tasks, actions, features (e.g., login, data entry)</a:t>
            </a:r>
          </a:p>
          <a:p>
            <a:pPr lvl="1"/>
            <a:r>
              <a:rPr lang="en-GB" sz="1800" b="1" dirty="0"/>
              <a:t>Non-functional:</a:t>
            </a:r>
            <a:r>
              <a:rPr lang="en-GB" sz="1800" dirty="0"/>
              <a:t> Performance, security, usability, scalability</a:t>
            </a:r>
          </a:p>
          <a:p>
            <a:pPr lvl="1"/>
            <a:r>
              <a:rPr lang="en-GB" sz="1800" dirty="0"/>
              <a:t>Document scenarios, conditions, and business rules</a:t>
            </a:r>
          </a:p>
          <a:p>
            <a:endParaRPr lang="en-GB" altLang="en-US" sz="1800" kern="0" dirty="0"/>
          </a:p>
        </p:txBody>
      </p:sp>
      <p:pic>
        <p:nvPicPr>
          <p:cNvPr id="12290" name="Picture 2" descr="Functional vs Nonfunctional requirements of a project">
            <a:extLst>
              <a:ext uri="{FF2B5EF4-FFF2-40B4-BE49-F238E27FC236}">
                <a16:creationId xmlns:a16="http://schemas.microsoft.com/office/drawing/2014/main" id="{12F9C98A-5C68-ACA9-939E-757BDBCA4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3463171"/>
            <a:ext cx="3743871" cy="2911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95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E059E-3AE1-C109-A1E5-9020B0F5A0E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D15811E-B6EF-140A-85D3-CB56255A1C24}"/>
              </a:ext>
            </a:extLst>
          </p:cNvPr>
          <p:cNvSpPr>
            <a:spLocks noGrp="1" noChangeArrowheads="1"/>
          </p:cNvSpPr>
          <p:nvPr>
            <p:ph type="title"/>
          </p:nvPr>
        </p:nvSpPr>
        <p:spPr>
          <a:xfrm>
            <a:off x="1547664" y="446193"/>
            <a:ext cx="7596336" cy="939800"/>
          </a:xfrm>
        </p:spPr>
        <p:txBody>
          <a:bodyPr/>
          <a:lstStyle/>
          <a:p>
            <a:r>
              <a:rPr lang="en-GB" sz="3200" b="1" dirty="0">
                <a:solidFill>
                  <a:srgbClr val="0070C0"/>
                </a:solidFill>
              </a:rPr>
              <a:t>Key Performance Indicators (KPIs)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2B6056AC-86A5-88C1-4F4A-1ED748709670}"/>
              </a:ext>
            </a:extLst>
          </p:cNvPr>
          <p:cNvSpPr>
            <a:spLocks noGrp="1" noChangeArrowheads="1"/>
          </p:cNvSpPr>
          <p:nvPr>
            <p:ph idx="1"/>
          </p:nvPr>
        </p:nvSpPr>
        <p:spPr>
          <a:xfrm>
            <a:off x="396081" y="1988840"/>
            <a:ext cx="8351838" cy="575766"/>
          </a:xfrm>
        </p:spPr>
        <p:txBody>
          <a:bodyPr/>
          <a:lstStyle/>
          <a:p>
            <a:r>
              <a:rPr lang="en-GB" sz="1800" dirty="0"/>
              <a:t>KPIs measure the solution’s effectiveness and success.</a:t>
            </a:r>
            <a:endParaRPr lang="en-GB" altLang="en-US" sz="1800" dirty="0"/>
          </a:p>
        </p:txBody>
      </p:sp>
      <p:sp>
        <p:nvSpPr>
          <p:cNvPr id="2" name="Content Placeholder 2">
            <a:extLst>
              <a:ext uri="{FF2B5EF4-FFF2-40B4-BE49-F238E27FC236}">
                <a16:creationId xmlns:a16="http://schemas.microsoft.com/office/drawing/2014/main" id="{AE0BC154-7B0C-D96E-FF01-62EE1978EA0C}"/>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define metrics for performance monitoring.</a:t>
            </a:r>
          </a:p>
          <a:p>
            <a:endParaRPr lang="en-GB" altLang="en-US" sz="1800" kern="0" dirty="0"/>
          </a:p>
        </p:txBody>
      </p:sp>
      <p:sp>
        <p:nvSpPr>
          <p:cNvPr id="3" name="Content Placeholder 2">
            <a:extLst>
              <a:ext uri="{FF2B5EF4-FFF2-40B4-BE49-F238E27FC236}">
                <a16:creationId xmlns:a16="http://schemas.microsoft.com/office/drawing/2014/main" id="{344ADCEB-2C6B-23A1-CD38-CC258E6C0A15}"/>
              </a:ext>
            </a:extLst>
          </p:cNvPr>
          <p:cNvSpPr txBox="1">
            <a:spLocks noChangeArrowheads="1"/>
          </p:cNvSpPr>
          <p:nvPr/>
        </p:nvSpPr>
        <p:spPr bwMode="auto">
          <a:xfrm>
            <a:off x="364607" y="3610791"/>
            <a:ext cx="4467072" cy="2106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Uptime percentage</a:t>
            </a:r>
          </a:p>
          <a:p>
            <a:pPr lvl="1"/>
            <a:r>
              <a:rPr lang="en-GB" sz="1800" dirty="0"/>
              <a:t>Average response/load time</a:t>
            </a:r>
          </a:p>
          <a:p>
            <a:pPr lvl="1"/>
            <a:r>
              <a:rPr lang="en-GB" sz="1800" dirty="0"/>
              <a:t>User satisfaction or Net Promoter Score (NPS)</a:t>
            </a:r>
          </a:p>
          <a:p>
            <a:pPr lvl="1"/>
            <a:r>
              <a:rPr lang="en-GB" sz="1800" dirty="0"/>
              <a:t>Feature adoption rates</a:t>
            </a:r>
          </a:p>
          <a:p>
            <a:pPr lvl="1"/>
            <a:r>
              <a:rPr lang="en-GB" sz="1800" dirty="0"/>
              <a:t>Security incident frequency</a:t>
            </a:r>
          </a:p>
          <a:p>
            <a:endParaRPr lang="en-GB" altLang="en-US" sz="1800" kern="0" dirty="0"/>
          </a:p>
        </p:txBody>
      </p:sp>
      <p:pic>
        <p:nvPicPr>
          <p:cNvPr id="11266" name="Picture 2" descr="11 software development KPIs you should measure | CodiLime">
            <a:extLst>
              <a:ext uri="{FF2B5EF4-FFF2-40B4-BE49-F238E27FC236}">
                <a16:creationId xmlns:a16="http://schemas.microsoft.com/office/drawing/2014/main" id="{AE6E5382-82F7-CC4C-4BAC-BD2B59D18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7800" y="1988840"/>
            <a:ext cx="2088232" cy="10573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B3A5ECD-875E-69EF-A715-3ADBF9CDFDEE}"/>
              </a:ext>
            </a:extLst>
          </p:cNvPr>
          <p:cNvPicPr>
            <a:picLocks noChangeAspect="1"/>
          </p:cNvPicPr>
          <p:nvPr/>
        </p:nvPicPr>
        <p:blipFill>
          <a:blip r:embed="rId4"/>
          <a:stretch>
            <a:fillRect/>
          </a:stretch>
        </p:blipFill>
        <p:spPr>
          <a:xfrm>
            <a:off x="4966952" y="3485665"/>
            <a:ext cx="3830341" cy="3061721"/>
          </a:xfrm>
          <a:prstGeom prst="rect">
            <a:avLst/>
          </a:prstGeom>
        </p:spPr>
      </p:pic>
    </p:spTree>
    <p:extLst>
      <p:ext uri="{BB962C8B-B14F-4D97-AF65-F5344CB8AC3E}">
        <p14:creationId xmlns:p14="http://schemas.microsoft.com/office/powerpoint/2010/main" val="887981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F68A-6712-5077-2150-583D6635FA4D}"/>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50C13D52-D989-77F3-B52F-2E5595DD773A}"/>
              </a:ext>
            </a:extLst>
          </p:cNvPr>
          <p:cNvSpPr>
            <a:spLocks noGrp="1" noChangeArrowheads="1"/>
          </p:cNvSpPr>
          <p:nvPr>
            <p:ph type="title"/>
          </p:nvPr>
        </p:nvSpPr>
        <p:spPr>
          <a:xfrm>
            <a:off x="1547664" y="446193"/>
            <a:ext cx="7344816" cy="939800"/>
          </a:xfrm>
        </p:spPr>
        <p:txBody>
          <a:bodyPr/>
          <a:lstStyle/>
          <a:p>
            <a:r>
              <a:rPr lang="en-GB" sz="2800" b="1" dirty="0">
                <a:solidFill>
                  <a:srgbClr val="0070C0"/>
                </a:solidFill>
              </a:rPr>
              <a:t>Identifying Performance Constraints</a:t>
            </a:r>
            <a:endParaRPr lang="en-US" altLang="en-US" sz="2800" b="1" dirty="0">
              <a:solidFill>
                <a:srgbClr val="0070C0"/>
              </a:solidFill>
            </a:endParaRPr>
          </a:p>
        </p:txBody>
      </p:sp>
      <p:sp>
        <p:nvSpPr>
          <p:cNvPr id="18435" name="Content Placeholder 2">
            <a:extLst>
              <a:ext uri="{FF2B5EF4-FFF2-40B4-BE49-F238E27FC236}">
                <a16:creationId xmlns:a16="http://schemas.microsoft.com/office/drawing/2014/main" id="{CA0FCE3E-E477-A0B0-BC06-74BB90DE8580}"/>
              </a:ext>
            </a:extLst>
          </p:cNvPr>
          <p:cNvSpPr>
            <a:spLocks noGrp="1" noChangeArrowheads="1"/>
          </p:cNvSpPr>
          <p:nvPr>
            <p:ph idx="1"/>
          </p:nvPr>
        </p:nvSpPr>
        <p:spPr>
          <a:xfrm>
            <a:off x="396081" y="1988840"/>
            <a:ext cx="8351838" cy="575766"/>
          </a:xfrm>
        </p:spPr>
        <p:txBody>
          <a:bodyPr/>
          <a:lstStyle/>
          <a:p>
            <a:r>
              <a:rPr lang="en-GB" sz="1800" dirty="0"/>
              <a:t>Constraints are limits that the system must operate within.</a:t>
            </a:r>
            <a:endParaRPr lang="en-GB" altLang="en-US" sz="1800" dirty="0"/>
          </a:p>
        </p:txBody>
      </p:sp>
      <p:sp>
        <p:nvSpPr>
          <p:cNvPr id="2" name="Content Placeholder 2">
            <a:extLst>
              <a:ext uri="{FF2B5EF4-FFF2-40B4-BE49-F238E27FC236}">
                <a16:creationId xmlns:a16="http://schemas.microsoft.com/office/drawing/2014/main" id="{23308CE1-4ED0-60AF-0A63-E68FD42E5E2E}"/>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plan around technical, financial, or user restrictions.</a:t>
            </a:r>
            <a:endParaRPr lang="en-GB" altLang="en-US" sz="1800" kern="0" dirty="0"/>
          </a:p>
        </p:txBody>
      </p:sp>
      <p:sp>
        <p:nvSpPr>
          <p:cNvPr id="3" name="Content Placeholder 2">
            <a:extLst>
              <a:ext uri="{FF2B5EF4-FFF2-40B4-BE49-F238E27FC236}">
                <a16:creationId xmlns:a16="http://schemas.microsoft.com/office/drawing/2014/main" id="{F4790372-D680-8CFE-A2F8-A885C1C69176}"/>
              </a:ext>
            </a:extLst>
          </p:cNvPr>
          <p:cNvSpPr txBox="1">
            <a:spLocks noChangeArrowheads="1"/>
          </p:cNvSpPr>
          <p:nvPr/>
        </p:nvSpPr>
        <p:spPr bwMode="auto">
          <a:xfrm>
            <a:off x="364606" y="3610791"/>
            <a:ext cx="4927473" cy="18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Server capacity or bandwidth</a:t>
            </a:r>
          </a:p>
          <a:p>
            <a:pPr lvl="1"/>
            <a:r>
              <a:rPr lang="en-GB" sz="1800" dirty="0"/>
              <a:t>User load limits (e.g., concurrent users)</a:t>
            </a:r>
          </a:p>
          <a:p>
            <a:pPr lvl="1"/>
            <a:r>
              <a:rPr lang="en-GB" sz="1800" dirty="0"/>
              <a:t>Software and hardware compatibility</a:t>
            </a:r>
          </a:p>
          <a:p>
            <a:pPr lvl="1"/>
            <a:r>
              <a:rPr lang="en-GB" sz="1800" dirty="0"/>
              <a:t>Legal or budget limitations</a:t>
            </a:r>
          </a:p>
          <a:p>
            <a:endParaRPr lang="en-GB" altLang="en-US" sz="1800" kern="0" dirty="0"/>
          </a:p>
        </p:txBody>
      </p:sp>
      <p:pic>
        <p:nvPicPr>
          <p:cNvPr id="10242" name="Picture 2" descr="Project Constraints | Smartsheet">
            <a:extLst>
              <a:ext uri="{FF2B5EF4-FFF2-40B4-BE49-F238E27FC236}">
                <a16:creationId xmlns:a16="http://schemas.microsoft.com/office/drawing/2014/main" id="{820DB59F-070D-19E1-1E26-4048E8C19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8026" y="3395137"/>
            <a:ext cx="1727647" cy="12499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425DFF2-8FE7-2AE1-D00F-1D2E740A8A6D}"/>
              </a:ext>
            </a:extLst>
          </p:cNvPr>
          <p:cNvPicPr>
            <a:picLocks noChangeAspect="1"/>
          </p:cNvPicPr>
          <p:nvPr/>
        </p:nvPicPr>
        <p:blipFill>
          <a:blip r:embed="rId4"/>
          <a:stretch>
            <a:fillRect/>
          </a:stretch>
        </p:blipFill>
        <p:spPr>
          <a:xfrm>
            <a:off x="6264697" y="4758322"/>
            <a:ext cx="2627783" cy="1878789"/>
          </a:xfrm>
          <a:prstGeom prst="rect">
            <a:avLst/>
          </a:prstGeom>
        </p:spPr>
      </p:pic>
    </p:spTree>
    <p:extLst>
      <p:ext uri="{BB962C8B-B14F-4D97-AF65-F5344CB8AC3E}">
        <p14:creationId xmlns:p14="http://schemas.microsoft.com/office/powerpoint/2010/main" val="409203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A868B-EC1E-AFF8-C959-F28D2274EA8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8F8FE0ED-7779-2562-0F6A-05DDDF36E571}"/>
              </a:ext>
            </a:extLst>
          </p:cNvPr>
          <p:cNvSpPr>
            <a:spLocks noGrp="1" noChangeArrowheads="1"/>
          </p:cNvSpPr>
          <p:nvPr>
            <p:ph type="title"/>
          </p:nvPr>
        </p:nvSpPr>
        <p:spPr>
          <a:xfrm>
            <a:off x="1547664" y="446193"/>
            <a:ext cx="7344816" cy="939800"/>
          </a:xfrm>
        </p:spPr>
        <p:txBody>
          <a:bodyPr/>
          <a:lstStyle/>
          <a:p>
            <a:r>
              <a:rPr lang="en-GB" sz="2800" b="1" dirty="0">
                <a:solidFill>
                  <a:srgbClr val="0070C0"/>
                </a:solidFill>
              </a:rPr>
              <a:t>User Acceptance Criteria</a:t>
            </a:r>
            <a:endParaRPr lang="en-US" altLang="en-US" sz="2800" b="1" dirty="0">
              <a:solidFill>
                <a:srgbClr val="0070C0"/>
              </a:solidFill>
            </a:endParaRPr>
          </a:p>
        </p:txBody>
      </p:sp>
      <p:sp>
        <p:nvSpPr>
          <p:cNvPr id="18435" name="Content Placeholder 2">
            <a:extLst>
              <a:ext uri="{FF2B5EF4-FFF2-40B4-BE49-F238E27FC236}">
                <a16:creationId xmlns:a16="http://schemas.microsoft.com/office/drawing/2014/main" id="{4A10463A-3581-F30E-B298-5E0D79BB4278}"/>
              </a:ext>
            </a:extLst>
          </p:cNvPr>
          <p:cNvSpPr>
            <a:spLocks noGrp="1" noChangeArrowheads="1"/>
          </p:cNvSpPr>
          <p:nvPr>
            <p:ph idx="1"/>
          </p:nvPr>
        </p:nvSpPr>
        <p:spPr>
          <a:xfrm>
            <a:off x="396081" y="1988840"/>
            <a:ext cx="8351838" cy="575766"/>
          </a:xfrm>
        </p:spPr>
        <p:txBody>
          <a:bodyPr/>
          <a:lstStyle/>
          <a:p>
            <a:r>
              <a:rPr lang="en-GB" sz="1800" dirty="0"/>
              <a:t>Acceptance criteria define what must be true for users to approve the solution.</a:t>
            </a:r>
            <a:endParaRPr lang="en-GB" altLang="en-US" sz="1800" dirty="0"/>
          </a:p>
        </p:txBody>
      </p:sp>
      <p:sp>
        <p:nvSpPr>
          <p:cNvPr id="2" name="Content Placeholder 2">
            <a:extLst>
              <a:ext uri="{FF2B5EF4-FFF2-40B4-BE49-F238E27FC236}">
                <a16:creationId xmlns:a16="http://schemas.microsoft.com/office/drawing/2014/main" id="{2EF6A40C-4B43-DFBB-BA12-53CC8326BCC5}"/>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set measurable standards for final delivery.</a:t>
            </a:r>
            <a:endParaRPr lang="en-GB" altLang="en-US" sz="1800" kern="0" dirty="0"/>
          </a:p>
        </p:txBody>
      </p:sp>
      <p:sp>
        <p:nvSpPr>
          <p:cNvPr id="3" name="Content Placeholder 2">
            <a:extLst>
              <a:ext uri="{FF2B5EF4-FFF2-40B4-BE49-F238E27FC236}">
                <a16:creationId xmlns:a16="http://schemas.microsoft.com/office/drawing/2014/main" id="{22316096-575A-1B7E-D70D-168A116B71AB}"/>
              </a:ext>
            </a:extLst>
          </p:cNvPr>
          <p:cNvSpPr txBox="1">
            <a:spLocks noChangeArrowheads="1"/>
          </p:cNvSpPr>
          <p:nvPr/>
        </p:nvSpPr>
        <p:spPr bwMode="auto">
          <a:xfrm>
            <a:off x="364606" y="3610791"/>
            <a:ext cx="5359522" cy="18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Clear, testable conditions</a:t>
            </a:r>
          </a:p>
          <a:p>
            <a:pPr lvl="1"/>
            <a:r>
              <a:rPr lang="en-GB" sz="1800" dirty="0"/>
              <a:t>Based on user expectations and behaviours</a:t>
            </a:r>
          </a:p>
          <a:p>
            <a:pPr lvl="1"/>
            <a:r>
              <a:rPr lang="en-GB" sz="1800" dirty="0"/>
              <a:t>Used during QA, testing, and sign-off</a:t>
            </a:r>
          </a:p>
          <a:p>
            <a:pPr lvl="1"/>
            <a:r>
              <a:rPr lang="en-GB" sz="1800" dirty="0"/>
              <a:t>Written in a “Given/When/Then” format (e.g., BDD)</a:t>
            </a:r>
          </a:p>
          <a:p>
            <a:endParaRPr lang="en-GB" altLang="en-US" sz="1800" kern="0" dirty="0"/>
          </a:p>
        </p:txBody>
      </p:sp>
      <p:pic>
        <p:nvPicPr>
          <p:cNvPr id="9218" name="Picture 2" descr="SDLCforms Application Development Project List">
            <a:extLst>
              <a:ext uri="{FF2B5EF4-FFF2-40B4-BE49-F238E27FC236}">
                <a16:creationId xmlns:a16="http://schemas.microsoft.com/office/drawing/2014/main" id="{37517BBF-7A3D-E2F3-E17E-A587CB93A4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2462" y="3307609"/>
            <a:ext cx="2312112" cy="2986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568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69B88-0520-7E8E-D143-F6A7325F111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357312A3-1EF6-E1D8-E815-FCFB94BB77E2}"/>
              </a:ext>
            </a:extLst>
          </p:cNvPr>
          <p:cNvSpPr>
            <a:spLocks noGrp="1" noChangeArrowheads="1"/>
          </p:cNvSpPr>
          <p:nvPr>
            <p:ph type="title"/>
          </p:nvPr>
        </p:nvSpPr>
        <p:spPr>
          <a:xfrm>
            <a:off x="1547664" y="406494"/>
            <a:ext cx="7344816" cy="939800"/>
          </a:xfrm>
        </p:spPr>
        <p:txBody>
          <a:bodyPr/>
          <a:lstStyle/>
          <a:p>
            <a:r>
              <a:rPr lang="en-GB" sz="3600" b="1" dirty="0">
                <a:solidFill>
                  <a:srgbClr val="0070C0"/>
                </a:solidFill>
              </a:rPr>
              <a:t>Project Scheduling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198E74E-EB65-FAC1-56EB-4B2B194F1576}"/>
              </a:ext>
            </a:extLst>
          </p:cNvPr>
          <p:cNvSpPr>
            <a:spLocks noGrp="1" noChangeArrowheads="1"/>
          </p:cNvSpPr>
          <p:nvPr>
            <p:ph idx="1"/>
          </p:nvPr>
        </p:nvSpPr>
        <p:spPr>
          <a:xfrm>
            <a:off x="396081" y="1988840"/>
            <a:ext cx="8351838" cy="575766"/>
          </a:xfrm>
        </p:spPr>
        <p:txBody>
          <a:bodyPr/>
          <a:lstStyle/>
          <a:p>
            <a:r>
              <a:rPr lang="en-GB" sz="1800" dirty="0"/>
              <a:t>Scheduling organizes tasks, subtasks, and milestones to manage time and progress.</a:t>
            </a:r>
            <a:endParaRPr lang="en-GB" altLang="en-US" sz="1800" dirty="0"/>
          </a:p>
        </p:txBody>
      </p:sp>
      <p:sp>
        <p:nvSpPr>
          <p:cNvPr id="2" name="Content Placeholder 2">
            <a:extLst>
              <a:ext uri="{FF2B5EF4-FFF2-40B4-BE49-F238E27FC236}">
                <a16:creationId xmlns:a16="http://schemas.microsoft.com/office/drawing/2014/main" id="{B10FE735-75A7-AC42-65A5-53E840E14409}"/>
              </a:ext>
            </a:extLst>
          </p:cNvPr>
          <p:cNvSpPr txBox="1">
            <a:spLocks noChangeArrowheads="1"/>
          </p:cNvSpPr>
          <p:nvPr/>
        </p:nvSpPr>
        <p:spPr bwMode="auto">
          <a:xfrm>
            <a:off x="396081" y="274402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define the timeline and keep the project on track.</a:t>
            </a:r>
            <a:endParaRPr lang="en-GB" altLang="en-US" sz="1800" kern="0" dirty="0"/>
          </a:p>
        </p:txBody>
      </p:sp>
      <p:sp>
        <p:nvSpPr>
          <p:cNvPr id="3" name="Content Placeholder 2">
            <a:extLst>
              <a:ext uri="{FF2B5EF4-FFF2-40B4-BE49-F238E27FC236}">
                <a16:creationId xmlns:a16="http://schemas.microsoft.com/office/drawing/2014/main" id="{90076F4E-2E7C-FFAA-53BE-E20495898583}"/>
              </a:ext>
            </a:extLst>
          </p:cNvPr>
          <p:cNvSpPr txBox="1">
            <a:spLocks noChangeArrowheads="1"/>
          </p:cNvSpPr>
          <p:nvPr/>
        </p:nvSpPr>
        <p:spPr bwMode="auto">
          <a:xfrm>
            <a:off x="258089" y="3376178"/>
            <a:ext cx="5359522" cy="18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Break down tasks and dependencies</a:t>
            </a:r>
          </a:p>
          <a:p>
            <a:pPr lvl="1"/>
            <a:r>
              <a:rPr lang="en-GB" sz="1800" dirty="0"/>
              <a:t>Set realistic deadlines</a:t>
            </a:r>
          </a:p>
          <a:p>
            <a:pPr lvl="1"/>
            <a:r>
              <a:rPr lang="en-GB" sz="1800" dirty="0"/>
              <a:t>Define major milestones (e.g., MVP, Beta, Launch)</a:t>
            </a:r>
          </a:p>
          <a:p>
            <a:pPr lvl="1"/>
            <a:r>
              <a:rPr lang="en-GB" sz="1800" dirty="0"/>
              <a:t>Use tools like Gantt charts or Kanban boards</a:t>
            </a:r>
          </a:p>
          <a:p>
            <a:endParaRPr lang="en-GB" altLang="en-US" sz="1800" kern="0" dirty="0"/>
          </a:p>
        </p:txBody>
      </p:sp>
      <p:pic>
        <p:nvPicPr>
          <p:cNvPr id="5" name="Picture 4">
            <a:extLst>
              <a:ext uri="{FF2B5EF4-FFF2-40B4-BE49-F238E27FC236}">
                <a16:creationId xmlns:a16="http://schemas.microsoft.com/office/drawing/2014/main" id="{E8C6D114-C605-38C2-24C4-B954529BD221}"/>
              </a:ext>
            </a:extLst>
          </p:cNvPr>
          <p:cNvPicPr>
            <a:picLocks noChangeAspect="1"/>
          </p:cNvPicPr>
          <p:nvPr/>
        </p:nvPicPr>
        <p:blipFill>
          <a:blip r:embed="rId3"/>
          <a:stretch>
            <a:fillRect/>
          </a:stretch>
        </p:blipFill>
        <p:spPr>
          <a:xfrm>
            <a:off x="5387307" y="3183600"/>
            <a:ext cx="3324622" cy="1517301"/>
          </a:xfrm>
          <a:prstGeom prst="rect">
            <a:avLst/>
          </a:prstGeom>
        </p:spPr>
      </p:pic>
      <p:pic>
        <p:nvPicPr>
          <p:cNvPr id="8196" name="Picture 4" descr="Example of mapping parallel development workflows on a Kanban board">
            <a:extLst>
              <a:ext uri="{FF2B5EF4-FFF2-40B4-BE49-F238E27FC236}">
                <a16:creationId xmlns:a16="http://schemas.microsoft.com/office/drawing/2014/main" id="{E79A89A6-BF9D-6481-E160-A72499C28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7611" y="4924129"/>
            <a:ext cx="3014466" cy="1575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916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345B-E90F-A9D1-E367-7A5B6ABE3DCB}"/>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C805F35-96F0-0F83-D70F-4C60D68DD6A7}"/>
              </a:ext>
            </a:extLst>
          </p:cNvPr>
          <p:cNvSpPr>
            <a:spLocks noGrp="1" noChangeArrowheads="1"/>
          </p:cNvSpPr>
          <p:nvPr>
            <p:ph type="title"/>
          </p:nvPr>
        </p:nvSpPr>
        <p:spPr>
          <a:xfrm>
            <a:off x="1547664" y="446193"/>
            <a:ext cx="7344816" cy="939800"/>
          </a:xfrm>
        </p:spPr>
        <p:txBody>
          <a:bodyPr/>
          <a:lstStyle/>
          <a:p>
            <a:r>
              <a:rPr lang="en-GB" sz="3600" b="1" dirty="0">
                <a:solidFill>
                  <a:srgbClr val="0070C0"/>
                </a:solidFill>
              </a:rPr>
              <a:t>Resource Allocation</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F1AE5488-62CE-1DAA-95E1-951F07A356D9}"/>
              </a:ext>
            </a:extLst>
          </p:cNvPr>
          <p:cNvSpPr>
            <a:spLocks noGrp="1" noChangeArrowheads="1"/>
          </p:cNvSpPr>
          <p:nvPr>
            <p:ph idx="1"/>
          </p:nvPr>
        </p:nvSpPr>
        <p:spPr>
          <a:xfrm>
            <a:off x="396081" y="1988840"/>
            <a:ext cx="8351838" cy="575766"/>
          </a:xfrm>
        </p:spPr>
        <p:txBody>
          <a:bodyPr/>
          <a:lstStyle/>
          <a:p>
            <a:r>
              <a:rPr lang="en-GB" sz="1800" dirty="0"/>
              <a:t>Assigning the right people and tools is essential for project success.</a:t>
            </a:r>
            <a:endParaRPr lang="en-GB" altLang="en-US" sz="1800" dirty="0"/>
          </a:p>
        </p:txBody>
      </p:sp>
      <p:sp>
        <p:nvSpPr>
          <p:cNvPr id="2" name="Content Placeholder 2">
            <a:extLst>
              <a:ext uri="{FF2B5EF4-FFF2-40B4-BE49-F238E27FC236}">
                <a16:creationId xmlns:a16="http://schemas.microsoft.com/office/drawing/2014/main" id="{B905B955-636A-29F0-A0D7-6A14B686F811}"/>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optimise time, skills, and assets.</a:t>
            </a:r>
            <a:endParaRPr lang="en-GB" altLang="en-US" sz="1800" kern="0" dirty="0"/>
          </a:p>
        </p:txBody>
      </p:sp>
      <p:sp>
        <p:nvSpPr>
          <p:cNvPr id="3" name="Content Placeholder 2">
            <a:extLst>
              <a:ext uri="{FF2B5EF4-FFF2-40B4-BE49-F238E27FC236}">
                <a16:creationId xmlns:a16="http://schemas.microsoft.com/office/drawing/2014/main" id="{C2FBED20-8A06-25E6-D02F-A385F88C4841}"/>
              </a:ext>
            </a:extLst>
          </p:cNvPr>
          <p:cNvSpPr txBox="1">
            <a:spLocks noChangeArrowheads="1"/>
          </p:cNvSpPr>
          <p:nvPr/>
        </p:nvSpPr>
        <p:spPr bwMode="auto">
          <a:xfrm>
            <a:off x="364606" y="3610791"/>
            <a:ext cx="5359522" cy="1834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Identify required roles (developers, testers, designers)</a:t>
            </a:r>
          </a:p>
          <a:p>
            <a:pPr lvl="1"/>
            <a:r>
              <a:rPr lang="en-GB" sz="1800" dirty="0"/>
              <a:t>Match tasks to skillsets and availability</a:t>
            </a:r>
          </a:p>
          <a:p>
            <a:pPr lvl="1"/>
            <a:r>
              <a:rPr lang="en-GB" sz="1800" dirty="0"/>
              <a:t>Assign hardware/software resources</a:t>
            </a:r>
          </a:p>
          <a:p>
            <a:pPr lvl="1"/>
            <a:r>
              <a:rPr lang="en-GB" sz="1800" dirty="0"/>
              <a:t>Balance workloads to avoid bottlenecks</a:t>
            </a:r>
          </a:p>
          <a:p>
            <a:endParaRPr lang="en-GB" altLang="en-US" sz="1800" kern="0" dirty="0"/>
          </a:p>
        </p:txBody>
      </p:sp>
      <p:pic>
        <p:nvPicPr>
          <p:cNvPr id="5" name="Picture 4">
            <a:extLst>
              <a:ext uri="{FF2B5EF4-FFF2-40B4-BE49-F238E27FC236}">
                <a16:creationId xmlns:a16="http://schemas.microsoft.com/office/drawing/2014/main" id="{F8CB35B2-AAD1-C609-09AD-2ABD0B091A16}"/>
              </a:ext>
            </a:extLst>
          </p:cNvPr>
          <p:cNvPicPr>
            <a:picLocks noChangeAspect="1"/>
          </p:cNvPicPr>
          <p:nvPr/>
        </p:nvPicPr>
        <p:blipFill>
          <a:blip r:embed="rId3"/>
          <a:stretch>
            <a:fillRect/>
          </a:stretch>
        </p:blipFill>
        <p:spPr>
          <a:xfrm>
            <a:off x="6203254" y="2517797"/>
            <a:ext cx="2542778" cy="1834433"/>
          </a:xfrm>
          <a:prstGeom prst="rect">
            <a:avLst/>
          </a:prstGeom>
        </p:spPr>
      </p:pic>
      <p:pic>
        <p:nvPicPr>
          <p:cNvPr id="7172" name="Picture 4" descr="Resource Allocation: 6-Step Process for a Flexible Project Plan">
            <a:extLst>
              <a:ext uri="{FF2B5EF4-FFF2-40B4-BE49-F238E27FC236}">
                <a16:creationId xmlns:a16="http://schemas.microsoft.com/office/drawing/2014/main" id="{8DE9C6CF-3D63-AD52-D110-DA0CDEF0F9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4604683"/>
            <a:ext cx="3124566" cy="1681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734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7A9AD-FE75-5557-E96B-0014FFE5D0A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169DEF65-9E5F-676A-99B1-A90A15DF1ACF}"/>
              </a:ext>
            </a:extLst>
          </p:cNvPr>
          <p:cNvSpPr>
            <a:spLocks noGrp="1" noChangeArrowheads="1"/>
          </p:cNvSpPr>
          <p:nvPr>
            <p:ph type="title"/>
          </p:nvPr>
        </p:nvSpPr>
        <p:spPr>
          <a:xfrm>
            <a:off x="1403648" y="446193"/>
            <a:ext cx="7488832" cy="939800"/>
          </a:xfrm>
        </p:spPr>
        <p:txBody>
          <a:bodyPr/>
          <a:lstStyle/>
          <a:p>
            <a:r>
              <a:rPr lang="en-GB" sz="3200" b="1" dirty="0">
                <a:solidFill>
                  <a:srgbClr val="0070C0"/>
                </a:solidFill>
              </a:rPr>
              <a:t>Estimating Costs in Digital Projects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50BD4D21-C881-B820-4E12-8B813509B69F}"/>
              </a:ext>
            </a:extLst>
          </p:cNvPr>
          <p:cNvSpPr>
            <a:spLocks noGrp="1" noChangeArrowheads="1"/>
          </p:cNvSpPr>
          <p:nvPr>
            <p:ph idx="1"/>
          </p:nvPr>
        </p:nvSpPr>
        <p:spPr>
          <a:xfrm>
            <a:off x="396081" y="1988840"/>
            <a:ext cx="8351838" cy="575766"/>
          </a:xfrm>
        </p:spPr>
        <p:txBody>
          <a:bodyPr/>
          <a:lstStyle/>
          <a:p>
            <a:r>
              <a:rPr lang="en-GB" sz="1800" dirty="0"/>
              <a:t>Accurate cost estimation is crucial to avoid overruns and secure funding.</a:t>
            </a:r>
            <a:endParaRPr lang="en-GB" altLang="en-US" sz="1800" dirty="0"/>
          </a:p>
        </p:txBody>
      </p:sp>
      <p:sp>
        <p:nvSpPr>
          <p:cNvPr id="2" name="Content Placeholder 2">
            <a:extLst>
              <a:ext uri="{FF2B5EF4-FFF2-40B4-BE49-F238E27FC236}">
                <a16:creationId xmlns:a16="http://schemas.microsoft.com/office/drawing/2014/main" id="{C0395776-A9D3-C96C-8CC5-11BC2F24C871}"/>
              </a:ext>
            </a:extLst>
          </p:cNvPr>
          <p:cNvSpPr txBox="1">
            <a:spLocks noChangeArrowheads="1"/>
          </p:cNvSpPr>
          <p:nvPr/>
        </p:nvSpPr>
        <p:spPr bwMode="auto">
          <a:xfrm>
            <a:off x="397968" y="2909899"/>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understand and plan for the full financial scope of the project.</a:t>
            </a:r>
            <a:endParaRPr lang="en-GB" altLang="en-US" sz="1800" kern="0" dirty="0"/>
          </a:p>
        </p:txBody>
      </p:sp>
      <p:sp>
        <p:nvSpPr>
          <p:cNvPr id="3" name="Content Placeholder 2">
            <a:extLst>
              <a:ext uri="{FF2B5EF4-FFF2-40B4-BE49-F238E27FC236}">
                <a16:creationId xmlns:a16="http://schemas.microsoft.com/office/drawing/2014/main" id="{E304D285-1AA7-3B42-9389-313E5FC68756}"/>
              </a:ext>
            </a:extLst>
          </p:cNvPr>
          <p:cNvSpPr txBox="1">
            <a:spLocks noChangeArrowheads="1"/>
          </p:cNvSpPr>
          <p:nvPr/>
        </p:nvSpPr>
        <p:spPr bwMode="auto">
          <a:xfrm>
            <a:off x="251520" y="3444559"/>
            <a:ext cx="5328592" cy="2864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Identify direct costs: software, hardware, licensing</a:t>
            </a:r>
          </a:p>
          <a:p>
            <a:pPr lvl="1"/>
            <a:r>
              <a:rPr lang="en-GB" sz="1800" dirty="0"/>
              <a:t>Estimate staff costs (developer hours, PM, QA)</a:t>
            </a:r>
          </a:p>
          <a:p>
            <a:pPr lvl="1"/>
            <a:r>
              <a:rPr lang="en-GB" sz="1800" dirty="0"/>
              <a:t>Include hidden costs (e.g., support, training, maintenance)</a:t>
            </a:r>
          </a:p>
          <a:p>
            <a:pPr lvl="1"/>
            <a:r>
              <a:rPr lang="en-GB" sz="1800" dirty="0"/>
              <a:t>Consider contingency for unexpected expenses (typically 10–20%)</a:t>
            </a:r>
          </a:p>
          <a:p>
            <a:pPr lvl="1"/>
            <a:r>
              <a:rPr lang="en-GB" sz="1800" dirty="0"/>
              <a:t>Use cost estimation methods: top-down, bottom-up, analogous</a:t>
            </a:r>
          </a:p>
          <a:p>
            <a:endParaRPr lang="en-GB" altLang="en-US" sz="1800" kern="0" dirty="0"/>
          </a:p>
        </p:txBody>
      </p:sp>
      <p:pic>
        <p:nvPicPr>
          <p:cNvPr id="6146" name="Picture 2" descr="Project Cost Management: Basics, Types &amp; Processes - AIMS UK">
            <a:extLst>
              <a:ext uri="{FF2B5EF4-FFF2-40B4-BE49-F238E27FC236}">
                <a16:creationId xmlns:a16="http://schemas.microsoft.com/office/drawing/2014/main" id="{6BE252DB-46D9-AA92-16EF-A7FEE7A95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9125" y="3471805"/>
            <a:ext cx="2678794" cy="150496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B148CE7-257E-4A9B-AF4F-CFB4E90719B5}"/>
              </a:ext>
            </a:extLst>
          </p:cNvPr>
          <p:cNvPicPr>
            <a:picLocks noChangeAspect="1"/>
          </p:cNvPicPr>
          <p:nvPr/>
        </p:nvPicPr>
        <p:blipFill>
          <a:blip r:embed="rId4"/>
          <a:stretch>
            <a:fillRect/>
          </a:stretch>
        </p:blipFill>
        <p:spPr>
          <a:xfrm>
            <a:off x="6017259" y="5217978"/>
            <a:ext cx="2730660" cy="1210593"/>
          </a:xfrm>
          <a:prstGeom prst="rect">
            <a:avLst/>
          </a:prstGeom>
        </p:spPr>
      </p:pic>
    </p:spTree>
    <p:extLst>
      <p:ext uri="{BB962C8B-B14F-4D97-AF65-F5344CB8AC3E}">
        <p14:creationId xmlns:p14="http://schemas.microsoft.com/office/powerpoint/2010/main" val="1127429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A527A-08D3-8D06-CD25-A93BF5790EA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8966E151-1AA0-F94E-A6C3-D7FBF30EB043}"/>
              </a:ext>
            </a:extLst>
          </p:cNvPr>
          <p:cNvSpPr>
            <a:spLocks noGrp="1" noChangeArrowheads="1"/>
          </p:cNvSpPr>
          <p:nvPr>
            <p:ph type="title"/>
          </p:nvPr>
        </p:nvSpPr>
        <p:spPr>
          <a:xfrm>
            <a:off x="1403648" y="446193"/>
            <a:ext cx="7488832" cy="939800"/>
          </a:xfrm>
        </p:spPr>
        <p:txBody>
          <a:bodyPr/>
          <a:lstStyle/>
          <a:p>
            <a:r>
              <a:rPr lang="en-GB" sz="3200" b="1" dirty="0">
                <a:solidFill>
                  <a:srgbClr val="0070C0"/>
                </a:solidFill>
              </a:rPr>
              <a:t>Choosing Programming Languages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F406ED5A-671D-C753-56F0-78926D5500A4}"/>
              </a:ext>
            </a:extLst>
          </p:cNvPr>
          <p:cNvSpPr>
            <a:spLocks noGrp="1" noChangeArrowheads="1"/>
          </p:cNvSpPr>
          <p:nvPr>
            <p:ph idx="1"/>
          </p:nvPr>
        </p:nvSpPr>
        <p:spPr>
          <a:xfrm>
            <a:off x="363896" y="1988840"/>
            <a:ext cx="8747919" cy="575766"/>
          </a:xfrm>
        </p:spPr>
        <p:txBody>
          <a:bodyPr/>
          <a:lstStyle/>
          <a:p>
            <a:r>
              <a:rPr lang="en-GB" sz="1800" dirty="0"/>
              <a:t>Selecting the right language ensures long-term success and system compatibility.</a:t>
            </a:r>
            <a:endParaRPr lang="en-GB" altLang="en-US" sz="1800" dirty="0"/>
          </a:p>
        </p:txBody>
      </p:sp>
      <p:sp>
        <p:nvSpPr>
          <p:cNvPr id="2" name="Content Placeholder 2">
            <a:extLst>
              <a:ext uri="{FF2B5EF4-FFF2-40B4-BE49-F238E27FC236}">
                <a16:creationId xmlns:a16="http://schemas.microsoft.com/office/drawing/2014/main" id="{3CBFEC84-1F0A-1D7C-82D4-5487077CBD41}"/>
              </a:ext>
            </a:extLst>
          </p:cNvPr>
          <p:cNvSpPr txBox="1">
            <a:spLocks noChangeArrowheads="1"/>
          </p:cNvSpPr>
          <p:nvPr/>
        </p:nvSpPr>
        <p:spPr bwMode="auto">
          <a:xfrm>
            <a:off x="363896" y="2564606"/>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evaluate languages against key project and business needs.</a:t>
            </a:r>
            <a:endParaRPr lang="en-GB" altLang="en-US" sz="1800" kern="0" dirty="0"/>
          </a:p>
        </p:txBody>
      </p:sp>
      <p:sp>
        <p:nvSpPr>
          <p:cNvPr id="3" name="Content Placeholder 2">
            <a:extLst>
              <a:ext uri="{FF2B5EF4-FFF2-40B4-BE49-F238E27FC236}">
                <a16:creationId xmlns:a16="http://schemas.microsoft.com/office/drawing/2014/main" id="{D5331123-407E-7AC8-8F61-6DFB8A738A12}"/>
              </a:ext>
            </a:extLst>
          </p:cNvPr>
          <p:cNvSpPr txBox="1">
            <a:spLocks noChangeArrowheads="1"/>
          </p:cNvSpPr>
          <p:nvPr/>
        </p:nvSpPr>
        <p:spPr bwMode="auto">
          <a:xfrm>
            <a:off x="97951" y="3393447"/>
            <a:ext cx="5698185" cy="126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b="1" dirty="0"/>
              <a:t>Suitability for task</a:t>
            </a:r>
            <a:r>
              <a:rPr lang="en-GB" sz="1800" dirty="0"/>
              <a:t> – e.g., Python for data, JavaScript for web</a:t>
            </a:r>
          </a:p>
          <a:p>
            <a:pPr lvl="1"/>
            <a:r>
              <a:rPr lang="en-GB" sz="1800" b="1" dirty="0"/>
              <a:t>Organisational policy</a:t>
            </a:r>
            <a:r>
              <a:rPr lang="en-GB" sz="1800" dirty="0"/>
              <a:t> – use of preferred stacks or legacy systems</a:t>
            </a:r>
          </a:p>
          <a:p>
            <a:endParaRPr lang="en-GB" altLang="en-US" sz="1800" kern="0" dirty="0"/>
          </a:p>
        </p:txBody>
      </p:sp>
      <p:pic>
        <p:nvPicPr>
          <p:cNvPr id="5122" name="Picture 2" descr="Programming Language ...">
            <a:extLst>
              <a:ext uri="{FF2B5EF4-FFF2-40B4-BE49-F238E27FC236}">
                <a16:creationId xmlns:a16="http://schemas.microsoft.com/office/drawing/2014/main" id="{C61443A9-D7AF-FA1E-C32D-6A0DB07CB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1155" y="3123683"/>
            <a:ext cx="2981325" cy="153352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84E663C1-02A2-ABF0-61BC-A967F187F8A2}"/>
              </a:ext>
            </a:extLst>
          </p:cNvPr>
          <p:cNvSpPr txBox="1">
            <a:spLocks noChangeArrowheads="1"/>
          </p:cNvSpPr>
          <p:nvPr/>
        </p:nvSpPr>
        <p:spPr bwMode="auto">
          <a:xfrm>
            <a:off x="109638" y="4710696"/>
            <a:ext cx="7272808" cy="1701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b="1" dirty="0"/>
              <a:t>Scalability</a:t>
            </a:r>
            <a:r>
              <a:rPr lang="en-GB" sz="1800" dirty="0"/>
              <a:t> – can it support growth and added features?</a:t>
            </a:r>
          </a:p>
          <a:p>
            <a:pPr lvl="1"/>
            <a:r>
              <a:rPr lang="en-GB" sz="1800" b="1" dirty="0"/>
              <a:t>Security</a:t>
            </a:r>
            <a:r>
              <a:rPr lang="en-GB" sz="1800" dirty="0"/>
              <a:t> – language vulnerabilities and community support</a:t>
            </a:r>
          </a:p>
          <a:p>
            <a:pPr lvl="1"/>
            <a:r>
              <a:rPr lang="en-GB" sz="1800" b="1" dirty="0"/>
              <a:t>Availability of trained staff</a:t>
            </a:r>
            <a:r>
              <a:rPr lang="en-GB" sz="1800" dirty="0"/>
              <a:t> – ease of hiring or training</a:t>
            </a:r>
          </a:p>
          <a:p>
            <a:pPr lvl="1"/>
            <a:r>
              <a:rPr lang="en-GB" sz="1800" b="1" dirty="0"/>
              <a:t>Costs</a:t>
            </a:r>
            <a:r>
              <a:rPr lang="en-GB" sz="1800" dirty="0"/>
              <a:t> – license fees, development speed</a:t>
            </a:r>
          </a:p>
          <a:p>
            <a:pPr lvl="1"/>
            <a:r>
              <a:rPr lang="en-GB" sz="1800" b="1" dirty="0"/>
              <a:t>Reliability</a:t>
            </a:r>
            <a:r>
              <a:rPr lang="en-GB" sz="1800" dirty="0"/>
              <a:t> – proven track record and bug resistance</a:t>
            </a:r>
          </a:p>
          <a:p>
            <a:endParaRPr lang="en-GB" altLang="en-US" sz="1800" kern="0" dirty="0"/>
          </a:p>
        </p:txBody>
      </p:sp>
    </p:spTree>
    <p:extLst>
      <p:ext uri="{BB962C8B-B14F-4D97-AF65-F5344CB8AC3E}">
        <p14:creationId xmlns:p14="http://schemas.microsoft.com/office/powerpoint/2010/main" val="1255874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4B67-B241-F3B6-2304-74245D9D35FA}"/>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649A1C17-1C4A-0F5B-4C00-4A6947A26B82}"/>
              </a:ext>
            </a:extLst>
          </p:cNvPr>
          <p:cNvSpPr>
            <a:spLocks noGrp="1" noChangeArrowheads="1"/>
          </p:cNvSpPr>
          <p:nvPr>
            <p:ph type="title"/>
          </p:nvPr>
        </p:nvSpPr>
        <p:spPr>
          <a:xfrm>
            <a:off x="1475656" y="433958"/>
            <a:ext cx="7488832" cy="939800"/>
          </a:xfrm>
        </p:spPr>
        <p:txBody>
          <a:bodyPr/>
          <a:lstStyle/>
          <a:p>
            <a:r>
              <a:rPr lang="en-GB" sz="3200" b="1" dirty="0">
                <a:solidFill>
                  <a:srgbClr val="0070C0"/>
                </a:solidFill>
              </a:rPr>
              <a:t>Language Comparison Example</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5C615428-FFAF-320F-F0AE-362B8C9F1D1C}"/>
              </a:ext>
            </a:extLst>
          </p:cNvPr>
          <p:cNvSpPr>
            <a:spLocks noGrp="1" noChangeArrowheads="1"/>
          </p:cNvSpPr>
          <p:nvPr>
            <p:ph idx="1"/>
          </p:nvPr>
        </p:nvSpPr>
        <p:spPr>
          <a:xfrm>
            <a:off x="396081" y="1988840"/>
            <a:ext cx="8351838" cy="575766"/>
          </a:xfrm>
        </p:spPr>
        <p:txBody>
          <a:bodyPr/>
          <a:lstStyle/>
          <a:p>
            <a:r>
              <a:rPr lang="en-GB" sz="1800" dirty="0"/>
              <a:t>Real examples can guide decision-making in choosing the best language.</a:t>
            </a:r>
            <a:endParaRPr lang="en-GB" altLang="en-US" sz="1800" dirty="0"/>
          </a:p>
        </p:txBody>
      </p:sp>
      <p:sp>
        <p:nvSpPr>
          <p:cNvPr id="2" name="Content Placeholder 2">
            <a:extLst>
              <a:ext uri="{FF2B5EF4-FFF2-40B4-BE49-F238E27FC236}">
                <a16:creationId xmlns:a16="http://schemas.microsoft.com/office/drawing/2014/main" id="{52232E19-8ED7-C8F0-62E3-AA533F5C58E1}"/>
              </a:ext>
            </a:extLst>
          </p:cNvPr>
          <p:cNvSpPr txBox="1">
            <a:spLocks noChangeArrowheads="1"/>
          </p:cNvSpPr>
          <p:nvPr/>
        </p:nvSpPr>
        <p:spPr bwMode="auto">
          <a:xfrm>
            <a:off x="396081" y="2648983"/>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visually demonstrate how languages compare on key criteria.</a:t>
            </a:r>
            <a:endParaRPr lang="en-GB" altLang="en-US" sz="1800" kern="0" dirty="0"/>
          </a:p>
        </p:txBody>
      </p:sp>
      <p:graphicFrame>
        <p:nvGraphicFramePr>
          <p:cNvPr id="4" name="Table 3">
            <a:extLst>
              <a:ext uri="{FF2B5EF4-FFF2-40B4-BE49-F238E27FC236}">
                <a16:creationId xmlns:a16="http://schemas.microsoft.com/office/drawing/2014/main" id="{9EAA10A4-63DC-F2C3-499C-7DD7272D110C}"/>
              </a:ext>
            </a:extLst>
          </p:cNvPr>
          <p:cNvGraphicFramePr>
            <a:graphicFrameLocks noGrp="1"/>
          </p:cNvGraphicFramePr>
          <p:nvPr>
            <p:extLst>
              <p:ext uri="{D42A27DB-BD31-4B8C-83A1-F6EECF244321}">
                <p14:modId xmlns:p14="http://schemas.microsoft.com/office/powerpoint/2010/main" val="2468722375"/>
              </p:ext>
            </p:extLst>
          </p:nvPr>
        </p:nvGraphicFramePr>
        <p:xfrm>
          <a:off x="302098" y="3501008"/>
          <a:ext cx="8539804" cy="2278071"/>
        </p:xfrm>
        <a:graphic>
          <a:graphicData uri="http://schemas.openxmlformats.org/drawingml/2006/table">
            <a:tbl>
              <a:tblPr>
                <a:tableStyleId>{35758FB7-9AC5-4552-8A53-C91805E547FA}</a:tableStyleId>
              </a:tblPr>
              <a:tblGrid>
                <a:gridCol w="1219972">
                  <a:extLst>
                    <a:ext uri="{9D8B030D-6E8A-4147-A177-3AD203B41FA5}">
                      <a16:colId xmlns:a16="http://schemas.microsoft.com/office/drawing/2014/main" val="2587053825"/>
                    </a:ext>
                  </a:extLst>
                </a:gridCol>
                <a:gridCol w="1219972">
                  <a:extLst>
                    <a:ext uri="{9D8B030D-6E8A-4147-A177-3AD203B41FA5}">
                      <a16:colId xmlns:a16="http://schemas.microsoft.com/office/drawing/2014/main" val="2151746744"/>
                    </a:ext>
                  </a:extLst>
                </a:gridCol>
                <a:gridCol w="1219972">
                  <a:extLst>
                    <a:ext uri="{9D8B030D-6E8A-4147-A177-3AD203B41FA5}">
                      <a16:colId xmlns:a16="http://schemas.microsoft.com/office/drawing/2014/main" val="4272679174"/>
                    </a:ext>
                  </a:extLst>
                </a:gridCol>
                <a:gridCol w="1219972">
                  <a:extLst>
                    <a:ext uri="{9D8B030D-6E8A-4147-A177-3AD203B41FA5}">
                      <a16:colId xmlns:a16="http://schemas.microsoft.com/office/drawing/2014/main" val="4110492741"/>
                    </a:ext>
                  </a:extLst>
                </a:gridCol>
                <a:gridCol w="1219972">
                  <a:extLst>
                    <a:ext uri="{9D8B030D-6E8A-4147-A177-3AD203B41FA5}">
                      <a16:colId xmlns:a16="http://schemas.microsoft.com/office/drawing/2014/main" val="1979692838"/>
                    </a:ext>
                  </a:extLst>
                </a:gridCol>
                <a:gridCol w="1219972">
                  <a:extLst>
                    <a:ext uri="{9D8B030D-6E8A-4147-A177-3AD203B41FA5}">
                      <a16:colId xmlns:a16="http://schemas.microsoft.com/office/drawing/2014/main" val="634148943"/>
                    </a:ext>
                  </a:extLst>
                </a:gridCol>
                <a:gridCol w="1219972">
                  <a:extLst>
                    <a:ext uri="{9D8B030D-6E8A-4147-A177-3AD203B41FA5}">
                      <a16:colId xmlns:a16="http://schemas.microsoft.com/office/drawing/2014/main" val="171489495"/>
                    </a:ext>
                  </a:extLst>
                </a:gridCol>
              </a:tblGrid>
              <a:tr h="864096">
                <a:tc>
                  <a:txBody>
                    <a:bodyPr/>
                    <a:lstStyle/>
                    <a:p>
                      <a:pPr algn="ctr"/>
                      <a:r>
                        <a:rPr lang="en-GB" sz="1400" b="1" dirty="0"/>
                        <a:t>Language</a:t>
                      </a:r>
                    </a:p>
                  </a:txBody>
                  <a:tcPr anchor="ctr"/>
                </a:tc>
                <a:tc>
                  <a:txBody>
                    <a:bodyPr/>
                    <a:lstStyle/>
                    <a:p>
                      <a:pPr algn="ctr"/>
                      <a:r>
                        <a:rPr lang="en-GB" sz="1400" b="1" dirty="0"/>
                        <a:t>Task Fit</a:t>
                      </a:r>
                    </a:p>
                  </a:txBody>
                  <a:tcPr anchor="ctr"/>
                </a:tc>
                <a:tc>
                  <a:txBody>
                    <a:bodyPr/>
                    <a:lstStyle/>
                    <a:p>
                      <a:pPr algn="ctr"/>
                      <a:r>
                        <a:rPr lang="en-GB" sz="1400" b="1"/>
                        <a:t>Scalability</a:t>
                      </a:r>
                    </a:p>
                  </a:txBody>
                  <a:tcPr anchor="ctr"/>
                </a:tc>
                <a:tc>
                  <a:txBody>
                    <a:bodyPr/>
                    <a:lstStyle/>
                    <a:p>
                      <a:pPr algn="ctr"/>
                      <a:r>
                        <a:rPr lang="en-GB" sz="1400" b="1" dirty="0"/>
                        <a:t>Security</a:t>
                      </a:r>
                    </a:p>
                  </a:txBody>
                  <a:tcPr anchor="ctr"/>
                </a:tc>
                <a:tc>
                  <a:txBody>
                    <a:bodyPr/>
                    <a:lstStyle/>
                    <a:p>
                      <a:pPr algn="ctr"/>
                      <a:r>
                        <a:rPr lang="en-GB" sz="1400" b="1" dirty="0"/>
                        <a:t>Staff Availability</a:t>
                      </a:r>
                    </a:p>
                  </a:txBody>
                  <a:tcPr anchor="ctr"/>
                </a:tc>
                <a:tc>
                  <a:txBody>
                    <a:bodyPr/>
                    <a:lstStyle/>
                    <a:p>
                      <a:pPr algn="ctr"/>
                      <a:r>
                        <a:rPr lang="en-GB" sz="1400" b="1" dirty="0"/>
                        <a:t>Cost</a:t>
                      </a:r>
                    </a:p>
                  </a:txBody>
                  <a:tcPr anchor="ctr"/>
                </a:tc>
                <a:tc>
                  <a:txBody>
                    <a:bodyPr/>
                    <a:lstStyle/>
                    <a:p>
                      <a:pPr algn="ctr"/>
                      <a:r>
                        <a:rPr lang="en-GB" sz="1400" b="1" dirty="0"/>
                        <a:t>Reliability</a:t>
                      </a:r>
                    </a:p>
                  </a:txBody>
                  <a:tcPr anchor="ctr"/>
                </a:tc>
                <a:extLst>
                  <a:ext uri="{0D108BD9-81ED-4DB2-BD59-A6C34878D82A}">
                    <a16:rowId xmlns:a16="http://schemas.microsoft.com/office/drawing/2014/main" val="2551103767"/>
                  </a:ext>
                </a:extLst>
              </a:tr>
              <a:tr h="471325">
                <a:tc>
                  <a:txBody>
                    <a:bodyPr/>
                    <a:lstStyle/>
                    <a:p>
                      <a:pPr algn="ctr"/>
                      <a:r>
                        <a:rPr lang="en-GB" sz="1400"/>
                        <a:t>Python</a:t>
                      </a:r>
                    </a:p>
                  </a:txBody>
                  <a:tcPr anchor="ctr"/>
                </a:tc>
                <a:tc>
                  <a:txBody>
                    <a:bodyPr/>
                    <a:lstStyle/>
                    <a:p>
                      <a:pPr algn="ctr"/>
                      <a:r>
                        <a:rPr lang="en-GB" sz="1400"/>
                        <a:t>High</a:t>
                      </a:r>
                    </a:p>
                  </a:txBody>
                  <a:tcPr anchor="ctr"/>
                </a:tc>
                <a:tc>
                  <a:txBody>
                    <a:bodyPr/>
                    <a:lstStyle/>
                    <a:p>
                      <a:pPr algn="ctr"/>
                      <a:r>
                        <a:rPr lang="en-GB" sz="1400"/>
                        <a:t>Medium</a:t>
                      </a:r>
                    </a:p>
                  </a:txBody>
                  <a:tcPr anchor="ctr"/>
                </a:tc>
                <a:tc>
                  <a:txBody>
                    <a:bodyPr/>
                    <a:lstStyle/>
                    <a:p>
                      <a:pPr algn="ctr"/>
                      <a:r>
                        <a:rPr lang="en-GB" sz="1400"/>
                        <a:t>High</a:t>
                      </a:r>
                    </a:p>
                  </a:txBody>
                  <a:tcPr anchor="ctr"/>
                </a:tc>
                <a:tc>
                  <a:txBody>
                    <a:bodyPr/>
                    <a:lstStyle/>
                    <a:p>
                      <a:pPr algn="ctr"/>
                      <a:r>
                        <a:rPr lang="en-GB" sz="1400" dirty="0"/>
                        <a:t>High</a:t>
                      </a:r>
                    </a:p>
                  </a:txBody>
                  <a:tcPr anchor="ctr"/>
                </a:tc>
                <a:tc>
                  <a:txBody>
                    <a:bodyPr/>
                    <a:lstStyle/>
                    <a:p>
                      <a:pPr algn="ctr"/>
                      <a:r>
                        <a:rPr lang="en-GB" sz="1400" dirty="0"/>
                        <a:t>Low</a:t>
                      </a:r>
                    </a:p>
                  </a:txBody>
                  <a:tcPr anchor="ctr"/>
                </a:tc>
                <a:tc>
                  <a:txBody>
                    <a:bodyPr/>
                    <a:lstStyle/>
                    <a:p>
                      <a:pPr algn="ctr"/>
                      <a:r>
                        <a:rPr lang="en-GB" sz="1400" dirty="0"/>
                        <a:t>High</a:t>
                      </a:r>
                    </a:p>
                  </a:txBody>
                  <a:tcPr anchor="ctr"/>
                </a:tc>
                <a:extLst>
                  <a:ext uri="{0D108BD9-81ED-4DB2-BD59-A6C34878D82A}">
                    <a16:rowId xmlns:a16="http://schemas.microsoft.com/office/drawing/2014/main" val="1720698442"/>
                  </a:ext>
                </a:extLst>
              </a:tr>
              <a:tr h="471325">
                <a:tc>
                  <a:txBody>
                    <a:bodyPr/>
                    <a:lstStyle/>
                    <a:p>
                      <a:pPr algn="ctr"/>
                      <a:r>
                        <a:rPr lang="en-GB" sz="1400"/>
                        <a:t>Java</a:t>
                      </a:r>
                    </a:p>
                  </a:txBody>
                  <a:tcPr anchor="ctr"/>
                </a:tc>
                <a:tc>
                  <a:txBody>
                    <a:bodyPr/>
                    <a:lstStyle/>
                    <a:p>
                      <a:pPr algn="ctr"/>
                      <a:r>
                        <a:rPr lang="en-GB" sz="1400"/>
                        <a:t>High</a:t>
                      </a:r>
                    </a:p>
                  </a:txBody>
                  <a:tcPr anchor="ctr"/>
                </a:tc>
                <a:tc>
                  <a:txBody>
                    <a:bodyPr/>
                    <a:lstStyle/>
                    <a:p>
                      <a:pPr algn="ctr"/>
                      <a:r>
                        <a:rPr lang="en-GB" sz="1400"/>
                        <a:t>High</a:t>
                      </a:r>
                    </a:p>
                  </a:txBody>
                  <a:tcPr anchor="ctr"/>
                </a:tc>
                <a:tc>
                  <a:txBody>
                    <a:bodyPr/>
                    <a:lstStyle/>
                    <a:p>
                      <a:pPr algn="ctr"/>
                      <a:r>
                        <a:rPr lang="en-GB" sz="1400"/>
                        <a:t>High</a:t>
                      </a:r>
                    </a:p>
                  </a:txBody>
                  <a:tcPr anchor="ctr"/>
                </a:tc>
                <a:tc>
                  <a:txBody>
                    <a:bodyPr/>
                    <a:lstStyle/>
                    <a:p>
                      <a:pPr algn="ctr"/>
                      <a:r>
                        <a:rPr lang="en-GB" sz="1400"/>
                        <a:t>Medium</a:t>
                      </a:r>
                    </a:p>
                  </a:txBody>
                  <a:tcPr anchor="ctr"/>
                </a:tc>
                <a:tc>
                  <a:txBody>
                    <a:bodyPr/>
                    <a:lstStyle/>
                    <a:p>
                      <a:pPr algn="ctr"/>
                      <a:r>
                        <a:rPr lang="en-GB" sz="1400" dirty="0"/>
                        <a:t>Medium</a:t>
                      </a:r>
                    </a:p>
                  </a:txBody>
                  <a:tcPr anchor="ctr"/>
                </a:tc>
                <a:tc>
                  <a:txBody>
                    <a:bodyPr/>
                    <a:lstStyle/>
                    <a:p>
                      <a:pPr algn="ctr"/>
                      <a:r>
                        <a:rPr lang="en-GB" sz="1400" dirty="0"/>
                        <a:t>High</a:t>
                      </a:r>
                    </a:p>
                  </a:txBody>
                  <a:tcPr anchor="ctr"/>
                </a:tc>
                <a:extLst>
                  <a:ext uri="{0D108BD9-81ED-4DB2-BD59-A6C34878D82A}">
                    <a16:rowId xmlns:a16="http://schemas.microsoft.com/office/drawing/2014/main" val="3437199777"/>
                  </a:ext>
                </a:extLst>
              </a:tr>
              <a:tr h="471325">
                <a:tc>
                  <a:txBody>
                    <a:bodyPr/>
                    <a:lstStyle/>
                    <a:p>
                      <a:pPr algn="ctr"/>
                      <a:r>
                        <a:rPr lang="en-GB" sz="1400"/>
                        <a:t>PHP</a:t>
                      </a:r>
                    </a:p>
                  </a:txBody>
                  <a:tcPr anchor="ctr"/>
                </a:tc>
                <a:tc>
                  <a:txBody>
                    <a:bodyPr/>
                    <a:lstStyle/>
                    <a:p>
                      <a:pPr algn="ctr"/>
                      <a:r>
                        <a:rPr lang="en-GB" sz="1400"/>
                        <a:t>Medium</a:t>
                      </a:r>
                    </a:p>
                  </a:txBody>
                  <a:tcPr anchor="ctr"/>
                </a:tc>
                <a:tc>
                  <a:txBody>
                    <a:bodyPr/>
                    <a:lstStyle/>
                    <a:p>
                      <a:pPr algn="ctr"/>
                      <a:r>
                        <a:rPr lang="en-GB" sz="1400"/>
                        <a:t>Low</a:t>
                      </a:r>
                    </a:p>
                  </a:txBody>
                  <a:tcPr anchor="ctr"/>
                </a:tc>
                <a:tc>
                  <a:txBody>
                    <a:bodyPr/>
                    <a:lstStyle/>
                    <a:p>
                      <a:pPr algn="ctr"/>
                      <a:r>
                        <a:rPr lang="en-GB" sz="1400"/>
                        <a:t>Medium</a:t>
                      </a:r>
                    </a:p>
                  </a:txBody>
                  <a:tcPr anchor="ctr"/>
                </a:tc>
                <a:tc>
                  <a:txBody>
                    <a:bodyPr/>
                    <a:lstStyle/>
                    <a:p>
                      <a:pPr algn="ctr"/>
                      <a:r>
                        <a:rPr lang="en-GB" sz="1400" dirty="0"/>
                        <a:t>High</a:t>
                      </a:r>
                    </a:p>
                  </a:txBody>
                  <a:tcPr anchor="ctr"/>
                </a:tc>
                <a:tc>
                  <a:txBody>
                    <a:bodyPr/>
                    <a:lstStyle/>
                    <a:p>
                      <a:pPr algn="ctr"/>
                      <a:r>
                        <a:rPr lang="en-GB" sz="1400"/>
                        <a:t>Low</a:t>
                      </a:r>
                    </a:p>
                  </a:txBody>
                  <a:tcPr anchor="ctr"/>
                </a:tc>
                <a:tc>
                  <a:txBody>
                    <a:bodyPr/>
                    <a:lstStyle/>
                    <a:p>
                      <a:pPr algn="ctr"/>
                      <a:r>
                        <a:rPr lang="en-GB" sz="1400" dirty="0"/>
                        <a:t>Medium</a:t>
                      </a:r>
                    </a:p>
                  </a:txBody>
                  <a:tcPr anchor="ctr"/>
                </a:tc>
                <a:extLst>
                  <a:ext uri="{0D108BD9-81ED-4DB2-BD59-A6C34878D82A}">
                    <a16:rowId xmlns:a16="http://schemas.microsoft.com/office/drawing/2014/main" val="2642618856"/>
                  </a:ext>
                </a:extLst>
              </a:tr>
            </a:tbl>
          </a:graphicData>
        </a:graphic>
      </p:graphicFrame>
    </p:spTree>
    <p:extLst>
      <p:ext uri="{BB962C8B-B14F-4D97-AF65-F5344CB8AC3E}">
        <p14:creationId xmlns:p14="http://schemas.microsoft.com/office/powerpoint/2010/main" val="1364053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21AC4-2DBC-7267-44FC-0A6E4FF96A47}"/>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598E3612-8505-87FC-87A0-0850182BB98A}"/>
              </a:ext>
            </a:extLst>
          </p:cNvPr>
          <p:cNvSpPr>
            <a:spLocks noGrp="1" noChangeArrowheads="1"/>
          </p:cNvSpPr>
          <p:nvPr>
            <p:ph type="title"/>
          </p:nvPr>
        </p:nvSpPr>
        <p:spPr>
          <a:xfrm>
            <a:off x="1290097" y="456506"/>
            <a:ext cx="7488832" cy="939800"/>
          </a:xfrm>
        </p:spPr>
        <p:txBody>
          <a:bodyPr/>
          <a:lstStyle/>
          <a:p>
            <a:r>
              <a:rPr lang="en-GB" sz="3200" b="1" dirty="0">
                <a:solidFill>
                  <a:srgbClr val="0070C0"/>
                </a:solidFill>
              </a:rPr>
              <a:t>Identifying Risks in Digital Projects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ABD6B670-44A9-CEF3-971B-5065707096C1}"/>
              </a:ext>
            </a:extLst>
          </p:cNvPr>
          <p:cNvSpPr>
            <a:spLocks noGrp="1" noChangeArrowheads="1"/>
          </p:cNvSpPr>
          <p:nvPr>
            <p:ph idx="1"/>
          </p:nvPr>
        </p:nvSpPr>
        <p:spPr>
          <a:xfrm>
            <a:off x="396081" y="1988840"/>
            <a:ext cx="8351838" cy="575766"/>
          </a:xfrm>
        </p:spPr>
        <p:txBody>
          <a:bodyPr/>
          <a:lstStyle/>
          <a:p>
            <a:r>
              <a:rPr lang="en-GB" sz="1800" dirty="0"/>
              <a:t>Every digital project comes with technical, human, and business risks.</a:t>
            </a:r>
            <a:endParaRPr lang="en-GB" altLang="en-US" sz="1800" dirty="0"/>
          </a:p>
        </p:txBody>
      </p:sp>
      <p:sp>
        <p:nvSpPr>
          <p:cNvPr id="2" name="Content Placeholder 2">
            <a:extLst>
              <a:ext uri="{FF2B5EF4-FFF2-40B4-BE49-F238E27FC236}">
                <a16:creationId xmlns:a16="http://schemas.microsoft.com/office/drawing/2014/main" id="{66D4A7A0-3E6C-5863-B1E5-7C5D07B8EA43}"/>
              </a:ext>
            </a:extLst>
          </p:cNvPr>
          <p:cNvSpPr txBox="1">
            <a:spLocks noChangeArrowheads="1"/>
          </p:cNvSpPr>
          <p:nvPr/>
        </p:nvSpPr>
        <p:spPr bwMode="auto">
          <a:xfrm>
            <a:off x="396081" y="2714162"/>
            <a:ext cx="8351838"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anticipate issues before they impact the project.</a:t>
            </a:r>
            <a:endParaRPr lang="en-GB" altLang="en-US" sz="1800" kern="0" dirty="0"/>
          </a:p>
        </p:txBody>
      </p:sp>
      <p:sp>
        <p:nvSpPr>
          <p:cNvPr id="3" name="Content Placeholder 2">
            <a:extLst>
              <a:ext uri="{FF2B5EF4-FFF2-40B4-BE49-F238E27FC236}">
                <a16:creationId xmlns:a16="http://schemas.microsoft.com/office/drawing/2014/main" id="{1D309FF0-919F-8176-FF65-B17C046E1141}"/>
              </a:ext>
            </a:extLst>
          </p:cNvPr>
          <p:cNvSpPr txBox="1">
            <a:spLocks noChangeArrowheads="1"/>
          </p:cNvSpPr>
          <p:nvPr/>
        </p:nvSpPr>
        <p:spPr bwMode="auto">
          <a:xfrm>
            <a:off x="363402" y="3219317"/>
            <a:ext cx="7488832" cy="171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Scope creep from unclear or changing requirements</a:t>
            </a:r>
          </a:p>
          <a:p>
            <a:pPr lvl="1"/>
            <a:r>
              <a:rPr lang="en-GB" sz="1800" dirty="0"/>
              <a:t>Technical risks (bugs, integration failure)</a:t>
            </a:r>
          </a:p>
          <a:p>
            <a:pPr lvl="1"/>
            <a:r>
              <a:rPr lang="en-GB" sz="1800" dirty="0"/>
              <a:t>Human risks (staff turnover, communication breakdowns)</a:t>
            </a:r>
          </a:p>
          <a:p>
            <a:pPr lvl="1"/>
            <a:r>
              <a:rPr lang="en-GB" sz="1800" dirty="0"/>
              <a:t>Legal/data privacy compliance</a:t>
            </a:r>
          </a:p>
          <a:p>
            <a:pPr lvl="1"/>
            <a:r>
              <a:rPr lang="en-GB" sz="1800" dirty="0"/>
              <a:t>Budget or time overruns</a:t>
            </a:r>
          </a:p>
          <a:p>
            <a:endParaRPr lang="en-GB" altLang="en-US" sz="1800" kern="0" dirty="0"/>
          </a:p>
        </p:txBody>
      </p:sp>
      <p:pic>
        <p:nvPicPr>
          <p:cNvPr id="4098" name="Picture 2" descr="Strategies to Mitigate Custom Software Development Risks | Computools">
            <a:extLst>
              <a:ext uri="{FF2B5EF4-FFF2-40B4-BE49-F238E27FC236}">
                <a16:creationId xmlns:a16="http://schemas.microsoft.com/office/drawing/2014/main" id="{128537F7-F768-898F-9495-DD2260EE8C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2063" y="4251713"/>
            <a:ext cx="3275856" cy="2149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778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D88AB-B76E-B7DC-EA40-D3A6F5E8170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5714E55B-940A-EAA4-FF1B-0D05DE47E687}"/>
              </a:ext>
            </a:extLst>
          </p:cNvPr>
          <p:cNvSpPr>
            <a:spLocks noGrp="1" noChangeArrowheads="1"/>
          </p:cNvSpPr>
          <p:nvPr>
            <p:ph type="title"/>
          </p:nvPr>
        </p:nvSpPr>
        <p:spPr>
          <a:xfrm>
            <a:off x="1290097" y="456506"/>
            <a:ext cx="7488832" cy="939800"/>
          </a:xfrm>
        </p:spPr>
        <p:txBody>
          <a:bodyPr/>
          <a:lstStyle/>
          <a:p>
            <a:r>
              <a:rPr lang="en-GB" sz="3600" b="1" dirty="0">
                <a:solidFill>
                  <a:srgbClr val="0070C0"/>
                </a:solidFill>
              </a:rPr>
              <a:t>Risk Mitigation Strategies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4FBE335F-1ED9-B959-D657-AE3811C0F697}"/>
              </a:ext>
            </a:extLst>
          </p:cNvPr>
          <p:cNvSpPr>
            <a:spLocks noGrp="1" noChangeArrowheads="1"/>
          </p:cNvSpPr>
          <p:nvPr>
            <p:ph idx="1"/>
          </p:nvPr>
        </p:nvSpPr>
        <p:spPr>
          <a:xfrm>
            <a:off x="212467" y="2009071"/>
            <a:ext cx="8351838" cy="575766"/>
          </a:xfrm>
        </p:spPr>
        <p:txBody>
          <a:bodyPr/>
          <a:lstStyle/>
          <a:p>
            <a:r>
              <a:rPr lang="en-GB" sz="1800" dirty="0"/>
              <a:t>Proactive risk management helps keep projects stable and on course.</a:t>
            </a:r>
            <a:endParaRPr lang="en-GB" altLang="en-US" sz="1800" dirty="0"/>
          </a:p>
        </p:txBody>
      </p:sp>
      <p:sp>
        <p:nvSpPr>
          <p:cNvPr id="2" name="Content Placeholder 2">
            <a:extLst>
              <a:ext uri="{FF2B5EF4-FFF2-40B4-BE49-F238E27FC236}">
                <a16:creationId xmlns:a16="http://schemas.microsoft.com/office/drawing/2014/main" id="{85A84EAE-4699-4EA4-30A0-675C83C1DFAC}"/>
              </a:ext>
            </a:extLst>
          </p:cNvPr>
          <p:cNvSpPr txBox="1">
            <a:spLocks noChangeArrowheads="1"/>
          </p:cNvSpPr>
          <p:nvPr/>
        </p:nvSpPr>
        <p:spPr bwMode="auto">
          <a:xfrm>
            <a:off x="212467" y="2714162"/>
            <a:ext cx="8566462" cy="355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r>
              <a:rPr lang="en-GB" sz="1800" dirty="0"/>
              <a:t> To implement safeguards that reduce the chance and impact of risks.</a:t>
            </a:r>
            <a:endParaRPr lang="en-GB" altLang="en-US" sz="1800" kern="0" dirty="0"/>
          </a:p>
        </p:txBody>
      </p:sp>
      <p:sp>
        <p:nvSpPr>
          <p:cNvPr id="3" name="Content Placeholder 2">
            <a:extLst>
              <a:ext uri="{FF2B5EF4-FFF2-40B4-BE49-F238E27FC236}">
                <a16:creationId xmlns:a16="http://schemas.microsoft.com/office/drawing/2014/main" id="{17D2EB4D-3021-1853-689C-05187E225334}"/>
              </a:ext>
            </a:extLst>
          </p:cNvPr>
          <p:cNvSpPr txBox="1">
            <a:spLocks noChangeArrowheads="1"/>
          </p:cNvSpPr>
          <p:nvPr/>
        </p:nvSpPr>
        <p:spPr bwMode="auto">
          <a:xfrm>
            <a:off x="66398" y="3590710"/>
            <a:ext cx="5256039" cy="237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Define clear requirements and scope early</a:t>
            </a:r>
          </a:p>
          <a:p>
            <a:pPr lvl="1"/>
            <a:r>
              <a:rPr lang="en-GB" sz="1800" dirty="0"/>
              <a:t>Use version control and regular backups</a:t>
            </a:r>
          </a:p>
          <a:p>
            <a:pPr lvl="1"/>
            <a:r>
              <a:rPr lang="en-GB" sz="1800" dirty="0"/>
              <a:t>Create buffer time in schedules</a:t>
            </a:r>
          </a:p>
          <a:p>
            <a:pPr lvl="1"/>
            <a:r>
              <a:rPr lang="en-GB" sz="1800" dirty="0"/>
              <a:t>Assign risk ownership (who monitors what)</a:t>
            </a:r>
          </a:p>
          <a:p>
            <a:pPr lvl="1"/>
            <a:r>
              <a:rPr lang="en-GB" sz="1800" dirty="0"/>
              <a:t>Regular reviews and agile sprints to catch issues early</a:t>
            </a:r>
          </a:p>
          <a:p>
            <a:pPr lvl="1"/>
            <a:r>
              <a:rPr lang="en-GB" sz="1800" dirty="0"/>
              <a:t>Implement security best practices from day one</a:t>
            </a:r>
          </a:p>
          <a:p>
            <a:endParaRPr lang="en-GB" altLang="en-US" sz="1800" kern="0" dirty="0"/>
          </a:p>
        </p:txBody>
      </p:sp>
      <p:pic>
        <p:nvPicPr>
          <p:cNvPr id="3076" name="Picture 4" descr="5th Edition PMBOK® Guide—Chapter 11 ...">
            <a:extLst>
              <a:ext uri="{FF2B5EF4-FFF2-40B4-BE49-F238E27FC236}">
                <a16:creationId xmlns:a16="http://schemas.microsoft.com/office/drawing/2014/main" id="{986308BD-8D34-83C4-BD43-953EBF1F5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9706" y="3301748"/>
            <a:ext cx="2352246" cy="137614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 Detailed Guide On Risk Management With Key Strategies and Benefits –  Techno PM - Project Management Templates Download">
            <a:extLst>
              <a:ext uri="{FF2B5EF4-FFF2-40B4-BE49-F238E27FC236}">
                <a16:creationId xmlns:a16="http://schemas.microsoft.com/office/drawing/2014/main" id="{ABE9D3DF-A8DC-CA0D-557A-3A948020F6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6125" y="5025350"/>
            <a:ext cx="2699792" cy="1376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573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23F1EA3-4E7C-C6B1-5405-C5DBB3A08720}"/>
              </a:ext>
            </a:extLst>
          </p:cNvPr>
          <p:cNvSpPr>
            <a:spLocks noGrp="1" noChangeArrowheads="1"/>
          </p:cNvSpPr>
          <p:nvPr>
            <p:ph type="title"/>
          </p:nvPr>
        </p:nvSpPr>
        <p:spPr>
          <a:xfrm>
            <a:off x="1258888" y="404813"/>
            <a:ext cx="7650162" cy="939800"/>
          </a:xfrm>
        </p:spPr>
        <p:txBody>
          <a:bodyPr/>
          <a:lstStyle/>
          <a:p>
            <a:r>
              <a:rPr lang="en-GB" altLang="en-US" sz="3600" b="1" dirty="0">
                <a:solidFill>
                  <a:srgbClr val="FF0000"/>
                </a:solidFill>
              </a:rPr>
              <a:t>Activity -</a:t>
            </a:r>
            <a:r>
              <a:rPr lang="en-GB" sz="3600" b="1" dirty="0">
                <a:solidFill>
                  <a:srgbClr val="FF0000"/>
                </a:solidFill>
              </a:rPr>
              <a:t> “Plan It Right”</a:t>
            </a:r>
            <a:endParaRPr lang="en-GB" altLang="en-US" sz="3600" b="1" dirty="0">
              <a:solidFill>
                <a:srgbClr val="FF0000"/>
              </a:solidFill>
            </a:endParaRPr>
          </a:p>
        </p:txBody>
      </p:sp>
      <p:sp>
        <p:nvSpPr>
          <p:cNvPr id="31747" name="Content Placeholder 2">
            <a:extLst>
              <a:ext uri="{FF2B5EF4-FFF2-40B4-BE49-F238E27FC236}">
                <a16:creationId xmlns:a16="http://schemas.microsoft.com/office/drawing/2014/main" id="{69D03CA3-FDD5-2914-56CE-69C4992CE672}"/>
              </a:ext>
            </a:extLst>
          </p:cNvPr>
          <p:cNvSpPr>
            <a:spLocks noGrp="1" noChangeArrowheads="1"/>
          </p:cNvSpPr>
          <p:nvPr>
            <p:ph idx="1"/>
          </p:nvPr>
        </p:nvSpPr>
        <p:spPr>
          <a:xfrm>
            <a:off x="401966" y="1792156"/>
            <a:ext cx="8346497" cy="615950"/>
          </a:xfrm>
        </p:spPr>
        <p:txBody>
          <a:bodyPr/>
          <a:lstStyle/>
          <a:p>
            <a:r>
              <a:rPr lang="en-GB" sz="1800" dirty="0"/>
              <a:t>A hands-on team activity to practise Planning and Requirement Analysis in a real-world project scenario.</a:t>
            </a:r>
            <a:endParaRPr lang="en-GB" altLang="en-US" sz="1800" dirty="0"/>
          </a:p>
        </p:txBody>
      </p:sp>
      <p:sp>
        <p:nvSpPr>
          <p:cNvPr id="2" name="Content Placeholder 2">
            <a:extLst>
              <a:ext uri="{FF2B5EF4-FFF2-40B4-BE49-F238E27FC236}">
                <a16:creationId xmlns:a16="http://schemas.microsoft.com/office/drawing/2014/main" id="{8CEBA619-E3F1-F97A-68E1-BF36FBDADFEA}"/>
              </a:ext>
            </a:extLst>
          </p:cNvPr>
          <p:cNvSpPr txBox="1">
            <a:spLocks noChangeArrowheads="1"/>
          </p:cNvSpPr>
          <p:nvPr/>
        </p:nvSpPr>
        <p:spPr bwMode="auto">
          <a:xfrm>
            <a:off x="401966" y="2547674"/>
            <a:ext cx="8513514"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reinforce knowledge of requirement gathering, risk planning, and scheduling through role-based teamwork.</a:t>
            </a:r>
            <a:endParaRPr lang="en-GB" altLang="en-US" sz="1800" kern="0" dirty="0"/>
          </a:p>
        </p:txBody>
      </p:sp>
      <p:sp>
        <p:nvSpPr>
          <p:cNvPr id="3" name="Content Placeholder 2">
            <a:extLst>
              <a:ext uri="{FF2B5EF4-FFF2-40B4-BE49-F238E27FC236}">
                <a16:creationId xmlns:a16="http://schemas.microsoft.com/office/drawing/2014/main" id="{8CD83191-68BD-E9A0-4243-9EA9F0DA3645}"/>
              </a:ext>
            </a:extLst>
          </p:cNvPr>
          <p:cNvSpPr txBox="1">
            <a:spLocks noChangeArrowheads="1"/>
          </p:cNvSpPr>
          <p:nvPr/>
        </p:nvSpPr>
        <p:spPr bwMode="auto">
          <a:xfrm>
            <a:off x="395536" y="3344984"/>
            <a:ext cx="5832648" cy="238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What You’ll Do:</a:t>
            </a:r>
          </a:p>
          <a:p>
            <a:pPr lvl="1"/>
            <a:r>
              <a:rPr lang="en-GB" sz="1600" dirty="0"/>
              <a:t>Form a team of 3 and take on defined roles</a:t>
            </a:r>
          </a:p>
          <a:p>
            <a:pPr lvl="1"/>
            <a:r>
              <a:rPr lang="en-GB" sz="1600" dirty="0"/>
              <a:t>Analyse a project brief for a non-profit web app</a:t>
            </a:r>
          </a:p>
          <a:p>
            <a:pPr lvl="1"/>
            <a:r>
              <a:rPr lang="en-GB" sz="1600" dirty="0"/>
              <a:t>Identify functional/non-functional requirements</a:t>
            </a:r>
          </a:p>
          <a:p>
            <a:pPr lvl="1"/>
            <a:r>
              <a:rPr lang="en-GB" sz="1600" dirty="0"/>
              <a:t>Choose programming tools and assess risks</a:t>
            </a:r>
          </a:p>
          <a:p>
            <a:pPr lvl="1"/>
            <a:r>
              <a:rPr lang="en-GB" sz="1600" dirty="0"/>
              <a:t>Plan costs, tasks, milestones, and user criteria</a:t>
            </a:r>
          </a:p>
          <a:p>
            <a:pPr lvl="1"/>
            <a:r>
              <a:rPr lang="en-GB" sz="1600" dirty="0"/>
              <a:t>Present a short project pitch</a:t>
            </a:r>
          </a:p>
          <a:p>
            <a:pPr lvl="1"/>
            <a:endParaRPr lang="en-GB" sz="1800" dirty="0"/>
          </a:p>
        </p:txBody>
      </p:sp>
      <p:pic>
        <p:nvPicPr>
          <p:cNvPr id="2050" name="Picture 2" descr="Collaborate Whiteboard Stock ...">
            <a:extLst>
              <a:ext uri="{FF2B5EF4-FFF2-40B4-BE49-F238E27FC236}">
                <a16:creationId xmlns:a16="http://schemas.microsoft.com/office/drawing/2014/main" id="{5C16FC62-CF92-D178-BDD0-4E3F45AE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406" y="3748545"/>
            <a:ext cx="2895600" cy="1581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E2CF8D1-B2FC-419E-87A5-7258A3AFDFE1}"/>
</file>

<file path=customXml/itemProps2.xml><?xml version="1.0" encoding="utf-8"?>
<ds:datastoreItem xmlns:ds="http://schemas.openxmlformats.org/officeDocument/2006/customXml" ds:itemID="{8D5C6860-5B91-4A6D-A057-C4F684E0EF89}"/>
</file>

<file path=customXml/itemProps3.xml><?xml version="1.0" encoding="utf-8"?>
<ds:datastoreItem xmlns:ds="http://schemas.openxmlformats.org/officeDocument/2006/customXml" ds:itemID="{A1A2AC8A-D719-4250-ACBE-6ECD542FE99D}"/>
</file>

<file path=docProps/app.xml><?xml version="1.0" encoding="utf-8"?>
<Properties xmlns="http://schemas.openxmlformats.org/officeDocument/2006/extended-properties" xmlns:vt="http://schemas.openxmlformats.org/officeDocument/2006/docPropsVTypes">
  <Template/>
  <TotalTime>3295</TotalTime>
  <Words>1466</Words>
  <Application>Microsoft Office PowerPoint</Application>
  <PresentationFormat>On-screen Show (4:3)</PresentationFormat>
  <Paragraphs>201</Paragraphs>
  <Slides>17</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Arial</vt:lpstr>
      <vt:lpstr>Tahoma</vt:lpstr>
      <vt:lpstr>Wingdings</vt:lpstr>
      <vt:lpstr>Blends</vt:lpstr>
      <vt:lpstr>1_Blends</vt:lpstr>
      <vt:lpstr>Occupational Specialist Component Content: Digital Production, Design and Development</vt:lpstr>
      <vt:lpstr>Learning Objectives</vt:lpstr>
      <vt:lpstr>Identifying Business Requirements</vt:lpstr>
      <vt:lpstr>Assessing Measurable Value</vt:lpstr>
      <vt:lpstr>Applying Computational Thinking</vt:lpstr>
      <vt:lpstr>Functional &amp; Non-Functional Requirements</vt:lpstr>
      <vt:lpstr>Key Performance Indicators (KPIs)</vt:lpstr>
      <vt:lpstr>Identifying Performance Constraints</vt:lpstr>
      <vt:lpstr>User Acceptance Criteria</vt:lpstr>
      <vt:lpstr>Project Scheduling</vt:lpstr>
      <vt:lpstr>Resource Allocation</vt:lpstr>
      <vt:lpstr>Estimating Costs in Digital Projects</vt:lpstr>
      <vt:lpstr>Choosing Programming Languages</vt:lpstr>
      <vt:lpstr>Language Comparison Example</vt:lpstr>
      <vt:lpstr>Identifying Risks in Digital Projects</vt:lpstr>
      <vt:lpstr>Risk Mitigation Strategies</vt:lpstr>
      <vt:lpstr>Activity - “Plan It Right”</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530</cp:revision>
  <dcterms:created xsi:type="dcterms:W3CDTF">2010-11-28T12:04:27Z</dcterms:created>
  <dcterms:modified xsi:type="dcterms:W3CDTF">2025-07-29T14:42:46Z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