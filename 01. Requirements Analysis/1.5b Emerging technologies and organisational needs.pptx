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2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35"/>
  </p:notesMasterIdLst>
  <p:sldIdLst>
    <p:sldId id="353" r:id="rId3"/>
    <p:sldId id="354" r:id="rId4"/>
    <p:sldId id="257"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4" r:id="rId18"/>
    <p:sldId id="335" r:id="rId19"/>
    <p:sldId id="336" r:id="rId20"/>
    <p:sldId id="337" r:id="rId21"/>
    <p:sldId id="349" r:id="rId22"/>
    <p:sldId id="338" r:id="rId23"/>
    <p:sldId id="339" r:id="rId24"/>
    <p:sldId id="340" r:id="rId25"/>
    <p:sldId id="341" r:id="rId26"/>
    <p:sldId id="342" r:id="rId27"/>
    <p:sldId id="343" r:id="rId28"/>
    <p:sldId id="344" r:id="rId29"/>
    <p:sldId id="345" r:id="rId30"/>
    <p:sldId id="346" r:id="rId31"/>
    <p:sldId id="347" r:id="rId32"/>
    <p:sldId id="350" r:id="rId33"/>
    <p:sldId id="364" r:id="rId34"/>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65265" autoAdjust="0"/>
  </p:normalViewPr>
  <p:slideViewPr>
    <p:cSldViewPr>
      <p:cViewPr varScale="1">
        <p:scale>
          <a:sx n="68" d="100"/>
          <a:sy n="68" d="100"/>
        </p:scale>
        <p:origin x="1878" y="72"/>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7D3D025-3088-FBDA-C9E8-37261441CB0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13DE91FD-CF58-39C9-F83D-251432B2460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B4014430-B827-5A50-2284-11898E5C5BB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582DECC3-BDB1-78A3-72F3-FACE8D61E23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A6996801-C209-A1BF-ED86-34E3489C1E9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66CBF67D-08A9-74EF-792A-0ACFAF7F3F2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5D0787A-B764-4E0C-B0EB-86713E242CAE}"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salon.thefamily.co/11-notes-on-amazon-part-1-cf49d610f195" TargetMode="External"/><Relationship Id="rId3" Type="http://schemas.openxmlformats.org/officeDocument/2006/relationships/hyperlink" Target="https://blog.grabcad.com/blog/2019/02/05/4-reasons-why-companies-need-to-be-investing-in-tech-in-2019/" TargetMode="External"/><Relationship Id="rId7" Type="http://schemas.openxmlformats.org/officeDocument/2006/relationships/hyperlink" Target="https://www.cnbc.com/2020/03/24/amazon-been-best-bet-among-tech-giants-during-pandemic-induced-selloff.html" TargetMode="External"/><Relationship Id="rId12" Type="http://schemas.openxmlformats.org/officeDocument/2006/relationships/hyperlink" Target="https://www.geekwire.com/2019/robots-drones-satellites-amazons-vision-future-automation-humanity/"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cnbc.com/2019/10/24/amazon-q3-earnings-preview.html" TargetMode="External"/><Relationship Id="rId11" Type="http://schemas.openxmlformats.org/officeDocument/2006/relationships/hyperlink" Target="https://www.cnbc.com/2019/10/19/microsoft-amazon-google-and-facebook-have-new-gadgets-for-holidays.html" TargetMode="External"/><Relationship Id="rId5" Type="http://schemas.openxmlformats.org/officeDocument/2006/relationships/hyperlink" Target="https://www.fastcompany.com/3067455/why-amazon-is-the-worlds-most-innovative-company-of-2017" TargetMode="External"/><Relationship Id="rId10" Type="http://schemas.openxmlformats.org/officeDocument/2006/relationships/hyperlink" Target="https://www.greyb.com/amazon-business-strategy/" TargetMode="External"/><Relationship Id="rId4" Type="http://schemas.openxmlformats.org/officeDocument/2006/relationships/hyperlink" Target="https://www.aboutamazon.co.uk/innovation/technology-at-work" TargetMode="External"/><Relationship Id="rId9" Type="http://schemas.openxmlformats.org/officeDocument/2006/relationships/hyperlink" Target="https://www.aboutamazon.com/amazon-fulfillment/our-innovation/what-robots-do-and-dont-do-at-amazon-fulfillment-centers/"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fluxmagazine.com/technology-increase-productivity-in-manufacturin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eekwire.com/2018/amazon-is-searching-for-the-fourth-pillar-of-its-business-and-jeff-bezos-sees-at-least-three-possibilities/"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voipshield.com/the-16-most-common-types-of-cybercrime-acts/"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F8C95691-17E5-A872-5947-EB8448C18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97ACFDB-D135-43FE-A3F2-97FAD81FED71}"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DCDC0B73-06B9-12BD-23FE-AE081909FEB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82E71425-6668-52C9-74EF-861E754A4F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005D7EF-2413-BE0A-6F93-EBC9CB7EF82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F08E3E8A-9040-865F-3805-C18783E1D4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D112206B-1F0D-1537-8508-2D110031BA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A491ECD-BCB8-421D-B1DD-1ECAE99DD76C}"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72D058D-4197-9CB0-68FF-CEF9E7F802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5937B25-BA6A-46C0-853E-8063B87F4983}" type="slidenum">
              <a:rPr lang="en-GB" altLang="en-US" smtClean="0"/>
              <a:pPr>
                <a:spcBef>
                  <a:spcPct val="0"/>
                </a:spcBef>
              </a:pPr>
              <a:t>3</a:t>
            </a:fld>
            <a:endParaRPr lang="en-GB" altLang="en-US"/>
          </a:p>
        </p:txBody>
      </p:sp>
      <p:sp>
        <p:nvSpPr>
          <p:cNvPr id="21507" name="Rectangle 2">
            <a:extLst>
              <a:ext uri="{FF2B5EF4-FFF2-40B4-BE49-F238E27FC236}">
                <a16:creationId xmlns:a16="http://schemas.microsoft.com/office/drawing/2014/main" id="{B1A46435-B75C-EF57-B698-8DFAEBD960C4}"/>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9ECF4CC4-9A30-10DB-7C09-C9F1D67DE6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CE6882A-30F8-2C7D-7E55-B2AD9273605E}"/>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D2C95B7D-C218-6395-CADC-1B5229BE3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hlinkClick r:id="rId3"/>
              </a:rPr>
              <a:t>https://blog.grabcad.com/blog/2019/02/05/4-reasons-why-companies-need-to-be-investing-in-tech-in-2019/</a:t>
            </a:r>
            <a:endParaRPr lang="en-GB" altLang="en-US"/>
          </a:p>
          <a:p>
            <a:r>
              <a:rPr lang="en-GB" altLang="en-US">
                <a:hlinkClick r:id="rId4"/>
              </a:rPr>
              <a:t>https://www.aboutamazon.co.uk/innovation/technology-at-work</a:t>
            </a:r>
            <a:endParaRPr lang="en-GB" altLang="en-US"/>
          </a:p>
          <a:p>
            <a:r>
              <a:rPr lang="en-GB" altLang="en-US">
                <a:hlinkClick r:id="rId5"/>
              </a:rPr>
              <a:t>https://www.fastcompany.com/3067455/why-amazon-is-the-worlds-most-innovative-company-of-2017</a:t>
            </a:r>
            <a:endParaRPr lang="en-GB" altLang="en-US"/>
          </a:p>
          <a:p>
            <a:r>
              <a:rPr lang="en-GB" altLang="en-US">
                <a:hlinkClick r:id="rId6"/>
              </a:rPr>
              <a:t>https://www.cnbc.com/2019/10/24/amazon-q3-earnings-preview.html</a:t>
            </a:r>
            <a:endParaRPr lang="en-GB" altLang="en-US"/>
          </a:p>
          <a:p>
            <a:r>
              <a:rPr lang="en-GB" altLang="en-US">
                <a:hlinkClick r:id="rId7"/>
              </a:rPr>
              <a:t>https://www.cnbc.com/2020/03/24/amazon-been-best-bet-among-tech-giants-during-pandemic-induced-selloff.html</a:t>
            </a:r>
            <a:endParaRPr lang="en-GB" altLang="en-US"/>
          </a:p>
          <a:p>
            <a:r>
              <a:rPr lang="en-GB" altLang="en-US">
                <a:hlinkClick r:id="rId8"/>
              </a:rPr>
              <a:t>https://salon.thefamily.co/11-notes-on-amazon-part-1-cf49d610f195</a:t>
            </a:r>
            <a:endParaRPr lang="en-GB" altLang="en-US"/>
          </a:p>
          <a:p>
            <a:r>
              <a:rPr lang="en-GB" altLang="en-US">
                <a:hlinkClick r:id="rId9"/>
              </a:rPr>
              <a:t>https://www.aboutamazon.com/amazon-fulfillment/our-innovation/what-robots-do-and-dont-do-at-amazon-fulfillment-centers/</a:t>
            </a:r>
            <a:endParaRPr lang="en-GB" altLang="en-US"/>
          </a:p>
          <a:p>
            <a:r>
              <a:rPr lang="en-GB" altLang="en-US">
                <a:hlinkClick r:id="rId10"/>
              </a:rPr>
              <a:t>https://www.greyb.com/amazon-business-strategy/</a:t>
            </a:r>
            <a:endParaRPr lang="en-GB" altLang="en-US"/>
          </a:p>
          <a:p>
            <a:r>
              <a:rPr lang="en-GB" altLang="en-US">
                <a:hlinkClick r:id="rId11"/>
              </a:rPr>
              <a:t>https://www.cnbc.com/2019/10/19/microsoft-amazon-google-and-facebook-have-new-gadgets-for-holidays.html</a:t>
            </a:r>
            <a:endParaRPr lang="en-GB" altLang="en-US"/>
          </a:p>
          <a:p>
            <a:r>
              <a:rPr lang="en-GB" altLang="en-US">
                <a:hlinkClick r:id="rId12"/>
              </a:rPr>
              <a:t>https://www.geekwire.com/2019/robots-drones-satellites-amazons-vision-future-automation-humanity/</a:t>
            </a:r>
            <a:endParaRPr lang="en-US" altLang="en-US"/>
          </a:p>
          <a:p>
            <a:endParaRPr lang="en-GB" altLang="en-US"/>
          </a:p>
        </p:txBody>
      </p:sp>
      <p:sp>
        <p:nvSpPr>
          <p:cNvPr id="23556" name="Slide Number Placeholder 3">
            <a:extLst>
              <a:ext uri="{FF2B5EF4-FFF2-40B4-BE49-F238E27FC236}">
                <a16:creationId xmlns:a16="http://schemas.microsoft.com/office/drawing/2014/main" id="{4B8D8987-A2C1-EAB5-E115-0C5DA58603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733839-18C1-41FA-B1A0-8EC19AE7B811}"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0E346F0-07F6-7D36-3370-2BC164A17654}"/>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861A4B83-66FB-E055-DD16-33B37BF212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hlinkClick r:id="rId3"/>
              </a:rPr>
              <a:t>https://www.fluxmagazine.com/technology-increase-productivity-in-manufacturing/</a:t>
            </a:r>
            <a:endParaRPr lang="en-US" altLang="en-US"/>
          </a:p>
        </p:txBody>
      </p:sp>
      <p:sp>
        <p:nvSpPr>
          <p:cNvPr id="25604" name="Slide Number Placeholder 3">
            <a:extLst>
              <a:ext uri="{FF2B5EF4-FFF2-40B4-BE49-F238E27FC236}">
                <a16:creationId xmlns:a16="http://schemas.microsoft.com/office/drawing/2014/main" id="{4F4E8E64-409B-1F72-AEA3-1C067609FF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9212B74-6381-4826-80BB-AEA73A4F9E25}"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7996D888-2003-FDC9-BDBD-199737CEEFC5}"/>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8C09041A-693C-40C0-D178-611B2DE8B9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a:extLst>
              <a:ext uri="{FF2B5EF4-FFF2-40B4-BE49-F238E27FC236}">
                <a16:creationId xmlns:a16="http://schemas.microsoft.com/office/drawing/2014/main" id="{241C01E1-8B47-3F44-03DE-D7B46FFAB7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4E0D2E-0A9B-446B-BD45-D524F076E535}" type="slidenum">
              <a:rPr lang="en-GB" altLang="en-US" smtClean="0"/>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36E00CBD-B030-8936-A566-5148615DF6D5}"/>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60EBEEF2-0ADA-C237-8E06-2EB272D9BC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7C2CCEFD-32BD-C315-4070-A5239DDF2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B320AE-4BB5-466D-834E-04F007257E80}" type="slidenum">
              <a:rPr lang="en-GB" altLang="en-US" smtClean="0"/>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D1909BB8-A208-C456-A3B5-D6ED0CA4DFD9}"/>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90D72C8C-63C9-C408-1D7B-C8A442A8FC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3EF5C2E3-1646-0521-A594-114D76BA50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B93D4F-EAA0-4470-979B-CFB4D2B957AF}" type="slidenum">
              <a:rPr lang="en-GB" altLang="en-US" smtClean="0"/>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3B5A3EEF-FE7A-A98D-AC16-1418B048B5F8}"/>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07F0432C-D8AC-1B3E-E337-62D1582BD5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4820" name="Slide Number Placeholder 3">
            <a:extLst>
              <a:ext uri="{FF2B5EF4-FFF2-40B4-BE49-F238E27FC236}">
                <a16:creationId xmlns:a16="http://schemas.microsoft.com/office/drawing/2014/main" id="{14387C48-9337-3FD4-D6D3-44BC5EF22A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C3D2226-4BFA-444A-82CC-598DC4EBF8B9}" type="slidenum">
              <a:rPr lang="en-GB" altLang="en-US" smtClean="0"/>
              <a:pPr/>
              <a:t>9</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DB812EBB-92B6-B8DC-1E75-B3F541B94668}"/>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81296561-818C-1104-1CEF-DED828B99C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a:extLst>
              <a:ext uri="{FF2B5EF4-FFF2-40B4-BE49-F238E27FC236}">
                <a16:creationId xmlns:a16="http://schemas.microsoft.com/office/drawing/2014/main" id="{6DA434A7-49BB-D6AA-0D24-D05F608F98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B34788-1D59-4934-8636-CB24573A987B}" type="slidenum">
              <a:rPr lang="en-GB" altLang="en-US" smtClean="0"/>
              <a:pPr/>
              <a:t>10</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5254C3C8-4A62-FB3D-E0F1-4235281FFC4E}"/>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58846C47-F221-F4F0-BFC2-5D7D87E127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a:extLst>
              <a:ext uri="{FF2B5EF4-FFF2-40B4-BE49-F238E27FC236}">
                <a16:creationId xmlns:a16="http://schemas.microsoft.com/office/drawing/2014/main" id="{F205D20F-73AC-18C0-D2C0-530D0B3382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CA1719-CC7B-46F5-AB6C-CF8ADB3B07F5}" type="slidenum">
              <a:rPr lang="en-GB" altLang="en-US" smtClean="0"/>
              <a:pPr/>
              <a:t>11</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74A90891-3730-AED3-3222-023257974B01}"/>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B86F346A-B4BA-50B3-E945-A98D7763D3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4" name="Slide Number Placeholder 3">
            <a:extLst>
              <a:ext uri="{FF2B5EF4-FFF2-40B4-BE49-F238E27FC236}">
                <a16:creationId xmlns:a16="http://schemas.microsoft.com/office/drawing/2014/main" id="{7815AAEC-BD27-DF39-9455-752083E3E6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B84673E-0342-497E-BDB4-087744858460}" type="slidenum">
              <a:rPr lang="en-GB" altLang="en-US" smtClean="0"/>
              <a:pPr/>
              <a:t>12</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A1AF4CBF-00B7-0252-E46C-08F7FAE792D1}"/>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8C764896-32B2-D301-727B-832554C0E2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a:extLst>
              <a:ext uri="{FF2B5EF4-FFF2-40B4-BE49-F238E27FC236}">
                <a16:creationId xmlns:a16="http://schemas.microsoft.com/office/drawing/2014/main" id="{85508AE8-827C-E00D-5BA1-5177DC44BC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69A0CD1-4F0F-4BFD-936D-B6DCAADEBC05}" type="slidenum">
              <a:rPr lang="en-GB" altLang="en-US" smtClean="0"/>
              <a:pPr/>
              <a:t>13</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0A5163B6-06FB-8963-5FB4-344B267EE417}"/>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E7071767-E6E6-A259-2ABE-21E094764C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a:extLst>
              <a:ext uri="{FF2B5EF4-FFF2-40B4-BE49-F238E27FC236}">
                <a16:creationId xmlns:a16="http://schemas.microsoft.com/office/drawing/2014/main" id="{765B0302-42B8-55F1-3044-B3878C497C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5BDD414-B8BC-4B14-8E4A-2546B7DEB5CE}" type="slidenum">
              <a:rPr lang="en-GB" altLang="en-US" smtClean="0"/>
              <a:pPr/>
              <a:t>14</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D39F7336-DB0F-9C2E-82EC-D0F217CF9619}"/>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3A74E665-5F6C-E89D-C574-F82298B888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a:extLst>
              <a:ext uri="{FF2B5EF4-FFF2-40B4-BE49-F238E27FC236}">
                <a16:creationId xmlns:a16="http://schemas.microsoft.com/office/drawing/2014/main" id="{42BC2E10-CF2D-1D1E-37FE-4CD3BEB89F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A450E2-9660-4460-B931-4878204C1B5D}" type="slidenum">
              <a:rPr lang="en-GB" altLang="en-US" smtClean="0"/>
              <a:pPr/>
              <a:t>15</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34BD7346-B230-8E8A-9DBD-67D1BCB22FD2}"/>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1C5F6E95-3C9F-C6B0-F12B-7DDE8ACF52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a:extLst>
              <a:ext uri="{FF2B5EF4-FFF2-40B4-BE49-F238E27FC236}">
                <a16:creationId xmlns:a16="http://schemas.microsoft.com/office/drawing/2014/main" id="{206DC5A9-AFC4-85F5-5D8D-34CE7E64F4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B7D6D6-C586-4CD1-BDD1-68FDC4CA1DC0}" type="slidenum">
              <a:rPr lang="en-GB" altLang="en-US" smtClean="0"/>
              <a:pPr/>
              <a:t>16</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F97EC15C-FDE2-9711-E202-CB4AD530F1F9}"/>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C2D324C4-EE94-0184-CF0E-07F964353E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a:extLst>
              <a:ext uri="{FF2B5EF4-FFF2-40B4-BE49-F238E27FC236}">
                <a16:creationId xmlns:a16="http://schemas.microsoft.com/office/drawing/2014/main" id="{42078275-CAEE-6BA7-665E-9F3F1B620C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ED4D3-032C-4714-A5A7-8B7FE363B178}" type="slidenum">
              <a:rPr lang="en-GB" altLang="en-US" smtClean="0"/>
              <a:pPr/>
              <a:t>17</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8DFBDD5D-66E8-48CB-4D56-E4FB1AAB54AD}"/>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45887266-9128-17FD-278B-A8C1788A53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a:extLst>
              <a:ext uri="{FF2B5EF4-FFF2-40B4-BE49-F238E27FC236}">
                <a16:creationId xmlns:a16="http://schemas.microsoft.com/office/drawing/2014/main" id="{5CBD8DCB-3C4A-3065-A881-C34B44872F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B9F4031-C72B-4081-947B-30F79ED594A8}" type="slidenum">
              <a:rPr lang="en-GB" altLang="en-US" smtClean="0"/>
              <a:pPr/>
              <a:t>18</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DCDEF61A-53F7-A917-A475-CE81264DFD92}"/>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90D751AC-7CC1-A1F2-CC3F-2C9B9D5227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a:extLst>
              <a:ext uri="{FF2B5EF4-FFF2-40B4-BE49-F238E27FC236}">
                <a16:creationId xmlns:a16="http://schemas.microsoft.com/office/drawing/2014/main" id="{8A21858D-CB45-318E-CB1A-D6608E08FE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FC8C031-ECCD-4AEC-8C34-250E1260E4E1}" type="slidenum">
              <a:rPr lang="en-GB" altLang="en-US" smtClean="0"/>
              <a:pPr/>
              <a:t>19</a:t>
            </a:fld>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E6DE8D1E-50E2-092B-397D-909ABF8D4E7A}"/>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F19D2784-D343-8BB4-8B92-FF70AF0354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a:extLst>
              <a:ext uri="{FF2B5EF4-FFF2-40B4-BE49-F238E27FC236}">
                <a16:creationId xmlns:a16="http://schemas.microsoft.com/office/drawing/2014/main" id="{231A8C32-0B14-7AA4-2847-89DA757A2A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1B475E-E772-4E2E-9FBA-AC88009D1470}" type="slidenum">
              <a:rPr lang="en-GB" altLang="en-US" smtClean="0"/>
              <a:pPr/>
              <a:t>20</a:t>
            </a:fld>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3464FB8E-1341-41F1-EA04-6F5D73497AE2}"/>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B9DDF724-4414-29B4-0EC7-9BF584196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0420" name="Slide Number Placeholder 3">
            <a:extLst>
              <a:ext uri="{FF2B5EF4-FFF2-40B4-BE49-F238E27FC236}">
                <a16:creationId xmlns:a16="http://schemas.microsoft.com/office/drawing/2014/main" id="{3CE0F84A-4F9E-E292-2AA4-6BDF82616A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3E12909-DEF1-443D-A502-40D74A734320}" type="slidenum">
              <a:rPr lang="en-GB" altLang="en-US" smtClean="0"/>
              <a:pPr/>
              <a:t>21</a:t>
            </a:fld>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AC224855-F1F5-60A9-E812-4CF90FBA6635}"/>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769924C6-5D78-1D13-8E1A-9C5D90717D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hlinkClick r:id="rId3"/>
              </a:rPr>
              <a:t>https://www.geekwire.com/2018/amazon-is-searching-for-the-fourth-pillar-of-its-business-and-jeff-bezos-sees-at-least-three-possibilities/</a:t>
            </a:r>
            <a:endParaRPr lang="en-US" altLang="en-US"/>
          </a:p>
        </p:txBody>
      </p:sp>
      <p:sp>
        <p:nvSpPr>
          <p:cNvPr id="62468" name="Slide Number Placeholder 3">
            <a:extLst>
              <a:ext uri="{FF2B5EF4-FFF2-40B4-BE49-F238E27FC236}">
                <a16:creationId xmlns:a16="http://schemas.microsoft.com/office/drawing/2014/main" id="{F84CC2EF-7860-E08F-5D84-1A83AE5251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055EDCD-E6C2-4B2F-9A57-895E161812A6}" type="slidenum">
              <a:rPr lang="en-GB" altLang="en-US" smtClean="0"/>
              <a:pPr/>
              <a:t>22</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83805529-7C48-48EA-B64E-391227838A09}"/>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40741487-9156-C5FD-DAA3-ED29017F46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4516" name="Slide Number Placeholder 3">
            <a:extLst>
              <a:ext uri="{FF2B5EF4-FFF2-40B4-BE49-F238E27FC236}">
                <a16:creationId xmlns:a16="http://schemas.microsoft.com/office/drawing/2014/main" id="{72692891-5AA2-A979-63D2-14FE0117F8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03FE16-DC50-43CD-BB0C-3442AC89BB58}" type="slidenum">
              <a:rPr lang="en-GB" altLang="en-US" smtClean="0"/>
              <a:pPr/>
              <a:t>23</a:t>
            </a:fld>
            <a:endParaRPr lang="en-GB"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5F371D5E-1DB7-6D97-9748-A90A4B26DC17}"/>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A47ED7A4-6C5E-C737-7063-D3E9A9B1CE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58A02E9A-6A2F-03DE-B135-554BC2990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92BD884-C4E2-4A11-BFCB-1C7F1F466B5F}" type="slidenum">
              <a:rPr lang="en-GB" altLang="en-US" smtClean="0"/>
              <a:pPr/>
              <a:t>24</a:t>
            </a:fld>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4EB968E3-9052-98EC-BBC5-6DB449D61DF1}"/>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E29AF0BF-60B7-10F9-6F93-B356BD9BAD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8612" name="Slide Number Placeholder 3">
            <a:extLst>
              <a:ext uri="{FF2B5EF4-FFF2-40B4-BE49-F238E27FC236}">
                <a16:creationId xmlns:a16="http://schemas.microsoft.com/office/drawing/2014/main" id="{EFB139B1-4BC8-A7CC-4083-6C9505E27E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E3C18D-E21B-45E5-9B1C-B00B0CE68DFA}" type="slidenum">
              <a:rPr lang="en-GB" altLang="en-US" smtClean="0"/>
              <a:pPr/>
              <a:t>25</a:t>
            </a:fld>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EA6E913F-AE3A-7EA8-E73A-9C13B2CE1010}"/>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19F5BFBE-1836-4E48-8004-928EAA53FF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0660" name="Slide Number Placeholder 3">
            <a:extLst>
              <a:ext uri="{FF2B5EF4-FFF2-40B4-BE49-F238E27FC236}">
                <a16:creationId xmlns:a16="http://schemas.microsoft.com/office/drawing/2014/main" id="{A9CF50E2-D48F-336C-927A-F00FEFA19A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B7C74F-2A9F-478F-ACDD-880ED26CA383}" type="slidenum">
              <a:rPr lang="en-GB" altLang="en-US" smtClean="0"/>
              <a:pPr/>
              <a:t>26</a:t>
            </a:fld>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64221B79-A919-9146-16FB-E6A0D66D43DB}"/>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B04BFD93-9AEA-EA77-758C-77369317A1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2708" name="Slide Number Placeholder 3">
            <a:extLst>
              <a:ext uri="{FF2B5EF4-FFF2-40B4-BE49-F238E27FC236}">
                <a16:creationId xmlns:a16="http://schemas.microsoft.com/office/drawing/2014/main" id="{593B8C7C-91A9-7593-CC0C-5F58288DE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A4F98B-EFEF-443B-9EBA-B9CEEE277D40}" type="slidenum">
              <a:rPr lang="en-GB" altLang="en-US" smtClean="0"/>
              <a:pPr/>
              <a:t>27</a:t>
            </a:fld>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F829BECD-094A-E441-11E3-7C2839533FD5}"/>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E3AAE8CE-068C-0136-7993-211D9107DB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a:extLst>
              <a:ext uri="{FF2B5EF4-FFF2-40B4-BE49-F238E27FC236}">
                <a16:creationId xmlns:a16="http://schemas.microsoft.com/office/drawing/2014/main" id="{7A053111-4906-B086-A364-F17B7E3936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E5AB1E-8FAA-4EC8-9165-4A40BC9B224C}" type="slidenum">
              <a:rPr lang="en-GB" altLang="en-US" smtClean="0"/>
              <a:pPr/>
              <a:t>28</a:t>
            </a:fld>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C3B1E67F-4B32-24ED-01F8-12CD41987F93}"/>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ADCBADDD-21A5-3CF2-CE70-D96FADE7AE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6804" name="Slide Number Placeholder 3">
            <a:extLst>
              <a:ext uri="{FF2B5EF4-FFF2-40B4-BE49-F238E27FC236}">
                <a16:creationId xmlns:a16="http://schemas.microsoft.com/office/drawing/2014/main" id="{7C7560E6-4FD8-B4D5-24A8-019A2E3C51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0EDE3A-12DB-4C57-8AEC-D4EA63953317}" type="slidenum">
              <a:rPr lang="en-GB" altLang="en-US" smtClean="0"/>
              <a:pPr/>
              <a:t>29</a:t>
            </a:fld>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BEB0BC3E-9B25-F64E-BE73-BB1948FDA336}"/>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CFD9FAD9-3651-5678-FEEA-53021D135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8852" name="Slide Number Placeholder 3">
            <a:extLst>
              <a:ext uri="{FF2B5EF4-FFF2-40B4-BE49-F238E27FC236}">
                <a16:creationId xmlns:a16="http://schemas.microsoft.com/office/drawing/2014/main" id="{3331D899-EBC0-AD83-5835-C360460DA1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B48D67B-0758-4FC1-AC0B-18D610186FB0}" type="slidenum">
              <a:rPr lang="en-GB" altLang="en-US" smtClean="0"/>
              <a:pPr/>
              <a:t>30</a:t>
            </a:fld>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28E0F5B0-34C5-AF04-350E-8F8CB70852F5}"/>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8B031CBE-BF06-EE16-BEC3-E5387953E4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hlinkClick r:id="rId3"/>
              </a:rPr>
              <a:t>https://www.voipshield.com/the-16-most-common-types-of-cybercrime-acts/</a:t>
            </a:r>
            <a:endParaRPr lang="en-GB" altLang="en-US"/>
          </a:p>
        </p:txBody>
      </p:sp>
      <p:sp>
        <p:nvSpPr>
          <p:cNvPr id="80900" name="Slide Number Placeholder 3">
            <a:extLst>
              <a:ext uri="{FF2B5EF4-FFF2-40B4-BE49-F238E27FC236}">
                <a16:creationId xmlns:a16="http://schemas.microsoft.com/office/drawing/2014/main" id="{5D3B1A27-AD48-E9DA-1C8E-AE7E8BFAEA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FBAD26F-08F7-4517-A476-BA80BF2D9818}" type="slidenum">
              <a:rPr lang="en-GB" altLang="en-US" smtClean="0"/>
              <a:pPr/>
              <a:t>31</a:t>
            </a:fld>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E481-3E3E-A323-F18E-C8C464D8AD16}"/>
            </a:ext>
          </a:extLst>
        </p:cNvPr>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id="{A44E091C-0F05-7467-1E09-CCB6BEE59485}"/>
              </a:ext>
            </a:extLst>
          </p:cNvPr>
          <p:cNvSpPr>
            <a:spLocks noGrp="1" noRot="1" noChangeAspect="1" noChangeArrowheads="1" noTextEdit="1"/>
          </p:cNvSpPr>
          <p:nvPr>
            <p:ph type="sldImg"/>
          </p:nvPr>
        </p:nvSpPr>
        <p:spPr>
          <a:ln/>
        </p:spPr>
      </p:sp>
      <p:sp>
        <p:nvSpPr>
          <p:cNvPr id="103427" name="Notes Placeholder 2">
            <a:extLst>
              <a:ext uri="{FF2B5EF4-FFF2-40B4-BE49-F238E27FC236}">
                <a16:creationId xmlns:a16="http://schemas.microsoft.com/office/drawing/2014/main" id="{B3614958-AD8A-A12D-E2D5-CA1807BFF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3428" name="Slide Number Placeholder 3">
            <a:extLst>
              <a:ext uri="{FF2B5EF4-FFF2-40B4-BE49-F238E27FC236}">
                <a16:creationId xmlns:a16="http://schemas.microsoft.com/office/drawing/2014/main" id="{0F9BE0DD-BCF1-0E2E-5F21-D4FBDBDD28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091ABE-EC64-46A6-A6B7-A9AC3779AB4A}" type="slidenum">
              <a:rPr lang="en-GB" altLang="en-US" smtClean="0"/>
              <a:pPr/>
              <a:t>32</a:t>
            </a:fld>
            <a:endParaRPr lang="en-GB" altLang="en-US"/>
          </a:p>
        </p:txBody>
      </p:sp>
    </p:spTree>
    <p:extLst>
      <p:ext uri="{BB962C8B-B14F-4D97-AF65-F5344CB8AC3E}">
        <p14:creationId xmlns:p14="http://schemas.microsoft.com/office/powerpoint/2010/main" val="56872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E15FB12-8BFE-D489-1D1F-6F3D2F0BCCF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10C55518-AD3C-1E3C-A8F9-7718D9F12919}"/>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21416EC1-D85F-17A0-AD1A-3508A2C0015F}"/>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A4248CAD-DB6F-C918-ACBD-7ED342118AA1}"/>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E962B8FF-6AA7-1A76-6821-203091A60D81}"/>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4924D730-B100-FAAF-4F66-74EC631D9AE5}"/>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8F2CCA3-D955-8BCC-14D3-9F19CD32DE8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99987431-6CBB-6E6D-3302-FB0C7DB0888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5781F4DC-AC47-619C-804E-30BB2A72418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C4B3A6DB-F126-1896-ACE3-01103755EAB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1C4B311A-9278-8790-DA31-7CA8EA80635A}"/>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69235E0A-00CB-06A0-C83A-C04164E8CD70}"/>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F3ECE0E8-7EE4-6D95-51C8-D0F610561E5C}"/>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3505322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15BED972-3A55-6C06-684E-74843E7B155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B15C6513-B653-B4D2-6730-1F959BEAD4A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EEBEE6F-B0CE-15FC-D8BB-CA9B440391B8}"/>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6289335-4392-4598-B671-3EBC0501C00D}" type="slidenum">
              <a:rPr lang="en-US" altLang="en-US"/>
              <a:pPr>
                <a:defRPr/>
              </a:pPr>
              <a:t>‹#›</a:t>
            </a:fld>
            <a:endParaRPr lang="en-US" altLang="en-US"/>
          </a:p>
        </p:txBody>
      </p:sp>
    </p:spTree>
    <p:extLst>
      <p:ext uri="{BB962C8B-B14F-4D97-AF65-F5344CB8AC3E}">
        <p14:creationId xmlns:p14="http://schemas.microsoft.com/office/powerpoint/2010/main" val="953286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7926FF4C-63B4-101C-CC74-1BFF836F012F}"/>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FBD58E0-4334-CB85-6F1C-6DE161B9DE7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C4916A0-5992-E656-00B1-4F2C9FF1BC4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CC244F0-36C3-4595-BB2F-78191564178A}" type="slidenum">
              <a:rPr lang="en-US" altLang="en-US"/>
              <a:pPr>
                <a:defRPr/>
              </a:pPr>
              <a:t>‹#›</a:t>
            </a:fld>
            <a:endParaRPr lang="en-US" altLang="en-US"/>
          </a:p>
        </p:txBody>
      </p:sp>
    </p:spTree>
    <p:extLst>
      <p:ext uri="{BB962C8B-B14F-4D97-AF65-F5344CB8AC3E}">
        <p14:creationId xmlns:p14="http://schemas.microsoft.com/office/powerpoint/2010/main" val="2190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6AFABA62-ADA4-AFF6-DBFF-B47CFBF04FD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CAFDF505-3280-C7FA-CB33-F780AEE97219}"/>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EFABE7D-944D-6F68-4B14-640879C71D9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E171F8C-DCA7-41CB-9A69-5F4991DCF289}" type="slidenum">
              <a:rPr lang="en-US" altLang="en-US"/>
              <a:pPr>
                <a:defRPr/>
              </a:pPr>
              <a:t>‹#›</a:t>
            </a:fld>
            <a:endParaRPr lang="en-US" altLang="en-US"/>
          </a:p>
        </p:txBody>
      </p:sp>
    </p:spTree>
    <p:extLst>
      <p:ext uri="{BB962C8B-B14F-4D97-AF65-F5344CB8AC3E}">
        <p14:creationId xmlns:p14="http://schemas.microsoft.com/office/powerpoint/2010/main" val="2929699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65AB7BD6-588B-CBE8-F6AA-F5682B2F7FB1}"/>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BFA72B74-EF7E-42A4-DC38-1A589B338D66}"/>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EF639016-D753-9E4D-88AE-9969C6C4DF5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99665DB-776A-4484-847D-24D6F5D99181}" type="slidenum">
              <a:rPr lang="en-US" altLang="en-US"/>
              <a:pPr>
                <a:defRPr/>
              </a:pPr>
              <a:t>‹#›</a:t>
            </a:fld>
            <a:endParaRPr lang="en-US" altLang="en-US"/>
          </a:p>
        </p:txBody>
      </p:sp>
    </p:spTree>
    <p:extLst>
      <p:ext uri="{BB962C8B-B14F-4D97-AF65-F5344CB8AC3E}">
        <p14:creationId xmlns:p14="http://schemas.microsoft.com/office/powerpoint/2010/main" val="668763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C45E8D82-0AC4-9893-F4BB-97DEB8DF6510}"/>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8F17F612-2283-98FC-DB14-3BF0DB6304BC}"/>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90D98C88-C51F-27AC-215C-88CBC07A1D0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0D0DC37-ABE8-4605-83FC-560AB6DAFB6A}" type="slidenum">
              <a:rPr lang="en-US" altLang="en-US"/>
              <a:pPr>
                <a:defRPr/>
              </a:pPr>
              <a:t>‹#›</a:t>
            </a:fld>
            <a:endParaRPr lang="en-US" altLang="en-US"/>
          </a:p>
        </p:txBody>
      </p:sp>
    </p:spTree>
    <p:extLst>
      <p:ext uri="{BB962C8B-B14F-4D97-AF65-F5344CB8AC3E}">
        <p14:creationId xmlns:p14="http://schemas.microsoft.com/office/powerpoint/2010/main" val="179430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58936CF5-52CC-D1DF-F7B8-99F696075656}"/>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3A06723-5055-B438-8A16-5DFDF3266B4E}"/>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898F4EE6-725F-ABAE-DA51-1BC5426F78E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8290F3B-53C9-4523-97E6-083E52061C75}" type="slidenum">
              <a:rPr lang="en-US" altLang="en-US"/>
              <a:pPr>
                <a:defRPr/>
              </a:pPr>
              <a:t>‹#›</a:t>
            </a:fld>
            <a:endParaRPr lang="en-US" altLang="en-US"/>
          </a:p>
        </p:txBody>
      </p:sp>
    </p:spTree>
    <p:extLst>
      <p:ext uri="{BB962C8B-B14F-4D97-AF65-F5344CB8AC3E}">
        <p14:creationId xmlns:p14="http://schemas.microsoft.com/office/powerpoint/2010/main" val="388901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403E13A7-4145-A011-DCEF-A755B70F58A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FA6A821-41BF-FCD4-1765-F1281C122361}"/>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25949716-7D55-F9D1-555A-7DFB2C82DD9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A03FC2F-5304-4039-AF4A-65B5ECCFF42C}" type="slidenum">
              <a:rPr lang="en-US" altLang="en-US"/>
              <a:pPr>
                <a:defRPr/>
              </a:pPr>
              <a:t>‹#›</a:t>
            </a:fld>
            <a:endParaRPr lang="en-US" altLang="en-US"/>
          </a:p>
        </p:txBody>
      </p:sp>
    </p:spTree>
    <p:extLst>
      <p:ext uri="{BB962C8B-B14F-4D97-AF65-F5344CB8AC3E}">
        <p14:creationId xmlns:p14="http://schemas.microsoft.com/office/powerpoint/2010/main" val="802311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7ADE216E-B706-F72F-0FBD-8FDB641C749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FDA141D-AFE1-9004-B9AC-F7787ABB6A3A}"/>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2141902-ABA3-8DFD-5883-C43AA5E79AE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1BB0E17-EF14-4794-9BF5-8AF708F109FF}" type="slidenum">
              <a:rPr lang="en-US" altLang="en-US"/>
              <a:pPr>
                <a:defRPr/>
              </a:pPr>
              <a:t>‹#›</a:t>
            </a:fld>
            <a:endParaRPr lang="en-US" altLang="en-US"/>
          </a:p>
        </p:txBody>
      </p:sp>
    </p:spTree>
    <p:extLst>
      <p:ext uri="{BB962C8B-B14F-4D97-AF65-F5344CB8AC3E}">
        <p14:creationId xmlns:p14="http://schemas.microsoft.com/office/powerpoint/2010/main" val="2403110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1CB7B43-D306-65AA-C107-160E59697DE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BEDB1299-0547-D356-5241-A022FB6CB15A}"/>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A077DF76-FFA7-A406-6ADB-B0622B6A07D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9A41A33-C5B8-4A21-9B7D-C894660DED8C}" type="slidenum">
              <a:rPr lang="en-US" altLang="en-US"/>
              <a:pPr>
                <a:defRPr/>
              </a:pPr>
              <a:t>‹#›</a:t>
            </a:fld>
            <a:endParaRPr lang="en-US" altLang="en-US"/>
          </a:p>
        </p:txBody>
      </p:sp>
    </p:spTree>
    <p:extLst>
      <p:ext uri="{BB962C8B-B14F-4D97-AF65-F5344CB8AC3E}">
        <p14:creationId xmlns:p14="http://schemas.microsoft.com/office/powerpoint/2010/main" val="251772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FC62B051-0151-2E1C-28A0-C3431E7DAEB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CC70EB9-F9B5-9C90-396B-920CB8F0F4A0}"/>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4E1C002-57C7-B03B-A67E-7E9B319FAA5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9251060-A109-4906-A3C3-CC92E036B3F4}" type="slidenum">
              <a:rPr lang="en-US" altLang="en-US"/>
              <a:pPr>
                <a:defRPr/>
              </a:pPr>
              <a:t>‹#›</a:t>
            </a:fld>
            <a:endParaRPr lang="en-US" altLang="en-US"/>
          </a:p>
        </p:txBody>
      </p:sp>
    </p:spTree>
    <p:extLst>
      <p:ext uri="{BB962C8B-B14F-4D97-AF65-F5344CB8AC3E}">
        <p14:creationId xmlns:p14="http://schemas.microsoft.com/office/powerpoint/2010/main" val="1636642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5B50845-86E9-B36B-DF3F-E817E6AE7E0F}"/>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2638F3C-C179-2C6D-28DB-1956BB7CF69B}"/>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7C00C6B8-BCB3-6015-27DE-5E8D19A1ABC3}"/>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E4B0BB7C-90C5-48CE-4019-0B2CCCB1140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AB3698E8-3311-A7D5-E1D9-CB9FACEC5C80}"/>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66B382C5-DE4F-5AE7-1DD1-8EAE8911F01C}"/>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5E27157B-A296-8B1E-B9E6-BB49DF80AC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BB80191B-B6E3-971B-8CB3-4EAC4A96FF40}"/>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AD9CCFC5-4397-2FFD-799D-6BBCA1252603}"/>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897313EC-750C-DEC9-2DF0-7BB6C37E697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BCA92D91-D691-5053-FCDB-C6D1F9B65F42}"/>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E4949C99-6784-AC42-5A66-484DC5D21D7A}"/>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C126DF70-8B10-98D6-57FB-BABA2EFA82D6}"/>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47CCBCB7-86B0-4370-9072-AEF2C26DD624}" type="slidenum">
              <a:rPr lang="en-US" altLang="en-US"/>
              <a:pPr>
                <a:defRPr/>
              </a:pPr>
              <a:t>‹#›</a:t>
            </a:fld>
            <a:endParaRPr lang="en-US" altLang="en-US"/>
          </a:p>
        </p:txBody>
      </p:sp>
    </p:spTree>
    <p:extLst>
      <p:ext uri="{BB962C8B-B14F-4D97-AF65-F5344CB8AC3E}">
        <p14:creationId xmlns:p14="http://schemas.microsoft.com/office/powerpoint/2010/main" val="554530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746D7E5-6921-EFC9-41A1-033F3ED617E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B12484D-11C7-B6D4-D522-1C0BDB722B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E56DA6F-1FD7-C165-CBAA-9B6196766C81}"/>
              </a:ext>
            </a:extLst>
          </p:cNvPr>
          <p:cNvSpPr>
            <a:spLocks noGrp="1" noChangeArrowheads="1"/>
          </p:cNvSpPr>
          <p:nvPr>
            <p:ph type="sldNum" sz="quarter" idx="12"/>
          </p:nvPr>
        </p:nvSpPr>
        <p:spPr>
          <a:ln/>
        </p:spPr>
        <p:txBody>
          <a:bodyPr/>
          <a:lstStyle>
            <a:lvl1pPr>
              <a:defRPr/>
            </a:lvl1pPr>
          </a:lstStyle>
          <a:p>
            <a:pPr>
              <a:defRPr/>
            </a:pPr>
            <a:fld id="{B4EB9C05-3380-49CC-B478-23B9E949FD2E}" type="slidenum">
              <a:rPr lang="en-US" altLang="en-US"/>
              <a:pPr>
                <a:defRPr/>
              </a:pPr>
              <a:t>‹#›</a:t>
            </a:fld>
            <a:endParaRPr lang="en-US" altLang="en-US"/>
          </a:p>
        </p:txBody>
      </p:sp>
    </p:spTree>
    <p:extLst>
      <p:ext uri="{BB962C8B-B14F-4D97-AF65-F5344CB8AC3E}">
        <p14:creationId xmlns:p14="http://schemas.microsoft.com/office/powerpoint/2010/main" val="2482310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7C313754-969D-BE9E-35F6-10E48217C9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BA605C8-262C-8A60-0C12-3AD7231C01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20BF454-C7DC-9F29-39C2-69944C5E90FC}"/>
              </a:ext>
            </a:extLst>
          </p:cNvPr>
          <p:cNvSpPr>
            <a:spLocks noGrp="1" noChangeArrowheads="1"/>
          </p:cNvSpPr>
          <p:nvPr>
            <p:ph type="sldNum" sz="quarter" idx="12"/>
          </p:nvPr>
        </p:nvSpPr>
        <p:spPr>
          <a:ln/>
        </p:spPr>
        <p:txBody>
          <a:bodyPr/>
          <a:lstStyle>
            <a:lvl1pPr>
              <a:defRPr/>
            </a:lvl1pPr>
          </a:lstStyle>
          <a:p>
            <a:pPr>
              <a:defRPr/>
            </a:pPr>
            <a:fld id="{09418C1E-7DF3-4944-8AFE-D0DC60F15710}" type="slidenum">
              <a:rPr lang="en-US" altLang="en-US"/>
              <a:pPr>
                <a:defRPr/>
              </a:pPr>
              <a:t>‹#›</a:t>
            </a:fld>
            <a:endParaRPr lang="en-US" altLang="en-US"/>
          </a:p>
        </p:txBody>
      </p:sp>
    </p:spTree>
    <p:extLst>
      <p:ext uri="{BB962C8B-B14F-4D97-AF65-F5344CB8AC3E}">
        <p14:creationId xmlns:p14="http://schemas.microsoft.com/office/powerpoint/2010/main" val="3916871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43E02D2C-F487-6C1A-A94A-912C95E99D5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8FD96A6-8ACA-8C20-B58D-4F4C909E91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F1E39FA-9565-C7E9-74DB-7813344202A4}"/>
              </a:ext>
            </a:extLst>
          </p:cNvPr>
          <p:cNvSpPr>
            <a:spLocks noGrp="1" noChangeArrowheads="1"/>
          </p:cNvSpPr>
          <p:nvPr>
            <p:ph type="sldNum" sz="quarter" idx="12"/>
          </p:nvPr>
        </p:nvSpPr>
        <p:spPr>
          <a:ln/>
        </p:spPr>
        <p:txBody>
          <a:bodyPr/>
          <a:lstStyle>
            <a:lvl1pPr>
              <a:defRPr/>
            </a:lvl1pPr>
          </a:lstStyle>
          <a:p>
            <a:pPr>
              <a:defRPr/>
            </a:pPr>
            <a:fld id="{115C4763-893A-4B39-B568-77342183CAED}" type="slidenum">
              <a:rPr lang="en-US" altLang="en-US"/>
              <a:pPr>
                <a:defRPr/>
              </a:pPr>
              <a:t>‹#›</a:t>
            </a:fld>
            <a:endParaRPr lang="en-US" altLang="en-US"/>
          </a:p>
        </p:txBody>
      </p:sp>
    </p:spTree>
    <p:extLst>
      <p:ext uri="{BB962C8B-B14F-4D97-AF65-F5344CB8AC3E}">
        <p14:creationId xmlns:p14="http://schemas.microsoft.com/office/powerpoint/2010/main" val="1432271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0306F114-2543-2E72-D48B-28727EFE94E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20BA37D-968D-95F9-F05E-01A6F900041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11620372-69E6-4228-A5F8-6403E199996E}"/>
              </a:ext>
            </a:extLst>
          </p:cNvPr>
          <p:cNvSpPr>
            <a:spLocks noGrp="1" noChangeArrowheads="1"/>
          </p:cNvSpPr>
          <p:nvPr>
            <p:ph type="sldNum" sz="quarter" idx="12"/>
          </p:nvPr>
        </p:nvSpPr>
        <p:spPr>
          <a:ln/>
        </p:spPr>
        <p:txBody>
          <a:bodyPr/>
          <a:lstStyle>
            <a:lvl1pPr>
              <a:defRPr/>
            </a:lvl1pPr>
          </a:lstStyle>
          <a:p>
            <a:pPr>
              <a:defRPr/>
            </a:pPr>
            <a:fld id="{C6D72C02-AD24-4DFA-B9FB-2C78248EAE4C}" type="slidenum">
              <a:rPr lang="en-US" altLang="en-US"/>
              <a:pPr>
                <a:defRPr/>
              </a:pPr>
              <a:t>‹#›</a:t>
            </a:fld>
            <a:endParaRPr lang="en-US" altLang="en-US"/>
          </a:p>
        </p:txBody>
      </p:sp>
    </p:spTree>
    <p:extLst>
      <p:ext uri="{BB962C8B-B14F-4D97-AF65-F5344CB8AC3E}">
        <p14:creationId xmlns:p14="http://schemas.microsoft.com/office/powerpoint/2010/main" val="69494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209355DA-8118-BE0C-E2D8-299647C42B8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54156052-470E-FE76-0AC5-4D6B9B5301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218D6941-E233-510C-43AF-5E0A676A91A2}"/>
              </a:ext>
            </a:extLst>
          </p:cNvPr>
          <p:cNvSpPr>
            <a:spLocks noGrp="1" noChangeArrowheads="1"/>
          </p:cNvSpPr>
          <p:nvPr>
            <p:ph type="sldNum" sz="quarter" idx="12"/>
          </p:nvPr>
        </p:nvSpPr>
        <p:spPr>
          <a:ln/>
        </p:spPr>
        <p:txBody>
          <a:bodyPr/>
          <a:lstStyle>
            <a:lvl1pPr>
              <a:defRPr/>
            </a:lvl1pPr>
          </a:lstStyle>
          <a:p>
            <a:pPr>
              <a:defRPr/>
            </a:pPr>
            <a:fld id="{BD538A85-6F35-4C4A-9080-53003420267F}" type="slidenum">
              <a:rPr lang="en-US" altLang="en-US"/>
              <a:pPr>
                <a:defRPr/>
              </a:pPr>
              <a:t>‹#›</a:t>
            </a:fld>
            <a:endParaRPr lang="en-US" altLang="en-US"/>
          </a:p>
        </p:txBody>
      </p:sp>
    </p:spTree>
    <p:extLst>
      <p:ext uri="{BB962C8B-B14F-4D97-AF65-F5344CB8AC3E}">
        <p14:creationId xmlns:p14="http://schemas.microsoft.com/office/powerpoint/2010/main" val="880252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7B37CC-DFF3-4B12-0827-B552295921A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3FA51F15-312B-619F-EDE1-FDED1F97B5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C66C65C-89C2-0BA6-D41E-6FCB0C483F10}"/>
              </a:ext>
            </a:extLst>
          </p:cNvPr>
          <p:cNvSpPr>
            <a:spLocks noGrp="1" noChangeArrowheads="1"/>
          </p:cNvSpPr>
          <p:nvPr>
            <p:ph type="sldNum" sz="quarter" idx="12"/>
          </p:nvPr>
        </p:nvSpPr>
        <p:spPr>
          <a:ln/>
        </p:spPr>
        <p:txBody>
          <a:bodyPr/>
          <a:lstStyle>
            <a:lvl1pPr>
              <a:defRPr/>
            </a:lvl1pPr>
          </a:lstStyle>
          <a:p>
            <a:pPr>
              <a:defRPr/>
            </a:pPr>
            <a:fld id="{07758037-A460-4AFA-AA5E-B047D17599F1}" type="slidenum">
              <a:rPr lang="en-US" altLang="en-US"/>
              <a:pPr>
                <a:defRPr/>
              </a:pPr>
              <a:t>‹#›</a:t>
            </a:fld>
            <a:endParaRPr lang="en-US" altLang="en-US"/>
          </a:p>
        </p:txBody>
      </p:sp>
    </p:spTree>
    <p:extLst>
      <p:ext uri="{BB962C8B-B14F-4D97-AF65-F5344CB8AC3E}">
        <p14:creationId xmlns:p14="http://schemas.microsoft.com/office/powerpoint/2010/main" val="1810011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2ACF0FD0-C90B-858E-BB0B-946920067D3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20D4C27-2531-4AC9-4470-F42BEF56D9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6DB5E3E-D24C-3C7C-31AB-5C00E28D0865}"/>
              </a:ext>
            </a:extLst>
          </p:cNvPr>
          <p:cNvSpPr>
            <a:spLocks noGrp="1" noChangeArrowheads="1"/>
          </p:cNvSpPr>
          <p:nvPr>
            <p:ph type="sldNum" sz="quarter" idx="12"/>
          </p:nvPr>
        </p:nvSpPr>
        <p:spPr>
          <a:ln/>
        </p:spPr>
        <p:txBody>
          <a:bodyPr/>
          <a:lstStyle>
            <a:lvl1pPr>
              <a:defRPr/>
            </a:lvl1pPr>
          </a:lstStyle>
          <a:p>
            <a:pPr>
              <a:defRPr/>
            </a:pPr>
            <a:fld id="{C98111F3-4DF9-4588-BECE-EFA2261A0BCB}" type="slidenum">
              <a:rPr lang="en-US" altLang="en-US"/>
              <a:pPr>
                <a:defRPr/>
              </a:pPr>
              <a:t>‹#›</a:t>
            </a:fld>
            <a:endParaRPr lang="en-US" altLang="en-US"/>
          </a:p>
        </p:txBody>
      </p:sp>
    </p:spTree>
    <p:extLst>
      <p:ext uri="{BB962C8B-B14F-4D97-AF65-F5344CB8AC3E}">
        <p14:creationId xmlns:p14="http://schemas.microsoft.com/office/powerpoint/2010/main" val="2292640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CBD4E57-1427-A3B1-AAB0-BDA4BA0DC0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9E0F64-6089-1AC1-5EB9-336365875D3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20F32726-BBB8-9786-6B14-4AD6BB9C0F3B}"/>
              </a:ext>
            </a:extLst>
          </p:cNvPr>
          <p:cNvSpPr>
            <a:spLocks noGrp="1" noChangeArrowheads="1"/>
          </p:cNvSpPr>
          <p:nvPr>
            <p:ph type="sldNum" sz="quarter" idx="12"/>
          </p:nvPr>
        </p:nvSpPr>
        <p:spPr>
          <a:ln/>
        </p:spPr>
        <p:txBody>
          <a:bodyPr/>
          <a:lstStyle>
            <a:lvl1pPr>
              <a:defRPr/>
            </a:lvl1pPr>
          </a:lstStyle>
          <a:p>
            <a:pPr>
              <a:defRPr/>
            </a:pPr>
            <a:fld id="{16D73A18-3DC8-4BB8-AE68-2E38F5AA6263}" type="slidenum">
              <a:rPr lang="en-US" altLang="en-US"/>
              <a:pPr>
                <a:defRPr/>
              </a:pPr>
              <a:t>‹#›</a:t>
            </a:fld>
            <a:endParaRPr lang="en-US" altLang="en-US"/>
          </a:p>
        </p:txBody>
      </p:sp>
    </p:spTree>
    <p:extLst>
      <p:ext uri="{BB962C8B-B14F-4D97-AF65-F5344CB8AC3E}">
        <p14:creationId xmlns:p14="http://schemas.microsoft.com/office/powerpoint/2010/main" val="6467097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B81613F6-B965-9006-5734-78F62057CAD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9A2B8DA-F3F1-46E2-7E73-6AE79C1BCA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D257798-8C2C-47E6-9DE7-958ACEC060D0}"/>
              </a:ext>
            </a:extLst>
          </p:cNvPr>
          <p:cNvSpPr>
            <a:spLocks noGrp="1" noChangeArrowheads="1"/>
          </p:cNvSpPr>
          <p:nvPr>
            <p:ph type="sldNum" sz="quarter" idx="12"/>
          </p:nvPr>
        </p:nvSpPr>
        <p:spPr>
          <a:ln/>
        </p:spPr>
        <p:txBody>
          <a:bodyPr/>
          <a:lstStyle>
            <a:lvl1pPr>
              <a:defRPr/>
            </a:lvl1pPr>
          </a:lstStyle>
          <a:p>
            <a:pPr>
              <a:defRPr/>
            </a:pPr>
            <a:fld id="{23738D1C-5685-44FD-B565-D9F3488E5594}" type="slidenum">
              <a:rPr lang="en-US" altLang="en-US"/>
              <a:pPr>
                <a:defRPr/>
              </a:pPr>
              <a:t>‹#›</a:t>
            </a:fld>
            <a:endParaRPr lang="en-US" altLang="en-US"/>
          </a:p>
        </p:txBody>
      </p:sp>
    </p:spTree>
    <p:extLst>
      <p:ext uri="{BB962C8B-B14F-4D97-AF65-F5344CB8AC3E}">
        <p14:creationId xmlns:p14="http://schemas.microsoft.com/office/powerpoint/2010/main" val="36072011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31C68728-1A18-F543-16CB-66A75DFAB7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D2D574F-1BE7-6870-5102-3675D916BF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52168CD-2B59-B4DB-FED9-8A53EAD46C43}"/>
              </a:ext>
            </a:extLst>
          </p:cNvPr>
          <p:cNvSpPr>
            <a:spLocks noGrp="1" noChangeArrowheads="1"/>
          </p:cNvSpPr>
          <p:nvPr>
            <p:ph type="sldNum" sz="quarter" idx="12"/>
          </p:nvPr>
        </p:nvSpPr>
        <p:spPr>
          <a:ln/>
        </p:spPr>
        <p:txBody>
          <a:bodyPr/>
          <a:lstStyle>
            <a:lvl1pPr>
              <a:defRPr/>
            </a:lvl1pPr>
          </a:lstStyle>
          <a:p>
            <a:pPr>
              <a:defRPr/>
            </a:pPr>
            <a:fld id="{6BF1C574-BE27-4609-BD88-C20BE897ABB0}" type="slidenum">
              <a:rPr lang="en-US" altLang="en-US"/>
              <a:pPr>
                <a:defRPr/>
              </a:pPr>
              <a:t>‹#›</a:t>
            </a:fld>
            <a:endParaRPr lang="en-US" altLang="en-US"/>
          </a:p>
        </p:txBody>
      </p:sp>
    </p:spTree>
    <p:extLst>
      <p:ext uri="{BB962C8B-B14F-4D97-AF65-F5344CB8AC3E}">
        <p14:creationId xmlns:p14="http://schemas.microsoft.com/office/powerpoint/2010/main" val="707182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4AC4AA3-EB04-E764-7764-051C1806D714}"/>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7" name="Rectangle 3">
            <a:extLst>
              <a:ext uri="{FF2B5EF4-FFF2-40B4-BE49-F238E27FC236}">
                <a16:creationId xmlns:a16="http://schemas.microsoft.com/office/drawing/2014/main" id="{B6AE851B-673D-DB22-8443-20CE1D4A5449}"/>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8" name="Rectangle 4">
            <a:extLst>
              <a:ext uri="{FF2B5EF4-FFF2-40B4-BE49-F238E27FC236}">
                <a16:creationId xmlns:a16="http://schemas.microsoft.com/office/drawing/2014/main" id="{66F8C968-6DBD-B490-E9E7-F552A8E6EEA2}"/>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9" name="Rectangle 5">
            <a:extLst>
              <a:ext uri="{FF2B5EF4-FFF2-40B4-BE49-F238E27FC236}">
                <a16:creationId xmlns:a16="http://schemas.microsoft.com/office/drawing/2014/main" id="{1B5C72CA-0C2F-49A8-3E5A-D5F1C05B63DC}"/>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0" name="Rectangle 6">
            <a:extLst>
              <a:ext uri="{FF2B5EF4-FFF2-40B4-BE49-F238E27FC236}">
                <a16:creationId xmlns:a16="http://schemas.microsoft.com/office/drawing/2014/main" id="{4743670C-3A38-70CB-63A8-5F52F3D955CD}"/>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1" name="Rectangle 7">
            <a:extLst>
              <a:ext uri="{FF2B5EF4-FFF2-40B4-BE49-F238E27FC236}">
                <a16:creationId xmlns:a16="http://schemas.microsoft.com/office/drawing/2014/main" id="{B0B55887-A3AD-6C43-54C2-8867EF11F291}"/>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2" name="Rectangle 8">
            <a:extLst>
              <a:ext uri="{FF2B5EF4-FFF2-40B4-BE49-F238E27FC236}">
                <a16:creationId xmlns:a16="http://schemas.microsoft.com/office/drawing/2014/main" id="{921A902C-FA6B-9512-48BB-E618A670266E}"/>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3" name="Rectangle 9">
            <a:extLst>
              <a:ext uri="{FF2B5EF4-FFF2-40B4-BE49-F238E27FC236}">
                <a16:creationId xmlns:a16="http://schemas.microsoft.com/office/drawing/2014/main" id="{3D7B258B-3931-234C-87C9-F6DB93F06C5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4E7B52EA-E379-806D-90EC-1086E1122D9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1CA152C8-EA6A-CE37-7008-345792CF3460}"/>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D4373208-BE86-9E1A-7677-4331A090DC94}"/>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D09039EB-1FD8-EE50-3B6C-948846B1346D}"/>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762" r:id="rId1"/>
    <p:sldLayoutId id="2147484763" r:id="rId2"/>
    <p:sldLayoutId id="2147484764" r:id="rId3"/>
    <p:sldLayoutId id="2147484765" r:id="rId4"/>
    <p:sldLayoutId id="2147484766" r:id="rId5"/>
    <p:sldLayoutId id="2147484767" r:id="rId6"/>
    <p:sldLayoutId id="2147484768" r:id="rId7"/>
    <p:sldLayoutId id="2147484769" r:id="rId8"/>
    <p:sldLayoutId id="2147484770" r:id="rId9"/>
    <p:sldLayoutId id="2147484771" r:id="rId10"/>
    <p:sldLayoutId id="2147484772"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A9DE024-51B5-EF74-C8CE-DF317FBA0A4D}"/>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1" name="Rectangle 3">
            <a:extLst>
              <a:ext uri="{FF2B5EF4-FFF2-40B4-BE49-F238E27FC236}">
                <a16:creationId xmlns:a16="http://schemas.microsoft.com/office/drawing/2014/main" id="{7340C794-F10E-4D60-966D-9B32BDABBBC3}"/>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2" name="Rectangle 4">
            <a:extLst>
              <a:ext uri="{FF2B5EF4-FFF2-40B4-BE49-F238E27FC236}">
                <a16:creationId xmlns:a16="http://schemas.microsoft.com/office/drawing/2014/main" id="{901FEB28-0EA1-D57E-7EDB-AB7C2B04A1BE}"/>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3" name="Rectangle 5">
            <a:extLst>
              <a:ext uri="{FF2B5EF4-FFF2-40B4-BE49-F238E27FC236}">
                <a16:creationId xmlns:a16="http://schemas.microsoft.com/office/drawing/2014/main" id="{C4250F52-C6CB-DB2C-5002-0B0B02CCC187}"/>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4" name="Rectangle 6">
            <a:extLst>
              <a:ext uri="{FF2B5EF4-FFF2-40B4-BE49-F238E27FC236}">
                <a16:creationId xmlns:a16="http://schemas.microsoft.com/office/drawing/2014/main" id="{7EAB92F5-AD60-481A-7C6F-FA995D3F9F11}"/>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5" name="Rectangle 7">
            <a:extLst>
              <a:ext uri="{FF2B5EF4-FFF2-40B4-BE49-F238E27FC236}">
                <a16:creationId xmlns:a16="http://schemas.microsoft.com/office/drawing/2014/main" id="{5AA7A538-4631-1BDC-70DE-906AACADDF07}"/>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6" name="Rectangle 8">
            <a:extLst>
              <a:ext uri="{FF2B5EF4-FFF2-40B4-BE49-F238E27FC236}">
                <a16:creationId xmlns:a16="http://schemas.microsoft.com/office/drawing/2014/main" id="{EFB71337-40CC-0591-EE3B-32884A7CB08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7" name="Rectangle 9">
            <a:extLst>
              <a:ext uri="{FF2B5EF4-FFF2-40B4-BE49-F238E27FC236}">
                <a16:creationId xmlns:a16="http://schemas.microsoft.com/office/drawing/2014/main" id="{57B4F428-42C0-C716-4E86-E6FC72C8AAB7}"/>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7FB0D45E-DB46-9D92-9CF3-DF95893D3DA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8CE2CDFF-44FA-14EB-5012-F504E91E72DF}"/>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BE8AFED5-E4A2-5D7C-8E28-94F0D12FC7F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E0697AA5-4727-B183-905C-F38A6E861A90}"/>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3F1225C6-14D4-414F-8D51-5EBD199EC6B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73" r:id="rId1"/>
    <p:sldLayoutId id="2147484752" r:id="rId2"/>
    <p:sldLayoutId id="2147484753" r:id="rId3"/>
    <p:sldLayoutId id="2147484754" r:id="rId4"/>
    <p:sldLayoutId id="2147484755" r:id="rId5"/>
    <p:sldLayoutId id="2147484756" r:id="rId6"/>
    <p:sldLayoutId id="2147484757" r:id="rId7"/>
    <p:sldLayoutId id="2147484758" r:id="rId8"/>
    <p:sldLayoutId id="2147484759" r:id="rId9"/>
    <p:sldLayoutId id="2147484760" r:id="rId10"/>
    <p:sldLayoutId id="214748476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51B185C-3656-FEFF-4650-A81FD99CE39C}"/>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17ED5576-5EA0-5DB6-ACCB-8C89562F4717}"/>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E06C316-641A-DBBE-2EC0-AA65009F93F4}"/>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B858CE87-133F-DEAE-8FEC-EE0A56F35794}"/>
              </a:ext>
            </a:extLst>
          </p:cNvPr>
          <p:cNvSpPr>
            <a:spLocks noGrp="1" noChangeArrowheads="1"/>
          </p:cNvSpPr>
          <p:nvPr>
            <p:ph idx="1"/>
          </p:nvPr>
        </p:nvSpPr>
        <p:spPr>
          <a:xfrm>
            <a:off x="279400" y="1773238"/>
            <a:ext cx="8585200" cy="1295400"/>
          </a:xfrm>
        </p:spPr>
        <p:txBody>
          <a:bodyPr/>
          <a:lstStyle/>
          <a:p>
            <a:r>
              <a:rPr lang="en-GB" altLang="en-US" sz="1800" b="1"/>
              <a:t>1.5 </a:t>
            </a:r>
            <a:r>
              <a:rPr lang="en-GB" altLang="en-US" sz="1800"/>
              <a:t>Investigate the current and potential uses of emerging technologies and how they impact on industries</a:t>
            </a:r>
          </a:p>
          <a:p>
            <a:endParaRPr lang="en-GB" altLang="en-US" sz="1800"/>
          </a:p>
          <a:p>
            <a:pPr lvl="1"/>
            <a:r>
              <a:rPr lang="en-GB" altLang="en-US" sz="1800"/>
              <a:t>Investigate impact on software development of emerging technologies such as:</a:t>
            </a:r>
          </a:p>
          <a:p>
            <a:pPr lvl="2"/>
            <a:endParaRPr lang="en-GB" altLang="en-US" sz="1400"/>
          </a:p>
        </p:txBody>
      </p:sp>
      <p:sp>
        <p:nvSpPr>
          <p:cNvPr id="4" name="Content Placeholder 2">
            <a:extLst>
              <a:ext uri="{FF2B5EF4-FFF2-40B4-BE49-F238E27FC236}">
                <a16:creationId xmlns:a16="http://schemas.microsoft.com/office/drawing/2014/main" id="{DABEF154-74A6-F50E-65DD-23B429FA7F74}"/>
              </a:ext>
            </a:extLst>
          </p:cNvPr>
          <p:cNvSpPr txBox="1">
            <a:spLocks noChangeArrowheads="1"/>
          </p:cNvSpPr>
          <p:nvPr/>
        </p:nvSpPr>
        <p:spPr bwMode="auto">
          <a:xfrm>
            <a:off x="4468813" y="3511550"/>
            <a:ext cx="4440237"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defRPr/>
            </a:pPr>
            <a:r>
              <a:rPr lang="en-GB" sz="1800" kern="0" dirty="0"/>
              <a:t>computer vision</a:t>
            </a:r>
          </a:p>
          <a:p>
            <a:pPr lvl="2">
              <a:defRPr/>
            </a:pPr>
            <a:r>
              <a:rPr lang="en-GB" sz="1800" kern="0" dirty="0"/>
              <a:t>robotics</a:t>
            </a:r>
          </a:p>
          <a:p>
            <a:pPr lvl="2">
              <a:defRPr/>
            </a:pPr>
            <a:r>
              <a:rPr lang="en-GB" sz="1800" kern="0" dirty="0"/>
              <a:t>cloud services and platforms</a:t>
            </a:r>
          </a:p>
          <a:p>
            <a:pPr lvl="2">
              <a:defRPr/>
            </a:pPr>
            <a:r>
              <a:rPr lang="en-GB" sz="1800" kern="0" dirty="0"/>
              <a:t>blockchain</a:t>
            </a:r>
          </a:p>
          <a:p>
            <a:pPr lvl="2">
              <a:defRPr/>
            </a:pPr>
            <a:r>
              <a:rPr lang="en-GB" sz="1800" kern="0" dirty="0"/>
              <a:t>data lakes and data warehousing</a:t>
            </a:r>
          </a:p>
          <a:p>
            <a:pPr lvl="2">
              <a:defRPr/>
            </a:pPr>
            <a:r>
              <a:rPr lang="en-GB" sz="1800" kern="0" dirty="0"/>
              <a:t>drones</a:t>
            </a:r>
          </a:p>
          <a:p>
            <a:pPr lvl="2">
              <a:defRPr/>
            </a:pPr>
            <a:r>
              <a:rPr lang="en-GB" sz="1800" kern="0" dirty="0"/>
              <a:t>3D printing</a:t>
            </a:r>
          </a:p>
          <a:p>
            <a:pPr lvl="2">
              <a:defRPr/>
            </a:pPr>
            <a:r>
              <a:rPr lang="en-GB" sz="1800" kern="0" dirty="0"/>
              <a:t>5G networks</a:t>
            </a:r>
          </a:p>
        </p:txBody>
      </p:sp>
      <p:sp>
        <p:nvSpPr>
          <p:cNvPr id="5" name="Content Placeholder 2">
            <a:extLst>
              <a:ext uri="{FF2B5EF4-FFF2-40B4-BE49-F238E27FC236}">
                <a16:creationId xmlns:a16="http://schemas.microsoft.com/office/drawing/2014/main" id="{4BE3F4B3-57BE-0BC6-13FA-11B42FE6898A}"/>
              </a:ext>
            </a:extLst>
          </p:cNvPr>
          <p:cNvSpPr txBox="1">
            <a:spLocks noChangeArrowheads="1"/>
          </p:cNvSpPr>
          <p:nvPr/>
        </p:nvSpPr>
        <p:spPr bwMode="auto">
          <a:xfrm>
            <a:off x="0" y="3630613"/>
            <a:ext cx="4608513" cy="22574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defRPr/>
            </a:pPr>
            <a:r>
              <a:rPr lang="en-GB" sz="1800" kern="0" dirty="0"/>
              <a:t>operational technology (OT)</a:t>
            </a:r>
          </a:p>
          <a:p>
            <a:pPr lvl="2">
              <a:defRPr/>
            </a:pPr>
            <a:r>
              <a:rPr lang="en-GB" sz="1800" kern="0" dirty="0"/>
              <a:t>artificial Intelligence (AI) and Virtual Intelligence (VI)</a:t>
            </a:r>
          </a:p>
          <a:p>
            <a:pPr lvl="2">
              <a:defRPr/>
            </a:pPr>
            <a:r>
              <a:rPr lang="en-GB" sz="1800" kern="0" dirty="0"/>
              <a:t>conversational AI</a:t>
            </a:r>
          </a:p>
          <a:p>
            <a:pPr lvl="2">
              <a:defRPr/>
            </a:pPr>
            <a:r>
              <a:rPr lang="en-GB" sz="1800" kern="0" dirty="0"/>
              <a:t>the Internet of Things (IoT)</a:t>
            </a:r>
          </a:p>
          <a:p>
            <a:pPr lvl="2">
              <a:defRPr/>
            </a:pPr>
            <a:r>
              <a:rPr lang="en-GB" sz="1800" kern="0" dirty="0"/>
              <a:t>machine Learning</a:t>
            </a:r>
          </a:p>
          <a:p>
            <a:pPr lvl="2">
              <a:defRPr/>
            </a:pPr>
            <a:r>
              <a:rPr lang="en-GB" sz="1800" kern="0" dirty="0"/>
              <a:t>object recognition</a:t>
            </a:r>
          </a:p>
          <a:p>
            <a:pPr lvl="2">
              <a:defRPr/>
            </a:pPr>
            <a:r>
              <a:rPr lang="en-GB" sz="1800" kern="0" dirty="0"/>
              <a:t>biometrics</a:t>
            </a:r>
          </a:p>
          <a:p>
            <a:pPr lvl="2">
              <a:defRPr/>
            </a:pPr>
            <a:endParaRPr lang="en-GB" sz="1400"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7EAE070-A871-DDFA-6B8D-73961B82E8DF}"/>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5" name="Rectangle 3">
            <a:extLst>
              <a:ext uri="{FF2B5EF4-FFF2-40B4-BE49-F238E27FC236}">
                <a16:creationId xmlns:a16="http://schemas.microsoft.com/office/drawing/2014/main" id="{391557C3-A7B2-9238-D8EA-D81730055E90}"/>
              </a:ext>
            </a:extLst>
          </p:cNvPr>
          <p:cNvSpPr txBox="1">
            <a:spLocks noChangeArrowheads="1"/>
          </p:cNvSpPr>
          <p:nvPr/>
        </p:nvSpPr>
        <p:spPr bwMode="auto">
          <a:xfrm>
            <a:off x="971550" y="2133600"/>
            <a:ext cx="7772400"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eaLnBrk="1" hangingPunct="1">
              <a:defRPr/>
            </a:pPr>
            <a:r>
              <a:rPr lang="en-GB" sz="2000" b="1" kern="0" dirty="0">
                <a:latin typeface="Arial" pitchFamily="34" charset="0"/>
              </a:rPr>
              <a:t>Aims:</a:t>
            </a:r>
          </a:p>
          <a:p>
            <a:pPr lvl="1" eaLnBrk="1" hangingPunct="1">
              <a:defRPr/>
            </a:pPr>
            <a:r>
              <a:rPr lang="en-GB" sz="1800" kern="0" dirty="0"/>
              <a:t>To </a:t>
            </a:r>
            <a:r>
              <a:rPr lang="en-US" altLang="en-US" sz="1800" dirty="0"/>
              <a:t>investigate how an organization uses technology to meet its needs</a:t>
            </a:r>
          </a:p>
          <a:p>
            <a:pPr lvl="1" eaLnBrk="1" hangingPunct="1">
              <a:defRPr/>
            </a:pPr>
            <a:endParaRPr lang="en-GB" sz="2000" kern="0" dirty="0">
              <a:latin typeface="Arial" pitchFamily="34" charset="0"/>
            </a:endParaRPr>
          </a:p>
          <a:p>
            <a:pPr eaLnBrk="1" hangingPunct="1">
              <a:defRPr/>
            </a:pPr>
            <a:r>
              <a:rPr lang="en-GB" sz="2000" b="1" kern="0" dirty="0">
                <a:latin typeface="Arial" pitchFamily="34" charset="0"/>
              </a:rPr>
              <a:t>Objectives</a:t>
            </a:r>
            <a:r>
              <a:rPr lang="en-US" sz="2000" b="1" kern="0" dirty="0">
                <a:latin typeface="Arial" pitchFamily="34" charset="0"/>
              </a:rPr>
              <a:t>:</a:t>
            </a:r>
          </a:p>
          <a:p>
            <a:pPr lvl="1" eaLnBrk="1" hangingPunct="1">
              <a:defRPr/>
            </a:pPr>
            <a:r>
              <a:rPr lang="en-US" sz="1800" kern="0" dirty="0"/>
              <a:t>To be able to define </a:t>
            </a:r>
            <a:r>
              <a:rPr lang="en-US" altLang="en-US" sz="1800" dirty="0"/>
              <a:t>how an organization uses technology to meet its needs.</a:t>
            </a:r>
            <a:endParaRPr lang="en-US" sz="1800" kern="0" dirty="0"/>
          </a:p>
          <a:p>
            <a:pPr eaLnBrk="1" hangingPunct="1">
              <a:defRPr/>
            </a:pPr>
            <a:endParaRPr lang="en-US" sz="2000" b="1" kern="0" dirty="0">
              <a:latin typeface="Arial" pitchFamily="34" charset="0"/>
            </a:endParaRPr>
          </a:p>
          <a:p>
            <a:pPr lvl="1" eaLnBrk="1" hangingPunct="1">
              <a:defRPr/>
            </a:pPr>
            <a:endParaRPr lang="en-GB" sz="2000" kern="0" dirty="0"/>
          </a:p>
          <a:p>
            <a:pPr lvl="1" eaLnBrk="1" hangingPunct="1">
              <a:defRPr/>
            </a:pPr>
            <a:endParaRPr lang="en-GB" sz="2000" kern="0" dirty="0"/>
          </a:p>
          <a:p>
            <a:pPr marL="457200" lvl="1" indent="0" eaLnBrk="1" hangingPunct="1">
              <a:buFont typeface="Wingdings" pitchFamily="2" charset="2"/>
              <a:buNone/>
              <a:defRPr/>
            </a:pPr>
            <a:endParaRPr lang="en-GB" sz="20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7315969-FDA5-42DD-E560-898956F95CEF}"/>
              </a:ext>
            </a:extLst>
          </p:cNvPr>
          <p:cNvSpPr>
            <a:spLocks noGrp="1" noChangeArrowheads="1"/>
          </p:cNvSpPr>
          <p:nvPr>
            <p:ph type="title"/>
          </p:nvPr>
        </p:nvSpPr>
        <p:spPr>
          <a:xfrm>
            <a:off x="1116013" y="404813"/>
            <a:ext cx="4968875" cy="939800"/>
          </a:xfrm>
        </p:spPr>
        <p:txBody>
          <a:bodyPr/>
          <a:lstStyle/>
          <a:p>
            <a:r>
              <a:rPr lang="en-US" altLang="en-US" sz="3600" b="1">
                <a:solidFill>
                  <a:srgbClr val="0070C0"/>
                </a:solidFill>
              </a:rPr>
              <a:t>Why organisations invest in technology</a:t>
            </a:r>
            <a:endParaRPr lang="en-GB" altLang="en-US" sz="3600" b="1">
              <a:solidFill>
                <a:srgbClr val="0070C0"/>
              </a:solidFill>
            </a:endParaRPr>
          </a:p>
        </p:txBody>
      </p:sp>
      <p:sp>
        <p:nvSpPr>
          <p:cNvPr id="22531" name="Content Placeholder 2">
            <a:extLst>
              <a:ext uri="{FF2B5EF4-FFF2-40B4-BE49-F238E27FC236}">
                <a16:creationId xmlns:a16="http://schemas.microsoft.com/office/drawing/2014/main" id="{39CCAF3F-F5D0-C29B-5832-79FD43E4554F}"/>
              </a:ext>
            </a:extLst>
          </p:cNvPr>
          <p:cNvSpPr>
            <a:spLocks noGrp="1" noChangeArrowheads="1"/>
          </p:cNvSpPr>
          <p:nvPr>
            <p:ph idx="1"/>
          </p:nvPr>
        </p:nvSpPr>
        <p:spPr>
          <a:xfrm>
            <a:off x="468313" y="1949450"/>
            <a:ext cx="8440737" cy="4648200"/>
          </a:xfrm>
        </p:spPr>
        <p:txBody>
          <a:bodyPr/>
          <a:lstStyle/>
          <a:p>
            <a:r>
              <a:rPr lang="en-US" altLang="en-US" sz="1600"/>
              <a:t>Because investing in technology can be expensive, organisations must be able to justify the choices they make as they might have to explain them to their </a:t>
            </a:r>
            <a:r>
              <a:rPr lang="en-US" altLang="en-US" sz="1600" b="1">
                <a:solidFill>
                  <a:srgbClr val="0070C0"/>
                </a:solidFill>
              </a:rPr>
              <a:t>STAKEHOLDERS</a:t>
            </a:r>
            <a:r>
              <a:rPr lang="en-US" altLang="en-US" sz="1600"/>
              <a:t> (individuals or organisations who have an interest or a stake in something - this is particularly true of investors). </a:t>
            </a:r>
          </a:p>
          <a:p>
            <a:r>
              <a:rPr lang="en-US" altLang="en-US" sz="1600"/>
              <a:t>The following are some of the main reasons why an organisation will invest in technology to meet its needs:</a:t>
            </a:r>
          </a:p>
          <a:p>
            <a:pPr marL="800100" lvl="1" indent="-342900">
              <a:buFont typeface="Tahoma" panose="020B0604030504040204" pitchFamily="34" charset="0"/>
              <a:buAutoNum type="arabicPeriod"/>
            </a:pPr>
            <a:r>
              <a:rPr lang="en-US" altLang="en-US" sz="1600"/>
              <a:t>Improving productivity</a:t>
            </a:r>
          </a:p>
          <a:p>
            <a:pPr marL="800100" lvl="1" indent="-342900">
              <a:buFont typeface="Tahoma" panose="020B0604030504040204" pitchFamily="34" charset="0"/>
              <a:buAutoNum type="arabicPeriod"/>
            </a:pPr>
            <a:r>
              <a:rPr lang="en-US" altLang="en-US" sz="1600"/>
              <a:t>Meeting business goals</a:t>
            </a:r>
          </a:p>
          <a:p>
            <a:pPr marL="800100" lvl="1" indent="-342900">
              <a:buFont typeface="Tahoma" panose="020B0604030504040204" pitchFamily="34" charset="0"/>
              <a:buAutoNum type="arabicPeriod"/>
            </a:pPr>
            <a:r>
              <a:rPr lang="en-US" altLang="en-US" sz="1600"/>
              <a:t>Improving efficiency</a:t>
            </a:r>
          </a:p>
          <a:p>
            <a:pPr marL="800100" lvl="1" indent="-342900">
              <a:buFont typeface="Tahoma" panose="020B0604030504040204" pitchFamily="34" charset="0"/>
              <a:buAutoNum type="arabicPeriod"/>
            </a:pPr>
            <a:r>
              <a:rPr lang="en-US" altLang="en-US" sz="1600"/>
              <a:t>Increasing cost effectiveness</a:t>
            </a:r>
          </a:p>
          <a:p>
            <a:pPr marL="800100" lvl="1" indent="-342900">
              <a:buFont typeface="Tahoma" panose="020B0604030504040204" pitchFamily="34" charset="0"/>
              <a:buAutoNum type="arabicPeriod"/>
            </a:pPr>
            <a:r>
              <a:rPr lang="en-US" altLang="en-US" sz="1600"/>
              <a:t>Achieving increased growth</a:t>
            </a:r>
          </a:p>
          <a:p>
            <a:pPr marL="800100" lvl="1" indent="-342900">
              <a:buFont typeface="Tahoma" panose="020B0604030504040204" pitchFamily="34" charset="0"/>
              <a:buAutoNum type="arabicPeriod"/>
            </a:pPr>
            <a:r>
              <a:rPr lang="en-US" altLang="en-US" sz="1600"/>
              <a:t>Innovating</a:t>
            </a:r>
          </a:p>
          <a:p>
            <a:pPr marL="800100" lvl="1" indent="-342900">
              <a:buFont typeface="Tahoma" panose="020B0604030504040204" pitchFamily="34" charset="0"/>
              <a:buAutoNum type="arabicPeriod"/>
            </a:pPr>
            <a:r>
              <a:rPr lang="en-US" altLang="en-US" sz="1600"/>
              <a:t>Improving agility and competitiveness</a:t>
            </a:r>
          </a:p>
          <a:p>
            <a:pPr marL="800100" lvl="1" indent="-342900">
              <a:buFont typeface="Tahoma" panose="020B0604030504040204" pitchFamily="34" charset="0"/>
              <a:buAutoNum type="arabicPeriod"/>
            </a:pPr>
            <a:r>
              <a:rPr lang="en-US" altLang="en-US" sz="1600"/>
              <a:t>Global communication</a:t>
            </a:r>
          </a:p>
          <a:p>
            <a:pPr marL="800100" lvl="1" indent="-342900">
              <a:buFont typeface="Tahoma" panose="020B0604030504040204" pitchFamily="34" charset="0"/>
              <a:buAutoNum type="arabicPeriod"/>
            </a:pPr>
            <a:r>
              <a:rPr lang="en-US" altLang="en-US" sz="1600"/>
              <a:t>Increassing promotion and sales</a:t>
            </a:r>
          </a:p>
          <a:p>
            <a:pPr marL="800100" lvl="1" indent="-342900">
              <a:buFont typeface="Tahoma" panose="020B0604030504040204" pitchFamily="34" charset="0"/>
              <a:buAutoNum type="arabicPeriod"/>
            </a:pPr>
            <a:r>
              <a:rPr lang="en-US" altLang="en-US" sz="1600"/>
              <a:t>Having a wider consumer reach</a:t>
            </a:r>
          </a:p>
          <a:p>
            <a:endParaRPr lang="en-GB" altLang="en-US" sz="1800"/>
          </a:p>
        </p:txBody>
      </p:sp>
      <p:pic>
        <p:nvPicPr>
          <p:cNvPr id="22532" name="Picture 4" descr="A picture containing object, person, bubble, indoor&#10;&#10;Description automatically generated">
            <a:extLst>
              <a:ext uri="{FF2B5EF4-FFF2-40B4-BE49-F238E27FC236}">
                <a16:creationId xmlns:a16="http://schemas.microsoft.com/office/drawing/2014/main" id="{AEACC233-694D-E372-BBFF-8BF11A08B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3575" y="234950"/>
            <a:ext cx="1865313"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2" descr="A picture containing text, map&#10;&#10;Description automatically generated">
            <a:extLst>
              <a:ext uri="{FF2B5EF4-FFF2-40B4-BE49-F238E27FC236}">
                <a16:creationId xmlns:a16="http://schemas.microsoft.com/office/drawing/2014/main" id="{9F9298B3-F77C-C85B-988E-816188E6C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3013" y="3848100"/>
            <a:ext cx="3622675"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74B45FB6-A809-854C-B26B-44F137C3351F}"/>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Improving productivity </a:t>
            </a:r>
          </a:p>
        </p:txBody>
      </p:sp>
      <p:sp>
        <p:nvSpPr>
          <p:cNvPr id="24579" name="Content Placeholder 2">
            <a:extLst>
              <a:ext uri="{FF2B5EF4-FFF2-40B4-BE49-F238E27FC236}">
                <a16:creationId xmlns:a16="http://schemas.microsoft.com/office/drawing/2014/main" id="{0070AD9D-C584-ED23-3BA8-BDB4CFC92D7D}"/>
              </a:ext>
            </a:extLst>
          </p:cNvPr>
          <p:cNvSpPr>
            <a:spLocks noGrp="1" noChangeArrowheads="1"/>
          </p:cNvSpPr>
          <p:nvPr>
            <p:ph idx="1"/>
          </p:nvPr>
        </p:nvSpPr>
        <p:spPr>
          <a:xfrm>
            <a:off x="468313" y="1844675"/>
            <a:ext cx="7772400" cy="615950"/>
          </a:xfrm>
        </p:spPr>
        <p:txBody>
          <a:bodyPr/>
          <a:lstStyle/>
          <a:p>
            <a:r>
              <a:rPr lang="en-US" altLang="en-US" sz="1600"/>
              <a:t>There are many ways that technology can improve productivity. Here are a few examples. </a:t>
            </a:r>
          </a:p>
          <a:p>
            <a:endParaRPr lang="en-US" altLang="en-US" sz="1600"/>
          </a:p>
          <a:p>
            <a:endParaRPr lang="en-GB" altLang="en-US" sz="1800"/>
          </a:p>
        </p:txBody>
      </p:sp>
      <p:sp>
        <p:nvSpPr>
          <p:cNvPr id="4" name="Content Placeholder 2">
            <a:extLst>
              <a:ext uri="{FF2B5EF4-FFF2-40B4-BE49-F238E27FC236}">
                <a16:creationId xmlns:a16="http://schemas.microsoft.com/office/drawing/2014/main" id="{A3466E05-B749-DFD0-E5E1-81391C81232D}"/>
              </a:ext>
            </a:extLst>
          </p:cNvPr>
          <p:cNvSpPr txBox="1">
            <a:spLocks/>
          </p:cNvSpPr>
          <p:nvPr/>
        </p:nvSpPr>
        <p:spPr bwMode="auto">
          <a:xfrm>
            <a:off x="250825" y="2460625"/>
            <a:ext cx="6049963" cy="39925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defRPr/>
            </a:pPr>
            <a:r>
              <a:rPr lang="en-US" sz="1600" b="1" kern="0" dirty="0">
                <a:solidFill>
                  <a:srgbClr val="0070C0"/>
                </a:solidFill>
              </a:rPr>
              <a:t>Collaborative working: </a:t>
            </a:r>
            <a:r>
              <a:rPr lang="en-US" sz="1600" kern="0" dirty="0"/>
              <a:t>where a group of staff work together on the same document, graphic, or idea, in real time.</a:t>
            </a:r>
          </a:p>
          <a:p>
            <a:pPr lvl="1">
              <a:defRPr/>
            </a:pPr>
            <a:r>
              <a:rPr lang="en-US" sz="1600" b="1" kern="0" dirty="0">
                <a:solidFill>
                  <a:srgbClr val="0070C0"/>
                </a:solidFill>
              </a:rPr>
              <a:t>Using interoffice communication tools: </a:t>
            </a:r>
            <a:r>
              <a:rPr lang="en-US" sz="1600" kern="0" dirty="0"/>
              <a:t>this can speed up the process of getting answers to questions (rather than the questions sitting in an email trail).</a:t>
            </a:r>
          </a:p>
          <a:p>
            <a:pPr lvl="1">
              <a:defRPr/>
            </a:pPr>
            <a:r>
              <a:rPr lang="en-US" sz="1600" b="1" kern="0" dirty="0">
                <a:solidFill>
                  <a:srgbClr val="0070C0"/>
                </a:solidFill>
              </a:rPr>
              <a:t>Connecting remotely: </a:t>
            </a:r>
            <a:r>
              <a:rPr lang="en-US" sz="1600" kern="0" dirty="0"/>
              <a:t>this means having an ability to quickly </a:t>
            </a:r>
            <a:r>
              <a:rPr lang="en-US" sz="1600" kern="0" dirty="0" err="1"/>
              <a:t>organise</a:t>
            </a:r>
            <a:r>
              <a:rPr lang="en-US" sz="1600" kern="0" dirty="0"/>
              <a:t> virtual meetings so that decisions can be made. All relevant people could be included regardless of their actual location. This can save time.</a:t>
            </a:r>
          </a:p>
          <a:p>
            <a:pPr lvl="1">
              <a:defRPr/>
            </a:pPr>
            <a:r>
              <a:rPr lang="en-US" sz="1600" b="1" kern="0" dirty="0">
                <a:solidFill>
                  <a:srgbClr val="0070C0"/>
                </a:solidFill>
              </a:rPr>
              <a:t>Being </a:t>
            </a:r>
            <a:r>
              <a:rPr lang="en-US" sz="1600" b="1" kern="0" dirty="0" err="1">
                <a:solidFill>
                  <a:srgbClr val="0070C0"/>
                </a:solidFill>
              </a:rPr>
              <a:t>organised</a:t>
            </a:r>
            <a:r>
              <a:rPr lang="en-US" sz="1600" b="1" kern="0" dirty="0">
                <a:solidFill>
                  <a:srgbClr val="0070C0"/>
                </a:solidFill>
              </a:rPr>
              <a:t>: </a:t>
            </a:r>
            <a:r>
              <a:rPr lang="en-US" sz="1600" kern="0" dirty="0"/>
              <a:t>ensuring that files are managed and sorted into appropriate directories will save time finding important files.</a:t>
            </a:r>
          </a:p>
          <a:p>
            <a:pPr lvl="1">
              <a:defRPr/>
            </a:pPr>
            <a:r>
              <a:rPr lang="en-US" sz="1600" b="1" kern="0" dirty="0">
                <a:solidFill>
                  <a:srgbClr val="0070C0"/>
                </a:solidFill>
              </a:rPr>
              <a:t>Financial tracking: </a:t>
            </a:r>
            <a:r>
              <a:rPr lang="en-US" sz="1600" kern="0" dirty="0"/>
              <a:t>access to a wider range of faster and more accurate financial data and information will speed up decision making.</a:t>
            </a:r>
            <a:endParaRPr lang="en-GB" sz="1600" kern="0" dirty="0"/>
          </a:p>
          <a:p>
            <a:pPr>
              <a:defRPr/>
            </a:pPr>
            <a:endParaRPr lang="en-GB" sz="1800" kern="0" dirty="0"/>
          </a:p>
        </p:txBody>
      </p:sp>
      <p:pic>
        <p:nvPicPr>
          <p:cNvPr id="24581" name="Picture 5" descr="A drawing of a cartoon character&#10;&#10;Description automatically generated">
            <a:extLst>
              <a:ext uri="{FF2B5EF4-FFF2-40B4-BE49-F238E27FC236}">
                <a16:creationId xmlns:a16="http://schemas.microsoft.com/office/drawing/2014/main" id="{C0B2CFCA-9C20-3CCB-603F-4BD30254F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7463" y="2840038"/>
            <a:ext cx="2541587"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A close up of a piece of paper&#10;&#10;Description automatically generated">
            <a:extLst>
              <a:ext uri="{FF2B5EF4-FFF2-40B4-BE49-F238E27FC236}">
                <a16:creationId xmlns:a16="http://schemas.microsoft.com/office/drawing/2014/main" id="{1EBE51BF-B84C-EE69-CFD4-DF07605BB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1138" y="4652963"/>
            <a:ext cx="2249487"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F9A65451-B3FD-C5D4-ECB9-846549E14356}"/>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Meeting business goals </a:t>
            </a:r>
            <a:endParaRPr lang="en-GB" altLang="en-US" sz="3600" b="1">
              <a:solidFill>
                <a:srgbClr val="0070C0"/>
              </a:solidFill>
            </a:endParaRPr>
          </a:p>
        </p:txBody>
      </p:sp>
      <p:sp>
        <p:nvSpPr>
          <p:cNvPr id="26627" name="Content Placeholder 2">
            <a:extLst>
              <a:ext uri="{FF2B5EF4-FFF2-40B4-BE49-F238E27FC236}">
                <a16:creationId xmlns:a16="http://schemas.microsoft.com/office/drawing/2014/main" id="{242BAB4C-277B-42BB-1988-6AFB9A2D7B0B}"/>
              </a:ext>
            </a:extLst>
          </p:cNvPr>
          <p:cNvSpPr>
            <a:spLocks noGrp="1" noChangeArrowheads="1"/>
          </p:cNvSpPr>
          <p:nvPr>
            <p:ph idx="1"/>
          </p:nvPr>
        </p:nvSpPr>
        <p:spPr>
          <a:xfrm>
            <a:off x="395288" y="2082800"/>
            <a:ext cx="3097212" cy="3711575"/>
          </a:xfrm>
        </p:spPr>
        <p:txBody>
          <a:bodyPr/>
          <a:lstStyle/>
          <a:p>
            <a:r>
              <a:rPr lang="en-US" altLang="en-US" sz="1600"/>
              <a:t>Most organisations understand the importance of linking their business strategy with their IT strategy. </a:t>
            </a:r>
          </a:p>
          <a:p>
            <a:endParaRPr lang="en-US" altLang="en-US" sz="1600"/>
          </a:p>
          <a:p>
            <a:r>
              <a:rPr lang="en-US" altLang="en-US" sz="1600"/>
              <a:t>Meeting some of these goals might be achieved using technology- for other goals this may not be the case. </a:t>
            </a:r>
          </a:p>
          <a:p>
            <a:endParaRPr lang="en-US" altLang="en-US" sz="1600"/>
          </a:p>
          <a:p>
            <a:r>
              <a:rPr lang="en-US" altLang="en-US" sz="1600"/>
              <a:t>The table gives some examples for you to consider. </a:t>
            </a:r>
            <a:endParaRPr lang="en-GB" altLang="en-US" sz="1600"/>
          </a:p>
          <a:p>
            <a:endParaRPr lang="en-GB" altLang="en-US" sz="1600"/>
          </a:p>
        </p:txBody>
      </p:sp>
      <p:pic>
        <p:nvPicPr>
          <p:cNvPr id="26628" name="Picture 3">
            <a:extLst>
              <a:ext uri="{FF2B5EF4-FFF2-40B4-BE49-F238E27FC236}">
                <a16:creationId xmlns:a16="http://schemas.microsoft.com/office/drawing/2014/main" id="{CB53EFCF-E2E2-05D7-F078-DFA8DD730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5388" y="2060575"/>
            <a:ext cx="537845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125095F4-938E-AEC5-8EC9-FF9FBA2744FD}"/>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Improving efficiency </a:t>
            </a:r>
            <a:endParaRPr lang="en-GB" altLang="en-US" sz="3600" b="1">
              <a:solidFill>
                <a:srgbClr val="0070C0"/>
              </a:solidFill>
            </a:endParaRPr>
          </a:p>
        </p:txBody>
      </p:sp>
      <p:sp>
        <p:nvSpPr>
          <p:cNvPr id="28675" name="Content Placeholder 2">
            <a:extLst>
              <a:ext uri="{FF2B5EF4-FFF2-40B4-BE49-F238E27FC236}">
                <a16:creationId xmlns:a16="http://schemas.microsoft.com/office/drawing/2014/main" id="{201D9C2C-04F8-D2F7-8F13-7867C94A07DD}"/>
              </a:ext>
            </a:extLst>
          </p:cNvPr>
          <p:cNvSpPr>
            <a:spLocks noGrp="1" noChangeArrowheads="1"/>
          </p:cNvSpPr>
          <p:nvPr>
            <p:ph idx="1"/>
          </p:nvPr>
        </p:nvSpPr>
        <p:spPr>
          <a:xfrm>
            <a:off x="395288" y="1974850"/>
            <a:ext cx="8353425" cy="1093788"/>
          </a:xfrm>
        </p:spPr>
        <p:txBody>
          <a:bodyPr/>
          <a:lstStyle/>
          <a:p>
            <a:r>
              <a:rPr lang="en-US" altLang="en-US" sz="1600"/>
              <a:t>Using technology to capture, examine and analyse the organisation's processes will help the business understand where it is inefficient, for example, using data about IT failures and time taken to resolve the issues can prove that existing hardware has become unreliable and outdated. </a:t>
            </a:r>
          </a:p>
          <a:p>
            <a:endParaRPr lang="en-US" altLang="en-US" sz="1600"/>
          </a:p>
          <a:p>
            <a:endParaRPr lang="en-GB" altLang="en-US" sz="1600"/>
          </a:p>
        </p:txBody>
      </p:sp>
      <p:sp>
        <p:nvSpPr>
          <p:cNvPr id="4" name="Content Placeholder 2">
            <a:extLst>
              <a:ext uri="{FF2B5EF4-FFF2-40B4-BE49-F238E27FC236}">
                <a16:creationId xmlns:a16="http://schemas.microsoft.com/office/drawing/2014/main" id="{FA62AB5B-077D-3C38-70A9-D2A6A04320B0}"/>
              </a:ext>
            </a:extLst>
          </p:cNvPr>
          <p:cNvSpPr txBox="1">
            <a:spLocks/>
          </p:cNvSpPr>
          <p:nvPr/>
        </p:nvSpPr>
        <p:spPr bwMode="auto">
          <a:xfrm>
            <a:off x="415925" y="3213100"/>
            <a:ext cx="6027738" cy="34559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Many </a:t>
            </a:r>
            <a:r>
              <a:rPr lang="en-US" sz="1600" kern="0" dirty="0" err="1"/>
              <a:t>organisations</a:t>
            </a:r>
            <a:r>
              <a:rPr lang="en-US" sz="1600" kern="0" dirty="0"/>
              <a:t> are now using on line </a:t>
            </a:r>
            <a:r>
              <a:rPr lang="en-US" sz="1600" kern="0" dirty="0" err="1"/>
              <a:t>frunctionality</a:t>
            </a:r>
            <a:r>
              <a:rPr lang="en-US" sz="1600" kern="0" dirty="0"/>
              <a:t> to improve staff training. Training sessions could focus on a range of topics such as customer service, health and safety, manual handling, Control of Substances Hazardous to Health (COSHH) Regulations 2002, export and international trade, </a:t>
            </a:r>
            <a:r>
              <a:rPr lang="en-US" sz="1600" kern="0" dirty="0" err="1"/>
              <a:t>analysing</a:t>
            </a:r>
            <a:r>
              <a:rPr lang="en-US" sz="1600" kern="0" dirty="0"/>
              <a:t> data, or cybersecurity.</a:t>
            </a:r>
          </a:p>
          <a:p>
            <a:pPr>
              <a:defRPr/>
            </a:pPr>
            <a:endParaRPr lang="en-US" sz="1600" kern="0" dirty="0"/>
          </a:p>
          <a:p>
            <a:pPr>
              <a:defRPr/>
            </a:pPr>
            <a:r>
              <a:rPr lang="en-US" sz="1600" kern="0" dirty="0"/>
              <a:t>The advantage of using on line tools for staff training is that training sessions can sometimes be undertaken over a period of time, when the employee has less to do. Also, if you are using technology, you can track employee training performance and completion, identifying any areas where more work is needed. </a:t>
            </a:r>
            <a:endParaRPr lang="en-GB" sz="1600" kern="0" dirty="0"/>
          </a:p>
          <a:p>
            <a:pPr>
              <a:defRPr/>
            </a:pPr>
            <a:endParaRPr lang="en-GB" sz="1600" kern="0" dirty="0"/>
          </a:p>
        </p:txBody>
      </p:sp>
      <p:pic>
        <p:nvPicPr>
          <p:cNvPr id="28677" name="Picture 5" descr="A close up of a keyboard&#10;&#10;Description automatically generated">
            <a:extLst>
              <a:ext uri="{FF2B5EF4-FFF2-40B4-BE49-F238E27FC236}">
                <a16:creationId xmlns:a16="http://schemas.microsoft.com/office/drawing/2014/main" id="{C7A70C6B-6364-0E67-A602-7C3142720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3179763"/>
            <a:ext cx="2232025"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7" descr="A picture containing food&#10;&#10;Description automatically generated">
            <a:extLst>
              <a:ext uri="{FF2B5EF4-FFF2-40B4-BE49-F238E27FC236}">
                <a16:creationId xmlns:a16="http://schemas.microsoft.com/office/drawing/2014/main" id="{CB17AB98-0B2F-8003-A74F-CBC9A240CF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6388" y="5024438"/>
            <a:ext cx="2232025"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981B56C-E081-2AE7-973B-D9358C7DA0E6}"/>
              </a:ext>
            </a:extLst>
          </p:cNvPr>
          <p:cNvSpPr>
            <a:spLocks noGrp="1" noChangeArrowheads="1"/>
          </p:cNvSpPr>
          <p:nvPr>
            <p:ph type="title"/>
          </p:nvPr>
        </p:nvSpPr>
        <p:spPr>
          <a:xfrm>
            <a:off x="1403350" y="404813"/>
            <a:ext cx="7505700" cy="939800"/>
          </a:xfrm>
        </p:spPr>
        <p:txBody>
          <a:bodyPr/>
          <a:lstStyle/>
          <a:p>
            <a:r>
              <a:rPr lang="en-US" altLang="en-US" sz="3600" b="1">
                <a:solidFill>
                  <a:srgbClr val="0070C0"/>
                </a:solidFill>
              </a:rPr>
              <a:t>Increasing cost effectiveness </a:t>
            </a:r>
            <a:endParaRPr lang="en-GB" altLang="en-US" sz="3600" b="1">
              <a:solidFill>
                <a:srgbClr val="0070C0"/>
              </a:solidFill>
            </a:endParaRPr>
          </a:p>
        </p:txBody>
      </p:sp>
      <p:sp>
        <p:nvSpPr>
          <p:cNvPr id="3" name="Content Placeholder 2">
            <a:extLst>
              <a:ext uri="{FF2B5EF4-FFF2-40B4-BE49-F238E27FC236}">
                <a16:creationId xmlns:a16="http://schemas.microsoft.com/office/drawing/2014/main" id="{EB2C59AC-9D1F-073A-521A-95CFCEBAF585}"/>
              </a:ext>
            </a:extLst>
          </p:cNvPr>
          <p:cNvSpPr>
            <a:spLocks noGrp="1"/>
          </p:cNvSpPr>
          <p:nvPr>
            <p:ph idx="1"/>
          </p:nvPr>
        </p:nvSpPr>
        <p:spPr>
          <a:xfrm>
            <a:off x="539750" y="1949450"/>
            <a:ext cx="7772400" cy="3135313"/>
          </a:xfrm>
        </p:spPr>
        <p:txBody>
          <a:bodyPr/>
          <a:lstStyle/>
          <a:p>
            <a:pPr>
              <a:defRPr/>
            </a:pPr>
            <a:r>
              <a:rPr lang="en-US" sz="1600" dirty="0"/>
              <a:t>Organizations can use data and statistical analysis techniques on a range of factors to calculate the return on investment (ROI). </a:t>
            </a:r>
          </a:p>
          <a:p>
            <a:pPr>
              <a:defRPr/>
            </a:pPr>
            <a:endParaRPr lang="en-US" sz="1600" dirty="0"/>
          </a:p>
          <a:p>
            <a:pPr>
              <a:defRPr/>
            </a:pPr>
            <a:r>
              <a:rPr lang="en-US" sz="1600" dirty="0"/>
              <a:t>This is a recognized calculation, and it looks like this: </a:t>
            </a:r>
          </a:p>
          <a:p>
            <a:pPr>
              <a:defRPr/>
            </a:pPr>
            <a:endParaRPr lang="en-US" sz="1600" dirty="0"/>
          </a:p>
          <a:p>
            <a:pPr marL="0" indent="0">
              <a:buFont typeface="Wingdings" panose="05000000000000000000" pitchFamily="2" charset="2"/>
              <a:buNone/>
              <a:defRPr/>
            </a:pPr>
            <a:r>
              <a:rPr lang="en-GB" sz="1600" dirty="0"/>
              <a:t>			Net profit </a:t>
            </a:r>
          </a:p>
          <a:p>
            <a:pPr>
              <a:defRPr/>
            </a:pPr>
            <a:r>
              <a:rPr lang="en-GB" sz="1600" dirty="0"/>
              <a:t>Return on investment    = ------------</a:t>
            </a:r>
          </a:p>
          <a:p>
            <a:pPr marL="0" indent="0">
              <a:buFont typeface="Wingdings" panose="05000000000000000000" pitchFamily="2" charset="2"/>
              <a:buNone/>
              <a:defRPr/>
            </a:pPr>
            <a:r>
              <a:rPr lang="en-US" sz="1600" dirty="0"/>
              <a:t>			Total amount of the investment</a:t>
            </a:r>
          </a:p>
          <a:p>
            <a:pPr>
              <a:defRPr/>
            </a:pPr>
            <a:endParaRPr lang="en-US" sz="1600" dirty="0"/>
          </a:p>
          <a:p>
            <a:pPr>
              <a:defRPr/>
            </a:pPr>
            <a:r>
              <a:rPr lang="en-US" sz="1600" dirty="0"/>
              <a:t>If the answer to the calculation is Zero or is a negative value, it means the amount of extra profit that will be generated by the investment will not be cost effective. </a:t>
            </a:r>
          </a:p>
          <a:p>
            <a:pPr>
              <a:defRPr/>
            </a:pPr>
            <a:endParaRPr lang="en-GB" sz="1600" dirty="0"/>
          </a:p>
        </p:txBody>
      </p:sp>
      <p:pic>
        <p:nvPicPr>
          <p:cNvPr id="30724" name="Picture 4" descr="A close up of text on a white background&#10;&#10;Description automatically generated">
            <a:extLst>
              <a:ext uri="{FF2B5EF4-FFF2-40B4-BE49-F238E27FC236}">
                <a16:creationId xmlns:a16="http://schemas.microsoft.com/office/drawing/2014/main" id="{5EB2F701-09F6-2EB1-4D9C-A57E3AAA9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8588" y="2505075"/>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0EF971FA-2E10-8C93-625E-6E1E01E84A4B}"/>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Achieving increased growth </a:t>
            </a:r>
            <a:endParaRPr lang="en-GB" altLang="en-US" sz="3600" b="1">
              <a:solidFill>
                <a:srgbClr val="0070C0"/>
              </a:solidFill>
            </a:endParaRPr>
          </a:p>
        </p:txBody>
      </p:sp>
      <p:sp>
        <p:nvSpPr>
          <p:cNvPr id="33795" name="Content Placeholder 2">
            <a:extLst>
              <a:ext uri="{FF2B5EF4-FFF2-40B4-BE49-F238E27FC236}">
                <a16:creationId xmlns:a16="http://schemas.microsoft.com/office/drawing/2014/main" id="{F7CCD617-BEC3-DB2A-1549-3A207D74385E}"/>
              </a:ext>
            </a:extLst>
          </p:cNvPr>
          <p:cNvSpPr>
            <a:spLocks noGrp="1" noChangeArrowheads="1"/>
          </p:cNvSpPr>
          <p:nvPr>
            <p:ph idx="1"/>
          </p:nvPr>
        </p:nvSpPr>
        <p:spPr/>
        <p:txBody>
          <a:bodyPr/>
          <a:lstStyle/>
          <a:p>
            <a:r>
              <a:rPr lang="en-US" altLang="en-US" sz="1800"/>
              <a:t>Digital marketing is one of the most important strategies for increased growth and the two key technologies for use in this area are social media and blogs/vlogs. </a:t>
            </a:r>
          </a:p>
          <a:p>
            <a:endParaRPr lang="en-US" altLang="en-US" sz="1800"/>
          </a:p>
          <a:p>
            <a:r>
              <a:rPr lang="en-US" altLang="en-US" sz="1800"/>
              <a:t>As mentioned earlier in the unit (A2 'Use of social media'), bloggers and vloggers can have a real impact on the sales of products and services. </a:t>
            </a:r>
            <a:endParaRPr lang="en-GB" altLang="en-US" sz="1800"/>
          </a:p>
          <a:p>
            <a:endParaRPr lang="en-GB" altLang="en-US" sz="1800"/>
          </a:p>
        </p:txBody>
      </p:sp>
      <p:pic>
        <p:nvPicPr>
          <p:cNvPr id="33796" name="Picture 6" descr="A screenshot of a cell phone&#10;&#10;Description automatically generated">
            <a:extLst>
              <a:ext uri="{FF2B5EF4-FFF2-40B4-BE49-F238E27FC236}">
                <a16:creationId xmlns:a16="http://schemas.microsoft.com/office/drawing/2014/main" id="{39594C59-4FAE-4EF4-8F74-816BB7987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3629025"/>
            <a:ext cx="4706937" cy="282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AB452A6-E708-0F8A-7751-1EC3A6250850}"/>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Innovating </a:t>
            </a:r>
            <a:endParaRPr lang="en-GB" altLang="en-US" sz="3600" b="1">
              <a:solidFill>
                <a:srgbClr val="0070C0"/>
              </a:solidFill>
            </a:endParaRPr>
          </a:p>
        </p:txBody>
      </p:sp>
      <p:sp>
        <p:nvSpPr>
          <p:cNvPr id="35843" name="Content Placeholder 2">
            <a:extLst>
              <a:ext uri="{FF2B5EF4-FFF2-40B4-BE49-F238E27FC236}">
                <a16:creationId xmlns:a16="http://schemas.microsoft.com/office/drawing/2014/main" id="{519246CA-47CE-011F-3F21-32E1CF57687E}"/>
              </a:ext>
            </a:extLst>
          </p:cNvPr>
          <p:cNvSpPr>
            <a:spLocks noGrp="1" noChangeArrowheads="1"/>
          </p:cNvSpPr>
          <p:nvPr>
            <p:ph idx="1"/>
          </p:nvPr>
        </p:nvSpPr>
        <p:spPr>
          <a:xfrm>
            <a:off x="539750" y="1844675"/>
            <a:ext cx="8064500" cy="1152525"/>
          </a:xfrm>
        </p:spPr>
        <p:txBody>
          <a:bodyPr/>
          <a:lstStyle/>
          <a:p>
            <a:r>
              <a:rPr lang="en-US" altLang="en-US" sz="1600"/>
              <a:t>Collaboration is one of the key ways that organisations innovate. </a:t>
            </a:r>
          </a:p>
          <a:p>
            <a:r>
              <a:rPr lang="en-US" altLang="en-US" sz="1600"/>
              <a:t>This is because sharing ideas often produces new ideas. </a:t>
            </a:r>
          </a:p>
          <a:p>
            <a:r>
              <a:rPr lang="en-US" altLang="en-US" sz="1600"/>
              <a:t>Most organisations make use of multi-user software, collaboration software and real-time communication tools to manage creative processes, as shown in the table</a:t>
            </a:r>
            <a:endParaRPr lang="en-GB" altLang="en-US" sz="1600"/>
          </a:p>
        </p:txBody>
      </p:sp>
      <p:pic>
        <p:nvPicPr>
          <p:cNvPr id="35844" name="Picture 3">
            <a:extLst>
              <a:ext uri="{FF2B5EF4-FFF2-40B4-BE49-F238E27FC236}">
                <a16:creationId xmlns:a16="http://schemas.microsoft.com/office/drawing/2014/main" id="{1656AA3E-7980-8CCF-FE0D-B9E78DADF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997200"/>
            <a:ext cx="6624637"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7" descr="A picture containing food, game&#10;&#10;Description automatically generated">
            <a:extLst>
              <a:ext uri="{FF2B5EF4-FFF2-40B4-BE49-F238E27FC236}">
                <a16:creationId xmlns:a16="http://schemas.microsoft.com/office/drawing/2014/main" id="{5C40FDBF-3638-3C61-9ECA-BCC1DDABC4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6113" y="155575"/>
            <a:ext cx="1925637"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E2B86B7-74C4-A37E-A33B-FB1F78A3D2D0}"/>
              </a:ext>
            </a:extLst>
          </p:cNvPr>
          <p:cNvSpPr>
            <a:spLocks noGrp="1" noChangeArrowheads="1"/>
          </p:cNvSpPr>
          <p:nvPr>
            <p:ph type="title"/>
          </p:nvPr>
        </p:nvSpPr>
        <p:spPr/>
        <p:txBody>
          <a:bodyPr/>
          <a:lstStyle/>
          <a:p>
            <a:r>
              <a:rPr lang="en-US" altLang="en-US" sz="2800" b="1">
                <a:solidFill>
                  <a:srgbClr val="0070C0"/>
                </a:solidFill>
              </a:rPr>
              <a:t>Improving agility and competitiveness </a:t>
            </a:r>
            <a:endParaRPr lang="en-GB" altLang="en-US" sz="2800" b="1">
              <a:solidFill>
                <a:srgbClr val="0070C0"/>
              </a:solidFill>
            </a:endParaRPr>
          </a:p>
        </p:txBody>
      </p:sp>
      <p:sp>
        <p:nvSpPr>
          <p:cNvPr id="3" name="Content Placeholder 2">
            <a:extLst>
              <a:ext uri="{FF2B5EF4-FFF2-40B4-BE49-F238E27FC236}">
                <a16:creationId xmlns:a16="http://schemas.microsoft.com/office/drawing/2014/main" id="{54F4C493-3608-F3F8-D25F-10C5DFA96AD7}"/>
              </a:ext>
            </a:extLst>
          </p:cNvPr>
          <p:cNvSpPr>
            <a:spLocks noGrp="1"/>
          </p:cNvSpPr>
          <p:nvPr>
            <p:ph idx="1"/>
          </p:nvPr>
        </p:nvSpPr>
        <p:spPr>
          <a:xfrm>
            <a:off x="685800" y="1949450"/>
            <a:ext cx="7772400" cy="1192213"/>
          </a:xfrm>
        </p:spPr>
        <p:txBody>
          <a:bodyPr/>
          <a:lstStyle/>
          <a:p>
            <a:pPr>
              <a:defRPr/>
            </a:pPr>
            <a:r>
              <a:rPr lang="en-US" sz="1600" dirty="0"/>
              <a:t>Developing designs faster through collaboration and using CAD/CAM systems to get designs into production faster is just one example of how </a:t>
            </a:r>
            <a:r>
              <a:rPr lang="en-US" sz="1600" dirty="0" err="1"/>
              <a:t>organisations</a:t>
            </a:r>
            <a:r>
              <a:rPr lang="en-US" sz="1600" dirty="0"/>
              <a:t> can improve their agility. </a:t>
            </a:r>
          </a:p>
          <a:p>
            <a:pPr>
              <a:defRPr/>
            </a:pPr>
            <a:r>
              <a:rPr lang="en-US" sz="1600" dirty="0"/>
              <a:t>Getting products and services to market faster will improve competitiveness.</a:t>
            </a:r>
          </a:p>
          <a:p>
            <a:pPr marL="0" indent="0">
              <a:buFont typeface="Wingdings" panose="05000000000000000000" pitchFamily="2" charset="2"/>
              <a:buNone/>
              <a:defRPr/>
            </a:pPr>
            <a:endParaRPr lang="en-US" sz="1600" dirty="0"/>
          </a:p>
        </p:txBody>
      </p:sp>
      <p:sp>
        <p:nvSpPr>
          <p:cNvPr id="4" name="Content Placeholder 2">
            <a:extLst>
              <a:ext uri="{FF2B5EF4-FFF2-40B4-BE49-F238E27FC236}">
                <a16:creationId xmlns:a16="http://schemas.microsoft.com/office/drawing/2014/main" id="{4C018A00-99FB-AE2E-635C-3B7BE2AF965A}"/>
              </a:ext>
            </a:extLst>
          </p:cNvPr>
          <p:cNvSpPr txBox="1">
            <a:spLocks/>
          </p:cNvSpPr>
          <p:nvPr/>
        </p:nvSpPr>
        <p:spPr bwMode="auto">
          <a:xfrm>
            <a:off x="661988" y="3429000"/>
            <a:ext cx="3622675" cy="28082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Providing quick and easily accessible customer support is another example. </a:t>
            </a:r>
          </a:p>
          <a:p>
            <a:pPr>
              <a:defRPr/>
            </a:pPr>
            <a:endParaRPr lang="en-US" sz="1600" kern="0" dirty="0"/>
          </a:p>
          <a:p>
            <a:pPr>
              <a:defRPr/>
            </a:pPr>
            <a:r>
              <a:rPr lang="en-US" sz="1600" kern="0" dirty="0"/>
              <a:t>Many businesses use technology to provide an additional level of more accessible service to make their products and services more attractive to potential customers. </a:t>
            </a:r>
            <a:endParaRPr lang="en-GB" sz="1600" kern="0" dirty="0"/>
          </a:p>
          <a:p>
            <a:pPr>
              <a:defRPr/>
            </a:pPr>
            <a:endParaRPr lang="en-GB" sz="1600" kern="0" dirty="0"/>
          </a:p>
        </p:txBody>
      </p:sp>
      <p:pic>
        <p:nvPicPr>
          <p:cNvPr id="37893" name="Picture 5" descr="A screenshot of a cell phone&#10;&#10;Description automatically generated">
            <a:extLst>
              <a:ext uri="{FF2B5EF4-FFF2-40B4-BE49-F238E27FC236}">
                <a16:creationId xmlns:a16="http://schemas.microsoft.com/office/drawing/2014/main" id="{EB7ED90D-5BBB-ACBC-F40E-7B0A16FF6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573463"/>
            <a:ext cx="4106863"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1F73ABE4-F895-864E-A941-DDCB50BE8576}"/>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Global communication </a:t>
            </a:r>
            <a:endParaRPr lang="en-GB" altLang="en-US" sz="3600" b="1">
              <a:solidFill>
                <a:srgbClr val="0070C0"/>
              </a:solidFill>
            </a:endParaRPr>
          </a:p>
        </p:txBody>
      </p:sp>
      <p:sp>
        <p:nvSpPr>
          <p:cNvPr id="39939" name="Content Placeholder 2">
            <a:extLst>
              <a:ext uri="{FF2B5EF4-FFF2-40B4-BE49-F238E27FC236}">
                <a16:creationId xmlns:a16="http://schemas.microsoft.com/office/drawing/2014/main" id="{EBC2F089-13F2-5E7C-2522-4F0A6C596440}"/>
              </a:ext>
            </a:extLst>
          </p:cNvPr>
          <p:cNvSpPr>
            <a:spLocks noGrp="1" noChangeArrowheads="1"/>
          </p:cNvSpPr>
          <p:nvPr>
            <p:ph idx="1"/>
          </p:nvPr>
        </p:nvSpPr>
        <p:spPr>
          <a:xfrm>
            <a:off x="685800" y="1949450"/>
            <a:ext cx="4246563" cy="4503738"/>
          </a:xfrm>
        </p:spPr>
        <p:txBody>
          <a:bodyPr/>
          <a:lstStyle/>
          <a:p>
            <a:r>
              <a:rPr lang="en-US" altLang="en-US" sz="1600"/>
              <a:t>One of the key benefits of today's fast, reliable communications technology is that it has become much easier to trade with the whole world.</a:t>
            </a:r>
          </a:p>
          <a:p>
            <a:endParaRPr lang="en-US" altLang="en-US" sz="1600"/>
          </a:p>
          <a:p>
            <a:r>
              <a:rPr lang="en-US" altLang="en-US" sz="1600"/>
              <a:t>Many people believe that the negative impact of trading across time zones has been dramatically reduced through investment in new technologies, even in the simplest of ways, for example the use of mobile phones and apps. </a:t>
            </a:r>
          </a:p>
          <a:p>
            <a:endParaRPr lang="en-US" altLang="en-US" sz="1600"/>
          </a:p>
          <a:p>
            <a:r>
              <a:rPr lang="en-US" altLang="en-US" sz="1600"/>
              <a:t>With more than 95 per cent of organisations thought to have an online presence, customers can access them and their services 24 hours a day, 7 days a week. </a:t>
            </a:r>
            <a:endParaRPr lang="en-GB" altLang="en-US" sz="1600"/>
          </a:p>
          <a:p>
            <a:endParaRPr lang="en-GB" altLang="en-US" sz="1600"/>
          </a:p>
        </p:txBody>
      </p:sp>
      <p:pic>
        <p:nvPicPr>
          <p:cNvPr id="39940" name="Picture 4">
            <a:extLst>
              <a:ext uri="{FF2B5EF4-FFF2-40B4-BE49-F238E27FC236}">
                <a16:creationId xmlns:a16="http://schemas.microsoft.com/office/drawing/2014/main" id="{F5A153F8-36A2-F371-BB99-196642DB5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0538" y="1949450"/>
            <a:ext cx="2887662"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6" descr="A picture containing bedroom, refrigerator, room&#10;&#10;Description automatically generated">
            <a:extLst>
              <a:ext uri="{FF2B5EF4-FFF2-40B4-BE49-F238E27FC236}">
                <a16:creationId xmlns:a16="http://schemas.microsoft.com/office/drawing/2014/main" id="{61CA4BEB-4192-6FD6-509E-80BEBAB008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4225925"/>
            <a:ext cx="2957513"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1CE7EA7A-E9E9-88EB-9C70-D07410C28BCC}"/>
              </a:ext>
            </a:extLst>
          </p:cNvPr>
          <p:cNvSpPr>
            <a:spLocks noGrp="1" noChangeArrowheads="1"/>
          </p:cNvSpPr>
          <p:nvPr>
            <p:ph type="title"/>
          </p:nvPr>
        </p:nvSpPr>
        <p:spPr/>
        <p:txBody>
          <a:bodyPr/>
          <a:lstStyle/>
          <a:p>
            <a:r>
              <a:rPr lang="en-US" altLang="en-US" sz="3600" b="1">
                <a:solidFill>
                  <a:srgbClr val="0070C0"/>
                </a:solidFill>
              </a:rPr>
              <a:t>Increasing promotion and sales</a:t>
            </a:r>
            <a:endParaRPr lang="en-GB" altLang="en-US" sz="3600" b="1">
              <a:solidFill>
                <a:srgbClr val="0070C0"/>
              </a:solidFill>
            </a:endParaRPr>
          </a:p>
        </p:txBody>
      </p:sp>
      <p:sp>
        <p:nvSpPr>
          <p:cNvPr id="41987" name="Content Placeholder 2">
            <a:extLst>
              <a:ext uri="{FF2B5EF4-FFF2-40B4-BE49-F238E27FC236}">
                <a16:creationId xmlns:a16="http://schemas.microsoft.com/office/drawing/2014/main" id="{F46957BF-73EC-99DC-65ED-0D44B0245BB3}"/>
              </a:ext>
            </a:extLst>
          </p:cNvPr>
          <p:cNvSpPr>
            <a:spLocks noGrp="1" noChangeArrowheads="1"/>
          </p:cNvSpPr>
          <p:nvPr>
            <p:ph idx="1"/>
          </p:nvPr>
        </p:nvSpPr>
        <p:spPr>
          <a:xfrm>
            <a:off x="685800" y="1949450"/>
            <a:ext cx="8223250" cy="1911350"/>
          </a:xfrm>
        </p:spPr>
        <p:txBody>
          <a:bodyPr/>
          <a:lstStyle/>
          <a:p>
            <a:r>
              <a:rPr lang="en-US" altLang="en-US" sz="1600"/>
              <a:t>With an online presence, businesses are much more able to be responsive to what their customers want. They can also respond quickly to the </a:t>
            </a:r>
          </a:p>
          <a:p>
            <a:r>
              <a:rPr lang="en-US" altLang="en-US" sz="1600"/>
              <a:t>activities of their competitors (for example, offering discounts if a major competitor is doing the same). </a:t>
            </a:r>
          </a:p>
          <a:p>
            <a:r>
              <a:rPr lang="en-US" altLang="en-US" sz="1600"/>
              <a:t>There seems to be some consensus in the business community that the amount of discount offered directly affects the amount of additional sales. Strategies to increase sales include: </a:t>
            </a:r>
          </a:p>
          <a:p>
            <a:endParaRPr lang="en-US" altLang="en-US" sz="1600"/>
          </a:p>
          <a:p>
            <a:endParaRPr lang="en-GB" altLang="en-US" sz="1600"/>
          </a:p>
        </p:txBody>
      </p:sp>
      <p:pic>
        <p:nvPicPr>
          <p:cNvPr id="41988" name="Picture 4" descr="A close up of a sign&#10;&#10;Description automatically generated">
            <a:extLst>
              <a:ext uri="{FF2B5EF4-FFF2-40B4-BE49-F238E27FC236}">
                <a16:creationId xmlns:a16="http://schemas.microsoft.com/office/drawing/2014/main" id="{3BB1AA08-DF8C-57A5-1AFC-38937619D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75" y="3986213"/>
            <a:ext cx="2211388"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B94108FC-CBCE-C7A2-91E6-F6A381C6044B}"/>
              </a:ext>
            </a:extLst>
          </p:cNvPr>
          <p:cNvSpPr txBox="1">
            <a:spLocks/>
          </p:cNvSpPr>
          <p:nvPr/>
        </p:nvSpPr>
        <p:spPr bwMode="auto">
          <a:xfrm>
            <a:off x="468313" y="4016375"/>
            <a:ext cx="5953125" cy="126365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defRPr/>
            </a:pPr>
            <a:r>
              <a:rPr lang="en-US" sz="1600" kern="0" dirty="0"/>
              <a:t>offering deals (such as buy one, get one free)</a:t>
            </a:r>
          </a:p>
          <a:p>
            <a:pPr lvl="1">
              <a:defRPr/>
            </a:pPr>
            <a:r>
              <a:rPr lang="en-US" sz="1600" kern="0" dirty="0"/>
              <a:t>sending out targeted e-vouchers by email to generate interest</a:t>
            </a:r>
          </a:p>
          <a:p>
            <a:pPr lvl="1">
              <a:defRPr/>
            </a:pPr>
            <a:r>
              <a:rPr lang="en-US" sz="1600" kern="0" dirty="0"/>
              <a:t>offering deals which involve free shipping.</a:t>
            </a:r>
          </a:p>
          <a:p>
            <a:pPr lvl="1">
              <a:defRPr/>
            </a:pPr>
            <a:endParaRPr lang="en-US" sz="1600" kern="0" dirty="0"/>
          </a:p>
          <a:p>
            <a:pPr>
              <a:defRPr/>
            </a:pPr>
            <a:endParaRPr lang="en-GB" sz="1600" kern="0" dirty="0"/>
          </a:p>
        </p:txBody>
      </p:sp>
      <p:sp>
        <p:nvSpPr>
          <p:cNvPr id="7" name="Content Placeholder 2">
            <a:extLst>
              <a:ext uri="{FF2B5EF4-FFF2-40B4-BE49-F238E27FC236}">
                <a16:creationId xmlns:a16="http://schemas.microsoft.com/office/drawing/2014/main" id="{C6929A16-DC53-8BB7-3CB7-ECA04F4159E0}"/>
              </a:ext>
            </a:extLst>
          </p:cNvPr>
          <p:cNvSpPr txBox="1">
            <a:spLocks/>
          </p:cNvSpPr>
          <p:nvPr/>
        </p:nvSpPr>
        <p:spPr bwMode="auto">
          <a:xfrm>
            <a:off x="685800" y="5338763"/>
            <a:ext cx="8159750" cy="122713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endParaRPr lang="en-US" sz="1600" kern="0" dirty="0"/>
          </a:p>
          <a:p>
            <a:pPr>
              <a:defRPr/>
            </a:pPr>
            <a:r>
              <a:rPr lang="en-US" sz="1600" kern="0" dirty="0"/>
              <a:t>However, offering deals and discounts does reduce the profitability of a product or service, so most </a:t>
            </a:r>
            <a:r>
              <a:rPr lang="en-US" sz="1600" kern="0" dirty="0" err="1"/>
              <a:t>organisations</a:t>
            </a:r>
            <a:r>
              <a:rPr lang="en-US" sz="1600" kern="0" dirty="0"/>
              <a:t> do not use discounting as a long-term strategy. </a:t>
            </a:r>
            <a:endParaRPr lang="en-GB" sz="1600" kern="0" dirty="0"/>
          </a:p>
          <a:p>
            <a:pPr>
              <a:defRPr/>
            </a:pPr>
            <a:endParaRPr lang="en-GB" sz="1600" kern="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52A92528-F236-C6AF-867B-514C72E7214D}"/>
              </a:ext>
            </a:extLst>
          </p:cNvPr>
          <p:cNvSpPr>
            <a:spLocks noGrp="1" noChangeArrowheads="1"/>
          </p:cNvSpPr>
          <p:nvPr>
            <p:ph type="title"/>
          </p:nvPr>
        </p:nvSpPr>
        <p:spPr/>
        <p:txBody>
          <a:bodyPr/>
          <a:lstStyle/>
          <a:p>
            <a:r>
              <a:rPr lang="en-US" altLang="en-US" sz="3600" b="1">
                <a:solidFill>
                  <a:srgbClr val="0070C0"/>
                </a:solidFill>
              </a:rPr>
              <a:t>Having a wider consumer reach</a:t>
            </a:r>
            <a:endParaRPr lang="en-GB" altLang="en-US" sz="3600" b="1">
              <a:solidFill>
                <a:srgbClr val="0070C0"/>
              </a:solidFill>
            </a:endParaRPr>
          </a:p>
        </p:txBody>
      </p:sp>
      <p:sp>
        <p:nvSpPr>
          <p:cNvPr id="44035" name="Content Placeholder 2">
            <a:extLst>
              <a:ext uri="{FF2B5EF4-FFF2-40B4-BE49-F238E27FC236}">
                <a16:creationId xmlns:a16="http://schemas.microsoft.com/office/drawing/2014/main" id="{6FB101C3-0855-257B-2014-55808D0E1B92}"/>
              </a:ext>
            </a:extLst>
          </p:cNvPr>
          <p:cNvSpPr>
            <a:spLocks noGrp="1" noChangeArrowheads="1"/>
          </p:cNvSpPr>
          <p:nvPr>
            <p:ph idx="1"/>
          </p:nvPr>
        </p:nvSpPr>
        <p:spPr>
          <a:xfrm>
            <a:off x="468313" y="2133600"/>
            <a:ext cx="5040312" cy="4503738"/>
          </a:xfrm>
        </p:spPr>
        <p:txBody>
          <a:bodyPr/>
          <a:lstStyle/>
          <a:p>
            <a:r>
              <a:rPr lang="en-US" altLang="en-US" sz="1600"/>
              <a:t>Investing in new technologies helps organisations to access a wider and more varied range of markets using the internet. </a:t>
            </a:r>
          </a:p>
          <a:p>
            <a:endParaRPr lang="en-US" altLang="en-US" sz="1600"/>
          </a:p>
          <a:p>
            <a:r>
              <a:rPr lang="en-US" altLang="en-US" sz="1600"/>
              <a:t>Customers can place electronic orders at any time of the day or night, reducing the need for expensive phone calls and saving them time. </a:t>
            </a:r>
          </a:p>
          <a:p>
            <a:endParaRPr lang="en-US" altLang="en-US" sz="1600"/>
          </a:p>
          <a:p>
            <a:r>
              <a:rPr lang="en-US" altLang="en-US" sz="1600"/>
              <a:t>However, there are consequences of trading with the wider world, for example other countries may have different laws about particular products or services that must be taken into account. </a:t>
            </a:r>
          </a:p>
          <a:p>
            <a:endParaRPr lang="en-US" altLang="en-US" sz="1600"/>
          </a:p>
          <a:p>
            <a:r>
              <a:rPr lang="en-US" altLang="en-US" sz="1600"/>
              <a:t>There may be a situation in which you are not allowed to make a product available in a country or region. </a:t>
            </a:r>
            <a:endParaRPr lang="en-GB" altLang="en-US" sz="1600"/>
          </a:p>
          <a:p>
            <a:endParaRPr lang="en-GB" altLang="en-US" sz="1600"/>
          </a:p>
        </p:txBody>
      </p:sp>
      <p:pic>
        <p:nvPicPr>
          <p:cNvPr id="44036" name="Picture 4" descr="A picture containing toy&#10;&#10;Description automatically generated">
            <a:extLst>
              <a:ext uri="{FF2B5EF4-FFF2-40B4-BE49-F238E27FC236}">
                <a16:creationId xmlns:a16="http://schemas.microsoft.com/office/drawing/2014/main" id="{12708BBE-F9E9-CDF8-3EFF-FB5077F25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2136775"/>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6" descr="A close up of a sign&#10;&#10;Description automatically generated">
            <a:extLst>
              <a:ext uri="{FF2B5EF4-FFF2-40B4-BE49-F238E27FC236}">
                <a16:creationId xmlns:a16="http://schemas.microsoft.com/office/drawing/2014/main" id="{A7B40D43-AA1B-25E4-A11B-4AE195EEDC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1363" y="4384675"/>
            <a:ext cx="29337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13B6DE12-D0D0-A168-4057-8169A70BAB7B}"/>
              </a:ext>
            </a:extLst>
          </p:cNvPr>
          <p:cNvSpPr>
            <a:spLocks noGrp="1" noChangeArrowheads="1"/>
          </p:cNvSpPr>
          <p:nvPr>
            <p:ph type="title"/>
          </p:nvPr>
        </p:nvSpPr>
        <p:spPr/>
        <p:txBody>
          <a:bodyPr/>
          <a:lstStyle/>
          <a:p>
            <a:r>
              <a:rPr lang="en-US" altLang="en-US" sz="3200" b="1">
                <a:solidFill>
                  <a:srgbClr val="0070C0"/>
                </a:solidFill>
              </a:rPr>
              <a:t>Providing instant customer service</a:t>
            </a:r>
            <a:endParaRPr lang="en-GB" altLang="en-US" sz="3200" b="1">
              <a:solidFill>
                <a:srgbClr val="0070C0"/>
              </a:solidFill>
            </a:endParaRPr>
          </a:p>
        </p:txBody>
      </p:sp>
      <p:sp>
        <p:nvSpPr>
          <p:cNvPr id="46083" name="Content Placeholder 2">
            <a:extLst>
              <a:ext uri="{FF2B5EF4-FFF2-40B4-BE49-F238E27FC236}">
                <a16:creationId xmlns:a16="http://schemas.microsoft.com/office/drawing/2014/main" id="{46561005-5B64-D045-6E99-122755130055}"/>
              </a:ext>
            </a:extLst>
          </p:cNvPr>
          <p:cNvSpPr>
            <a:spLocks noGrp="1" noChangeArrowheads="1"/>
          </p:cNvSpPr>
          <p:nvPr>
            <p:ph idx="1"/>
          </p:nvPr>
        </p:nvSpPr>
        <p:spPr>
          <a:xfrm>
            <a:off x="685800" y="1804988"/>
            <a:ext cx="8223250" cy="1479550"/>
          </a:xfrm>
        </p:spPr>
        <p:txBody>
          <a:bodyPr/>
          <a:lstStyle/>
          <a:p>
            <a:r>
              <a:rPr lang="en-US" altLang="en-US" sz="1600"/>
              <a:t>We have so far concentrated on how technology can improve access to customers, how customers can get faster support and how technology can be used to grow business. </a:t>
            </a:r>
          </a:p>
          <a:p>
            <a:r>
              <a:rPr lang="en-US" altLang="en-US" sz="1600"/>
              <a:t>One additional way that technology can impact on the relationship between organisations and their customers is in the management of complaints. </a:t>
            </a:r>
          </a:p>
          <a:p>
            <a:endParaRPr lang="en-GB" altLang="en-US" sz="1600"/>
          </a:p>
        </p:txBody>
      </p:sp>
      <p:sp>
        <p:nvSpPr>
          <p:cNvPr id="4" name="Content Placeholder 2">
            <a:extLst>
              <a:ext uri="{FF2B5EF4-FFF2-40B4-BE49-F238E27FC236}">
                <a16:creationId xmlns:a16="http://schemas.microsoft.com/office/drawing/2014/main" id="{E92E54CF-EFD8-C3F7-F2EB-7751A5AE3CFE}"/>
              </a:ext>
            </a:extLst>
          </p:cNvPr>
          <p:cNvSpPr txBox="1">
            <a:spLocks/>
          </p:cNvSpPr>
          <p:nvPr/>
        </p:nvSpPr>
        <p:spPr bwMode="auto">
          <a:xfrm>
            <a:off x="685800" y="3284538"/>
            <a:ext cx="6118225" cy="34575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Realistically, no </a:t>
            </a:r>
            <a:r>
              <a:rPr lang="en-US" sz="1600" kern="0" dirty="0" err="1"/>
              <a:t>organisation</a:t>
            </a:r>
            <a:r>
              <a:rPr lang="en-US" sz="1600" kern="0" dirty="0"/>
              <a:t> can claim to be completely complaint free, but some </a:t>
            </a:r>
            <a:r>
              <a:rPr lang="en-US" sz="1600" kern="0" dirty="0" err="1"/>
              <a:t>organisations</a:t>
            </a:r>
            <a:r>
              <a:rPr lang="en-US" sz="1600" kern="0" dirty="0"/>
              <a:t> take pride in their use of the internet and social media for managing complaints. </a:t>
            </a:r>
          </a:p>
          <a:p>
            <a:pPr>
              <a:defRPr/>
            </a:pPr>
            <a:r>
              <a:rPr lang="en-US" sz="1600" kern="0" dirty="0"/>
              <a:t>You should </a:t>
            </a:r>
            <a:r>
              <a:rPr lang="en-US" sz="1600" kern="0" dirty="0" err="1"/>
              <a:t>realise</a:t>
            </a:r>
            <a:r>
              <a:rPr lang="en-US" sz="1600" kern="0" dirty="0"/>
              <a:t>, however, that not al I complaints will be managed in the public domain (where they are visible to everyone). </a:t>
            </a:r>
          </a:p>
          <a:p>
            <a:pPr>
              <a:defRPr/>
            </a:pPr>
            <a:r>
              <a:rPr lang="en-US" sz="1600" kern="0" dirty="0"/>
              <a:t>Some complaints have to be taken offline (even if they started online). Remember to go back online once the problem has been resolved and be positive about the outcome.</a:t>
            </a:r>
          </a:p>
          <a:p>
            <a:pPr>
              <a:defRPr/>
            </a:pPr>
            <a:r>
              <a:rPr lang="en-US" sz="1600" kern="0" dirty="0"/>
              <a:t>It is also worth keeping in mind that badly written responses to customer complaints can do as much damage as not responding to the complaint at all. </a:t>
            </a:r>
            <a:endParaRPr lang="en-GB" sz="1600" kern="0" dirty="0"/>
          </a:p>
          <a:p>
            <a:pPr>
              <a:defRPr/>
            </a:pPr>
            <a:endParaRPr lang="en-GB" sz="1600" kern="0" dirty="0"/>
          </a:p>
        </p:txBody>
      </p:sp>
      <p:pic>
        <p:nvPicPr>
          <p:cNvPr id="46085" name="Picture 5" descr="A screenshot of a cell phone&#10;&#10;Description automatically generated">
            <a:extLst>
              <a:ext uri="{FF2B5EF4-FFF2-40B4-BE49-F238E27FC236}">
                <a16:creationId xmlns:a16="http://schemas.microsoft.com/office/drawing/2014/main" id="{603BD440-613E-865E-8245-84908D1D14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5100" y="4076700"/>
            <a:ext cx="262890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F163DEB9-0624-1288-1885-C4AB169499B3}"/>
              </a:ext>
            </a:extLst>
          </p:cNvPr>
          <p:cNvSpPr>
            <a:spLocks noGrp="1" noChangeArrowheads="1"/>
          </p:cNvSpPr>
          <p:nvPr>
            <p:ph type="title"/>
          </p:nvPr>
        </p:nvSpPr>
        <p:spPr/>
        <p:txBody>
          <a:bodyPr/>
          <a:lstStyle/>
          <a:p>
            <a:r>
              <a:rPr lang="en-US" altLang="en-US" sz="2800" b="1">
                <a:solidFill>
                  <a:srgbClr val="0070C0"/>
                </a:solidFill>
              </a:rPr>
              <a:t>How organisations select technology </a:t>
            </a:r>
          </a:p>
        </p:txBody>
      </p:sp>
      <p:sp>
        <p:nvSpPr>
          <p:cNvPr id="49155" name="Content Placeholder 2">
            <a:extLst>
              <a:ext uri="{FF2B5EF4-FFF2-40B4-BE49-F238E27FC236}">
                <a16:creationId xmlns:a16="http://schemas.microsoft.com/office/drawing/2014/main" id="{7DA65975-8B31-6D6D-A7B2-D70624241B9F}"/>
              </a:ext>
            </a:extLst>
          </p:cNvPr>
          <p:cNvSpPr>
            <a:spLocks noGrp="1" noChangeArrowheads="1"/>
          </p:cNvSpPr>
          <p:nvPr>
            <p:ph idx="1"/>
          </p:nvPr>
        </p:nvSpPr>
        <p:spPr>
          <a:xfrm>
            <a:off x="354013" y="1674813"/>
            <a:ext cx="8585200" cy="939800"/>
          </a:xfrm>
        </p:spPr>
        <p:txBody>
          <a:bodyPr/>
          <a:lstStyle/>
          <a:p>
            <a:r>
              <a:rPr lang="en-US" altLang="en-US" sz="1400"/>
              <a:t>Which technologies organisations choose to use will depend, to a large extent, on the product or service and the profile of their customers or clients. </a:t>
            </a:r>
          </a:p>
          <a:p>
            <a:r>
              <a:rPr lang="en-US" altLang="en-US" sz="1400"/>
              <a:t>The table gives some examples of the ways in which organisations use technologies and why they use them. </a:t>
            </a:r>
            <a:endParaRPr lang="en-GB" altLang="en-US" sz="1400"/>
          </a:p>
        </p:txBody>
      </p:sp>
      <p:graphicFrame>
        <p:nvGraphicFramePr>
          <p:cNvPr id="5" name="Table 4">
            <a:extLst>
              <a:ext uri="{FF2B5EF4-FFF2-40B4-BE49-F238E27FC236}">
                <a16:creationId xmlns:a16="http://schemas.microsoft.com/office/drawing/2014/main" id="{EFE24449-81CD-407F-5C68-F1E603217B0B}"/>
              </a:ext>
            </a:extLst>
          </p:cNvPr>
          <p:cNvGraphicFramePr>
            <a:graphicFrameLocks/>
          </p:cNvGraphicFramePr>
          <p:nvPr/>
        </p:nvGraphicFramePr>
        <p:xfrm>
          <a:off x="425450" y="2638425"/>
          <a:ext cx="8513763" cy="3479800"/>
        </p:xfrm>
        <a:graphic>
          <a:graphicData uri="http://schemas.openxmlformats.org/drawingml/2006/table">
            <a:tbl>
              <a:tblPr firstRow="1" bandRow="1">
                <a:tableStyleId>{5C22544A-7EE6-4342-B048-85BDC9FD1C3A}</a:tableStyleId>
              </a:tblPr>
              <a:tblGrid>
                <a:gridCol w="1368192">
                  <a:extLst>
                    <a:ext uri="{9D8B030D-6E8A-4147-A177-3AD203B41FA5}">
                      <a16:colId xmlns:a16="http://schemas.microsoft.com/office/drawing/2014/main" val="20000"/>
                    </a:ext>
                  </a:extLst>
                </a:gridCol>
                <a:gridCol w="7145571">
                  <a:extLst>
                    <a:ext uri="{9D8B030D-6E8A-4147-A177-3AD203B41FA5}">
                      <a16:colId xmlns:a16="http://schemas.microsoft.com/office/drawing/2014/main" val="20001"/>
                    </a:ext>
                  </a:extLst>
                </a:gridCol>
              </a:tblGrid>
              <a:tr h="370840">
                <a:tc>
                  <a:txBody>
                    <a:bodyPr/>
                    <a:lstStyle/>
                    <a:p>
                      <a:r>
                        <a:rPr lang="en-GB" sz="1200" dirty="0"/>
                        <a:t>Consideration</a:t>
                      </a:r>
                    </a:p>
                  </a:txBody>
                  <a:tcPr marL="91443" marR="91443" anchor="ctr"/>
                </a:tc>
                <a:tc>
                  <a:txBody>
                    <a:bodyPr/>
                    <a:lstStyle/>
                    <a:p>
                      <a:r>
                        <a:rPr lang="en-GB" sz="1200" dirty="0"/>
                        <a:t>Examples</a:t>
                      </a:r>
                    </a:p>
                  </a:txBody>
                  <a:tcPr marL="91443" marR="91443" anchor="ctr"/>
                </a:tc>
                <a:extLst>
                  <a:ext uri="{0D108BD9-81ED-4DB2-BD59-A6C34878D82A}">
                    <a16:rowId xmlns:a16="http://schemas.microsoft.com/office/drawing/2014/main" val="10000"/>
                  </a:ext>
                </a:extLst>
              </a:tr>
              <a:tr h="370840">
                <a:tc>
                  <a:txBody>
                    <a:bodyPr/>
                    <a:lstStyle/>
                    <a:p>
                      <a:r>
                        <a:rPr lang="en-GB" sz="1000" dirty="0"/>
                        <a:t>Type of business</a:t>
                      </a:r>
                    </a:p>
                  </a:txBody>
                  <a:tcPr marL="91443" marR="91443" anchor="ctr"/>
                </a:tc>
                <a:tc>
                  <a:txBody>
                    <a:bodyPr/>
                    <a:lstStyle/>
                    <a:p>
                      <a:pPr marL="171450" indent="-171450">
                        <a:buFont typeface="Arial" panose="020B0604020202020204" pitchFamily="34" charset="0"/>
                        <a:buChar char="•"/>
                      </a:pPr>
                      <a:r>
                        <a:rPr lang="en-US" sz="1000" dirty="0"/>
                        <a:t>If the business is selling a product or service that has nothing to do with technology (for example, garden tools such as rakes. spades and hedge trimmers). it might only need the most basic support such as a website about their products with a range of FAQS (frequently asked questions are a predicted list of common questions that users are likely to ask).</a:t>
                      </a:r>
                    </a:p>
                    <a:p>
                      <a:pPr marL="171450" indent="-171450">
                        <a:buFont typeface="Arial" panose="020B0604020202020204" pitchFamily="34" charset="0"/>
                        <a:buChar char="•"/>
                      </a:pPr>
                      <a:r>
                        <a:rPr lang="en-US" sz="1000" dirty="0"/>
                        <a:t>If the business is selling a technology-related productor service, it will probably choose to use a wide range of technologies, including websites, blogs and/or vlogs, social media, online interactive customer support. The content is likely to be extensive and complex.</a:t>
                      </a:r>
                      <a:endParaRPr lang="en-GB" sz="1000" dirty="0"/>
                    </a:p>
                  </a:txBody>
                  <a:tcPr marL="91443" marR="91443" anchor="ctr"/>
                </a:tc>
                <a:extLst>
                  <a:ext uri="{0D108BD9-81ED-4DB2-BD59-A6C34878D82A}">
                    <a16:rowId xmlns:a16="http://schemas.microsoft.com/office/drawing/2014/main" val="10001"/>
                  </a:ext>
                </a:extLst>
              </a:tr>
              <a:tr h="370840">
                <a:tc>
                  <a:txBody>
                    <a:bodyPr/>
                    <a:lstStyle/>
                    <a:p>
                      <a:r>
                        <a:rPr lang="en-GB" sz="1000" dirty="0"/>
                        <a:t>Needs of customers</a:t>
                      </a:r>
                    </a:p>
                  </a:txBody>
                  <a:tcPr marL="91443" marR="91443" anchor="ctr"/>
                </a:tc>
                <a:tc>
                  <a:txBody>
                    <a:bodyPr/>
                    <a:lstStyle/>
                    <a:p>
                      <a:pPr marL="171450" indent="-171450">
                        <a:buFont typeface="Arial" panose="020B0604020202020204" pitchFamily="34" charset="0"/>
                        <a:buChar char="•"/>
                      </a:pPr>
                      <a:r>
                        <a:rPr lang="en-US" sz="1000" dirty="0"/>
                        <a:t>There may be some products or services for which customers will need little or no support other than a telephone number or an email address. This is often the case with old products that are no </a:t>
                      </a:r>
                      <a:r>
                        <a:rPr lang="en-US" sz="1000" dirty="0" err="1"/>
                        <a:t>tonger</a:t>
                      </a:r>
                      <a:r>
                        <a:rPr lang="en-US" sz="1000" dirty="0"/>
                        <a:t> sold but which consumers might still own. Most </a:t>
                      </a:r>
                      <a:r>
                        <a:rPr lang="en-US" sz="1000" dirty="0" err="1"/>
                        <a:t>organisations</a:t>
                      </a:r>
                      <a:r>
                        <a:rPr lang="en-US" sz="1000" dirty="0"/>
                        <a:t> will keep information about old or outdated products, but they might not have this information aniline all the time, so if they need it, customers will have to request it.</a:t>
                      </a:r>
                    </a:p>
                    <a:p>
                      <a:pPr marL="171450" indent="-171450">
                        <a:buFont typeface="Arial" panose="020B0604020202020204" pitchFamily="34" charset="0"/>
                        <a:buChar char="•"/>
                      </a:pPr>
                      <a:r>
                        <a:rPr lang="en-US" sz="1000" dirty="0" err="1"/>
                        <a:t>Organisations</a:t>
                      </a:r>
                      <a:r>
                        <a:rPr lang="en-US" sz="1000" dirty="0"/>
                        <a:t> will also consider the profile of their customers, for example if the product is targeted at a particular type of user, then it would make sense to use the technologies that this type of customer wilt use.</a:t>
                      </a:r>
                      <a:endParaRPr lang="en-GB" sz="1000" dirty="0"/>
                    </a:p>
                  </a:txBody>
                  <a:tcPr marL="91443" marR="91443" anchor="ctr"/>
                </a:tc>
                <a:extLst>
                  <a:ext uri="{0D108BD9-81ED-4DB2-BD59-A6C34878D82A}">
                    <a16:rowId xmlns:a16="http://schemas.microsoft.com/office/drawing/2014/main" val="10002"/>
                  </a:ext>
                </a:extLst>
              </a:tr>
              <a:tr h="370840">
                <a:tc>
                  <a:txBody>
                    <a:bodyPr/>
                    <a:lstStyle/>
                    <a:p>
                      <a:r>
                        <a:rPr lang="en-US" sz="1000" dirty="0"/>
                        <a:t>Hardware/ software and networking requirements </a:t>
                      </a:r>
                      <a:endParaRPr lang="en-GB" sz="1000" dirty="0"/>
                    </a:p>
                  </a:txBody>
                  <a:tcPr marL="91443" marR="91443" anchor="ctr"/>
                </a:tc>
                <a:tc>
                  <a:txBody>
                    <a:bodyPr/>
                    <a:lstStyle/>
                    <a:p>
                      <a:pPr marL="171450" indent="-171450">
                        <a:buFont typeface="Arial" panose="020B0604020202020204" pitchFamily="34" charset="0"/>
                        <a:buChar char="•"/>
                      </a:pPr>
                      <a:r>
                        <a:rPr lang="en-US" sz="1000" dirty="0" err="1"/>
                        <a:t>Organisations</a:t>
                      </a:r>
                      <a:r>
                        <a:rPr lang="en-US" sz="1000" dirty="0"/>
                        <a:t> have to be very careful as they will need to calculate the return on investment in comparison to the amount of money they are potentially going to spend.</a:t>
                      </a:r>
                    </a:p>
                    <a:p>
                      <a:pPr marL="171450" indent="-171450">
                        <a:buFont typeface="Arial" panose="020B0604020202020204" pitchFamily="34" charset="0"/>
                        <a:buChar char="•"/>
                      </a:pPr>
                      <a:r>
                        <a:rPr lang="en-US" sz="1000" dirty="0"/>
                        <a:t>Cloud technology has made many things possible and </a:t>
                      </a:r>
                      <a:r>
                        <a:rPr lang="en-US" sz="1000" dirty="0" err="1"/>
                        <a:t>organisations</a:t>
                      </a:r>
                      <a:r>
                        <a:rPr lang="en-US" sz="1000" dirty="0"/>
                        <a:t> will consider what cloud services could offer in their deliberations.</a:t>
                      </a:r>
                    </a:p>
                  </a:txBody>
                  <a:tcPr marL="91443" marR="91443" anchor="ctr"/>
                </a:tc>
                <a:extLst>
                  <a:ext uri="{0D108BD9-81ED-4DB2-BD59-A6C34878D82A}">
                    <a16:rowId xmlns:a16="http://schemas.microsoft.com/office/drawing/2014/main" val="10003"/>
                  </a:ext>
                </a:extLst>
              </a:tr>
              <a:tr h="370840">
                <a:tc>
                  <a:txBody>
                    <a:bodyPr/>
                    <a:lstStyle/>
                    <a:p>
                      <a:r>
                        <a:rPr lang="en-GB" sz="1000" dirty="0"/>
                        <a:t>Particular security issues </a:t>
                      </a:r>
                    </a:p>
                  </a:txBody>
                  <a:tcPr marL="91443" marR="91443" anchor="ctr"/>
                </a:tc>
                <a:tc>
                  <a:txBody>
                    <a:bodyPr/>
                    <a:lstStyle/>
                    <a:p>
                      <a:pPr marL="171450" indent="-171450">
                        <a:buFont typeface="Arial" panose="020B0604020202020204" pitchFamily="34" charset="0"/>
                        <a:buChar char="•"/>
                      </a:pPr>
                      <a:r>
                        <a:rPr lang="en-US" sz="1000" dirty="0" err="1"/>
                        <a:t>Organisations</a:t>
                      </a:r>
                      <a:r>
                        <a:rPr lang="en-US" sz="1000" dirty="0"/>
                        <a:t> must never forget their responsibilities in relation to security, whether this is the security of their own systems, or the security of customer information(as captured by their technologies).</a:t>
                      </a:r>
                      <a:endParaRPr lang="en-GB" sz="1000" dirty="0"/>
                    </a:p>
                  </a:txBody>
                  <a:tcPr marL="91443" marR="91443" anchor="ctr"/>
                </a:tc>
                <a:extLst>
                  <a:ext uri="{0D108BD9-81ED-4DB2-BD59-A6C34878D82A}">
                    <a16:rowId xmlns:a16="http://schemas.microsoft.com/office/drawing/2014/main" val="10004"/>
                  </a:ext>
                </a:extLst>
              </a:tr>
            </a:tbl>
          </a:graphicData>
        </a:graphic>
      </p:graphicFrame>
      <p:sp>
        <p:nvSpPr>
          <p:cNvPr id="6" name="Content Placeholder 2">
            <a:extLst>
              <a:ext uri="{FF2B5EF4-FFF2-40B4-BE49-F238E27FC236}">
                <a16:creationId xmlns:a16="http://schemas.microsoft.com/office/drawing/2014/main" id="{675FDF87-0CDC-1ABE-1905-56BB74C40755}"/>
              </a:ext>
            </a:extLst>
          </p:cNvPr>
          <p:cNvSpPr txBox="1">
            <a:spLocks/>
          </p:cNvSpPr>
          <p:nvPr/>
        </p:nvSpPr>
        <p:spPr bwMode="auto">
          <a:xfrm>
            <a:off x="334963" y="6096000"/>
            <a:ext cx="8585200" cy="7620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dirty="0"/>
              <a:t>Each consideration must be carefully investigated and informed decisions made. </a:t>
            </a:r>
          </a:p>
          <a:p>
            <a:pPr>
              <a:defRPr/>
            </a:pPr>
            <a:r>
              <a:rPr lang="en-US" sz="1400" dirty="0"/>
              <a:t>Getting it wrong can have a negative impact on the </a:t>
            </a:r>
            <a:r>
              <a:rPr lang="en-US" sz="1400" dirty="0" err="1"/>
              <a:t>organisation</a:t>
            </a:r>
            <a:r>
              <a:rPr lang="en-US" sz="1400" dirty="0"/>
              <a:t> and its reputation or brand, as well as its finances. </a:t>
            </a:r>
            <a:endParaRPr lang="en-GB" sz="1400" dirty="0"/>
          </a:p>
          <a:p>
            <a:pPr>
              <a:defRPr/>
            </a:pPr>
            <a:endParaRPr lang="en-US" sz="1400" kern="0" dirty="0"/>
          </a:p>
          <a:p>
            <a:pPr>
              <a:defRPr/>
            </a:pPr>
            <a:endParaRPr lang="en-GB" sz="1400" kern="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30BCC02-7407-DD41-99B9-7378141CED15}"/>
              </a:ext>
            </a:extLst>
          </p:cNvPr>
          <p:cNvSpPr>
            <a:spLocks noGrp="1" noChangeArrowheads="1"/>
          </p:cNvSpPr>
          <p:nvPr>
            <p:ph type="title"/>
          </p:nvPr>
        </p:nvSpPr>
        <p:spPr/>
        <p:txBody>
          <a:bodyPr/>
          <a:lstStyle/>
          <a:p>
            <a:r>
              <a:rPr lang="en-GB" altLang="en-US" sz="3200" b="1">
                <a:solidFill>
                  <a:srgbClr val="0070C0"/>
                </a:solidFill>
              </a:rPr>
              <a:t>How organisations make decisions</a:t>
            </a:r>
          </a:p>
        </p:txBody>
      </p:sp>
      <p:sp>
        <p:nvSpPr>
          <p:cNvPr id="51203" name="Content Placeholder 6">
            <a:extLst>
              <a:ext uri="{FF2B5EF4-FFF2-40B4-BE49-F238E27FC236}">
                <a16:creationId xmlns:a16="http://schemas.microsoft.com/office/drawing/2014/main" id="{7B35FBEF-2FAE-838A-7943-F3D28CD17BB5}"/>
              </a:ext>
            </a:extLst>
          </p:cNvPr>
          <p:cNvSpPr>
            <a:spLocks noGrp="1" noChangeArrowheads="1"/>
          </p:cNvSpPr>
          <p:nvPr>
            <p:ph idx="1"/>
          </p:nvPr>
        </p:nvSpPr>
        <p:spPr>
          <a:xfrm>
            <a:off x="685800" y="1931988"/>
            <a:ext cx="7772400" cy="4503737"/>
          </a:xfrm>
        </p:spPr>
        <p:txBody>
          <a:bodyPr/>
          <a:lstStyle/>
          <a:p>
            <a:r>
              <a:rPr lang="en-US" altLang="en-US" sz="1600"/>
              <a:t>There are three common triggers that drive organisations to think about changing their use or application of technology. </a:t>
            </a:r>
          </a:p>
          <a:p>
            <a:endParaRPr lang="en-GB" altLang="en-US" sz="1600"/>
          </a:p>
          <a:p>
            <a:pPr lvl="1">
              <a:buFont typeface="Tahoma" panose="020B0604030504040204" pitchFamily="34" charset="0"/>
              <a:buAutoNum type="arabicPeriod"/>
            </a:pPr>
            <a:r>
              <a:rPr lang="en-US" altLang="en-US" sz="1600" b="1">
                <a:solidFill>
                  <a:srgbClr val="0070C0"/>
                </a:solidFill>
              </a:rPr>
              <a:t>A problem occurs or an opportunity arises: </a:t>
            </a:r>
            <a:r>
              <a:rPr lang="en-US" altLang="en-US" sz="1600"/>
              <a:t>this is usually something that they have to react to, such as identifying that the business is running out of storage or that market research has identified a new business opportunity.</a:t>
            </a:r>
          </a:p>
          <a:p>
            <a:pPr lvl="1">
              <a:buFont typeface="Tahoma" panose="020B0604030504040204" pitchFamily="34" charset="0"/>
              <a:buAutoNum type="arabicPeriod"/>
            </a:pPr>
            <a:r>
              <a:rPr lang="en-US" altLang="en-US" sz="1600" b="1">
                <a:solidFill>
                  <a:srgbClr val="0070C0"/>
                </a:solidFill>
              </a:rPr>
              <a:t>Actions need to be taken because of business strategy or an organisational policy: </a:t>
            </a:r>
            <a:r>
              <a:rPr lang="en-US" altLang="en-US" sz="1600"/>
              <a:t>for example, needing a new website in a particular language because the organisation is seeking to trade in a new country, or fulfilling the organisation's policy to upgrade all mobile devices every three years.</a:t>
            </a:r>
          </a:p>
          <a:p>
            <a:pPr lvl="1">
              <a:buFont typeface="Tahoma" panose="020B0604030504040204" pitchFamily="34" charset="0"/>
              <a:buAutoNum type="arabicPeriod"/>
            </a:pPr>
            <a:r>
              <a:rPr lang="en-US" altLang="en-US" sz="1600" b="1">
                <a:solidFill>
                  <a:srgbClr val="0070C0"/>
                </a:solidFill>
              </a:rPr>
              <a:t>Feedback from stakeholders: </a:t>
            </a:r>
            <a:r>
              <a:rPr lang="en-US" altLang="en-US" sz="1600"/>
              <a:t>customers may have identified issues with the website (such as broken links or outdated content), or employees may complain that the DATABASE has become unresponsive so that it takes a long time to edit a record (this could be because the database contains a lot of old records which are slowing it down).</a:t>
            </a:r>
            <a:endParaRPr lang="en-GB" altLang="en-US" sz="1600"/>
          </a:p>
          <a:p>
            <a:endParaRPr lang="en-GB" alt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822AF2D7-04E2-F26B-F121-584C76375A88}"/>
              </a:ext>
            </a:extLst>
          </p:cNvPr>
          <p:cNvSpPr>
            <a:spLocks noGrp="1" noChangeArrowheads="1"/>
          </p:cNvSpPr>
          <p:nvPr>
            <p:ph type="title"/>
          </p:nvPr>
        </p:nvSpPr>
        <p:spPr/>
        <p:txBody>
          <a:bodyPr/>
          <a:lstStyle/>
          <a:p>
            <a:r>
              <a:rPr lang="en-US" altLang="en-US" sz="3600" b="1">
                <a:solidFill>
                  <a:srgbClr val="0070C0"/>
                </a:solidFill>
              </a:rPr>
              <a:t>Feasibility study </a:t>
            </a:r>
            <a:endParaRPr lang="en-GB" altLang="en-US" sz="3600" b="1">
              <a:solidFill>
                <a:srgbClr val="0070C0"/>
              </a:solidFill>
            </a:endParaRPr>
          </a:p>
        </p:txBody>
      </p:sp>
      <p:sp>
        <p:nvSpPr>
          <p:cNvPr id="53251" name="Content Placeholder 2">
            <a:extLst>
              <a:ext uri="{FF2B5EF4-FFF2-40B4-BE49-F238E27FC236}">
                <a16:creationId xmlns:a16="http://schemas.microsoft.com/office/drawing/2014/main" id="{F7BCC996-A9F7-5C73-18D5-13734F395E32}"/>
              </a:ext>
            </a:extLst>
          </p:cNvPr>
          <p:cNvSpPr>
            <a:spLocks noGrp="1" noChangeArrowheads="1"/>
          </p:cNvSpPr>
          <p:nvPr>
            <p:ph idx="1"/>
          </p:nvPr>
        </p:nvSpPr>
        <p:spPr>
          <a:xfrm>
            <a:off x="358775" y="1860550"/>
            <a:ext cx="4608513" cy="4608513"/>
          </a:xfrm>
        </p:spPr>
        <p:txBody>
          <a:bodyPr/>
          <a:lstStyle/>
          <a:p>
            <a:r>
              <a:rPr lang="en-US" altLang="en-US" sz="1600"/>
              <a:t>Whichever trigger causes the organisation to investigate its IT systems, the process it will go through follows the standard development life cycle shown in the diagram.</a:t>
            </a:r>
          </a:p>
          <a:p>
            <a:r>
              <a:rPr lang="en-US" altLang="en-US" sz="1600"/>
              <a:t>Once the problem or opportunity has been identified and defined, a feasibility study is carried out. </a:t>
            </a:r>
          </a:p>
          <a:p>
            <a:r>
              <a:rPr lang="en-US" altLang="en-US" sz="1600"/>
              <a:t>The study investigates the problem or opportunity thoroughly to establish whether something needs to be done or not. If so, then the process moves to the next stage (analysis).</a:t>
            </a:r>
          </a:p>
          <a:p>
            <a:r>
              <a:rPr lang="en-US" altLang="en-US" sz="1600"/>
              <a:t>If not, the problem might need to be redefined or the opportunity re-examined before the organisation decides that no action is necessary. </a:t>
            </a:r>
            <a:endParaRPr lang="en-GB" altLang="en-US" sz="1600"/>
          </a:p>
          <a:p>
            <a:endParaRPr lang="en-GB" altLang="en-US" sz="1600"/>
          </a:p>
        </p:txBody>
      </p:sp>
      <p:pic>
        <p:nvPicPr>
          <p:cNvPr id="53252" name="Picture 4" descr="A close up of a piece of paper&#10;&#10;Description automatically generated">
            <a:extLst>
              <a:ext uri="{FF2B5EF4-FFF2-40B4-BE49-F238E27FC236}">
                <a16:creationId xmlns:a16="http://schemas.microsoft.com/office/drawing/2014/main" id="{E3D16280-8188-76E5-4508-E3E1506C8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3205163"/>
            <a:ext cx="3643312"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61B61897-BB5D-D0A5-4FE9-F7CA4934FE7A}"/>
              </a:ext>
            </a:extLst>
          </p:cNvPr>
          <p:cNvSpPr txBox="1">
            <a:spLocks/>
          </p:cNvSpPr>
          <p:nvPr/>
        </p:nvSpPr>
        <p:spPr bwMode="auto">
          <a:xfrm>
            <a:off x="5746750" y="1592263"/>
            <a:ext cx="2444750" cy="13350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Life cycle models are used to manage developments and projects there should be activity in every phase, although some methodologies place more importance on some parts of the life cycle than others </a:t>
            </a:r>
            <a:endParaRPr lang="en-GB" sz="1200" dirty="0"/>
          </a:p>
          <a:p>
            <a:pPr>
              <a:defRPr/>
            </a:pPr>
            <a:endParaRPr lang="en-GB" sz="1600" kern="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D620995F-58FB-8D91-DE36-BC8F55C05C64}"/>
              </a:ext>
            </a:extLst>
          </p:cNvPr>
          <p:cNvSpPr>
            <a:spLocks noGrp="1" noChangeArrowheads="1"/>
          </p:cNvSpPr>
          <p:nvPr>
            <p:ph type="title"/>
          </p:nvPr>
        </p:nvSpPr>
        <p:spPr/>
        <p:txBody>
          <a:bodyPr/>
          <a:lstStyle/>
          <a:p>
            <a:r>
              <a:rPr lang="en-US" altLang="en-US" sz="3600" b="1">
                <a:solidFill>
                  <a:srgbClr val="0070C0"/>
                </a:solidFill>
              </a:rPr>
              <a:t>Digital strategy, policy or business plan </a:t>
            </a:r>
            <a:endParaRPr lang="en-GB" altLang="en-US" sz="3600" b="1">
              <a:solidFill>
                <a:srgbClr val="0070C0"/>
              </a:solidFill>
            </a:endParaRPr>
          </a:p>
        </p:txBody>
      </p:sp>
      <p:sp>
        <p:nvSpPr>
          <p:cNvPr id="55299" name="Content Placeholder 2">
            <a:extLst>
              <a:ext uri="{FF2B5EF4-FFF2-40B4-BE49-F238E27FC236}">
                <a16:creationId xmlns:a16="http://schemas.microsoft.com/office/drawing/2014/main" id="{36506A23-C59E-EC9D-ECB8-B074622A9B16}"/>
              </a:ext>
            </a:extLst>
          </p:cNvPr>
          <p:cNvSpPr>
            <a:spLocks noGrp="1" noChangeArrowheads="1"/>
          </p:cNvSpPr>
          <p:nvPr>
            <p:ph idx="1"/>
          </p:nvPr>
        </p:nvSpPr>
        <p:spPr>
          <a:xfrm>
            <a:off x="539750" y="1949450"/>
            <a:ext cx="5256213" cy="4503738"/>
          </a:xfrm>
        </p:spPr>
        <p:txBody>
          <a:bodyPr/>
          <a:lstStyle/>
          <a:p>
            <a:r>
              <a:rPr lang="en-US" altLang="en-US" sz="1600"/>
              <a:t>Organisations have to plan for the future.</a:t>
            </a:r>
          </a:p>
          <a:p>
            <a:r>
              <a:rPr lang="en-US" altLang="en-US" sz="1600"/>
              <a:t>As part of this plan, they have to think carefully about what they want to do in the short term (six months to two years), medium term (three to five years) and the longer term (five to ten years). </a:t>
            </a:r>
          </a:p>
          <a:p>
            <a:endParaRPr lang="en-US" altLang="en-US" sz="1600"/>
          </a:p>
          <a:p>
            <a:r>
              <a:rPr lang="en-US" altLang="en-US" sz="1600"/>
              <a:t>Organisations that do not think about the future will often fail because they are not planning resources, finance and technology that will help them meet their future goals. </a:t>
            </a:r>
          </a:p>
          <a:p>
            <a:endParaRPr lang="en-US" altLang="en-US" sz="1600"/>
          </a:p>
          <a:p>
            <a:r>
              <a:rPr lang="en-US" altLang="en-US" sz="1600"/>
              <a:t>They become reactive (responding when something happens instead of thinking ahead) rather than proactive (making informed decisions, planning what will happen and then taking appropriate action). </a:t>
            </a:r>
          </a:p>
        </p:txBody>
      </p:sp>
      <p:pic>
        <p:nvPicPr>
          <p:cNvPr id="55300" name="Picture 4" descr="A close up of text on a black background&#10;&#10;Description automatically generated">
            <a:extLst>
              <a:ext uri="{FF2B5EF4-FFF2-40B4-BE49-F238E27FC236}">
                <a16:creationId xmlns:a16="http://schemas.microsoft.com/office/drawing/2014/main" id="{27816DAE-BD75-399B-2BFF-D857EB733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060575"/>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6" descr="A picture containing food, knife&#10;&#10;Description automatically generated">
            <a:extLst>
              <a:ext uri="{FF2B5EF4-FFF2-40B4-BE49-F238E27FC236}">
                <a16:creationId xmlns:a16="http://schemas.microsoft.com/office/drawing/2014/main" id="{B3868068-7F42-4504-B58E-8081E6B0D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5525" y="4581525"/>
            <a:ext cx="2768600"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40F437BD-41E7-9656-31E0-3090D43E5214}"/>
              </a:ext>
            </a:extLst>
          </p:cNvPr>
          <p:cNvSpPr>
            <a:spLocks noGrp="1" noChangeArrowheads="1"/>
          </p:cNvSpPr>
          <p:nvPr>
            <p:ph type="title"/>
          </p:nvPr>
        </p:nvSpPr>
        <p:spPr/>
        <p:txBody>
          <a:bodyPr/>
          <a:lstStyle/>
          <a:p>
            <a:r>
              <a:rPr lang="en-US" altLang="en-US" sz="3600" b="1">
                <a:solidFill>
                  <a:srgbClr val="0070C0"/>
                </a:solidFill>
              </a:rPr>
              <a:t>Digital strategy, policy or business plan </a:t>
            </a:r>
            <a:endParaRPr lang="en-GB" altLang="en-US" sz="3600" b="1">
              <a:solidFill>
                <a:srgbClr val="0070C0"/>
              </a:solidFill>
            </a:endParaRPr>
          </a:p>
        </p:txBody>
      </p:sp>
      <p:sp>
        <p:nvSpPr>
          <p:cNvPr id="57347" name="Content Placeholder 2">
            <a:extLst>
              <a:ext uri="{FF2B5EF4-FFF2-40B4-BE49-F238E27FC236}">
                <a16:creationId xmlns:a16="http://schemas.microsoft.com/office/drawing/2014/main" id="{6B6BF146-CB42-000D-A44B-78821CC82BF5}"/>
              </a:ext>
            </a:extLst>
          </p:cNvPr>
          <p:cNvSpPr>
            <a:spLocks noGrp="1" noChangeArrowheads="1"/>
          </p:cNvSpPr>
          <p:nvPr>
            <p:ph idx="1"/>
          </p:nvPr>
        </p:nvSpPr>
        <p:spPr>
          <a:xfrm>
            <a:off x="539750" y="1773238"/>
            <a:ext cx="5761038" cy="4679950"/>
          </a:xfrm>
        </p:spPr>
        <p:txBody>
          <a:bodyPr/>
          <a:lstStyle/>
          <a:p>
            <a:r>
              <a:rPr lang="en-US" altLang="en-US" sz="1600"/>
              <a:t>One of the more recent and controversial digital strategies has been to allow staff to bring their own devices to work and allow them to connect to the organisation's own Wi-Fi. </a:t>
            </a:r>
          </a:p>
          <a:p>
            <a:r>
              <a:rPr lang="en-US" altLang="en-US" sz="1600"/>
              <a:t>The </a:t>
            </a:r>
            <a:r>
              <a:rPr lang="en-US" altLang="en-US" sz="1600" b="1">
                <a:solidFill>
                  <a:srgbClr val="0070C0"/>
                </a:solidFill>
              </a:rPr>
              <a:t>BRING YOUR OWN DEVICE (BYOD) </a:t>
            </a:r>
            <a:r>
              <a:rPr lang="en-US" altLang="en-US" sz="1600"/>
              <a:t>strategy has allowed some organisations to reduce the costs of the technology by making use of staff members' own devices. </a:t>
            </a:r>
          </a:p>
          <a:p>
            <a:r>
              <a:rPr lang="en-US" altLang="en-US" sz="1600"/>
              <a:t>An additional benefit has been the improvement in staff morale. </a:t>
            </a:r>
          </a:p>
          <a:p>
            <a:r>
              <a:rPr lang="en-US" altLang="en-US" sz="1600"/>
              <a:t>Some organisations are also thinking carefully about their email policies because there is a consensus that emails are often unnecessary and time wasting. </a:t>
            </a:r>
          </a:p>
          <a:p>
            <a:r>
              <a:rPr lang="en-US" altLang="en-US" sz="1600"/>
              <a:t>Whole groups of people are copied into emails 'for information only’. </a:t>
            </a:r>
          </a:p>
          <a:p>
            <a:r>
              <a:rPr lang="en-US" altLang="en-US" sz="1600"/>
              <a:t>These do not require any action but do take time to read.</a:t>
            </a:r>
          </a:p>
          <a:p>
            <a:r>
              <a:rPr lang="en-US" altLang="en-US" sz="1600"/>
              <a:t>For this reason, some organisations ban this practice and insist that emails are only sent to other members of staff when action is required. </a:t>
            </a:r>
            <a:endParaRPr lang="en-GB" altLang="en-US" sz="1600"/>
          </a:p>
        </p:txBody>
      </p:sp>
      <p:pic>
        <p:nvPicPr>
          <p:cNvPr id="57348" name="Picture 4" descr="A picture containing text, map&#10;&#10;Description automatically generated">
            <a:extLst>
              <a:ext uri="{FF2B5EF4-FFF2-40B4-BE49-F238E27FC236}">
                <a16:creationId xmlns:a16="http://schemas.microsoft.com/office/drawing/2014/main" id="{0977E8EF-E9FF-A3BD-E168-70009C89E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1971675"/>
            <a:ext cx="23177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8" descr="A close up of a logo&#10;&#10;Description automatically generated">
            <a:extLst>
              <a:ext uri="{FF2B5EF4-FFF2-40B4-BE49-F238E27FC236}">
                <a16:creationId xmlns:a16="http://schemas.microsoft.com/office/drawing/2014/main" id="{C2777CA5-CF4B-571B-BEAA-BE1E35E6F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4488" y="4437063"/>
            <a:ext cx="203993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F23AA924-4A2D-B357-715F-1A53B5195849}"/>
              </a:ext>
            </a:extLst>
          </p:cNvPr>
          <p:cNvSpPr>
            <a:spLocks noGrp="1" noChangeArrowheads="1"/>
          </p:cNvSpPr>
          <p:nvPr>
            <p:ph type="title"/>
          </p:nvPr>
        </p:nvSpPr>
        <p:spPr/>
        <p:txBody>
          <a:bodyPr/>
          <a:lstStyle/>
          <a:p>
            <a:r>
              <a:rPr lang="en-US" altLang="en-US" sz="3600" b="1">
                <a:solidFill>
                  <a:srgbClr val="0070C0"/>
                </a:solidFill>
              </a:rPr>
              <a:t>Digital strategy, policy or business plan </a:t>
            </a:r>
            <a:endParaRPr lang="en-GB" altLang="en-US" sz="3600" b="1">
              <a:solidFill>
                <a:srgbClr val="0070C0"/>
              </a:solidFill>
            </a:endParaRPr>
          </a:p>
        </p:txBody>
      </p:sp>
      <p:sp>
        <p:nvSpPr>
          <p:cNvPr id="59395" name="Content Placeholder 2">
            <a:extLst>
              <a:ext uri="{FF2B5EF4-FFF2-40B4-BE49-F238E27FC236}">
                <a16:creationId xmlns:a16="http://schemas.microsoft.com/office/drawing/2014/main" id="{5893C0DF-83E6-22BF-C56A-90FBEEB43E22}"/>
              </a:ext>
            </a:extLst>
          </p:cNvPr>
          <p:cNvSpPr>
            <a:spLocks noGrp="1" noChangeArrowheads="1"/>
          </p:cNvSpPr>
          <p:nvPr>
            <p:ph idx="1"/>
          </p:nvPr>
        </p:nvSpPr>
        <p:spPr>
          <a:xfrm>
            <a:off x="539750" y="1949450"/>
            <a:ext cx="5327650" cy="4503738"/>
          </a:xfrm>
        </p:spPr>
        <p:txBody>
          <a:bodyPr/>
          <a:lstStyle/>
          <a:p>
            <a:r>
              <a:rPr lang="en-US" altLang="en-US" sz="1600"/>
              <a:t>Digital strategies, policies and business plans should be reviewed regularly. </a:t>
            </a:r>
          </a:p>
          <a:p>
            <a:r>
              <a:rPr lang="en-US" altLang="en-US" sz="1600"/>
              <a:t>It is not sensible to create a strategy or plan and then stick to it without reviewing it. </a:t>
            </a:r>
          </a:p>
          <a:p>
            <a:r>
              <a:rPr lang="en-US" altLang="en-US" sz="1600"/>
              <a:t>That means revisiting it regularly. For example, an organisation might be planning to start trading in a country that then suffers a natural disaster, such as the floods in Malawi and Mozambique in 2015 or Hurricane Katrina in 2005. </a:t>
            </a:r>
          </a:p>
          <a:p>
            <a:r>
              <a:rPr lang="en-US" altLang="en-US" sz="1600"/>
              <a:t>Similarly, wars and civil unrest in countries such as Syria, Iraq, Yemen, Libya, Afghanistan and Turkey in recent years would impact on business plans in the same way as a natural disaster.</a:t>
            </a:r>
          </a:p>
          <a:p>
            <a:r>
              <a:rPr lang="en-US" altLang="en-US" sz="1600"/>
              <a:t>Organisations need to think about their business in a much bigger context and change their plans if necessary. </a:t>
            </a:r>
            <a:endParaRPr lang="en-GB" altLang="en-US" sz="1600"/>
          </a:p>
        </p:txBody>
      </p:sp>
      <p:pic>
        <p:nvPicPr>
          <p:cNvPr id="59396" name="Picture 6" descr="A close up of a device&#10;&#10;Description automatically generated">
            <a:extLst>
              <a:ext uri="{FF2B5EF4-FFF2-40B4-BE49-F238E27FC236}">
                <a16:creationId xmlns:a16="http://schemas.microsoft.com/office/drawing/2014/main" id="{B4605613-F694-6174-5652-B5C9DFB1D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0963" y="4005263"/>
            <a:ext cx="21907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14" descr="A close up of a sign&#10;&#10;Description automatically generated">
            <a:extLst>
              <a:ext uri="{FF2B5EF4-FFF2-40B4-BE49-F238E27FC236}">
                <a16:creationId xmlns:a16="http://schemas.microsoft.com/office/drawing/2014/main" id="{0957C2A9-1BB7-E673-1B26-59115D1E11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9350" y="1746250"/>
            <a:ext cx="2713038"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904B7AEE-C96C-D2A0-A139-BAD23355CD1F}"/>
              </a:ext>
            </a:extLst>
          </p:cNvPr>
          <p:cNvSpPr>
            <a:spLocks noGrp="1" noChangeArrowheads="1"/>
          </p:cNvSpPr>
          <p:nvPr>
            <p:ph type="title"/>
          </p:nvPr>
        </p:nvSpPr>
        <p:spPr>
          <a:xfrm>
            <a:off x="1258888" y="404813"/>
            <a:ext cx="7650162" cy="939800"/>
          </a:xfrm>
        </p:spPr>
        <p:txBody>
          <a:bodyPr/>
          <a:lstStyle/>
          <a:p>
            <a:r>
              <a:rPr lang="en-US" altLang="en-US" sz="3200" b="1">
                <a:solidFill>
                  <a:srgbClr val="0070C0"/>
                </a:solidFill>
              </a:rPr>
              <a:t>Feedback from stakeholders </a:t>
            </a:r>
            <a:endParaRPr lang="en-GB" altLang="en-US" sz="3200" b="1">
              <a:solidFill>
                <a:srgbClr val="0070C0"/>
              </a:solidFill>
            </a:endParaRPr>
          </a:p>
        </p:txBody>
      </p:sp>
      <p:sp>
        <p:nvSpPr>
          <p:cNvPr id="61443" name="Content Placeholder 2">
            <a:extLst>
              <a:ext uri="{FF2B5EF4-FFF2-40B4-BE49-F238E27FC236}">
                <a16:creationId xmlns:a16="http://schemas.microsoft.com/office/drawing/2014/main" id="{582099FA-08EA-E8E3-94ED-7D533881FA58}"/>
              </a:ext>
            </a:extLst>
          </p:cNvPr>
          <p:cNvSpPr>
            <a:spLocks noGrp="1" noChangeArrowheads="1"/>
          </p:cNvSpPr>
          <p:nvPr>
            <p:ph idx="1"/>
          </p:nvPr>
        </p:nvSpPr>
        <p:spPr>
          <a:xfrm>
            <a:off x="468313" y="1949450"/>
            <a:ext cx="7772400" cy="939800"/>
          </a:xfrm>
        </p:spPr>
        <p:txBody>
          <a:bodyPr/>
          <a:lstStyle/>
          <a:p>
            <a:r>
              <a:rPr lang="en-US" altLang="en-US" sz="1600"/>
              <a:t>Organisations must continuously listen to their stakeholders because both customers and employees can identify problems early, which should mean that they can be dealt with before they become much bigger problems. </a:t>
            </a:r>
            <a:endParaRPr lang="en-GB" altLang="en-US" sz="1600"/>
          </a:p>
          <a:p>
            <a:endParaRPr lang="en-GB" altLang="en-US" sz="1600"/>
          </a:p>
        </p:txBody>
      </p:sp>
      <p:pic>
        <p:nvPicPr>
          <p:cNvPr id="61444" name="Picture 4" descr="A picture containing clock&#10;&#10;Description automatically generated">
            <a:extLst>
              <a:ext uri="{FF2B5EF4-FFF2-40B4-BE49-F238E27FC236}">
                <a16:creationId xmlns:a16="http://schemas.microsoft.com/office/drawing/2014/main" id="{A1C0CAEA-F7EC-F5BE-FB3C-55223D799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511550"/>
            <a:ext cx="37449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6" descr="A picture containing table, man&#10;&#10;Description automatically generated">
            <a:extLst>
              <a:ext uri="{FF2B5EF4-FFF2-40B4-BE49-F238E27FC236}">
                <a16:creationId xmlns:a16="http://schemas.microsoft.com/office/drawing/2014/main" id="{BB1D7698-3FBE-2179-A230-FF7F8F33E3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3292475"/>
            <a:ext cx="273367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0C957438-8EB4-65BE-EECC-A3D89DFE7136}"/>
              </a:ext>
            </a:extLst>
          </p:cNvPr>
          <p:cNvSpPr>
            <a:spLocks noGrp="1" noChangeArrowheads="1"/>
          </p:cNvSpPr>
          <p:nvPr>
            <p:ph type="title"/>
          </p:nvPr>
        </p:nvSpPr>
        <p:spPr/>
        <p:txBody>
          <a:bodyPr/>
          <a:lstStyle/>
          <a:p>
            <a:r>
              <a:rPr lang="en-US" altLang="en-US" sz="2800" b="1">
                <a:solidFill>
                  <a:srgbClr val="0070C0"/>
                </a:solidFill>
              </a:rPr>
              <a:t>How organisations assess if technology has met their needs </a:t>
            </a:r>
            <a:endParaRPr lang="en-GB" altLang="en-US" sz="2800" b="1">
              <a:solidFill>
                <a:srgbClr val="0070C0"/>
              </a:solidFill>
            </a:endParaRPr>
          </a:p>
        </p:txBody>
      </p:sp>
      <p:sp>
        <p:nvSpPr>
          <p:cNvPr id="63491" name="Content Placeholder 2">
            <a:extLst>
              <a:ext uri="{FF2B5EF4-FFF2-40B4-BE49-F238E27FC236}">
                <a16:creationId xmlns:a16="http://schemas.microsoft.com/office/drawing/2014/main" id="{84C0CC51-111C-DC72-1854-26C7C5FA6E1C}"/>
              </a:ext>
            </a:extLst>
          </p:cNvPr>
          <p:cNvSpPr>
            <a:spLocks noGrp="1" noChangeArrowheads="1"/>
          </p:cNvSpPr>
          <p:nvPr>
            <p:ph idx="1"/>
          </p:nvPr>
        </p:nvSpPr>
        <p:spPr>
          <a:xfrm>
            <a:off x="234950" y="1898650"/>
            <a:ext cx="8674100" cy="593725"/>
          </a:xfrm>
        </p:spPr>
        <p:txBody>
          <a:bodyPr/>
          <a:lstStyle/>
          <a:p>
            <a:r>
              <a:rPr lang="en-US" altLang="en-US" sz="1600"/>
              <a:t>Organisations must always be able to justify the expenditure on technology by showing how they have benefited from this activity. </a:t>
            </a:r>
          </a:p>
          <a:p>
            <a:endParaRPr lang="en-US" altLang="en-US" sz="1600"/>
          </a:p>
          <a:p>
            <a:endParaRPr lang="en-US" altLang="en-US" sz="1600"/>
          </a:p>
          <a:p>
            <a:endParaRPr lang="en-GB" altLang="en-US" sz="1600"/>
          </a:p>
        </p:txBody>
      </p:sp>
      <p:pic>
        <p:nvPicPr>
          <p:cNvPr id="63492" name="Picture 3">
            <a:extLst>
              <a:ext uri="{FF2B5EF4-FFF2-40B4-BE49-F238E27FC236}">
                <a16:creationId xmlns:a16="http://schemas.microsoft.com/office/drawing/2014/main" id="{55AA5EE4-3813-7357-E2E2-AA1C6F449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088" y="2490788"/>
            <a:ext cx="3711575"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4CFD548E-2EE6-F8E2-DB8F-49152610A6C5}"/>
              </a:ext>
            </a:extLst>
          </p:cNvPr>
          <p:cNvSpPr txBox="1">
            <a:spLocks/>
          </p:cNvSpPr>
          <p:nvPr/>
        </p:nvSpPr>
        <p:spPr bwMode="auto">
          <a:xfrm>
            <a:off x="203200" y="2584450"/>
            <a:ext cx="4511675" cy="36671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b="1" kern="0" dirty="0">
                <a:solidFill>
                  <a:srgbClr val="0070C0"/>
                </a:solidFill>
              </a:rPr>
              <a:t>Benefits </a:t>
            </a:r>
          </a:p>
          <a:p>
            <a:pPr marL="441325" lvl="1" indent="-268288">
              <a:defRPr/>
            </a:pPr>
            <a:r>
              <a:rPr lang="en-US" sz="1600" kern="0" dirty="0"/>
              <a:t>In order to establish whether an </a:t>
            </a:r>
            <a:r>
              <a:rPr lang="en-US" sz="1600" kern="0" dirty="0" err="1"/>
              <a:t>organisation's</a:t>
            </a:r>
            <a:r>
              <a:rPr lang="en-US" sz="1600" kern="0" dirty="0"/>
              <a:t> use of technology has met its needs, it will need to evaluate the impact that the technology has had on its activities. </a:t>
            </a:r>
          </a:p>
          <a:p>
            <a:pPr marL="441325" lvl="1" indent="-268288">
              <a:defRPr/>
            </a:pPr>
            <a:r>
              <a:rPr lang="en-US" sz="1600" kern="0" dirty="0"/>
              <a:t>This will, in part, be achieved through statistics, but should also involve talking to the people who have been affected by the changes and improvements made. </a:t>
            </a:r>
          </a:p>
          <a:p>
            <a:pPr marL="441325" lvl="1" indent="-268288">
              <a:defRPr/>
            </a:pPr>
            <a:r>
              <a:rPr lang="en-US" sz="1600" kern="0" dirty="0"/>
              <a:t>Some of the benefits, and how to measure them, are shown in the table. </a:t>
            </a:r>
            <a:endParaRPr lang="en-GB" sz="1600" kern="0" dirty="0"/>
          </a:p>
          <a:p>
            <a:pPr>
              <a:defRPr/>
            </a:pPr>
            <a:endParaRPr lang="en-US" sz="1600" kern="0" dirty="0"/>
          </a:p>
          <a:p>
            <a:pPr>
              <a:defRPr/>
            </a:pPr>
            <a:endParaRPr lang="en-US" sz="1600" kern="0" dirty="0"/>
          </a:p>
          <a:p>
            <a:pPr>
              <a:defRPr/>
            </a:pPr>
            <a:endParaRPr lang="en-GB" sz="1600" kern="0" dirty="0"/>
          </a:p>
        </p:txBody>
      </p:sp>
      <p:sp>
        <p:nvSpPr>
          <p:cNvPr id="6" name="Content Placeholder 2">
            <a:extLst>
              <a:ext uri="{FF2B5EF4-FFF2-40B4-BE49-F238E27FC236}">
                <a16:creationId xmlns:a16="http://schemas.microsoft.com/office/drawing/2014/main" id="{087BCF06-D812-7467-0F19-1001A7004FE2}"/>
              </a:ext>
            </a:extLst>
          </p:cNvPr>
          <p:cNvSpPr txBox="1">
            <a:spLocks/>
          </p:cNvSpPr>
          <p:nvPr/>
        </p:nvSpPr>
        <p:spPr bwMode="auto">
          <a:xfrm>
            <a:off x="287338" y="6199188"/>
            <a:ext cx="8856662" cy="5937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Even if the system is working better, the </a:t>
            </a:r>
            <a:r>
              <a:rPr lang="en-US" sz="1600" dirty="0" err="1"/>
              <a:t>organisation</a:t>
            </a:r>
            <a:r>
              <a:rPr lang="en-US" sz="1600" dirty="0"/>
              <a:t> should keep asking: 'Is there anything else that could provide additional benefits?' </a:t>
            </a:r>
            <a:endParaRPr lang="en-US" sz="1600" kern="0" dirty="0"/>
          </a:p>
          <a:p>
            <a:pPr>
              <a:defRPr/>
            </a:pPr>
            <a:endParaRPr lang="en-US" sz="1600" kern="0" dirty="0"/>
          </a:p>
          <a:p>
            <a:pPr>
              <a:defRPr/>
            </a:pPr>
            <a:endParaRPr lang="en-GB" sz="1600" kern="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B14D060F-513D-333B-F18D-C86FD7D5451D}"/>
              </a:ext>
            </a:extLst>
          </p:cNvPr>
          <p:cNvSpPr>
            <a:spLocks noGrp="1" noChangeArrowheads="1"/>
          </p:cNvSpPr>
          <p:nvPr>
            <p:ph type="title"/>
          </p:nvPr>
        </p:nvSpPr>
        <p:spPr/>
        <p:txBody>
          <a:bodyPr/>
          <a:lstStyle/>
          <a:p>
            <a:r>
              <a:rPr lang="en-US" altLang="en-US" sz="3600" b="1">
                <a:solidFill>
                  <a:srgbClr val="0070C0"/>
                </a:solidFill>
              </a:rPr>
              <a:t>Risks and issues </a:t>
            </a:r>
            <a:endParaRPr lang="en-GB" altLang="en-US" sz="3600" b="1">
              <a:solidFill>
                <a:srgbClr val="0070C0"/>
              </a:solidFill>
            </a:endParaRPr>
          </a:p>
        </p:txBody>
      </p:sp>
      <p:sp>
        <p:nvSpPr>
          <p:cNvPr id="65539" name="Content Placeholder 2">
            <a:extLst>
              <a:ext uri="{FF2B5EF4-FFF2-40B4-BE49-F238E27FC236}">
                <a16:creationId xmlns:a16="http://schemas.microsoft.com/office/drawing/2014/main" id="{282757E3-03A8-357B-2294-D0626E8222C0}"/>
              </a:ext>
            </a:extLst>
          </p:cNvPr>
          <p:cNvSpPr>
            <a:spLocks noGrp="1" noChangeArrowheads="1"/>
          </p:cNvSpPr>
          <p:nvPr>
            <p:ph idx="1"/>
          </p:nvPr>
        </p:nvSpPr>
        <p:spPr>
          <a:xfrm>
            <a:off x="500063" y="1844675"/>
            <a:ext cx="8175625" cy="542925"/>
          </a:xfrm>
        </p:spPr>
        <p:txBody>
          <a:bodyPr/>
          <a:lstStyle/>
          <a:p>
            <a:r>
              <a:rPr lang="en-US" altLang="en-US" sz="1800"/>
              <a:t>When implementing new technology there are risks and issues you should be aware of. </a:t>
            </a:r>
          </a:p>
          <a:p>
            <a:endParaRPr lang="en-GB" altLang="en-US" sz="1600"/>
          </a:p>
        </p:txBody>
      </p:sp>
      <p:sp>
        <p:nvSpPr>
          <p:cNvPr id="4" name="Content Placeholder 2">
            <a:extLst>
              <a:ext uri="{FF2B5EF4-FFF2-40B4-BE49-F238E27FC236}">
                <a16:creationId xmlns:a16="http://schemas.microsoft.com/office/drawing/2014/main" id="{9DE037FF-7D40-B7D0-2FB6-04FA82FD9AC9}"/>
              </a:ext>
            </a:extLst>
          </p:cNvPr>
          <p:cNvSpPr txBox="1">
            <a:spLocks/>
          </p:cNvSpPr>
          <p:nvPr/>
        </p:nvSpPr>
        <p:spPr bwMode="auto">
          <a:xfrm>
            <a:off x="500063" y="2889250"/>
            <a:ext cx="3567112" cy="17272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defRPr/>
            </a:pPr>
            <a:r>
              <a:rPr lang="en-US" sz="1800" kern="0" dirty="0"/>
              <a:t>Change management </a:t>
            </a:r>
          </a:p>
          <a:p>
            <a:pPr lvl="1">
              <a:defRPr/>
            </a:pPr>
            <a:r>
              <a:rPr lang="en-US" sz="1800" kern="0" dirty="0"/>
              <a:t>Ethical considerations</a:t>
            </a:r>
          </a:p>
          <a:p>
            <a:pPr lvl="1">
              <a:defRPr/>
            </a:pPr>
            <a:r>
              <a:rPr lang="en-US" sz="1800" kern="0" dirty="0"/>
              <a:t>Data management</a:t>
            </a:r>
          </a:p>
          <a:p>
            <a:pPr lvl="1">
              <a:defRPr/>
            </a:pPr>
            <a:r>
              <a:rPr lang="en-US" sz="1800" kern="0" dirty="0"/>
              <a:t>Legal considerations</a:t>
            </a:r>
          </a:p>
          <a:p>
            <a:pPr>
              <a:defRPr/>
            </a:pPr>
            <a:endParaRPr lang="en-GB" sz="1600" kern="0" dirty="0"/>
          </a:p>
        </p:txBody>
      </p:sp>
      <p:pic>
        <p:nvPicPr>
          <p:cNvPr id="65541" name="Picture 9" descr="A close up of a device&#10;&#10;Description automatically generated">
            <a:extLst>
              <a:ext uri="{FF2B5EF4-FFF2-40B4-BE49-F238E27FC236}">
                <a16:creationId xmlns:a16="http://schemas.microsoft.com/office/drawing/2014/main" id="{2D7EB86E-98DE-FE3E-F79F-B88F8C773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498725"/>
            <a:ext cx="3943350"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338A6D66-025B-7906-9612-6B566BC50AC4}"/>
              </a:ext>
            </a:extLst>
          </p:cNvPr>
          <p:cNvSpPr>
            <a:spLocks noGrp="1" noChangeArrowheads="1"/>
          </p:cNvSpPr>
          <p:nvPr>
            <p:ph type="title"/>
          </p:nvPr>
        </p:nvSpPr>
        <p:spPr>
          <a:xfrm>
            <a:off x="1136650" y="404813"/>
            <a:ext cx="7772400" cy="939800"/>
          </a:xfrm>
        </p:spPr>
        <p:txBody>
          <a:bodyPr/>
          <a:lstStyle/>
          <a:p>
            <a:r>
              <a:rPr lang="en-US" altLang="en-US" sz="3600" b="1">
                <a:solidFill>
                  <a:srgbClr val="0070C0"/>
                </a:solidFill>
              </a:rPr>
              <a:t>Change management </a:t>
            </a:r>
          </a:p>
        </p:txBody>
      </p:sp>
      <p:sp>
        <p:nvSpPr>
          <p:cNvPr id="4" name="Content Placeholder 2">
            <a:extLst>
              <a:ext uri="{FF2B5EF4-FFF2-40B4-BE49-F238E27FC236}">
                <a16:creationId xmlns:a16="http://schemas.microsoft.com/office/drawing/2014/main" id="{3146699A-75E1-B8BE-42DF-4B9B73BDB6CF}"/>
              </a:ext>
            </a:extLst>
          </p:cNvPr>
          <p:cNvSpPr txBox="1">
            <a:spLocks/>
          </p:cNvSpPr>
          <p:nvPr/>
        </p:nvSpPr>
        <p:spPr bwMode="auto">
          <a:xfrm>
            <a:off x="512763" y="1700213"/>
            <a:ext cx="7772400" cy="17287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Implementing change requires different parts of the organization to work together. </a:t>
            </a:r>
          </a:p>
          <a:p>
            <a:pPr>
              <a:defRPr/>
            </a:pPr>
            <a:r>
              <a:rPr lang="en-US" sz="1600" kern="0" dirty="0"/>
              <a:t>Usually, managers and project members trigger the change process, which is then filtered through to the employees.</a:t>
            </a:r>
          </a:p>
          <a:p>
            <a:pPr>
              <a:defRPr/>
            </a:pPr>
            <a:r>
              <a:rPr lang="en-US" sz="1600" kern="0" dirty="0"/>
              <a:t>But change also carries risks and potential problems. </a:t>
            </a:r>
          </a:p>
          <a:p>
            <a:pPr>
              <a:defRPr/>
            </a:pPr>
            <a:endParaRPr lang="en-GB" sz="1600" kern="0" dirty="0"/>
          </a:p>
        </p:txBody>
      </p:sp>
      <p:sp>
        <p:nvSpPr>
          <p:cNvPr id="5" name="Content Placeholder 2">
            <a:extLst>
              <a:ext uri="{FF2B5EF4-FFF2-40B4-BE49-F238E27FC236}">
                <a16:creationId xmlns:a16="http://schemas.microsoft.com/office/drawing/2014/main" id="{9D7631F2-B9E0-1C27-6601-266EC9B6FCDD}"/>
              </a:ext>
            </a:extLst>
          </p:cNvPr>
          <p:cNvSpPr txBox="1">
            <a:spLocks/>
          </p:cNvSpPr>
          <p:nvPr/>
        </p:nvSpPr>
        <p:spPr bwMode="auto">
          <a:xfrm>
            <a:off x="512763" y="3213100"/>
            <a:ext cx="5427662" cy="32400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But change also carries risks and potential problems.</a:t>
            </a:r>
          </a:p>
          <a:p>
            <a:pPr lvl="1">
              <a:defRPr/>
            </a:pPr>
            <a:r>
              <a:rPr lang="en-US" sz="1600" dirty="0"/>
              <a:t>Staff may need to be trained to use the new systems -this can be expensive and while they are training, they will not be doing their usual job.</a:t>
            </a:r>
          </a:p>
          <a:p>
            <a:pPr lvl="1">
              <a:defRPr/>
            </a:pPr>
            <a:r>
              <a:rPr lang="en-US" sz="1600" dirty="0"/>
              <a:t>Even with training it can take time for staff to become confident with new technology.</a:t>
            </a:r>
          </a:p>
          <a:p>
            <a:pPr lvl="1">
              <a:defRPr/>
            </a:pPr>
            <a:r>
              <a:rPr lang="en-US" sz="1600" dirty="0"/>
              <a:t>Old systems need to be turned off as the new systems are turned on-this is often done overnight to cause the least disruption to the service.</a:t>
            </a:r>
          </a:p>
          <a:p>
            <a:pPr lvl="1">
              <a:defRPr/>
            </a:pPr>
            <a:r>
              <a:rPr lang="en-US" sz="1600" dirty="0"/>
              <a:t>There is always a risk that data could be lost when moving activity from one system to another.</a:t>
            </a:r>
            <a:r>
              <a:rPr lang="en-US" sz="1600" kern="0" dirty="0"/>
              <a:t> </a:t>
            </a:r>
          </a:p>
          <a:p>
            <a:pPr>
              <a:defRPr/>
            </a:pPr>
            <a:endParaRPr lang="en-GB" sz="1600" kern="0" dirty="0"/>
          </a:p>
        </p:txBody>
      </p:sp>
      <p:pic>
        <p:nvPicPr>
          <p:cNvPr id="67589" name="Picture 7" descr="A close up of a device&#10;&#10;Description automatically generated">
            <a:extLst>
              <a:ext uri="{FF2B5EF4-FFF2-40B4-BE49-F238E27FC236}">
                <a16:creationId xmlns:a16="http://schemas.microsoft.com/office/drawing/2014/main" id="{0E58B1E1-CE27-A044-EB6B-65CEFAE04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575" y="3190875"/>
            <a:ext cx="2379663"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254E076A-1E7F-EF83-86B1-A9DE33301A0C}"/>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Ethical considerations </a:t>
            </a:r>
            <a:endParaRPr lang="en-GB" altLang="en-US" sz="3600" b="1">
              <a:solidFill>
                <a:srgbClr val="0070C0"/>
              </a:solidFill>
            </a:endParaRPr>
          </a:p>
        </p:txBody>
      </p:sp>
      <p:sp>
        <p:nvSpPr>
          <p:cNvPr id="69635" name="Content Placeholder 2">
            <a:extLst>
              <a:ext uri="{FF2B5EF4-FFF2-40B4-BE49-F238E27FC236}">
                <a16:creationId xmlns:a16="http://schemas.microsoft.com/office/drawing/2014/main" id="{75286F58-4FB7-ED8C-A6CE-84AAC237A350}"/>
              </a:ext>
            </a:extLst>
          </p:cNvPr>
          <p:cNvSpPr>
            <a:spLocks noGrp="1" noChangeArrowheads="1"/>
          </p:cNvSpPr>
          <p:nvPr>
            <p:ph idx="1"/>
          </p:nvPr>
        </p:nvSpPr>
        <p:spPr>
          <a:xfrm>
            <a:off x="685800" y="1970088"/>
            <a:ext cx="5326063" cy="4503737"/>
          </a:xfrm>
        </p:spPr>
        <p:txBody>
          <a:bodyPr/>
          <a:lstStyle/>
          <a:p>
            <a:r>
              <a:rPr lang="en-US" altLang="en-US" sz="1600"/>
              <a:t>Before changing systems or technologies, the organisation should undertake a consultation with the stakeholders. This will ensure that they feel part of the process and that they are involved in the process of change, rather than change just happening and them having to cope with it. Organisations that do this are much more successful in implementing change. </a:t>
            </a:r>
          </a:p>
          <a:p>
            <a:r>
              <a:rPr lang="en-US" altLang="en-US" sz="1600"/>
              <a:t>Change can cause stress, so organisations should make sure that employees are fully aware of how the change will affect them. For example, they might need to work different !hours or even relocate (move to another department or even another town or city). If they have dependents, this might mean an additional level of understanding from the organisation while the transition takes place. </a:t>
            </a:r>
          </a:p>
          <a:p>
            <a:r>
              <a:rPr lang="en-US" altLang="en-US" sz="1600"/>
              <a:t>Data management </a:t>
            </a:r>
          </a:p>
          <a:p>
            <a:endParaRPr lang="en-GB" altLang="en-US" sz="1600"/>
          </a:p>
        </p:txBody>
      </p:sp>
      <p:pic>
        <p:nvPicPr>
          <p:cNvPr id="69636" name="Picture 4" descr="A sign on a pole&#10;&#10;Description automatically generated">
            <a:extLst>
              <a:ext uri="{FF2B5EF4-FFF2-40B4-BE49-F238E27FC236}">
                <a16:creationId xmlns:a16="http://schemas.microsoft.com/office/drawing/2014/main" id="{08D5D786-103A-3FF6-E78F-FEF7B9275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025" y="2205038"/>
            <a:ext cx="28670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6" descr="A picture containing drawing, sign&#10;&#10;Description automatically generated">
            <a:extLst>
              <a:ext uri="{FF2B5EF4-FFF2-40B4-BE49-F238E27FC236}">
                <a16:creationId xmlns:a16="http://schemas.microsoft.com/office/drawing/2014/main" id="{34F40863-8775-984A-6F9A-C50D2D0D1E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2688" y="4329113"/>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325E70A7-A05A-A1C4-28D4-1719CEE5A4A1}"/>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Data management </a:t>
            </a:r>
          </a:p>
        </p:txBody>
      </p:sp>
      <p:sp>
        <p:nvSpPr>
          <p:cNvPr id="71683" name="Content Placeholder 2">
            <a:extLst>
              <a:ext uri="{FF2B5EF4-FFF2-40B4-BE49-F238E27FC236}">
                <a16:creationId xmlns:a16="http://schemas.microsoft.com/office/drawing/2014/main" id="{D57CA59B-9B1A-EB88-B8A7-B95675439A92}"/>
              </a:ext>
            </a:extLst>
          </p:cNvPr>
          <p:cNvSpPr>
            <a:spLocks noGrp="1" noChangeArrowheads="1"/>
          </p:cNvSpPr>
          <p:nvPr>
            <p:ph idx="1"/>
          </p:nvPr>
        </p:nvSpPr>
        <p:spPr>
          <a:xfrm>
            <a:off x="539750" y="2693988"/>
            <a:ext cx="3200400" cy="2990850"/>
          </a:xfrm>
        </p:spPr>
        <p:txBody>
          <a:bodyPr/>
          <a:lstStyle/>
          <a:p>
            <a:r>
              <a:rPr lang="en-US" altLang="en-US" sz="1600"/>
              <a:t>Changing technology is also a time when the ownership of data should be revisited. </a:t>
            </a:r>
          </a:p>
          <a:p>
            <a:endParaRPr lang="en-US" altLang="en-US" sz="1600"/>
          </a:p>
          <a:p>
            <a:r>
              <a:rPr lang="en-US" altLang="en-US" sz="1600"/>
              <a:t>Data needs to be secure and kept private and organisations must make sure that changes they make to their systems do not compromise this. </a:t>
            </a:r>
            <a:endParaRPr lang="en-GB" altLang="en-US" sz="1600"/>
          </a:p>
          <a:p>
            <a:endParaRPr lang="en-GB" altLang="en-US" sz="1600"/>
          </a:p>
        </p:txBody>
      </p:sp>
      <p:pic>
        <p:nvPicPr>
          <p:cNvPr id="71684" name="Picture 6" descr="A screenshot of a cell phone&#10;&#10;Description automatically generated">
            <a:extLst>
              <a:ext uri="{FF2B5EF4-FFF2-40B4-BE49-F238E27FC236}">
                <a16:creationId xmlns:a16="http://schemas.microsoft.com/office/drawing/2014/main" id="{0747BAC9-E4B3-87AD-D65A-F2AB108185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776413"/>
            <a:ext cx="367188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8" descr="A close up of a logo&#10;&#10;Description automatically generated">
            <a:extLst>
              <a:ext uri="{FF2B5EF4-FFF2-40B4-BE49-F238E27FC236}">
                <a16:creationId xmlns:a16="http://schemas.microsoft.com/office/drawing/2014/main" id="{75B810F9-7852-B09D-EABA-4B210CA77F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5813" y="3579813"/>
            <a:ext cx="417195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C203B097-254F-8D4F-2A10-92D3EE47DFA6}"/>
              </a:ext>
            </a:extLst>
          </p:cNvPr>
          <p:cNvSpPr>
            <a:spLocks noGrp="1" noChangeArrowheads="1"/>
          </p:cNvSpPr>
          <p:nvPr>
            <p:ph type="title"/>
          </p:nvPr>
        </p:nvSpPr>
        <p:spPr/>
        <p:txBody>
          <a:bodyPr/>
          <a:lstStyle/>
          <a:p>
            <a:r>
              <a:rPr lang="en-US" altLang="en-US" sz="3600" b="1">
                <a:solidFill>
                  <a:srgbClr val="0070C0"/>
                </a:solidFill>
              </a:rPr>
              <a:t>Legal considerations </a:t>
            </a:r>
          </a:p>
        </p:txBody>
      </p:sp>
      <p:sp>
        <p:nvSpPr>
          <p:cNvPr id="73731" name="Content Placeholder 2">
            <a:extLst>
              <a:ext uri="{FF2B5EF4-FFF2-40B4-BE49-F238E27FC236}">
                <a16:creationId xmlns:a16="http://schemas.microsoft.com/office/drawing/2014/main" id="{FA80C6A8-3E03-3217-3CEC-F279BEB041DF}"/>
              </a:ext>
            </a:extLst>
          </p:cNvPr>
          <p:cNvSpPr>
            <a:spLocks noGrp="1" noChangeArrowheads="1"/>
          </p:cNvSpPr>
          <p:nvPr>
            <p:ph idx="1"/>
          </p:nvPr>
        </p:nvSpPr>
        <p:spPr/>
        <p:txBody>
          <a:bodyPr/>
          <a:lstStyle/>
          <a:p>
            <a:r>
              <a:rPr lang="en-US" altLang="en-US" sz="1600"/>
              <a:t>There are rules and regulations that govern how data is stored and used, so any changes in the use of the data need to be checked for COMPLIANCE (working within the legal requirements) with these regulations. </a:t>
            </a:r>
          </a:p>
          <a:p>
            <a:endParaRPr lang="en-US" altLang="en-US" sz="1600"/>
          </a:p>
          <a:p>
            <a:r>
              <a:rPr lang="en-US" altLang="en-US" sz="1600"/>
              <a:t>The key pieces of legislation that affect data and systems are the: </a:t>
            </a:r>
          </a:p>
          <a:p>
            <a:endParaRPr lang="en-US" altLang="en-US" sz="1600"/>
          </a:p>
          <a:p>
            <a:pPr lvl="1"/>
            <a:r>
              <a:rPr lang="en-US" altLang="en-US" sz="1600" b="1"/>
              <a:t>Data Protection Act 1998</a:t>
            </a:r>
          </a:p>
          <a:p>
            <a:pPr lvl="1"/>
            <a:r>
              <a:rPr lang="en-US" altLang="en-US" sz="1600" b="1"/>
              <a:t>Computer Misuse Act 1990.</a:t>
            </a:r>
          </a:p>
          <a:p>
            <a:endParaRPr lang="en-GB" altLang="en-US"/>
          </a:p>
        </p:txBody>
      </p:sp>
      <p:pic>
        <p:nvPicPr>
          <p:cNvPr id="73732" name="Picture 4" descr="A close up of a device&#10;&#10;Description automatically generated">
            <a:extLst>
              <a:ext uri="{FF2B5EF4-FFF2-40B4-BE49-F238E27FC236}">
                <a16:creationId xmlns:a16="http://schemas.microsoft.com/office/drawing/2014/main" id="{8EF3702B-BED7-69E6-5BB5-4EC528C73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3503613"/>
            <a:ext cx="3454400"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47D09944-8115-CEAA-42D5-4E50B2A3A2FF}"/>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Data Protection Act 1998</a:t>
            </a:r>
            <a:endParaRPr lang="en-GB" altLang="en-US" sz="3600" b="1">
              <a:solidFill>
                <a:srgbClr val="0070C0"/>
              </a:solidFill>
            </a:endParaRPr>
          </a:p>
        </p:txBody>
      </p:sp>
      <p:sp>
        <p:nvSpPr>
          <p:cNvPr id="75779" name="Content Placeholder 2">
            <a:extLst>
              <a:ext uri="{FF2B5EF4-FFF2-40B4-BE49-F238E27FC236}">
                <a16:creationId xmlns:a16="http://schemas.microsoft.com/office/drawing/2014/main" id="{4B50E00B-6064-F6BC-9949-EA9A7214E1E9}"/>
              </a:ext>
            </a:extLst>
          </p:cNvPr>
          <p:cNvSpPr>
            <a:spLocks noGrp="1" noChangeArrowheads="1"/>
          </p:cNvSpPr>
          <p:nvPr>
            <p:ph idx="1"/>
          </p:nvPr>
        </p:nvSpPr>
        <p:spPr>
          <a:xfrm>
            <a:off x="685800" y="1844675"/>
            <a:ext cx="7772400" cy="1223963"/>
          </a:xfrm>
        </p:spPr>
        <p:txBody>
          <a:bodyPr/>
          <a:lstStyle/>
          <a:p>
            <a:r>
              <a:rPr lang="en-US" altLang="en-US" sz="1600"/>
              <a:t>The Data Protection Act is designed to protect data by setting out how it can be used and how it must be stored.</a:t>
            </a:r>
          </a:p>
          <a:p>
            <a:r>
              <a:rPr lang="en-US" altLang="en-US" sz="1600"/>
              <a:t>There are rules that must be followed by organisations and there are penalties for organisations that do not comply with the law. </a:t>
            </a:r>
          </a:p>
        </p:txBody>
      </p:sp>
      <p:sp>
        <p:nvSpPr>
          <p:cNvPr id="4" name="Content Placeholder 2">
            <a:extLst>
              <a:ext uri="{FF2B5EF4-FFF2-40B4-BE49-F238E27FC236}">
                <a16:creationId xmlns:a16="http://schemas.microsoft.com/office/drawing/2014/main" id="{58A195D3-5FFA-E61D-8472-4AE26C5F44C5}"/>
              </a:ext>
            </a:extLst>
          </p:cNvPr>
          <p:cNvSpPr txBox="1">
            <a:spLocks/>
          </p:cNvSpPr>
          <p:nvPr/>
        </p:nvSpPr>
        <p:spPr bwMode="auto">
          <a:xfrm>
            <a:off x="685800" y="3068638"/>
            <a:ext cx="4318000" cy="320833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err="1"/>
              <a:t>Organisations</a:t>
            </a:r>
            <a:r>
              <a:rPr lang="en-US" sz="1600" kern="0" dirty="0"/>
              <a:t> that want to store data about [People have to apply for permission to do so from the Information Commissioner's Office. </a:t>
            </a:r>
          </a:p>
          <a:p>
            <a:pPr>
              <a:defRPr/>
            </a:pPr>
            <a:r>
              <a:rPr lang="en-US" sz="1600" kern="0" dirty="0"/>
              <a:t>They are then given a checklist of actions that they must take and evidence they must generate to prove that they can comply with the regulations.</a:t>
            </a:r>
          </a:p>
          <a:p>
            <a:pPr>
              <a:defRPr/>
            </a:pPr>
            <a:r>
              <a:rPr lang="en-US" sz="1600" kern="0" dirty="0"/>
              <a:t>The application is then approved or declined.</a:t>
            </a:r>
          </a:p>
          <a:p>
            <a:pPr>
              <a:defRPr/>
            </a:pPr>
            <a:r>
              <a:rPr lang="en-US" sz="1600" kern="0" dirty="0"/>
              <a:t>If an </a:t>
            </a:r>
            <a:r>
              <a:rPr lang="en-US" sz="1600" kern="0" dirty="0" err="1"/>
              <a:t>organisation</a:t>
            </a:r>
            <a:r>
              <a:rPr lang="en-US" sz="1600" kern="0" dirty="0"/>
              <a:t> is declined, it can prevent them from working with other </a:t>
            </a:r>
            <a:r>
              <a:rPr lang="en-US" sz="1600" kern="0" dirty="0" err="1"/>
              <a:t>organisations</a:t>
            </a:r>
            <a:r>
              <a:rPr lang="en-US" sz="1600" kern="0" dirty="0"/>
              <a:t>. </a:t>
            </a:r>
            <a:endParaRPr lang="en-GB" kern="0" dirty="0"/>
          </a:p>
        </p:txBody>
      </p:sp>
      <p:pic>
        <p:nvPicPr>
          <p:cNvPr id="75781" name="Picture 5" descr="A screenshot of a cell phone&#10;&#10;Description automatically generated">
            <a:extLst>
              <a:ext uri="{FF2B5EF4-FFF2-40B4-BE49-F238E27FC236}">
                <a16:creationId xmlns:a16="http://schemas.microsoft.com/office/drawing/2014/main" id="{06F8AE9A-D8D2-AF92-3BB3-0FF0EF814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7438" y="3429000"/>
            <a:ext cx="4037012"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974ADF8A-8762-29EB-327A-F56FA2B604E7}"/>
              </a:ext>
            </a:extLst>
          </p:cNvPr>
          <p:cNvSpPr>
            <a:spLocks noGrp="1" noChangeArrowheads="1"/>
          </p:cNvSpPr>
          <p:nvPr>
            <p:ph type="title"/>
          </p:nvPr>
        </p:nvSpPr>
        <p:spPr/>
        <p:txBody>
          <a:bodyPr/>
          <a:lstStyle/>
          <a:p>
            <a:r>
              <a:rPr lang="en-US" altLang="en-US" sz="3600" b="1">
                <a:solidFill>
                  <a:srgbClr val="0070C0"/>
                </a:solidFill>
              </a:rPr>
              <a:t>Computer Misuse Act 1990.</a:t>
            </a:r>
            <a:endParaRPr lang="en-GB" altLang="en-US" sz="3600" b="1">
              <a:solidFill>
                <a:srgbClr val="0070C0"/>
              </a:solidFill>
            </a:endParaRPr>
          </a:p>
        </p:txBody>
      </p:sp>
      <p:sp>
        <p:nvSpPr>
          <p:cNvPr id="77827" name="Content Placeholder 2">
            <a:extLst>
              <a:ext uri="{FF2B5EF4-FFF2-40B4-BE49-F238E27FC236}">
                <a16:creationId xmlns:a16="http://schemas.microsoft.com/office/drawing/2014/main" id="{60E07074-F1E5-2523-67C4-241771AEEDD2}"/>
              </a:ext>
            </a:extLst>
          </p:cNvPr>
          <p:cNvSpPr>
            <a:spLocks noGrp="1" noChangeArrowheads="1"/>
          </p:cNvSpPr>
          <p:nvPr>
            <p:ph idx="1"/>
          </p:nvPr>
        </p:nvSpPr>
        <p:spPr>
          <a:xfrm>
            <a:off x="323850" y="1844675"/>
            <a:ext cx="8424863" cy="576263"/>
          </a:xfrm>
        </p:spPr>
        <p:txBody>
          <a:bodyPr/>
          <a:lstStyle/>
          <a:p>
            <a:r>
              <a:rPr lang="en-US" altLang="en-US" sz="1400"/>
              <a:t>The Computer Misuse Act is designed to protect data and materials from criminal activity. </a:t>
            </a:r>
          </a:p>
          <a:p>
            <a:r>
              <a:rPr lang="en-US" altLang="en-US" sz="1400"/>
              <a:t>This applies to individuials as much as it does to organisations, as in the following examples. </a:t>
            </a:r>
          </a:p>
          <a:p>
            <a:endParaRPr lang="en-US" altLang="en-US" sz="1400"/>
          </a:p>
        </p:txBody>
      </p:sp>
      <p:sp>
        <p:nvSpPr>
          <p:cNvPr id="4" name="Content Placeholder 2">
            <a:extLst>
              <a:ext uri="{FF2B5EF4-FFF2-40B4-BE49-F238E27FC236}">
                <a16:creationId xmlns:a16="http://schemas.microsoft.com/office/drawing/2014/main" id="{893C4BC2-E9A4-D9E7-D865-7C5535E385C4}"/>
              </a:ext>
            </a:extLst>
          </p:cNvPr>
          <p:cNvSpPr txBox="1">
            <a:spLocks/>
          </p:cNvSpPr>
          <p:nvPr/>
        </p:nvSpPr>
        <p:spPr bwMode="auto">
          <a:xfrm>
            <a:off x="358775" y="2600325"/>
            <a:ext cx="6373813" cy="36734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defRPr/>
            </a:pPr>
            <a:r>
              <a:rPr lang="en-US" sz="1400" b="1" kern="0" dirty="0">
                <a:solidFill>
                  <a:srgbClr val="0070C0"/>
                </a:solidFill>
              </a:rPr>
              <a:t>HACKERS: </a:t>
            </a:r>
            <a:r>
              <a:rPr lang="en-US" sz="1400" kern="0" dirty="0" err="1"/>
              <a:t>unauthorised</a:t>
            </a:r>
            <a:r>
              <a:rPr lang="en-US" sz="1400" kern="0" dirty="0"/>
              <a:t> people who use network functionality to gain access to systems with the intention of stealing or destroying data or disrupting the operation of the system.</a:t>
            </a:r>
          </a:p>
          <a:p>
            <a:pPr lvl="1">
              <a:defRPr/>
            </a:pPr>
            <a:r>
              <a:rPr lang="en-US" sz="1400" b="1" kern="0" dirty="0">
                <a:solidFill>
                  <a:srgbClr val="0070C0"/>
                </a:solidFill>
              </a:rPr>
              <a:t>Theft: </a:t>
            </a:r>
            <a:r>
              <a:rPr lang="en-US" sz="1400" kern="0" dirty="0"/>
              <a:t>did you know that you are committing a criminal offence </a:t>
            </a:r>
            <a:r>
              <a:rPr lang="en-US" sz="1400" kern="0" dirty="0" err="1"/>
              <a:t>ifyou</a:t>
            </a:r>
            <a:r>
              <a:rPr lang="en-US" sz="1400" kern="0" dirty="0"/>
              <a:t> upload and share copyright materials on the internet? COPYRIGHT means that the person who created the material is the only person who can assign other people the right to use it. This is why copying music or videos and giving them to your friends without the permission of the copyright holder is against the law.</a:t>
            </a:r>
          </a:p>
          <a:p>
            <a:pPr lvl="1">
              <a:defRPr/>
            </a:pPr>
            <a:r>
              <a:rPr lang="en-US" sz="1400" b="1" kern="0" dirty="0">
                <a:solidFill>
                  <a:srgbClr val="0070C0"/>
                </a:solidFill>
              </a:rPr>
              <a:t>Pornography: </a:t>
            </a:r>
            <a:r>
              <a:rPr lang="en-US" sz="1400" kern="0" dirty="0"/>
              <a:t>in addition to copyright issues and other legal restrictions on pornography, and due to the rise in 'revenge porn', it is now illegal to share photographic images or videoed content of individuals without their consent and if you intend to cause them distress.</a:t>
            </a:r>
          </a:p>
          <a:p>
            <a:pPr lvl="1">
              <a:defRPr/>
            </a:pPr>
            <a:r>
              <a:rPr lang="en-US" sz="1400" b="1" kern="0" dirty="0">
                <a:solidFill>
                  <a:srgbClr val="0070C0"/>
                </a:solidFill>
              </a:rPr>
              <a:t>Identity theft: </a:t>
            </a:r>
            <a:r>
              <a:rPr lang="en-US" sz="1400" kern="0" dirty="0"/>
              <a:t>this is using someone's personal information to create false profiles or to pretend to be that person for criminal purposes (such as acquiring loans or credit cards in someone else's name).</a:t>
            </a:r>
          </a:p>
          <a:p>
            <a:pPr>
              <a:defRPr/>
            </a:pPr>
            <a:endParaRPr lang="en-US" sz="1400" kern="0" dirty="0"/>
          </a:p>
        </p:txBody>
      </p:sp>
      <p:pic>
        <p:nvPicPr>
          <p:cNvPr id="77829" name="Picture 6" descr="A person standing in a room&#10;&#10;Description automatically generated">
            <a:extLst>
              <a:ext uri="{FF2B5EF4-FFF2-40B4-BE49-F238E27FC236}">
                <a16:creationId xmlns:a16="http://schemas.microsoft.com/office/drawing/2014/main" id="{966DD977-9211-F7EB-81E5-C9AC0634E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2600325"/>
            <a:ext cx="19034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8" descr="A picture containing drawing&#10;&#10;Description automatically generated">
            <a:extLst>
              <a:ext uri="{FF2B5EF4-FFF2-40B4-BE49-F238E27FC236}">
                <a16:creationId xmlns:a16="http://schemas.microsoft.com/office/drawing/2014/main" id="{361E2AE7-BB53-DFF4-7888-D07C12D9E0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3263" y="4025900"/>
            <a:ext cx="1870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10" descr="A picture containing knife, drawing&#10;&#10;Description automatically generated">
            <a:extLst>
              <a:ext uri="{FF2B5EF4-FFF2-40B4-BE49-F238E27FC236}">
                <a16:creationId xmlns:a16="http://schemas.microsoft.com/office/drawing/2014/main" id="{7E9C41A0-1229-1E14-AA56-1BDB0DD7B4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9588" y="5249863"/>
            <a:ext cx="2049462"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A69BDB78-3E78-7BBC-32A8-A2272E3FE9E5}"/>
              </a:ext>
            </a:extLst>
          </p:cNvPr>
          <p:cNvSpPr>
            <a:spLocks noGrp="1" noChangeArrowheads="1"/>
          </p:cNvSpPr>
          <p:nvPr>
            <p:ph type="title"/>
          </p:nvPr>
        </p:nvSpPr>
        <p:spPr/>
        <p:txBody>
          <a:bodyPr/>
          <a:lstStyle/>
          <a:p>
            <a:r>
              <a:rPr lang="en-US" altLang="en-US" sz="3600" b="1">
                <a:solidFill>
                  <a:srgbClr val="0070C0"/>
                </a:solidFill>
              </a:rPr>
              <a:t>Computer Misuse Act 1990.</a:t>
            </a:r>
            <a:endParaRPr lang="en-GB" altLang="en-US" sz="3600" b="1">
              <a:solidFill>
                <a:srgbClr val="0070C0"/>
              </a:solidFill>
            </a:endParaRPr>
          </a:p>
        </p:txBody>
      </p:sp>
      <p:sp>
        <p:nvSpPr>
          <p:cNvPr id="79875" name="Content Placeholder 2">
            <a:extLst>
              <a:ext uri="{FF2B5EF4-FFF2-40B4-BE49-F238E27FC236}">
                <a16:creationId xmlns:a16="http://schemas.microsoft.com/office/drawing/2014/main" id="{8492F208-0696-FF54-A57D-B0EBE0F2D00B}"/>
              </a:ext>
            </a:extLst>
          </p:cNvPr>
          <p:cNvSpPr>
            <a:spLocks noGrp="1" noChangeArrowheads="1"/>
          </p:cNvSpPr>
          <p:nvPr>
            <p:ph idx="1"/>
          </p:nvPr>
        </p:nvSpPr>
        <p:spPr>
          <a:xfrm>
            <a:off x="323850" y="1844675"/>
            <a:ext cx="8424863" cy="360363"/>
          </a:xfrm>
        </p:spPr>
        <p:txBody>
          <a:bodyPr/>
          <a:lstStyle/>
          <a:p>
            <a:r>
              <a:rPr lang="en-US" altLang="en-US" sz="1600"/>
              <a:t>There are three key offences under the Computer Misuse Act. </a:t>
            </a:r>
          </a:p>
          <a:p>
            <a:endParaRPr lang="en-US" altLang="en-US" sz="1600"/>
          </a:p>
          <a:p>
            <a:endParaRPr lang="en-GB" altLang="en-US" sz="1600"/>
          </a:p>
        </p:txBody>
      </p:sp>
      <p:sp>
        <p:nvSpPr>
          <p:cNvPr id="4" name="Content Placeholder 2">
            <a:extLst>
              <a:ext uri="{FF2B5EF4-FFF2-40B4-BE49-F238E27FC236}">
                <a16:creationId xmlns:a16="http://schemas.microsoft.com/office/drawing/2014/main" id="{6E2E4A4D-7D6A-587B-10F5-3CB74D06EC82}"/>
              </a:ext>
            </a:extLst>
          </p:cNvPr>
          <p:cNvSpPr txBox="1">
            <a:spLocks/>
          </p:cNvSpPr>
          <p:nvPr/>
        </p:nvSpPr>
        <p:spPr bwMode="auto">
          <a:xfrm>
            <a:off x="323850" y="2371725"/>
            <a:ext cx="4032250" cy="29289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buFont typeface="+mj-lt"/>
              <a:buAutoNum type="arabicPeriod"/>
              <a:defRPr/>
            </a:pPr>
            <a:r>
              <a:rPr lang="en-US" sz="1600" kern="0" dirty="0"/>
              <a:t>Accessing someone's files without their permission.</a:t>
            </a:r>
          </a:p>
          <a:p>
            <a:pPr lvl="1">
              <a:buFont typeface="+mj-lt"/>
              <a:buAutoNum type="arabicPeriod"/>
              <a:defRPr/>
            </a:pPr>
            <a:endParaRPr lang="en-US" sz="1600" kern="0" dirty="0"/>
          </a:p>
          <a:p>
            <a:pPr lvl="1">
              <a:buFont typeface="+mj-lt"/>
              <a:buAutoNum type="arabicPeriod"/>
              <a:defRPr/>
            </a:pPr>
            <a:r>
              <a:rPr lang="en-US" sz="1600" kern="0" dirty="0"/>
              <a:t>Accessing their files with a view to committing other crimes. </a:t>
            </a:r>
          </a:p>
          <a:p>
            <a:pPr lvl="1">
              <a:buFont typeface="+mj-lt"/>
              <a:buAutoNum type="arabicPeriod"/>
              <a:defRPr/>
            </a:pPr>
            <a:endParaRPr lang="en-US" sz="1600" kern="0" dirty="0"/>
          </a:p>
          <a:p>
            <a:pPr lvl="1">
              <a:buFont typeface="+mj-lt"/>
              <a:buAutoNum type="arabicPeriod"/>
              <a:defRPr/>
            </a:pPr>
            <a:r>
              <a:rPr lang="en-US" sz="1600" kern="0" dirty="0"/>
              <a:t>Changing data without permission (this includes writing VIRUSES to destroy data).</a:t>
            </a:r>
          </a:p>
          <a:p>
            <a:pPr>
              <a:defRPr/>
            </a:pPr>
            <a:endParaRPr lang="en-GB" sz="1600" kern="0" dirty="0"/>
          </a:p>
        </p:txBody>
      </p:sp>
      <p:pic>
        <p:nvPicPr>
          <p:cNvPr id="79877" name="Picture 7" descr="A screenshot of a cell phone&#10;&#10;Description automatically generated">
            <a:extLst>
              <a:ext uri="{FF2B5EF4-FFF2-40B4-BE49-F238E27FC236}">
                <a16:creationId xmlns:a16="http://schemas.microsoft.com/office/drawing/2014/main" id="{AC4C959A-99D7-7517-21C9-51AEE3B1B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2459038"/>
            <a:ext cx="2851150" cy="213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DE85-43AD-A449-1273-D4AB14883D8D}"/>
            </a:ext>
          </a:extLst>
        </p:cNvPr>
        <p:cNvGrpSpPr/>
        <p:nvPr/>
      </p:nvGrpSpPr>
      <p:grpSpPr>
        <a:xfrm>
          <a:off x="0" y="0"/>
          <a:ext cx="0" cy="0"/>
          <a:chOff x="0" y="0"/>
          <a:chExt cx="0" cy="0"/>
        </a:xfrm>
      </p:grpSpPr>
      <p:sp>
        <p:nvSpPr>
          <p:cNvPr id="102402" name="Title 1">
            <a:extLst>
              <a:ext uri="{FF2B5EF4-FFF2-40B4-BE49-F238E27FC236}">
                <a16:creationId xmlns:a16="http://schemas.microsoft.com/office/drawing/2014/main" id="{04442078-3F11-363D-603F-19720A89AD20}"/>
              </a:ext>
            </a:extLst>
          </p:cNvPr>
          <p:cNvSpPr>
            <a:spLocks noGrp="1" noChangeArrowheads="1"/>
          </p:cNvSpPr>
          <p:nvPr>
            <p:ph type="title"/>
          </p:nvPr>
        </p:nvSpPr>
        <p:spPr>
          <a:xfrm>
            <a:off x="1182688" y="404813"/>
            <a:ext cx="7726362" cy="939800"/>
          </a:xfrm>
        </p:spPr>
        <p:txBody>
          <a:bodyPr/>
          <a:lstStyle/>
          <a:p>
            <a:r>
              <a:rPr lang="en-GB" altLang="en-US" sz="2400" b="1" dirty="0">
                <a:solidFill>
                  <a:srgbClr val="FF0000"/>
                </a:solidFill>
              </a:rPr>
              <a:t>Activity - </a:t>
            </a:r>
            <a:r>
              <a:rPr lang="en-GB" sz="2400" b="1" dirty="0">
                <a:solidFill>
                  <a:srgbClr val="FF0000"/>
                </a:solidFill>
              </a:rPr>
              <a:t>Investigating Emerging Technologies and Their Impact on Industries</a:t>
            </a:r>
            <a:endParaRPr lang="en-GB" altLang="en-US" sz="2400" b="1" dirty="0">
              <a:solidFill>
                <a:srgbClr val="FF0000"/>
              </a:solidFill>
            </a:endParaRPr>
          </a:p>
        </p:txBody>
      </p:sp>
      <p:sp>
        <p:nvSpPr>
          <p:cNvPr id="102403" name="Content Placeholder 2">
            <a:extLst>
              <a:ext uri="{FF2B5EF4-FFF2-40B4-BE49-F238E27FC236}">
                <a16:creationId xmlns:a16="http://schemas.microsoft.com/office/drawing/2014/main" id="{DE7CE92D-F119-8EF0-DD8A-6076A947449B}"/>
              </a:ext>
            </a:extLst>
          </p:cNvPr>
          <p:cNvSpPr>
            <a:spLocks noGrp="1" noChangeArrowheads="1"/>
          </p:cNvSpPr>
          <p:nvPr>
            <p:ph idx="1"/>
          </p:nvPr>
        </p:nvSpPr>
        <p:spPr>
          <a:xfrm>
            <a:off x="258618" y="1834642"/>
            <a:ext cx="8820235" cy="851274"/>
          </a:xfrm>
        </p:spPr>
        <p:txBody>
          <a:bodyPr/>
          <a:lstStyle/>
          <a:p>
            <a:r>
              <a:rPr lang="en-US" sz="1800" b="1" dirty="0"/>
              <a:t>Objective:</a:t>
            </a:r>
            <a:r>
              <a:rPr lang="en-US" sz="1800" dirty="0"/>
              <a:t> In </a:t>
            </a:r>
            <a:r>
              <a:rPr lang="en-US" sz="1800"/>
              <a:t>your teams, </a:t>
            </a:r>
            <a:r>
              <a:rPr lang="en-US" sz="1800" dirty="0"/>
              <a:t>you will investigate the current and potential uses of a range of emerging technologies and analyze their impact on various industries. You will work collaboratively to research, summarize, and present your findings.</a:t>
            </a:r>
            <a:endParaRPr lang="en-GB" sz="1800" dirty="0"/>
          </a:p>
        </p:txBody>
      </p:sp>
      <p:sp>
        <p:nvSpPr>
          <p:cNvPr id="3" name="Content Placeholder 2">
            <a:extLst>
              <a:ext uri="{FF2B5EF4-FFF2-40B4-BE49-F238E27FC236}">
                <a16:creationId xmlns:a16="http://schemas.microsoft.com/office/drawing/2014/main" id="{E17CDC8B-34E0-B9C5-FED2-A13A8032C1B3}"/>
              </a:ext>
            </a:extLst>
          </p:cNvPr>
          <p:cNvSpPr txBox="1">
            <a:spLocks noChangeArrowheads="1"/>
          </p:cNvSpPr>
          <p:nvPr/>
        </p:nvSpPr>
        <p:spPr bwMode="auto">
          <a:xfrm>
            <a:off x="295795" y="3895262"/>
            <a:ext cx="4464496"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600" b="1" dirty="0"/>
              <a:t>Key Technologies Covered:</a:t>
            </a:r>
            <a:endParaRPr lang="en-GB" sz="1600" dirty="0"/>
          </a:p>
          <a:p>
            <a:pPr lvl="1"/>
            <a:r>
              <a:rPr lang="en-GB" sz="1600" dirty="0"/>
              <a:t>AI &amp; VI</a:t>
            </a:r>
          </a:p>
          <a:p>
            <a:pPr lvl="1"/>
            <a:r>
              <a:rPr lang="en-GB" sz="1600" dirty="0"/>
              <a:t>IoT</a:t>
            </a:r>
          </a:p>
          <a:p>
            <a:pPr lvl="1"/>
            <a:r>
              <a:rPr lang="en-GB" sz="1600" dirty="0"/>
              <a:t>Machine Learning</a:t>
            </a:r>
          </a:p>
          <a:p>
            <a:pPr lvl="1"/>
            <a:r>
              <a:rPr lang="en-GB" sz="1600" dirty="0"/>
              <a:t>Robotics</a:t>
            </a:r>
          </a:p>
          <a:p>
            <a:pPr lvl="1"/>
            <a:r>
              <a:rPr lang="en-GB" sz="1600" dirty="0"/>
              <a:t>Blockchain</a:t>
            </a:r>
          </a:p>
          <a:p>
            <a:pPr lvl="1"/>
            <a:r>
              <a:rPr lang="en-GB" sz="1600" dirty="0"/>
              <a:t>Cloud Services</a:t>
            </a:r>
          </a:p>
          <a:p>
            <a:pPr lvl="1"/>
            <a:r>
              <a:rPr lang="en-GB" sz="1600" dirty="0"/>
              <a:t>Biometrics</a:t>
            </a:r>
          </a:p>
          <a:p>
            <a:pPr lvl="1"/>
            <a:r>
              <a:rPr lang="en-GB" sz="1600" dirty="0"/>
              <a:t>And more...</a:t>
            </a:r>
          </a:p>
        </p:txBody>
      </p:sp>
      <p:sp>
        <p:nvSpPr>
          <p:cNvPr id="4" name="Content Placeholder 2">
            <a:extLst>
              <a:ext uri="{FF2B5EF4-FFF2-40B4-BE49-F238E27FC236}">
                <a16:creationId xmlns:a16="http://schemas.microsoft.com/office/drawing/2014/main" id="{13FDBC22-7CA4-A964-976B-D8CDF1D94B10}"/>
              </a:ext>
            </a:extLst>
          </p:cNvPr>
          <p:cNvSpPr txBox="1">
            <a:spLocks noChangeArrowheads="1"/>
          </p:cNvSpPr>
          <p:nvPr/>
        </p:nvSpPr>
        <p:spPr bwMode="auto">
          <a:xfrm>
            <a:off x="4555660" y="4619373"/>
            <a:ext cx="3960441" cy="2031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Outcome:</a:t>
            </a:r>
          </a:p>
          <a:p>
            <a:pPr lvl="1"/>
            <a:r>
              <a:rPr lang="en-GB" sz="1800" dirty="0"/>
              <a:t>A collaborative report and presentation detailing how these technologies are shaping the future of work, business, and society.</a:t>
            </a:r>
            <a:endParaRPr lang="en-US" altLang="en-US" sz="1800" dirty="0"/>
          </a:p>
        </p:txBody>
      </p:sp>
      <p:pic>
        <p:nvPicPr>
          <p:cNvPr id="6" name="Picture 5">
            <a:extLst>
              <a:ext uri="{FF2B5EF4-FFF2-40B4-BE49-F238E27FC236}">
                <a16:creationId xmlns:a16="http://schemas.microsoft.com/office/drawing/2014/main" id="{27CBD1BB-CFEC-4E8C-F31B-5430A740B815}"/>
              </a:ext>
            </a:extLst>
          </p:cNvPr>
          <p:cNvPicPr>
            <a:picLocks noChangeAspect="1"/>
          </p:cNvPicPr>
          <p:nvPr/>
        </p:nvPicPr>
        <p:blipFill>
          <a:blip r:embed="rId3"/>
          <a:stretch>
            <a:fillRect/>
          </a:stretch>
        </p:blipFill>
        <p:spPr>
          <a:xfrm>
            <a:off x="5881020" y="2867792"/>
            <a:ext cx="3028030" cy="1702426"/>
          </a:xfrm>
          <a:prstGeom prst="rect">
            <a:avLst/>
          </a:prstGeom>
        </p:spPr>
      </p:pic>
    </p:spTree>
    <p:extLst>
      <p:ext uri="{BB962C8B-B14F-4D97-AF65-F5344CB8AC3E}">
        <p14:creationId xmlns:p14="http://schemas.microsoft.com/office/powerpoint/2010/main" val="391242176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D0D1F8-16BF-409B-A33D-B9092C6D76E5}"/>
</file>

<file path=customXml/itemProps2.xml><?xml version="1.0" encoding="utf-8"?>
<ds:datastoreItem xmlns:ds="http://schemas.openxmlformats.org/officeDocument/2006/customXml" ds:itemID="{C4022DAB-EB5B-4211-B95E-AC106C0E3626}"/>
</file>

<file path=customXml/itemProps3.xml><?xml version="1.0" encoding="utf-8"?>
<ds:datastoreItem xmlns:ds="http://schemas.openxmlformats.org/officeDocument/2006/customXml" ds:itemID="{EC37A2D3-0DFB-4EC1-987D-AC7F9DCB4FFB}"/>
</file>

<file path=docProps/app.xml><?xml version="1.0" encoding="utf-8"?>
<Properties xmlns="http://schemas.openxmlformats.org/officeDocument/2006/extended-properties" xmlns:vt="http://schemas.openxmlformats.org/officeDocument/2006/docPropsVTypes">
  <Template/>
  <TotalTime>2374</TotalTime>
  <Words>3959</Words>
  <Application>Microsoft Office PowerPoint</Application>
  <PresentationFormat>On-screen Show (4:3)</PresentationFormat>
  <Paragraphs>287</Paragraphs>
  <Slides>32</Slides>
  <Notes>32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32</vt:i4>
      </vt:variant>
    </vt:vector>
  </HeadingPairs>
  <TitlesOfParts>
    <vt:vector size="37"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Why organisations invest in technology</vt:lpstr>
      <vt:lpstr>Improving productivity </vt:lpstr>
      <vt:lpstr>Meeting business goals </vt:lpstr>
      <vt:lpstr>Improving efficiency </vt:lpstr>
      <vt:lpstr>Increasing cost effectiveness </vt:lpstr>
      <vt:lpstr>Achieving increased growth </vt:lpstr>
      <vt:lpstr>Innovating </vt:lpstr>
      <vt:lpstr>Improving agility and competitiveness </vt:lpstr>
      <vt:lpstr>Global communication </vt:lpstr>
      <vt:lpstr>Increasing promotion and sales</vt:lpstr>
      <vt:lpstr>Having a wider consumer reach</vt:lpstr>
      <vt:lpstr>Providing instant customer service</vt:lpstr>
      <vt:lpstr>How organisations select technology </vt:lpstr>
      <vt:lpstr>How organisations make decisions</vt:lpstr>
      <vt:lpstr>Feasibility study </vt:lpstr>
      <vt:lpstr>Digital strategy, policy or business plan </vt:lpstr>
      <vt:lpstr>Digital strategy, policy or business plan </vt:lpstr>
      <vt:lpstr>Digital strategy, policy or business plan </vt:lpstr>
      <vt:lpstr>Feedback from stakeholders </vt:lpstr>
      <vt:lpstr>How organisations assess if technology has met their needs </vt:lpstr>
      <vt:lpstr>Risks and issues </vt:lpstr>
      <vt:lpstr>Change management </vt:lpstr>
      <vt:lpstr>Ethical considerations </vt:lpstr>
      <vt:lpstr>Data management </vt:lpstr>
      <vt:lpstr>Legal considerations </vt:lpstr>
      <vt:lpstr>Data Protection Act 1998</vt:lpstr>
      <vt:lpstr>Computer Misuse Act 1990.</vt:lpstr>
      <vt:lpstr>Computer Misuse Act 1990.</vt:lpstr>
      <vt:lpstr>Activity - Investigating Emerging Technologies and Their Impact on Industries</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362</cp:revision>
  <dcterms:created xsi:type="dcterms:W3CDTF">2010-11-28T12:04:27Z</dcterms:created>
  <dcterms:modified xsi:type="dcterms:W3CDTF">2025-07-31T14:58:02Z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