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9"/>
  </p:notesMasterIdLst>
  <p:sldIdLst>
    <p:sldId id="345" r:id="rId3"/>
    <p:sldId id="344" r:id="rId4"/>
    <p:sldId id="257" r:id="rId5"/>
    <p:sldId id="325" r:id="rId6"/>
    <p:sldId id="326" r:id="rId7"/>
    <p:sldId id="321" r:id="rId8"/>
    <p:sldId id="322" r:id="rId9"/>
    <p:sldId id="323" r:id="rId10"/>
    <p:sldId id="327" r:id="rId11"/>
    <p:sldId id="328" r:id="rId12"/>
    <p:sldId id="329" r:id="rId13"/>
    <p:sldId id="330" r:id="rId14"/>
    <p:sldId id="331" r:id="rId15"/>
    <p:sldId id="332" r:id="rId16"/>
    <p:sldId id="333" r:id="rId17"/>
    <p:sldId id="334" r:id="rId18"/>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7" autoAdjust="0"/>
    <p:restoredTop sz="73209" autoAdjust="0"/>
  </p:normalViewPr>
  <p:slideViewPr>
    <p:cSldViewPr>
      <p:cViewPr varScale="1">
        <p:scale>
          <a:sx n="77" d="100"/>
          <a:sy n="77" d="100"/>
        </p:scale>
        <p:origin x="1638" y="84"/>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ustomXml" Target="../customXml/item3.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21EEBA2-8A25-AFDA-C1D4-F0677C85221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D731E554-8FDC-9EE0-EE19-49085748ED1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947EB3DA-DF2F-262D-9A88-AB836CF9F3F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2F29FEAF-F5C6-CADE-9CB4-D4B4EC40832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EDC93689-734C-E013-3D70-1306466FDE3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4744217F-D03F-0D90-726E-9DD464796B4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DE9EF0E-B529-45B7-9A84-F298E4975027}"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073A126-9378-3859-7A84-83DE8DDF52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138ED87-B433-4F70-B7DE-48619EBBC790}"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646DB869-4C85-306E-5FED-B5974E06381C}"/>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92014F6-71F3-E944-E224-CE08E814DC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2A1CB82-FC6A-F782-FF6C-073E659F81B7}"/>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F8E21019-185E-8FD7-99C5-AB9FA71475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C0F756BF-0E18-B13A-0F5C-7543965C08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56088ED-7C53-41EA-A62A-DBCF9C44BEC6}"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64E7BFA-01CC-EE2A-DAE9-603F012D3B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01018D6-B7EF-4090-B6AA-5A2B3E624198}" type="slidenum">
              <a:rPr lang="en-GB" altLang="en-US" smtClean="0"/>
              <a:pPr>
                <a:spcBef>
                  <a:spcPct val="0"/>
                </a:spcBef>
              </a:pPr>
              <a:t>3</a:t>
            </a:fld>
            <a:endParaRPr lang="en-GB" altLang="en-US"/>
          </a:p>
        </p:txBody>
      </p:sp>
      <p:sp>
        <p:nvSpPr>
          <p:cNvPr id="21507" name="Rectangle 2">
            <a:extLst>
              <a:ext uri="{FF2B5EF4-FFF2-40B4-BE49-F238E27FC236}">
                <a16:creationId xmlns:a16="http://schemas.microsoft.com/office/drawing/2014/main" id="{95A87BFD-6C3D-B338-6DA5-049805B411FE}"/>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7F9C3085-BB80-67FB-6C6F-FBFA9B4700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A45BA017-E6D5-2B0D-BAB8-1A342C88D48E}"/>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4EDEF602-E95A-EB7E-32B2-A10B40924E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3556" name="Slide Number Placeholder 3">
            <a:extLst>
              <a:ext uri="{FF2B5EF4-FFF2-40B4-BE49-F238E27FC236}">
                <a16:creationId xmlns:a16="http://schemas.microsoft.com/office/drawing/2014/main" id="{54A8434C-BC45-9702-BDA6-2BFA20D1219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1FB4A8A-BCDE-4206-81AF-D7FDD8B1B353}"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49482F94-4891-3D0D-50BF-B6F706CF4222}"/>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C01212F5-6522-A9CA-E035-42869CA5BC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5604" name="Slide Number Placeholder 3">
            <a:extLst>
              <a:ext uri="{FF2B5EF4-FFF2-40B4-BE49-F238E27FC236}">
                <a16:creationId xmlns:a16="http://schemas.microsoft.com/office/drawing/2014/main" id="{516A1314-2F37-0388-427B-64C3CD1DD5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C6E4256-36CE-4912-8C38-3477B6C1FF43}" type="slidenum">
              <a:rPr lang="en-GB" altLang="en-US" smtClean="0"/>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CCB5E636-E599-D8C7-B349-098903B503A1}"/>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CF84914C-A515-5060-F3B9-646DD24340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altLang="en-US"/>
          </a:p>
        </p:txBody>
      </p:sp>
      <p:sp>
        <p:nvSpPr>
          <p:cNvPr id="27652" name="Slide Number Placeholder 3">
            <a:extLst>
              <a:ext uri="{FF2B5EF4-FFF2-40B4-BE49-F238E27FC236}">
                <a16:creationId xmlns:a16="http://schemas.microsoft.com/office/drawing/2014/main" id="{B6AFAF93-FF64-CC77-44BB-F7B49E9C54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96F3E89-EBED-4817-8F33-4684E2437B21}" type="slidenum">
              <a:rPr lang="en-GB" altLang="en-US" smtClean="0"/>
              <a:pPr/>
              <a:t>6</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44F2F020-4168-14D8-2F1A-BEE1326C77BE}"/>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C7BED106-2A56-49F8-D23D-355834DAAD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9700" name="Slide Number Placeholder 3">
            <a:extLst>
              <a:ext uri="{FF2B5EF4-FFF2-40B4-BE49-F238E27FC236}">
                <a16:creationId xmlns:a16="http://schemas.microsoft.com/office/drawing/2014/main" id="{3DA954F1-B846-AD2E-A111-38A8191C98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DC4B748-137C-4D08-A866-AE1AEC21901B}" type="slidenum">
              <a:rPr lang="en-GB" altLang="en-US" smtClean="0"/>
              <a:pPr/>
              <a:t>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4DF6B8A0-CC21-79EF-F2AA-0AB1D61C9279}"/>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99D6F0B4-4512-7FEA-4084-B740D5B57A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748" name="Slide Number Placeholder 3">
            <a:extLst>
              <a:ext uri="{FF2B5EF4-FFF2-40B4-BE49-F238E27FC236}">
                <a16:creationId xmlns:a16="http://schemas.microsoft.com/office/drawing/2014/main" id="{2C7A5FA4-F171-1665-E068-919E188703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95A447-2F3D-4769-A131-4B0356D3B9F2}" type="slidenum">
              <a:rPr lang="en-GB" altLang="en-US" smtClean="0"/>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B203AA99-292C-57FB-DBA6-9FD715DDF877}"/>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6775AB09-2D42-075C-87B2-D74B0D9D26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3796" name="Slide Number Placeholder 3">
            <a:extLst>
              <a:ext uri="{FF2B5EF4-FFF2-40B4-BE49-F238E27FC236}">
                <a16:creationId xmlns:a16="http://schemas.microsoft.com/office/drawing/2014/main" id="{95EC1902-FCCB-CDA0-3545-F351118AC3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C15A931-9146-4070-86EE-968A3E4801DE}" type="slidenum">
              <a:rPr lang="en-GB" altLang="en-US" smtClean="0"/>
              <a:pPr/>
              <a:t>9</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26CC3F0D-CF88-DA87-C259-12174FC2BEE3}"/>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E08C5621-31D0-83D6-3C55-ED44845A46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844" name="Slide Number Placeholder 3">
            <a:extLst>
              <a:ext uri="{FF2B5EF4-FFF2-40B4-BE49-F238E27FC236}">
                <a16:creationId xmlns:a16="http://schemas.microsoft.com/office/drawing/2014/main" id="{2C91AD35-1215-5EB1-A1B5-650A810BC6F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BA1770B-0372-43AE-A14A-37D164D68C7C}" type="slidenum">
              <a:rPr lang="en-GB" altLang="en-US" smtClean="0"/>
              <a:pPr/>
              <a:t>10</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9412FDD8-E2FE-15E1-726A-BC206E6BA3CC}"/>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84EE0BBE-E9B4-02F7-E2AB-BB49DC1B63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7892" name="Slide Number Placeholder 3">
            <a:extLst>
              <a:ext uri="{FF2B5EF4-FFF2-40B4-BE49-F238E27FC236}">
                <a16:creationId xmlns:a16="http://schemas.microsoft.com/office/drawing/2014/main" id="{33899BE9-FF7E-18DC-4D60-6C7C4A7C89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557B0F-DBD8-4F06-AA42-9D78AB6D2E01}" type="slidenum">
              <a:rPr lang="en-GB" altLang="en-US" smtClean="0"/>
              <a:pPr/>
              <a:t>11</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FB47A1F0-8B66-8BD7-9BDA-D05D22032547}"/>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079E67DA-1BF9-B117-DF1D-469C06C71E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9940" name="Slide Number Placeholder 3">
            <a:extLst>
              <a:ext uri="{FF2B5EF4-FFF2-40B4-BE49-F238E27FC236}">
                <a16:creationId xmlns:a16="http://schemas.microsoft.com/office/drawing/2014/main" id="{89A8D5E0-CF9A-87B1-78EC-B1F99E73D4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B93613-5B23-44C5-A5CD-170C47B24AB9}" type="slidenum">
              <a:rPr lang="en-GB" altLang="en-US" smtClean="0"/>
              <a:pPr/>
              <a:t>12</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009132BE-7334-FA3D-F73B-38F99E16CD2A}"/>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A5045564-DFA7-916C-2634-99B326B902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1988" name="Slide Number Placeholder 3">
            <a:extLst>
              <a:ext uri="{FF2B5EF4-FFF2-40B4-BE49-F238E27FC236}">
                <a16:creationId xmlns:a16="http://schemas.microsoft.com/office/drawing/2014/main" id="{C663F44F-0EA4-807B-2DAC-FF6E4F64CA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046532D-FF85-467C-B023-97B0C7914C5B}" type="slidenum">
              <a:rPr lang="en-GB" altLang="en-US" smtClean="0"/>
              <a:pPr/>
              <a:t>13</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5119E1F0-ADB7-08CC-2AC2-B4C81D47D9DD}"/>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56D22D69-9E9B-FDEA-9328-1105AF1B37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4036" name="Slide Number Placeholder 3">
            <a:extLst>
              <a:ext uri="{FF2B5EF4-FFF2-40B4-BE49-F238E27FC236}">
                <a16:creationId xmlns:a16="http://schemas.microsoft.com/office/drawing/2014/main" id="{5430E998-4EFC-2FEB-E839-66D4CCC7E4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19EB0C-8D7C-43EB-B6D4-F3108EE26C7F}" type="slidenum">
              <a:rPr lang="en-GB" altLang="en-US" smtClean="0"/>
              <a:pPr/>
              <a:t>14</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9013E9CF-4220-9516-A8C0-3C56BB662583}"/>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16CCE2A4-FFAD-6C49-2F46-0EA7D126CC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6084" name="Slide Number Placeholder 3">
            <a:extLst>
              <a:ext uri="{FF2B5EF4-FFF2-40B4-BE49-F238E27FC236}">
                <a16:creationId xmlns:a16="http://schemas.microsoft.com/office/drawing/2014/main" id="{088E9E28-B2A7-928D-F612-5B905A348E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69586C-85BC-4DAF-A128-7B6CC822549B}" type="slidenum">
              <a:rPr lang="en-GB" altLang="en-US" smtClean="0"/>
              <a:pPr/>
              <a:t>15</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8E8BBC9-7B8C-3D53-9F7D-9641B3E8BAA9}"/>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3B4D7112-FC88-8899-9B52-960473F2DAB0}"/>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AB469305-9E54-D700-22C0-02DE65DA37A7}"/>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88763AD4-BC5C-36B7-1BF7-65A1C8A0F75C}"/>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0C251CA7-7921-B64E-B712-1767D85B4E6B}"/>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6AE3022E-3D5C-181A-F062-75137DF444D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7F459970-3587-0589-3F2C-F7F5652A8FE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41D6D31B-6119-4042-ADAC-254B23D6DF5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5A317D0F-6878-B69F-DF6F-6D2E3A844AD0}"/>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17201677-4DFC-9FFF-8313-4173199D2D4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3501A633-0749-DE42-4832-0704D7F466A0}"/>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A162B1BF-0EF5-15EA-6D0B-8CE243C9730E}"/>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98AA5214-FBB4-FE62-7944-AB88E6BE9EF7}"/>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36744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0A9B012-15BE-6D89-0425-FE8D7F8454AF}"/>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3E1013E-2097-DAA5-24EC-9DDB1441F1F7}"/>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BAAD0E8-447A-3343-B0E6-B7C5977586C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469A087-7D3A-4483-9575-97C23EEC938E}" type="slidenum">
              <a:rPr lang="en-US" altLang="en-US"/>
              <a:pPr>
                <a:defRPr/>
              </a:pPr>
              <a:t>‹#›</a:t>
            </a:fld>
            <a:endParaRPr lang="en-US" altLang="en-US"/>
          </a:p>
        </p:txBody>
      </p:sp>
    </p:spTree>
    <p:extLst>
      <p:ext uri="{BB962C8B-B14F-4D97-AF65-F5344CB8AC3E}">
        <p14:creationId xmlns:p14="http://schemas.microsoft.com/office/powerpoint/2010/main" val="1591531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7ED5A163-BB15-25D9-5352-002F2AEBFCD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C775C47-017F-AAFC-6EFA-628613D45D9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13C2B0B-C909-3CE6-3066-1F27DC3F7388}"/>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47A2065-28DA-4FC1-BB6A-4943CD281721}" type="slidenum">
              <a:rPr lang="en-US" altLang="en-US"/>
              <a:pPr>
                <a:defRPr/>
              </a:pPr>
              <a:t>‹#›</a:t>
            </a:fld>
            <a:endParaRPr lang="en-US" altLang="en-US"/>
          </a:p>
        </p:txBody>
      </p:sp>
    </p:spTree>
    <p:extLst>
      <p:ext uri="{BB962C8B-B14F-4D97-AF65-F5344CB8AC3E}">
        <p14:creationId xmlns:p14="http://schemas.microsoft.com/office/powerpoint/2010/main" val="68924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B6A196DB-0681-EF0E-F494-09674A5F53C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426710E-63C8-3709-49A2-99BC9E1B8913}"/>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4704FE0-B6B7-FBAE-7DD9-0C44490DBCA3}"/>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31DD905-141F-4389-AEEC-688D0A2132C5}" type="slidenum">
              <a:rPr lang="en-US" altLang="en-US"/>
              <a:pPr>
                <a:defRPr/>
              </a:pPr>
              <a:t>‹#›</a:t>
            </a:fld>
            <a:endParaRPr lang="en-US" altLang="en-US"/>
          </a:p>
        </p:txBody>
      </p:sp>
    </p:spTree>
    <p:extLst>
      <p:ext uri="{BB962C8B-B14F-4D97-AF65-F5344CB8AC3E}">
        <p14:creationId xmlns:p14="http://schemas.microsoft.com/office/powerpoint/2010/main" val="2778009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ACB64FFE-642F-C296-F7ED-90CA202421A6}"/>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98B0DFC4-E8E9-BB02-4010-804501EE37AC}"/>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19EF09AB-00D2-2A8E-2EA9-3B08529FAFC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E8409C2-FFC7-4499-9B60-3F58710337E5}" type="slidenum">
              <a:rPr lang="en-US" altLang="en-US"/>
              <a:pPr>
                <a:defRPr/>
              </a:pPr>
              <a:t>‹#›</a:t>
            </a:fld>
            <a:endParaRPr lang="en-US" altLang="en-US"/>
          </a:p>
        </p:txBody>
      </p:sp>
    </p:spTree>
    <p:extLst>
      <p:ext uri="{BB962C8B-B14F-4D97-AF65-F5344CB8AC3E}">
        <p14:creationId xmlns:p14="http://schemas.microsoft.com/office/powerpoint/2010/main" val="3831916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ED7E1E89-8EFE-A67E-3674-DAEA6ADD947C}"/>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68333424-0886-1C48-7275-C27CDAE26602}"/>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8AF5A3EA-C936-8384-2FDF-D0C0D98B5E6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2DE65CE-B9D5-43CC-A444-D437FAD6D6CD}" type="slidenum">
              <a:rPr lang="en-US" altLang="en-US"/>
              <a:pPr>
                <a:defRPr/>
              </a:pPr>
              <a:t>‹#›</a:t>
            </a:fld>
            <a:endParaRPr lang="en-US" altLang="en-US"/>
          </a:p>
        </p:txBody>
      </p:sp>
    </p:spTree>
    <p:extLst>
      <p:ext uri="{BB962C8B-B14F-4D97-AF65-F5344CB8AC3E}">
        <p14:creationId xmlns:p14="http://schemas.microsoft.com/office/powerpoint/2010/main" val="146838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4643283-ECE1-8308-51B1-22EBF7A73DA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99889BAA-AFB0-7724-516B-6F3893650AD8}"/>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FFA8E006-AF95-3807-48C8-EEBC59A8512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657CB25-007B-4D2F-A581-246DB8F1C962}" type="slidenum">
              <a:rPr lang="en-US" altLang="en-US"/>
              <a:pPr>
                <a:defRPr/>
              </a:pPr>
              <a:t>‹#›</a:t>
            </a:fld>
            <a:endParaRPr lang="en-US" altLang="en-US"/>
          </a:p>
        </p:txBody>
      </p:sp>
    </p:spTree>
    <p:extLst>
      <p:ext uri="{BB962C8B-B14F-4D97-AF65-F5344CB8AC3E}">
        <p14:creationId xmlns:p14="http://schemas.microsoft.com/office/powerpoint/2010/main" val="2150754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5E9F54E0-0430-0377-B16D-F356A60C0260}"/>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94B02322-4A9C-4618-375E-2E7BFB2C4E6F}"/>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DF92FFA0-683C-28AF-7FD9-F230AC9ACFD3}"/>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1D7EE78-E837-4602-BD86-37F85A9EF8D8}" type="slidenum">
              <a:rPr lang="en-US" altLang="en-US"/>
              <a:pPr>
                <a:defRPr/>
              </a:pPr>
              <a:t>‹#›</a:t>
            </a:fld>
            <a:endParaRPr lang="en-US" altLang="en-US"/>
          </a:p>
        </p:txBody>
      </p:sp>
    </p:spTree>
    <p:extLst>
      <p:ext uri="{BB962C8B-B14F-4D97-AF65-F5344CB8AC3E}">
        <p14:creationId xmlns:p14="http://schemas.microsoft.com/office/powerpoint/2010/main" val="3740283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B0F60D83-AB22-638D-AB53-51EB68E8CE02}"/>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716F5FE-70E9-D7FB-3DFF-9ACD38194918}"/>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B648841-4E66-00B5-2224-15DEB2B4E53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FBDB7DB-717E-4BCF-A4BB-5532A51A5539}" type="slidenum">
              <a:rPr lang="en-US" altLang="en-US"/>
              <a:pPr>
                <a:defRPr/>
              </a:pPr>
              <a:t>‹#›</a:t>
            </a:fld>
            <a:endParaRPr lang="en-US" altLang="en-US"/>
          </a:p>
        </p:txBody>
      </p:sp>
    </p:spTree>
    <p:extLst>
      <p:ext uri="{BB962C8B-B14F-4D97-AF65-F5344CB8AC3E}">
        <p14:creationId xmlns:p14="http://schemas.microsoft.com/office/powerpoint/2010/main" val="633175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86B165B9-2D63-2D33-FD0A-DC6BFE14258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A6BE7F29-6D85-3562-EFE5-F41BD3F051A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D9EA821-B111-50D8-1E90-E646BFF21DE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AB8B538-06BA-4292-A40C-23243D86045F}" type="slidenum">
              <a:rPr lang="en-US" altLang="en-US"/>
              <a:pPr>
                <a:defRPr/>
              </a:pPr>
              <a:t>‹#›</a:t>
            </a:fld>
            <a:endParaRPr lang="en-US" altLang="en-US"/>
          </a:p>
        </p:txBody>
      </p:sp>
    </p:spTree>
    <p:extLst>
      <p:ext uri="{BB962C8B-B14F-4D97-AF65-F5344CB8AC3E}">
        <p14:creationId xmlns:p14="http://schemas.microsoft.com/office/powerpoint/2010/main" val="2655464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CA5F3B62-59EA-B4E4-41EB-4A6B5BF5C85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7C9E6F2-04AD-AEB2-AC46-14CC2EBED050}"/>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D763397-8B53-29D5-07D8-6EA7EFD9173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80AD224-6CB0-422F-B609-57A3D234AF5B}" type="slidenum">
              <a:rPr lang="en-US" altLang="en-US"/>
              <a:pPr>
                <a:defRPr/>
              </a:pPr>
              <a:t>‹#›</a:t>
            </a:fld>
            <a:endParaRPr lang="en-US" altLang="en-US"/>
          </a:p>
        </p:txBody>
      </p:sp>
    </p:spTree>
    <p:extLst>
      <p:ext uri="{BB962C8B-B14F-4D97-AF65-F5344CB8AC3E}">
        <p14:creationId xmlns:p14="http://schemas.microsoft.com/office/powerpoint/2010/main" val="4021301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FE83F5E-B2FE-6DDB-9939-4DBFAD351262}"/>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F13E6ACF-09EA-169F-27DD-F8541205502B}"/>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D30C6A9C-9E59-7D68-D2E4-EA97789AF7E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A4EDDA4A-26FE-5FC0-925B-79E13B0005E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2A910196-88F4-CCAF-F826-7B349AA8B5AF}"/>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9350D54-02E2-6B41-C34E-E19DCBB3BA4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5E41272D-4EFB-41B8-F1F6-38E47913A41E}"/>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A9B36A24-6636-DAE0-625D-AF5C158AAAA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B9FE62B7-3104-2A0E-68C1-ACB78BF19090}"/>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F835D036-56E2-8BCF-C654-5F0A940894F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26225B7E-41EA-5D35-21AE-9619A0C9BBC3}"/>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BF049B77-D5CA-BCD7-2DC2-BB1B05F731B7}"/>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35C8F7FA-0328-AD34-7785-51FF64F26343}"/>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424DE922-F301-497F-8999-E77C7C22647A}" type="slidenum">
              <a:rPr lang="en-US" altLang="en-US"/>
              <a:pPr>
                <a:defRPr/>
              </a:pPr>
              <a:t>‹#›</a:t>
            </a:fld>
            <a:endParaRPr lang="en-US" altLang="en-US"/>
          </a:p>
        </p:txBody>
      </p:sp>
    </p:spTree>
    <p:extLst>
      <p:ext uri="{BB962C8B-B14F-4D97-AF65-F5344CB8AC3E}">
        <p14:creationId xmlns:p14="http://schemas.microsoft.com/office/powerpoint/2010/main" val="4240956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A5B8F36-15ED-C8A5-B1B7-06CFE336DD0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A108C098-7865-A6B7-C512-272BEC7320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9EEC2C2-4848-F6F0-4BDC-451DAC4C0A56}"/>
              </a:ext>
            </a:extLst>
          </p:cNvPr>
          <p:cNvSpPr>
            <a:spLocks noGrp="1" noChangeArrowheads="1"/>
          </p:cNvSpPr>
          <p:nvPr>
            <p:ph type="sldNum" sz="quarter" idx="12"/>
          </p:nvPr>
        </p:nvSpPr>
        <p:spPr>
          <a:ln/>
        </p:spPr>
        <p:txBody>
          <a:bodyPr/>
          <a:lstStyle>
            <a:lvl1pPr>
              <a:defRPr/>
            </a:lvl1pPr>
          </a:lstStyle>
          <a:p>
            <a:pPr>
              <a:defRPr/>
            </a:pPr>
            <a:fld id="{EB9BF78B-8E11-4355-8568-8DC0B44C4687}" type="slidenum">
              <a:rPr lang="en-US" altLang="en-US"/>
              <a:pPr>
                <a:defRPr/>
              </a:pPr>
              <a:t>‹#›</a:t>
            </a:fld>
            <a:endParaRPr lang="en-US" altLang="en-US"/>
          </a:p>
        </p:txBody>
      </p:sp>
    </p:spTree>
    <p:extLst>
      <p:ext uri="{BB962C8B-B14F-4D97-AF65-F5344CB8AC3E}">
        <p14:creationId xmlns:p14="http://schemas.microsoft.com/office/powerpoint/2010/main" val="4287635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E218E8F-6A4C-5BC3-F2E7-6CCC6FF73F8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318BEC99-FAD4-4331-160F-F9B16BCCB8B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02E7229-8DEA-1E21-0252-BB7C6C5C1C09}"/>
              </a:ext>
            </a:extLst>
          </p:cNvPr>
          <p:cNvSpPr>
            <a:spLocks noGrp="1" noChangeArrowheads="1"/>
          </p:cNvSpPr>
          <p:nvPr>
            <p:ph type="sldNum" sz="quarter" idx="12"/>
          </p:nvPr>
        </p:nvSpPr>
        <p:spPr>
          <a:ln/>
        </p:spPr>
        <p:txBody>
          <a:bodyPr/>
          <a:lstStyle>
            <a:lvl1pPr>
              <a:defRPr/>
            </a:lvl1pPr>
          </a:lstStyle>
          <a:p>
            <a:pPr>
              <a:defRPr/>
            </a:pPr>
            <a:fld id="{9D7144D6-64E5-47EA-A99B-813E30108588}" type="slidenum">
              <a:rPr lang="en-US" altLang="en-US"/>
              <a:pPr>
                <a:defRPr/>
              </a:pPr>
              <a:t>‹#›</a:t>
            </a:fld>
            <a:endParaRPr lang="en-US" altLang="en-US"/>
          </a:p>
        </p:txBody>
      </p:sp>
    </p:spTree>
    <p:extLst>
      <p:ext uri="{BB962C8B-B14F-4D97-AF65-F5344CB8AC3E}">
        <p14:creationId xmlns:p14="http://schemas.microsoft.com/office/powerpoint/2010/main" val="3584048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F79DBDE4-582B-2687-79EB-1E416FC2A5B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4C314441-B8EB-3006-2352-1F4BE020C24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69D28E6-3115-10AA-54AD-CD043CE2C92E}"/>
              </a:ext>
            </a:extLst>
          </p:cNvPr>
          <p:cNvSpPr>
            <a:spLocks noGrp="1" noChangeArrowheads="1"/>
          </p:cNvSpPr>
          <p:nvPr>
            <p:ph type="sldNum" sz="quarter" idx="12"/>
          </p:nvPr>
        </p:nvSpPr>
        <p:spPr>
          <a:ln/>
        </p:spPr>
        <p:txBody>
          <a:bodyPr/>
          <a:lstStyle>
            <a:lvl1pPr>
              <a:defRPr/>
            </a:lvl1pPr>
          </a:lstStyle>
          <a:p>
            <a:pPr>
              <a:defRPr/>
            </a:pPr>
            <a:fld id="{EB7B0FC2-C393-490D-A32D-5D8F7DC00BF1}" type="slidenum">
              <a:rPr lang="en-US" altLang="en-US"/>
              <a:pPr>
                <a:defRPr/>
              </a:pPr>
              <a:t>‹#›</a:t>
            </a:fld>
            <a:endParaRPr lang="en-US" altLang="en-US"/>
          </a:p>
        </p:txBody>
      </p:sp>
    </p:spTree>
    <p:extLst>
      <p:ext uri="{BB962C8B-B14F-4D97-AF65-F5344CB8AC3E}">
        <p14:creationId xmlns:p14="http://schemas.microsoft.com/office/powerpoint/2010/main" val="30364148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31465A3-B82B-A359-60FC-C008A2F2CF7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FA6075AD-F19D-2707-DBC9-5E3E9BAC13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C31CB8C-85FF-1645-EB15-93BBA3388C82}"/>
              </a:ext>
            </a:extLst>
          </p:cNvPr>
          <p:cNvSpPr>
            <a:spLocks noGrp="1" noChangeArrowheads="1"/>
          </p:cNvSpPr>
          <p:nvPr>
            <p:ph type="sldNum" sz="quarter" idx="12"/>
          </p:nvPr>
        </p:nvSpPr>
        <p:spPr>
          <a:ln/>
        </p:spPr>
        <p:txBody>
          <a:bodyPr/>
          <a:lstStyle>
            <a:lvl1pPr>
              <a:defRPr/>
            </a:lvl1pPr>
          </a:lstStyle>
          <a:p>
            <a:pPr>
              <a:defRPr/>
            </a:pPr>
            <a:fld id="{49749F75-727B-4C3A-BB5B-D31F06B46DB0}" type="slidenum">
              <a:rPr lang="en-US" altLang="en-US"/>
              <a:pPr>
                <a:defRPr/>
              </a:pPr>
              <a:t>‹#›</a:t>
            </a:fld>
            <a:endParaRPr lang="en-US" altLang="en-US"/>
          </a:p>
        </p:txBody>
      </p:sp>
    </p:spTree>
    <p:extLst>
      <p:ext uri="{BB962C8B-B14F-4D97-AF65-F5344CB8AC3E}">
        <p14:creationId xmlns:p14="http://schemas.microsoft.com/office/powerpoint/2010/main" val="42703570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130337DD-3052-6CC0-D119-FCA9A3BAA2F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2B7C3450-8899-5BC2-3CF5-C40B95C195B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F9168B68-18D8-7366-192F-227E8DF28784}"/>
              </a:ext>
            </a:extLst>
          </p:cNvPr>
          <p:cNvSpPr>
            <a:spLocks noGrp="1" noChangeArrowheads="1"/>
          </p:cNvSpPr>
          <p:nvPr>
            <p:ph type="sldNum" sz="quarter" idx="12"/>
          </p:nvPr>
        </p:nvSpPr>
        <p:spPr>
          <a:ln/>
        </p:spPr>
        <p:txBody>
          <a:bodyPr/>
          <a:lstStyle>
            <a:lvl1pPr>
              <a:defRPr/>
            </a:lvl1pPr>
          </a:lstStyle>
          <a:p>
            <a:pPr>
              <a:defRPr/>
            </a:pPr>
            <a:fld id="{77451EDB-7252-4C8A-BCBB-EEA9DB86A8DE}" type="slidenum">
              <a:rPr lang="en-US" altLang="en-US"/>
              <a:pPr>
                <a:defRPr/>
              </a:pPr>
              <a:t>‹#›</a:t>
            </a:fld>
            <a:endParaRPr lang="en-US" altLang="en-US"/>
          </a:p>
        </p:txBody>
      </p:sp>
    </p:spTree>
    <p:extLst>
      <p:ext uri="{BB962C8B-B14F-4D97-AF65-F5344CB8AC3E}">
        <p14:creationId xmlns:p14="http://schemas.microsoft.com/office/powerpoint/2010/main" val="33211691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C8E65E40-ACF6-3F3E-FCDC-974B5B2E8D1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152F7FBA-DA35-030B-E309-6C4CFEF74F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A8EBBB8D-93E1-B0D6-4E40-37EF17440280}"/>
              </a:ext>
            </a:extLst>
          </p:cNvPr>
          <p:cNvSpPr>
            <a:spLocks noGrp="1" noChangeArrowheads="1"/>
          </p:cNvSpPr>
          <p:nvPr>
            <p:ph type="sldNum" sz="quarter" idx="12"/>
          </p:nvPr>
        </p:nvSpPr>
        <p:spPr>
          <a:ln/>
        </p:spPr>
        <p:txBody>
          <a:bodyPr/>
          <a:lstStyle>
            <a:lvl1pPr>
              <a:defRPr/>
            </a:lvl1pPr>
          </a:lstStyle>
          <a:p>
            <a:pPr>
              <a:defRPr/>
            </a:pPr>
            <a:fld id="{546E73A9-2CA3-418C-ABB8-8B576A722881}" type="slidenum">
              <a:rPr lang="en-US" altLang="en-US"/>
              <a:pPr>
                <a:defRPr/>
              </a:pPr>
              <a:t>‹#›</a:t>
            </a:fld>
            <a:endParaRPr lang="en-US" altLang="en-US"/>
          </a:p>
        </p:txBody>
      </p:sp>
    </p:spTree>
    <p:extLst>
      <p:ext uri="{BB962C8B-B14F-4D97-AF65-F5344CB8AC3E}">
        <p14:creationId xmlns:p14="http://schemas.microsoft.com/office/powerpoint/2010/main" val="34654386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852D516-12CC-636F-88A2-E595373BD20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978A917-332B-B566-9DE5-B0E0D011A5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82C751E-DCF3-5042-479B-0D3E8041A19B}"/>
              </a:ext>
            </a:extLst>
          </p:cNvPr>
          <p:cNvSpPr>
            <a:spLocks noGrp="1" noChangeArrowheads="1"/>
          </p:cNvSpPr>
          <p:nvPr>
            <p:ph type="sldNum" sz="quarter" idx="12"/>
          </p:nvPr>
        </p:nvSpPr>
        <p:spPr>
          <a:ln/>
        </p:spPr>
        <p:txBody>
          <a:bodyPr/>
          <a:lstStyle>
            <a:lvl1pPr>
              <a:defRPr/>
            </a:lvl1pPr>
          </a:lstStyle>
          <a:p>
            <a:pPr>
              <a:defRPr/>
            </a:pPr>
            <a:fld id="{0FF70416-6DDC-4C40-BC57-52F6400C9B4D}" type="slidenum">
              <a:rPr lang="en-US" altLang="en-US"/>
              <a:pPr>
                <a:defRPr/>
              </a:pPr>
              <a:t>‹#›</a:t>
            </a:fld>
            <a:endParaRPr lang="en-US" altLang="en-US"/>
          </a:p>
        </p:txBody>
      </p:sp>
    </p:spTree>
    <p:extLst>
      <p:ext uri="{BB962C8B-B14F-4D97-AF65-F5344CB8AC3E}">
        <p14:creationId xmlns:p14="http://schemas.microsoft.com/office/powerpoint/2010/main" val="33944268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85BE58D-ECD4-EB8A-2FD7-F33E7DF393F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FA1CC3D-AE38-B774-0532-3C29A54209E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FE5FED3-D950-D1E6-5D1C-D773B396F355}"/>
              </a:ext>
            </a:extLst>
          </p:cNvPr>
          <p:cNvSpPr>
            <a:spLocks noGrp="1" noChangeArrowheads="1"/>
          </p:cNvSpPr>
          <p:nvPr>
            <p:ph type="sldNum" sz="quarter" idx="12"/>
          </p:nvPr>
        </p:nvSpPr>
        <p:spPr>
          <a:ln/>
        </p:spPr>
        <p:txBody>
          <a:bodyPr/>
          <a:lstStyle>
            <a:lvl1pPr>
              <a:defRPr/>
            </a:lvl1pPr>
          </a:lstStyle>
          <a:p>
            <a:pPr>
              <a:defRPr/>
            </a:pPr>
            <a:fld id="{53A9E1AE-8F39-4A3C-8217-6497D2F0DE16}" type="slidenum">
              <a:rPr lang="en-US" altLang="en-US"/>
              <a:pPr>
                <a:defRPr/>
              </a:pPr>
              <a:t>‹#›</a:t>
            </a:fld>
            <a:endParaRPr lang="en-US" altLang="en-US"/>
          </a:p>
        </p:txBody>
      </p:sp>
    </p:spTree>
    <p:extLst>
      <p:ext uri="{BB962C8B-B14F-4D97-AF65-F5344CB8AC3E}">
        <p14:creationId xmlns:p14="http://schemas.microsoft.com/office/powerpoint/2010/main" val="16114468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C086B6CA-ADA0-69CD-168D-2EC2464831C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EE45EE5-8A8F-025B-837F-FD3903A095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050A02A-CD0E-2282-7BC8-25ECF8C11909}"/>
              </a:ext>
            </a:extLst>
          </p:cNvPr>
          <p:cNvSpPr>
            <a:spLocks noGrp="1" noChangeArrowheads="1"/>
          </p:cNvSpPr>
          <p:nvPr>
            <p:ph type="sldNum" sz="quarter" idx="12"/>
          </p:nvPr>
        </p:nvSpPr>
        <p:spPr>
          <a:ln/>
        </p:spPr>
        <p:txBody>
          <a:bodyPr/>
          <a:lstStyle>
            <a:lvl1pPr>
              <a:defRPr/>
            </a:lvl1pPr>
          </a:lstStyle>
          <a:p>
            <a:pPr>
              <a:defRPr/>
            </a:pPr>
            <a:fld id="{AF11FD66-FC2A-42A6-B629-F26377281294}" type="slidenum">
              <a:rPr lang="en-US" altLang="en-US"/>
              <a:pPr>
                <a:defRPr/>
              </a:pPr>
              <a:t>‹#›</a:t>
            </a:fld>
            <a:endParaRPr lang="en-US" altLang="en-US"/>
          </a:p>
        </p:txBody>
      </p:sp>
    </p:spTree>
    <p:extLst>
      <p:ext uri="{BB962C8B-B14F-4D97-AF65-F5344CB8AC3E}">
        <p14:creationId xmlns:p14="http://schemas.microsoft.com/office/powerpoint/2010/main" val="3244797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9C19942C-1EF4-C86B-9445-89A085B7560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FB7F5A1-01CA-27B8-1AF3-5300662B3B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23D1551-B9EB-E3D1-0EC8-E81B52BFB364}"/>
              </a:ext>
            </a:extLst>
          </p:cNvPr>
          <p:cNvSpPr>
            <a:spLocks noGrp="1" noChangeArrowheads="1"/>
          </p:cNvSpPr>
          <p:nvPr>
            <p:ph type="sldNum" sz="quarter" idx="12"/>
          </p:nvPr>
        </p:nvSpPr>
        <p:spPr>
          <a:ln/>
        </p:spPr>
        <p:txBody>
          <a:bodyPr/>
          <a:lstStyle>
            <a:lvl1pPr>
              <a:defRPr/>
            </a:lvl1pPr>
          </a:lstStyle>
          <a:p>
            <a:pPr>
              <a:defRPr/>
            </a:pPr>
            <a:fld id="{43CE093B-0D58-4137-B9B2-D0EAA20CE895}" type="slidenum">
              <a:rPr lang="en-US" altLang="en-US"/>
              <a:pPr>
                <a:defRPr/>
              </a:pPr>
              <a:t>‹#›</a:t>
            </a:fld>
            <a:endParaRPr lang="en-US" altLang="en-US"/>
          </a:p>
        </p:txBody>
      </p:sp>
    </p:spTree>
    <p:extLst>
      <p:ext uri="{BB962C8B-B14F-4D97-AF65-F5344CB8AC3E}">
        <p14:creationId xmlns:p14="http://schemas.microsoft.com/office/powerpoint/2010/main" val="3046853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AA91C0F-3FDA-45FD-F9B7-E209E94C525F}"/>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C3B94EA0-F28A-EDF3-56BE-6D1E37ACEB21}"/>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9A615343-D5A7-EE57-9754-01CFCE8B0EA6}"/>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FDF29F9F-DCCF-72B1-B9A5-E4AECD4CFDE0}"/>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94D8F648-D648-8B0E-7991-C7B6C0A96C1D}"/>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47A3F4DF-7096-676E-E62A-9AFEE4452818}"/>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3EE2F2FC-3373-1F8C-0883-E0262536149E}"/>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96620E75-1B7A-41A6-F1D5-A727C3529E92}"/>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3D57424D-4585-AD49-271E-A7227CC3D17A}"/>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3C97914-D188-B302-5A7B-F68E64F120CE}"/>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66EA9973-5310-9A17-D552-3281D5F861F1}"/>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D9ADAB5F-4919-1842-7390-B44053EADA81}"/>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728" r:id="rId1"/>
    <p:sldLayoutId id="2147484729" r:id="rId2"/>
    <p:sldLayoutId id="2147484730" r:id="rId3"/>
    <p:sldLayoutId id="2147484731" r:id="rId4"/>
    <p:sldLayoutId id="2147484732" r:id="rId5"/>
    <p:sldLayoutId id="2147484733" r:id="rId6"/>
    <p:sldLayoutId id="2147484734" r:id="rId7"/>
    <p:sldLayoutId id="2147484735" r:id="rId8"/>
    <p:sldLayoutId id="2147484736" r:id="rId9"/>
    <p:sldLayoutId id="2147484737" r:id="rId10"/>
    <p:sldLayoutId id="2147484738"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9FEB9AC-527E-C84E-7276-C15D6B478C19}"/>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6E7D1C1C-28F4-E981-D49B-CF0A6E66A158}"/>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53BAE8DC-52A7-DA51-DE41-CB5A1FD41317}"/>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61078989-7994-DC6F-119A-20C1CCDF6F65}"/>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7EE63F4B-1A60-A34C-140E-8D93A81924C1}"/>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6561BA1F-7067-1407-ADDF-C2F0D662B59A}"/>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5B02DE73-55D9-F4CA-619E-4362128B96F8}"/>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68A3AA18-9E7B-8EE2-3E09-9A32CA9D1D13}"/>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112322C0-6293-C929-2FE2-432BB339A87E}"/>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949473B9-759F-330A-1463-1891EFB4346A}"/>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62FEB965-9633-A145-D55F-B2CA36CADF62}"/>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A768D1FA-1445-4325-4801-BAAA74C0C63B}"/>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B7145157-FCD8-4EEB-9E98-1E7826AB2BE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39"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F603A11-0B0B-A231-3F5B-BD2A5044FA50}"/>
              </a:ext>
            </a:extLst>
          </p:cNvPr>
          <p:cNvSpPr>
            <a:spLocks noGrp="1" noChangeArrowheads="1"/>
          </p:cNvSpPr>
          <p:nvPr>
            <p:ph type="ctrTitle"/>
          </p:nvPr>
        </p:nvSpPr>
        <p:spPr>
          <a:xfrm>
            <a:off x="990600" y="1828800"/>
            <a:ext cx="7542213" cy="1143000"/>
          </a:xfrm>
        </p:spPr>
        <p:txBody>
          <a:bodyPr/>
          <a:lstStyle/>
          <a:p>
            <a:r>
              <a:rPr lang="en-GB" altLang="en-US" sz="2800" b="1" dirty="0">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1BCA2FD8-FD81-E002-42E9-E8EDB2F1F829}"/>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55AB4645-178E-8476-41E3-252931310A85}"/>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EC996996-AA1E-6C3A-C638-EFA0A0C18933}"/>
              </a:ext>
            </a:extLst>
          </p:cNvPr>
          <p:cNvSpPr>
            <a:spLocks noGrp="1" noChangeArrowheads="1"/>
          </p:cNvSpPr>
          <p:nvPr>
            <p:ph idx="1"/>
          </p:nvPr>
        </p:nvSpPr>
        <p:spPr>
          <a:xfrm>
            <a:off x="323850" y="1844675"/>
            <a:ext cx="8585200" cy="4338638"/>
          </a:xfrm>
        </p:spPr>
        <p:txBody>
          <a:bodyPr/>
          <a:lstStyle/>
          <a:p>
            <a:r>
              <a:rPr lang="en-GB" altLang="en-US" sz="1800" b="1"/>
              <a:t>1.6 </a:t>
            </a:r>
            <a:r>
              <a:rPr lang="en-GB" altLang="en-US" sz="1800"/>
              <a:t>Understand how to identify and be able to address personal training needs that can boost job performance during the software development process.</a:t>
            </a:r>
          </a:p>
          <a:p>
            <a:endParaRPr lang="en-GB" altLang="en-US" sz="1800"/>
          </a:p>
          <a:p>
            <a:pPr lvl="1"/>
            <a:r>
              <a:rPr lang="en-GB" altLang="en-US" sz="1600"/>
              <a:t>Considerations to ensure the software developer is able to complete the required solution:</a:t>
            </a:r>
          </a:p>
          <a:p>
            <a:pPr lvl="2"/>
            <a:r>
              <a:rPr lang="en-GB" altLang="en-US" sz="1600"/>
              <a:t>identify what further knowledge is needed.</a:t>
            </a:r>
          </a:p>
          <a:p>
            <a:pPr lvl="2"/>
            <a:r>
              <a:rPr lang="en-GB" altLang="en-US" sz="1600"/>
              <a:t>identify what new skills are needed.</a:t>
            </a:r>
          </a:p>
          <a:p>
            <a:pPr lvl="2"/>
            <a:r>
              <a:rPr lang="en-GB" altLang="en-US" sz="1600"/>
              <a:t>determine if software developer has the ability needed to complete the required solution.</a:t>
            </a:r>
          </a:p>
          <a:p>
            <a:pPr lvl="1"/>
            <a:r>
              <a:rPr lang="en-GB" altLang="en-US" sz="1600"/>
              <a:t>Use different methods to address personal training needs required to enable completion of project:</a:t>
            </a:r>
          </a:p>
          <a:p>
            <a:pPr lvl="2"/>
            <a:r>
              <a:rPr lang="en-GB" altLang="en-US" sz="1600"/>
              <a:t>undertake coaching from a professional or peer.</a:t>
            </a:r>
          </a:p>
          <a:p>
            <a:pPr lvl="2"/>
            <a:r>
              <a:rPr lang="en-GB" altLang="en-US" sz="1600"/>
              <a:t>learn new skills on the job.</a:t>
            </a:r>
          </a:p>
          <a:p>
            <a:pPr lvl="2"/>
            <a:r>
              <a:rPr lang="en-GB" altLang="en-US" sz="1600"/>
              <a:t>carry out self-study.</a:t>
            </a:r>
          </a:p>
          <a:p>
            <a:pPr lvl="2"/>
            <a:r>
              <a:rPr lang="en-GB" altLang="en-US" sz="1600"/>
              <a:t>use online professional forums.</a:t>
            </a:r>
          </a:p>
          <a:p>
            <a:pPr lvl="2"/>
            <a:r>
              <a:rPr lang="en-GB" altLang="en-US" sz="1600"/>
              <a:t>sign up to internet workshops for additional training.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48162A1-C870-1ADF-C629-89E8A3013221}"/>
              </a:ext>
            </a:extLst>
          </p:cNvPr>
          <p:cNvSpPr>
            <a:spLocks noGrp="1" noChangeArrowheads="1"/>
          </p:cNvSpPr>
          <p:nvPr>
            <p:ph type="title"/>
          </p:nvPr>
        </p:nvSpPr>
        <p:spPr>
          <a:xfrm>
            <a:off x="1403350" y="404813"/>
            <a:ext cx="7505700" cy="939800"/>
          </a:xfrm>
        </p:spPr>
        <p:txBody>
          <a:bodyPr/>
          <a:lstStyle/>
          <a:p>
            <a:pPr eaLnBrk="1" hangingPunct="1"/>
            <a:r>
              <a:rPr lang="en-GB" altLang="en-US" sz="3600" b="1">
                <a:solidFill>
                  <a:srgbClr val="0070C0"/>
                </a:solidFill>
              </a:rPr>
              <a:t>Learning Objectives</a:t>
            </a:r>
          </a:p>
        </p:txBody>
      </p:sp>
      <p:sp>
        <p:nvSpPr>
          <p:cNvPr id="5" name="Rectangle 3">
            <a:extLst>
              <a:ext uri="{FF2B5EF4-FFF2-40B4-BE49-F238E27FC236}">
                <a16:creationId xmlns:a16="http://schemas.microsoft.com/office/drawing/2014/main" id="{C8589BB5-676D-24A8-E160-29706F82A233}"/>
              </a:ext>
            </a:extLst>
          </p:cNvPr>
          <p:cNvSpPr txBox="1">
            <a:spLocks noChangeArrowheads="1"/>
          </p:cNvSpPr>
          <p:nvPr/>
        </p:nvSpPr>
        <p:spPr bwMode="auto">
          <a:xfrm>
            <a:off x="971550" y="2133600"/>
            <a:ext cx="7772400" cy="424815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eaLnBrk="1" hangingPunct="1">
              <a:defRPr/>
            </a:pPr>
            <a:r>
              <a:rPr lang="en-GB" sz="2000" b="1" kern="0" dirty="0">
                <a:latin typeface="Arial" pitchFamily="34" charset="0"/>
              </a:rPr>
              <a:t>Aims:</a:t>
            </a:r>
          </a:p>
          <a:p>
            <a:pPr lvl="1" eaLnBrk="1" hangingPunct="1">
              <a:defRPr/>
            </a:pPr>
            <a:r>
              <a:rPr lang="en-GB" sz="2000" kern="0" dirty="0"/>
              <a:t>To introduce </a:t>
            </a:r>
            <a:r>
              <a:rPr lang="en-GB" sz="2000" dirty="0"/>
              <a:t>Continuing Professional Development (CPD)</a:t>
            </a:r>
          </a:p>
          <a:p>
            <a:pPr lvl="1" eaLnBrk="1" hangingPunct="1">
              <a:defRPr/>
            </a:pPr>
            <a:endParaRPr lang="en-GB" sz="2000" kern="0" dirty="0">
              <a:latin typeface="Arial" pitchFamily="34" charset="0"/>
            </a:endParaRPr>
          </a:p>
          <a:p>
            <a:pPr eaLnBrk="1" hangingPunct="1">
              <a:defRPr/>
            </a:pPr>
            <a:r>
              <a:rPr lang="en-GB" sz="2000" b="1" kern="0" dirty="0">
                <a:latin typeface="Arial" pitchFamily="34" charset="0"/>
              </a:rPr>
              <a:t>Objectives</a:t>
            </a:r>
            <a:r>
              <a:rPr lang="en-US" sz="2000" b="1" kern="0" dirty="0">
                <a:latin typeface="Arial" pitchFamily="34" charset="0"/>
              </a:rPr>
              <a:t>:</a:t>
            </a:r>
          </a:p>
          <a:p>
            <a:pPr lvl="1" eaLnBrk="1" hangingPunct="1">
              <a:defRPr/>
            </a:pPr>
            <a:r>
              <a:rPr lang="en-US" sz="2000" kern="0" dirty="0">
                <a:latin typeface="Arial" pitchFamily="34" charset="0"/>
              </a:rPr>
              <a:t>To be able describe </a:t>
            </a:r>
            <a:r>
              <a:rPr lang="en-GB" sz="2000" dirty="0"/>
              <a:t>Continuing Professional Development (CPD).</a:t>
            </a:r>
          </a:p>
          <a:p>
            <a:pPr lvl="1" eaLnBrk="1" hangingPunct="1">
              <a:defRPr/>
            </a:pPr>
            <a:r>
              <a:rPr lang="en-GB" sz="2000" dirty="0"/>
              <a:t>To be able to define the purpose and benefits of Continuing Professional Development (CPD).</a:t>
            </a:r>
          </a:p>
          <a:p>
            <a:pPr lvl="1" eaLnBrk="1" hangingPunct="1">
              <a:defRPr/>
            </a:pPr>
            <a:r>
              <a:rPr lang="en-GB" sz="2000" dirty="0"/>
              <a:t>To be able describe the different learning styles that are considered as part of Continuing Professional Development (CPD).</a:t>
            </a:r>
          </a:p>
          <a:p>
            <a:pPr lvl="1" eaLnBrk="1" hangingPunct="1">
              <a:defRPr/>
            </a:pPr>
            <a:endParaRPr lang="en-GB" sz="2000" dirty="0"/>
          </a:p>
          <a:p>
            <a:pPr eaLnBrk="1" hangingPunct="1">
              <a:defRPr/>
            </a:pPr>
            <a:endParaRPr lang="en-US" sz="2000" b="1" kern="0" dirty="0">
              <a:latin typeface="Arial" pitchFamily="34" charset="0"/>
            </a:endParaRPr>
          </a:p>
          <a:p>
            <a:pPr lvl="1" eaLnBrk="1" hangingPunct="1">
              <a:defRPr/>
            </a:pPr>
            <a:endParaRPr lang="en-GB" sz="2000" kern="0" dirty="0"/>
          </a:p>
          <a:p>
            <a:pPr lvl="1" eaLnBrk="1" hangingPunct="1">
              <a:defRPr/>
            </a:pPr>
            <a:endParaRPr lang="en-GB" sz="2000" kern="0" dirty="0"/>
          </a:p>
          <a:p>
            <a:pPr marL="457200" lvl="1" indent="0" eaLnBrk="1" hangingPunct="1">
              <a:buFont typeface="Wingdings" pitchFamily="2" charset="2"/>
              <a:buNone/>
              <a:defRPr/>
            </a:pPr>
            <a:endParaRPr lang="en-GB" sz="20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19D61-4FF7-6415-D426-FC6585521225}"/>
              </a:ext>
            </a:extLst>
          </p:cNvPr>
          <p:cNvSpPr>
            <a:spLocks noGrp="1"/>
          </p:cNvSpPr>
          <p:nvPr>
            <p:ph type="title"/>
          </p:nvPr>
        </p:nvSpPr>
        <p:spPr>
          <a:xfrm>
            <a:off x="1331913" y="404813"/>
            <a:ext cx="7812087" cy="939800"/>
          </a:xfrm>
        </p:spPr>
        <p:txBody>
          <a:bodyPr/>
          <a:lstStyle/>
          <a:p>
            <a:pPr>
              <a:defRPr/>
            </a:pPr>
            <a:r>
              <a:rPr lang="en-GB" sz="3200" b="1" kern="1200" dirty="0">
                <a:solidFill>
                  <a:srgbClr val="0070C0"/>
                </a:solidFill>
                <a:latin typeface="+mn-lt"/>
              </a:rPr>
              <a:t>Continuing Professional Development (CPD)</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8F48C92F-9C9D-925D-7AD7-F7491EBEEABC}"/>
              </a:ext>
            </a:extLst>
          </p:cNvPr>
          <p:cNvSpPr>
            <a:spLocks noGrp="1"/>
          </p:cNvSpPr>
          <p:nvPr>
            <p:ph idx="1"/>
          </p:nvPr>
        </p:nvSpPr>
        <p:spPr>
          <a:xfrm>
            <a:off x="684213" y="1989138"/>
            <a:ext cx="5327650" cy="4503737"/>
          </a:xfrm>
        </p:spPr>
        <p:txBody>
          <a:bodyPr/>
          <a:lstStyle/>
          <a:p>
            <a:pPr>
              <a:defRPr/>
            </a:pPr>
            <a:r>
              <a:rPr lang="en-GB" sz="1600" kern="1200" dirty="0"/>
              <a:t>Continuing Professional Development (CPD) is the term used to describe the learning activities professionals engage in to develop and enhance their abilities.</a:t>
            </a:r>
          </a:p>
          <a:p>
            <a:pPr>
              <a:defRPr/>
            </a:pPr>
            <a:endParaRPr lang="en-GB" sz="1600" kern="1200" dirty="0"/>
          </a:p>
          <a:p>
            <a:pPr>
              <a:defRPr/>
            </a:pPr>
            <a:r>
              <a:rPr lang="en-GB" sz="1600" kern="1200" dirty="0"/>
              <a:t>It enables learning to become conscious and proactive, rather than passive and reactive.</a:t>
            </a:r>
          </a:p>
          <a:p>
            <a:pPr>
              <a:defRPr/>
            </a:pPr>
            <a:endParaRPr lang="en-GB" sz="1600" kern="1200" dirty="0"/>
          </a:p>
          <a:p>
            <a:pPr>
              <a:defRPr/>
            </a:pPr>
            <a:r>
              <a:rPr lang="en-GB" sz="1600" kern="1200" dirty="0"/>
              <a:t>CPD combines different methodologies to learning, such as training workshops, conferences and events, e-learning programs, best practice techniques and ideas sharing, all focused for an individual to improve and have effective professional development. </a:t>
            </a:r>
          </a:p>
          <a:p>
            <a:pPr>
              <a:defRPr/>
            </a:pPr>
            <a:endParaRPr lang="en-GB" sz="1600" kern="1200" dirty="0"/>
          </a:p>
          <a:p>
            <a:pPr>
              <a:defRPr/>
            </a:pPr>
            <a:r>
              <a:rPr lang="en-GB" sz="1600" kern="1200" dirty="0"/>
              <a:t>There are over 1000 institutes &amp; professional bodies across the UK</a:t>
            </a:r>
            <a:r>
              <a:rPr lang="en-GB" sz="1600" kern="1200" dirty="0">
                <a:latin typeface="Arial" pitchFamily="34" charset="0"/>
              </a:rPr>
              <a:t>.</a:t>
            </a:r>
          </a:p>
        </p:txBody>
      </p:sp>
      <p:pic>
        <p:nvPicPr>
          <p:cNvPr id="22532" name="Picture 3">
            <a:extLst>
              <a:ext uri="{FF2B5EF4-FFF2-40B4-BE49-F238E27FC236}">
                <a16:creationId xmlns:a16="http://schemas.microsoft.com/office/drawing/2014/main" id="{31C9321B-EC6A-DDAC-4A56-AB8A53EC4C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5700" y="1989138"/>
            <a:ext cx="240982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5">
            <a:extLst>
              <a:ext uri="{FF2B5EF4-FFF2-40B4-BE49-F238E27FC236}">
                <a16:creationId xmlns:a16="http://schemas.microsoft.com/office/drawing/2014/main" id="{EC399263-2F93-D3A7-A5AE-CB68DB03C83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35700" y="4076700"/>
            <a:ext cx="2657475"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DD7F8-6306-0C67-EB46-82FBD74B33AB}"/>
              </a:ext>
            </a:extLst>
          </p:cNvPr>
          <p:cNvSpPr>
            <a:spLocks noGrp="1"/>
          </p:cNvSpPr>
          <p:nvPr>
            <p:ph type="title"/>
          </p:nvPr>
        </p:nvSpPr>
        <p:spPr>
          <a:xfrm>
            <a:off x="1258888" y="404813"/>
            <a:ext cx="7634287" cy="939800"/>
          </a:xfrm>
        </p:spPr>
        <p:txBody>
          <a:bodyPr/>
          <a:lstStyle/>
          <a:p>
            <a:pPr>
              <a:defRPr/>
            </a:pPr>
            <a:r>
              <a:rPr lang="en-GB" sz="3200" b="1" kern="1200" dirty="0">
                <a:solidFill>
                  <a:srgbClr val="0070C0"/>
                </a:solidFill>
                <a:latin typeface="+mn-lt"/>
              </a:rPr>
              <a:t>Continuing Professional Development (CPD)</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F3CECCB5-C40F-6CDE-3BAB-961F1A706CF1}"/>
              </a:ext>
            </a:extLst>
          </p:cNvPr>
          <p:cNvSpPr>
            <a:spLocks noGrp="1"/>
          </p:cNvSpPr>
          <p:nvPr>
            <p:ph idx="1"/>
          </p:nvPr>
        </p:nvSpPr>
        <p:spPr>
          <a:xfrm>
            <a:off x="684213" y="1989138"/>
            <a:ext cx="5111750" cy="4503737"/>
          </a:xfrm>
        </p:spPr>
        <p:txBody>
          <a:bodyPr/>
          <a:lstStyle/>
          <a:p>
            <a:pPr>
              <a:defRPr/>
            </a:pPr>
            <a:r>
              <a:rPr lang="en-GB" sz="1600" kern="1200" dirty="0"/>
              <a:t>Accompanied by such growth is the acceptance that academic qualifications must offer more vocational and skills-based or ‘practical’ learning.</a:t>
            </a:r>
          </a:p>
          <a:p>
            <a:pPr>
              <a:defRPr/>
            </a:pPr>
            <a:endParaRPr lang="en-GB" sz="1600" kern="1200" dirty="0"/>
          </a:p>
          <a:p>
            <a:pPr>
              <a:defRPr/>
            </a:pPr>
            <a:r>
              <a:rPr lang="en-GB" sz="1600" kern="1200" dirty="0"/>
              <a:t>A structured, practical and methodical approach to learning helps employers across industries to keep key staff and develop the skills &amp; knowledge in their organisations to maintain a sustainable and competitive advantage.</a:t>
            </a:r>
          </a:p>
          <a:p>
            <a:pPr>
              <a:defRPr/>
            </a:pPr>
            <a:endParaRPr lang="en-GB" sz="1600" kern="1200" dirty="0"/>
          </a:p>
          <a:p>
            <a:pPr>
              <a:defRPr/>
            </a:pPr>
            <a:r>
              <a:rPr lang="en-GB" sz="1600" kern="1200" dirty="0"/>
              <a:t>Engaging in Continuing Professional Development ensures that both academic and practical qualifications do not become out-dated or obsolete; allowing individuals to continually ‘up skill’ or ‘re-skill’ themselves, regardless of occupation, age or educational level.</a:t>
            </a:r>
            <a:endParaRPr lang="en-GB" sz="1600" dirty="0"/>
          </a:p>
          <a:p>
            <a:pPr>
              <a:defRPr/>
            </a:pPr>
            <a:endParaRPr lang="en-GB" sz="1600" dirty="0"/>
          </a:p>
          <a:p>
            <a:pPr>
              <a:defRPr/>
            </a:pPr>
            <a:endParaRPr lang="en-GB" sz="1600" dirty="0"/>
          </a:p>
        </p:txBody>
      </p:sp>
      <p:pic>
        <p:nvPicPr>
          <p:cNvPr id="24580" name="Picture 5">
            <a:extLst>
              <a:ext uri="{FF2B5EF4-FFF2-40B4-BE49-F238E27FC236}">
                <a16:creationId xmlns:a16="http://schemas.microsoft.com/office/drawing/2014/main" id="{07F2CA92-87A0-6B5F-5892-4C855AB272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1968500"/>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6">
            <a:extLst>
              <a:ext uri="{FF2B5EF4-FFF2-40B4-BE49-F238E27FC236}">
                <a16:creationId xmlns:a16="http://schemas.microsoft.com/office/drawing/2014/main" id="{942AD587-C6D9-97B9-9838-59E9AB1CB27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34088" y="4465638"/>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D3D6F-2FBE-B31E-D3D0-870555B051BB}"/>
              </a:ext>
            </a:extLst>
          </p:cNvPr>
          <p:cNvSpPr>
            <a:spLocks noGrp="1"/>
          </p:cNvSpPr>
          <p:nvPr>
            <p:ph type="title"/>
          </p:nvPr>
        </p:nvSpPr>
        <p:spPr>
          <a:xfrm>
            <a:off x="1460500" y="404813"/>
            <a:ext cx="7216775" cy="939800"/>
          </a:xfrm>
        </p:spPr>
        <p:txBody>
          <a:bodyPr/>
          <a:lstStyle/>
          <a:p>
            <a:pPr>
              <a:defRPr/>
            </a:pPr>
            <a:r>
              <a:rPr lang="en-GB" sz="3200" b="1" kern="1200" dirty="0">
                <a:solidFill>
                  <a:srgbClr val="0070C0"/>
                </a:solidFill>
                <a:latin typeface="+mn-lt"/>
              </a:rPr>
              <a:t>The Importance of Continuing Professional Development (CPD)</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D1262ED1-F4B3-155B-92C6-C00654D4F72D}"/>
              </a:ext>
            </a:extLst>
          </p:cNvPr>
          <p:cNvSpPr>
            <a:spLocks noGrp="1"/>
          </p:cNvSpPr>
          <p:nvPr>
            <p:ph idx="1"/>
          </p:nvPr>
        </p:nvSpPr>
        <p:spPr>
          <a:xfrm>
            <a:off x="395288" y="1844675"/>
            <a:ext cx="6697662" cy="4503738"/>
          </a:xfrm>
        </p:spPr>
        <p:txBody>
          <a:bodyPr/>
          <a:lstStyle/>
          <a:p>
            <a:pPr>
              <a:spcBef>
                <a:spcPct val="30000"/>
              </a:spcBef>
              <a:buClr>
                <a:srgbClr val="0070C0"/>
              </a:buClr>
              <a:buSzTx/>
              <a:defRPr/>
            </a:pPr>
            <a:r>
              <a:rPr lang="en-GB" sz="1600" kern="1200" dirty="0"/>
              <a:t>Continuing Professional Development is widely recognised as fundamental to the improvement of standards and skills for individuals and their industries. </a:t>
            </a:r>
          </a:p>
          <a:p>
            <a:pPr>
              <a:spcBef>
                <a:spcPct val="30000"/>
              </a:spcBef>
              <a:buClr>
                <a:srgbClr val="0070C0"/>
              </a:buClr>
              <a:buSzTx/>
              <a:defRPr/>
            </a:pPr>
            <a:r>
              <a:rPr lang="en-GB" sz="1600" kern="1200" dirty="0"/>
              <a:t>Continuing Professional Development exists to ensure that an individual enhances their skills and abilities once they have formally qualified. </a:t>
            </a:r>
          </a:p>
          <a:p>
            <a:pPr>
              <a:spcBef>
                <a:spcPct val="30000"/>
              </a:spcBef>
              <a:buClr>
                <a:srgbClr val="0070C0"/>
              </a:buClr>
              <a:buSzTx/>
              <a:defRPr/>
            </a:pPr>
            <a:r>
              <a:rPr lang="en-GB" sz="1600" kern="1200" dirty="0"/>
              <a:t>Typically, academic qualifications have already been completed at this stage and an individual is now working within their specific industry and job function.</a:t>
            </a:r>
          </a:p>
          <a:p>
            <a:pPr>
              <a:spcBef>
                <a:spcPct val="30000"/>
              </a:spcBef>
              <a:buClr>
                <a:srgbClr val="0070C0"/>
              </a:buClr>
              <a:buSzTx/>
              <a:defRPr/>
            </a:pPr>
            <a:r>
              <a:rPr lang="en-GB" sz="1600" kern="1200" dirty="0"/>
              <a:t>CPD is important as it helps to ensure that further learning is progressed in a structured, practical and relevant way to guarantee that there are applied efficiencies in learning. </a:t>
            </a:r>
          </a:p>
          <a:p>
            <a:pPr>
              <a:spcBef>
                <a:spcPct val="30000"/>
              </a:spcBef>
              <a:buClr>
                <a:srgbClr val="0070C0"/>
              </a:buClr>
              <a:buSzTx/>
              <a:defRPr/>
            </a:pPr>
            <a:r>
              <a:rPr lang="en-GB" sz="1600" kern="1200" dirty="0"/>
              <a:t>CPD allows an individual to focus on what specific skills and knowledge they require over a short-term period, say 12 months, in order to be confident there is recognisable improvement within their proficiency and skill sets.</a:t>
            </a:r>
          </a:p>
          <a:p>
            <a:pPr marL="0" indent="0">
              <a:spcBef>
                <a:spcPct val="30000"/>
              </a:spcBef>
              <a:buClr>
                <a:srgbClr val="0070C0"/>
              </a:buClr>
              <a:buSzTx/>
              <a:buFont typeface="Wingdings" panose="05000000000000000000" pitchFamily="2" charset="2"/>
              <a:buNone/>
              <a:defRPr/>
            </a:pPr>
            <a:endParaRPr lang="en-GB" sz="1600" kern="1200" dirty="0"/>
          </a:p>
        </p:txBody>
      </p:sp>
      <p:pic>
        <p:nvPicPr>
          <p:cNvPr id="26628" name="Picture 4">
            <a:extLst>
              <a:ext uri="{FF2B5EF4-FFF2-40B4-BE49-F238E27FC236}">
                <a16:creationId xmlns:a16="http://schemas.microsoft.com/office/drawing/2014/main" id="{6B347290-B3E3-E9F8-8029-4BFCC1D63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00888" y="1844675"/>
            <a:ext cx="164147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6">
            <a:extLst>
              <a:ext uri="{FF2B5EF4-FFF2-40B4-BE49-F238E27FC236}">
                <a16:creationId xmlns:a16="http://schemas.microsoft.com/office/drawing/2014/main" id="{80164D4D-2CFB-FF7D-DC0E-A26A80A1086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15163" y="4125913"/>
            <a:ext cx="18145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64BE56D4-C96D-569E-F6AF-2FC5DE5D8462}"/>
              </a:ext>
            </a:extLst>
          </p:cNvPr>
          <p:cNvSpPr txBox="1"/>
          <p:nvPr/>
        </p:nvSpPr>
        <p:spPr>
          <a:xfrm>
            <a:off x="185738" y="6275388"/>
            <a:ext cx="8650287" cy="646112"/>
          </a:xfrm>
          <a:prstGeom prst="rect">
            <a:avLst/>
          </a:prstGeom>
          <a:noFill/>
        </p:spPr>
        <p:txBody>
          <a:bodyPr>
            <a:spAutoFit/>
          </a:bodyPr>
          <a:lstStyle/>
          <a:p>
            <a:pPr>
              <a:defRPr/>
            </a:pPr>
            <a:r>
              <a:rPr lang="en-GB" b="1" dirty="0"/>
              <a:t>“</a:t>
            </a:r>
            <a:r>
              <a:rPr lang="en-GB" sz="1400" b="1" dirty="0">
                <a:solidFill>
                  <a:srgbClr val="0070C0"/>
                </a:solidFill>
                <a:latin typeface="+mn-lt"/>
              </a:rPr>
              <a:t>Education is not the learning of facts, but the training of the mind to think” – Albert Einstein.</a:t>
            </a:r>
          </a:p>
          <a:p>
            <a:pPr>
              <a:defRPr/>
            </a:pP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43C5A-7585-5BCD-12CA-FA77D1941E8A}"/>
              </a:ext>
            </a:extLst>
          </p:cNvPr>
          <p:cNvSpPr>
            <a:spLocks noGrp="1"/>
          </p:cNvSpPr>
          <p:nvPr>
            <p:ph type="title"/>
          </p:nvPr>
        </p:nvSpPr>
        <p:spPr>
          <a:xfrm>
            <a:off x="1331913" y="404813"/>
            <a:ext cx="7577137" cy="939800"/>
          </a:xfrm>
        </p:spPr>
        <p:txBody>
          <a:bodyPr/>
          <a:lstStyle/>
          <a:p>
            <a:pPr>
              <a:defRPr/>
            </a:pPr>
            <a:r>
              <a:rPr lang="en-GB" sz="3600" b="1" kern="1200" dirty="0">
                <a:solidFill>
                  <a:srgbClr val="0070C0"/>
                </a:solidFill>
                <a:latin typeface="+mn-lt"/>
              </a:rPr>
              <a:t>The purpose of CPD</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4B5B5B66-9A2F-45E3-13AA-6F93C4B55CC8}"/>
              </a:ext>
            </a:extLst>
          </p:cNvPr>
          <p:cNvSpPr>
            <a:spLocks noGrp="1"/>
          </p:cNvSpPr>
          <p:nvPr>
            <p:ph idx="1"/>
          </p:nvPr>
        </p:nvSpPr>
        <p:spPr>
          <a:xfrm>
            <a:off x="539750" y="1989138"/>
            <a:ext cx="6048375" cy="4503737"/>
          </a:xfrm>
        </p:spPr>
        <p:txBody>
          <a:bodyPr/>
          <a:lstStyle/>
          <a:p>
            <a:pPr>
              <a:defRPr/>
            </a:pPr>
            <a:r>
              <a:rPr lang="en-GB" sz="1600" kern="1200" dirty="0"/>
              <a:t>In an ever-increasing globalised and competitive society, the importance of Continuing Professional Development cannot be overstated. </a:t>
            </a:r>
          </a:p>
          <a:p>
            <a:pPr>
              <a:defRPr/>
            </a:pPr>
            <a:endParaRPr lang="en-GB" sz="1600" kern="1200" dirty="0"/>
          </a:p>
          <a:p>
            <a:pPr>
              <a:defRPr/>
            </a:pPr>
            <a:r>
              <a:rPr lang="en-GB" sz="1600" kern="1200" dirty="0"/>
              <a:t>The world’s industries are forever evolving, which creates exciting opportunities but which also comes with challenges.</a:t>
            </a:r>
          </a:p>
          <a:p>
            <a:pPr>
              <a:defRPr/>
            </a:pPr>
            <a:endParaRPr lang="en-GB" sz="1600" kern="1200" dirty="0"/>
          </a:p>
          <a:p>
            <a:pPr>
              <a:defRPr/>
            </a:pPr>
            <a:r>
              <a:rPr lang="en-GB" sz="1600" kern="1200" dirty="0"/>
              <a:t>CPD enables an individual to regularly apply attention to important areas of development and takes appropriate action to reduce any shortfalls in knowledge. </a:t>
            </a:r>
          </a:p>
          <a:p>
            <a:pPr>
              <a:defRPr/>
            </a:pPr>
            <a:endParaRPr lang="en-GB" sz="1600" kern="1200" dirty="0"/>
          </a:p>
          <a:p>
            <a:pPr>
              <a:defRPr/>
            </a:pPr>
            <a:r>
              <a:rPr lang="en-GB" sz="1600" kern="1200" dirty="0"/>
              <a:t>Equally, an individual must see Continuing Professional Development as a way to remain competitive with his or her peers, and as an opportunity to differentiate themselves at moments where this may be required, such as in job interviews or in tenders for new work and business acquisition. </a:t>
            </a:r>
          </a:p>
        </p:txBody>
      </p:sp>
      <p:pic>
        <p:nvPicPr>
          <p:cNvPr id="28676" name="Picture 3">
            <a:extLst>
              <a:ext uri="{FF2B5EF4-FFF2-40B4-BE49-F238E27FC236}">
                <a16:creationId xmlns:a16="http://schemas.microsoft.com/office/drawing/2014/main" id="{620103D4-CAAF-CDEB-CDF9-3BBA733BD0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48488" y="1987550"/>
            <a:ext cx="182880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4">
            <a:extLst>
              <a:ext uri="{FF2B5EF4-FFF2-40B4-BE49-F238E27FC236}">
                <a16:creationId xmlns:a16="http://schemas.microsoft.com/office/drawing/2014/main" id="{A0C97C27-0BDB-6791-3497-4D66C271DE5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48425" y="4941888"/>
            <a:ext cx="2328863"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B44E-87AF-B64F-44C6-89A72F28C59F}"/>
              </a:ext>
            </a:extLst>
          </p:cNvPr>
          <p:cNvSpPr>
            <a:spLocks noGrp="1"/>
          </p:cNvSpPr>
          <p:nvPr>
            <p:ph type="title"/>
          </p:nvPr>
        </p:nvSpPr>
        <p:spPr>
          <a:xfrm>
            <a:off x="1331913" y="404813"/>
            <a:ext cx="7577137" cy="939800"/>
          </a:xfrm>
        </p:spPr>
        <p:txBody>
          <a:bodyPr/>
          <a:lstStyle/>
          <a:p>
            <a:pPr>
              <a:defRPr/>
            </a:pPr>
            <a:r>
              <a:rPr lang="en-GB" sz="3600" b="1" kern="1200" dirty="0">
                <a:solidFill>
                  <a:srgbClr val="0070C0"/>
                </a:solidFill>
                <a:latin typeface="+mn-lt"/>
              </a:rPr>
              <a:t>The purpose of CPD</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DFB7CF6D-7B66-DF36-3444-B66E288C5FF5}"/>
              </a:ext>
            </a:extLst>
          </p:cNvPr>
          <p:cNvSpPr>
            <a:spLocks noGrp="1"/>
          </p:cNvSpPr>
          <p:nvPr>
            <p:ph idx="1"/>
          </p:nvPr>
        </p:nvSpPr>
        <p:spPr>
          <a:xfrm>
            <a:off x="539750" y="1989138"/>
            <a:ext cx="5327650" cy="4148137"/>
          </a:xfrm>
        </p:spPr>
        <p:txBody>
          <a:bodyPr/>
          <a:lstStyle/>
          <a:p>
            <a:pPr>
              <a:defRPr/>
            </a:pPr>
            <a:r>
              <a:rPr lang="en-GB" sz="1600" kern="1200" dirty="0"/>
              <a:t>As more people become professionally qualified with similar qualifications, CPD becomes more important as a means of separating yourself from the pack.</a:t>
            </a:r>
          </a:p>
          <a:p>
            <a:pPr>
              <a:defRPr/>
            </a:pPr>
            <a:endParaRPr lang="en-GB" sz="1600" kern="1200" dirty="0"/>
          </a:p>
          <a:p>
            <a:pPr>
              <a:defRPr/>
            </a:pPr>
            <a:r>
              <a:rPr lang="en-GB" sz="1600" kern="1200" dirty="0"/>
              <a:t>A planned approach to Continuing Professional Development allows an individual to put themselves in charge of their own career development and work-related ambitions. </a:t>
            </a:r>
          </a:p>
          <a:p>
            <a:pPr>
              <a:defRPr/>
            </a:pPr>
            <a:endParaRPr lang="en-GB" sz="1600" kern="1200" dirty="0"/>
          </a:p>
          <a:p>
            <a:pPr>
              <a:defRPr/>
            </a:pPr>
            <a:r>
              <a:rPr lang="en-GB" sz="1600" kern="1200" dirty="0"/>
              <a:t>A personal empowerment of learning brings with it an increase in confidence and resulting abilities, all of which correlate to an improvement of capability for their employment environment.</a:t>
            </a:r>
          </a:p>
          <a:p>
            <a:pPr>
              <a:defRPr/>
            </a:pPr>
            <a:endParaRPr lang="en-GB" sz="1600" dirty="0"/>
          </a:p>
        </p:txBody>
      </p:sp>
      <p:pic>
        <p:nvPicPr>
          <p:cNvPr id="30724" name="Picture 5">
            <a:extLst>
              <a:ext uri="{FF2B5EF4-FFF2-40B4-BE49-F238E27FC236}">
                <a16:creationId xmlns:a16="http://schemas.microsoft.com/office/drawing/2014/main" id="{FB61F744-B14F-4D2F-3226-37AEFC78F3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1989138"/>
            <a:ext cx="1660525"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2414C-6917-C140-0C42-76D9CCEFE7BA}"/>
              </a:ext>
            </a:extLst>
          </p:cNvPr>
          <p:cNvSpPr>
            <a:spLocks noGrp="1"/>
          </p:cNvSpPr>
          <p:nvPr>
            <p:ph type="title"/>
          </p:nvPr>
        </p:nvSpPr>
        <p:spPr>
          <a:xfrm>
            <a:off x="1182688" y="404813"/>
            <a:ext cx="7726362" cy="939800"/>
          </a:xfrm>
        </p:spPr>
        <p:txBody>
          <a:bodyPr/>
          <a:lstStyle/>
          <a:p>
            <a:pPr>
              <a:defRPr/>
            </a:pPr>
            <a:r>
              <a:rPr lang="en-GB" sz="3600" b="1" kern="1200" dirty="0">
                <a:solidFill>
                  <a:srgbClr val="0070C0"/>
                </a:solidFill>
                <a:latin typeface="+mn-lt"/>
              </a:rPr>
              <a:t>What are the benefits of CPD?</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C70C8927-2F1F-C072-0432-67E340B37046}"/>
              </a:ext>
            </a:extLst>
          </p:cNvPr>
          <p:cNvSpPr>
            <a:spLocks noGrp="1"/>
          </p:cNvSpPr>
          <p:nvPr>
            <p:ph idx="1"/>
          </p:nvPr>
        </p:nvSpPr>
        <p:spPr>
          <a:xfrm>
            <a:off x="755650" y="2060575"/>
            <a:ext cx="4973638" cy="3960813"/>
          </a:xfrm>
        </p:spPr>
        <p:txBody>
          <a:bodyPr/>
          <a:lstStyle/>
          <a:p>
            <a:pPr>
              <a:defRPr/>
            </a:pPr>
            <a:r>
              <a:rPr lang="en-GB" sz="1600" kern="1200" dirty="0"/>
              <a:t>Continuing Professional Development is essential in helping individuals, organisations or entire industries to keep skills and knowledge up to date.</a:t>
            </a:r>
          </a:p>
          <a:p>
            <a:pPr>
              <a:defRPr/>
            </a:pPr>
            <a:endParaRPr lang="en-GB" sz="1600" kern="1200" dirty="0"/>
          </a:p>
          <a:p>
            <a:pPr>
              <a:defRPr/>
            </a:pPr>
            <a:r>
              <a:rPr lang="en-GB" sz="1600" kern="1200" dirty="0"/>
              <a:t>Providing CPD enables organisations to become a knowledge bank to key stakeholders of your organisation. </a:t>
            </a:r>
          </a:p>
          <a:p>
            <a:pPr>
              <a:defRPr/>
            </a:pPr>
            <a:endParaRPr lang="en-GB" sz="1600" kern="1200" dirty="0"/>
          </a:p>
          <a:p>
            <a:pPr>
              <a:defRPr/>
            </a:pPr>
            <a:r>
              <a:rPr lang="en-GB" sz="1600" kern="1200" dirty="0"/>
              <a:t>CPD accredited training courses, workshops and events allow professionals to use the learning time towards individual CPD requirements.</a:t>
            </a:r>
          </a:p>
          <a:p>
            <a:pPr>
              <a:defRPr/>
            </a:pPr>
            <a:endParaRPr lang="en-GB" dirty="0"/>
          </a:p>
        </p:txBody>
      </p:sp>
      <p:pic>
        <p:nvPicPr>
          <p:cNvPr id="32772" name="Picture 3">
            <a:extLst>
              <a:ext uri="{FF2B5EF4-FFF2-40B4-BE49-F238E27FC236}">
                <a16:creationId xmlns:a16="http://schemas.microsoft.com/office/drawing/2014/main" id="{CE103ECB-5B7B-6402-4398-F6C94B67D0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2079625"/>
            <a:ext cx="19050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5">
            <a:extLst>
              <a:ext uri="{FF2B5EF4-FFF2-40B4-BE49-F238E27FC236}">
                <a16:creationId xmlns:a16="http://schemas.microsoft.com/office/drawing/2014/main" id="{D7E942C3-FD68-8222-1069-1342362000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30950" y="4213225"/>
            <a:ext cx="24193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4957C-6901-C1A7-AD2B-BF2AA078D0F9}"/>
              </a:ext>
            </a:extLst>
          </p:cNvPr>
          <p:cNvSpPr>
            <a:spLocks noGrp="1"/>
          </p:cNvSpPr>
          <p:nvPr>
            <p:ph type="title"/>
          </p:nvPr>
        </p:nvSpPr>
        <p:spPr>
          <a:xfrm>
            <a:off x="1401763" y="404813"/>
            <a:ext cx="7058025" cy="939800"/>
          </a:xfrm>
        </p:spPr>
        <p:txBody>
          <a:bodyPr/>
          <a:lstStyle/>
          <a:p>
            <a:pPr>
              <a:defRPr/>
            </a:pPr>
            <a:r>
              <a:rPr lang="en-GB" sz="3200" b="1" kern="1200" dirty="0">
                <a:solidFill>
                  <a:srgbClr val="0070C0"/>
                </a:solidFill>
                <a:latin typeface="+mn-lt"/>
              </a:rPr>
              <a:t>What are the benefits of CPD for individuals?</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AF654453-8987-2DF8-BADC-28CA7BF13263}"/>
              </a:ext>
            </a:extLst>
          </p:cNvPr>
          <p:cNvSpPr>
            <a:spLocks noGrp="1"/>
          </p:cNvSpPr>
          <p:nvPr>
            <p:ph idx="1"/>
          </p:nvPr>
        </p:nvSpPr>
        <p:spPr>
          <a:xfrm>
            <a:off x="611188" y="1916113"/>
            <a:ext cx="8208962" cy="3241675"/>
          </a:xfrm>
        </p:spPr>
        <p:txBody>
          <a:bodyPr/>
          <a:lstStyle/>
          <a:p>
            <a:pPr>
              <a:defRPr/>
            </a:pPr>
            <a:r>
              <a:rPr lang="en-GB" sz="1600" kern="1200" dirty="0">
                <a:latin typeface="Arial" pitchFamily="34" charset="0"/>
              </a:rPr>
              <a:t>Continuing Professional Development helps individuals to regularly focus on how they can become a more competent and effective professional. </a:t>
            </a:r>
          </a:p>
          <a:p>
            <a:pPr>
              <a:defRPr/>
            </a:pPr>
            <a:r>
              <a:rPr lang="en-GB" sz="1600" kern="1200" dirty="0">
                <a:latin typeface="Arial" pitchFamily="34" charset="0"/>
              </a:rPr>
              <a:t>Training and learning increase confidence and overall capability, and compliments career aspirations.</a:t>
            </a:r>
          </a:p>
          <a:p>
            <a:pPr>
              <a:defRPr/>
            </a:pPr>
            <a:r>
              <a:rPr lang="en-GB" sz="1600" kern="1200" dirty="0">
                <a:latin typeface="Arial" pitchFamily="34" charset="0"/>
              </a:rPr>
              <a:t>CPD enables individuals to adapt positively to changes in work/industry requirements. </a:t>
            </a:r>
          </a:p>
          <a:p>
            <a:pPr>
              <a:defRPr/>
            </a:pPr>
            <a:r>
              <a:rPr lang="en-GB" sz="1600" kern="1200" dirty="0">
                <a:latin typeface="Arial" pitchFamily="34" charset="0"/>
              </a:rPr>
              <a:t>Planning CPD helps to be more efficient with time, and recording CPD properly provides evidence of professional development (this can be useful for supervision and appraisals).</a:t>
            </a:r>
          </a:p>
          <a:p>
            <a:pPr>
              <a:defRPr/>
            </a:pPr>
            <a:r>
              <a:rPr lang="en-GB" sz="1600" kern="1200" dirty="0">
                <a:latin typeface="Arial" pitchFamily="34" charset="0"/>
              </a:rPr>
              <a:t>CPD shows a clear commitment to self-development and professionalism. </a:t>
            </a:r>
          </a:p>
          <a:p>
            <a:pPr>
              <a:defRPr/>
            </a:pPr>
            <a:r>
              <a:rPr lang="en-GB" sz="1600" kern="1200" dirty="0">
                <a:latin typeface="Arial" pitchFamily="34" charset="0"/>
              </a:rPr>
              <a:t>CPD provides an opportunity for an individual to identify knowledge gaps and to resolve these in a recognisable approach to improvement.</a:t>
            </a:r>
          </a:p>
        </p:txBody>
      </p:sp>
      <p:sp>
        <p:nvSpPr>
          <p:cNvPr id="34820" name="Content Placeholder 2">
            <a:extLst>
              <a:ext uri="{FF2B5EF4-FFF2-40B4-BE49-F238E27FC236}">
                <a16:creationId xmlns:a16="http://schemas.microsoft.com/office/drawing/2014/main" id="{5194BA1E-D604-A519-195C-54B45A560DFF}"/>
              </a:ext>
            </a:extLst>
          </p:cNvPr>
          <p:cNvSpPr txBox="1">
            <a:spLocks/>
          </p:cNvSpPr>
          <p:nvPr/>
        </p:nvSpPr>
        <p:spPr bwMode="auto">
          <a:xfrm>
            <a:off x="655638" y="5226050"/>
            <a:ext cx="47085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altLang="en-US" sz="1600">
                <a:latin typeface="Arial" panose="020B0604020202020204" pitchFamily="34" charset="0"/>
              </a:rPr>
              <a:t>Accredited CPD Providers should make available to individuals a Certificate of Attendance to attach to their CPD log as evidence of development once training is complete or the desired standards of learning have been met.</a:t>
            </a:r>
          </a:p>
        </p:txBody>
      </p:sp>
      <p:pic>
        <p:nvPicPr>
          <p:cNvPr id="34821" name="Picture 5">
            <a:extLst>
              <a:ext uri="{FF2B5EF4-FFF2-40B4-BE49-F238E27FC236}">
                <a16:creationId xmlns:a16="http://schemas.microsoft.com/office/drawing/2014/main" id="{521AF187-5F56-F00E-2488-B7045CFC02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5249863"/>
            <a:ext cx="34671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56DBF-CA7E-8D89-8632-258EF33F53CF}"/>
              </a:ext>
            </a:extLst>
          </p:cNvPr>
          <p:cNvSpPr>
            <a:spLocks noGrp="1"/>
          </p:cNvSpPr>
          <p:nvPr>
            <p:ph type="title"/>
          </p:nvPr>
        </p:nvSpPr>
        <p:spPr>
          <a:xfrm>
            <a:off x="1401763" y="404813"/>
            <a:ext cx="7058025" cy="939800"/>
          </a:xfrm>
        </p:spPr>
        <p:txBody>
          <a:bodyPr/>
          <a:lstStyle/>
          <a:p>
            <a:pPr>
              <a:defRPr/>
            </a:pPr>
            <a:r>
              <a:rPr lang="en-GB" sz="3200" b="1" kern="1200" dirty="0">
                <a:solidFill>
                  <a:srgbClr val="0070C0"/>
                </a:solidFill>
                <a:latin typeface="+mn-lt"/>
              </a:rPr>
              <a:t>What are the benefits of CPD for organisations?</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20D537DA-FB1D-BF45-6393-E8728F5B9D36}"/>
              </a:ext>
            </a:extLst>
          </p:cNvPr>
          <p:cNvSpPr>
            <a:spLocks noGrp="1"/>
          </p:cNvSpPr>
          <p:nvPr>
            <p:ph idx="1"/>
          </p:nvPr>
        </p:nvSpPr>
        <p:spPr>
          <a:xfrm>
            <a:off x="684213" y="1916113"/>
            <a:ext cx="8208962" cy="2665412"/>
          </a:xfrm>
        </p:spPr>
        <p:txBody>
          <a:bodyPr/>
          <a:lstStyle/>
          <a:p>
            <a:pPr>
              <a:defRPr/>
            </a:pPr>
            <a:r>
              <a:rPr lang="en-GB" sz="1600" kern="1200" dirty="0">
                <a:latin typeface="Arial" pitchFamily="34" charset="0"/>
              </a:rPr>
              <a:t>Providing CPD accredited learning benefits your organisation through recognition and increased brand perception.</a:t>
            </a:r>
          </a:p>
          <a:p>
            <a:pPr>
              <a:defRPr/>
            </a:pPr>
            <a:r>
              <a:rPr lang="en-GB" sz="1600" kern="1200" dirty="0">
                <a:latin typeface="Arial" pitchFamily="34" charset="0"/>
              </a:rPr>
              <a:t>Internal use of Continuing Professional Development encourages and promotes a healthy learning culture for your organisation, leading to a more fulfilled workforce and retaining valuable staff.</a:t>
            </a:r>
          </a:p>
          <a:p>
            <a:pPr>
              <a:defRPr/>
            </a:pPr>
            <a:r>
              <a:rPr lang="en-GB" sz="1600" kern="1200" dirty="0">
                <a:latin typeface="Arial" pitchFamily="34" charset="0"/>
              </a:rPr>
              <a:t>Many organisations have staff with CPD obligations as members of professional bodies.</a:t>
            </a:r>
          </a:p>
          <a:p>
            <a:pPr>
              <a:defRPr/>
            </a:pPr>
            <a:r>
              <a:rPr lang="en-GB" sz="1600" kern="1200" dirty="0">
                <a:latin typeface="Arial" pitchFamily="34" charset="0"/>
              </a:rPr>
              <a:t>In circumstances where internal CPD training resources are low, organisations use outsourced CPD training providers to meet staff requirements. Outsourced CPD providers are typically training companies, online learning resources, events &amp; conference organisers.</a:t>
            </a:r>
          </a:p>
          <a:p>
            <a:pPr>
              <a:defRPr/>
            </a:pPr>
            <a:endParaRPr lang="en-GB" sz="1600" dirty="0"/>
          </a:p>
        </p:txBody>
      </p:sp>
      <p:pic>
        <p:nvPicPr>
          <p:cNvPr id="36868" name="Picture 3">
            <a:extLst>
              <a:ext uri="{FF2B5EF4-FFF2-40B4-BE49-F238E27FC236}">
                <a16:creationId xmlns:a16="http://schemas.microsoft.com/office/drawing/2014/main" id="{47B6A5EC-AB7A-15B3-9241-8A1ED3C731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3175" y="4895850"/>
            <a:ext cx="2540000"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F505AF88-63C0-9F48-A015-71EECC27CE51}"/>
              </a:ext>
            </a:extLst>
          </p:cNvPr>
          <p:cNvSpPr txBox="1">
            <a:spLocks/>
          </p:cNvSpPr>
          <p:nvPr/>
        </p:nvSpPr>
        <p:spPr bwMode="auto">
          <a:xfrm>
            <a:off x="684213" y="4895850"/>
            <a:ext cx="5592762" cy="19351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GB" sz="1600" dirty="0">
                <a:latin typeface="Arial" pitchFamily="34" charset="0"/>
              </a:rPr>
              <a:t>They are experts in their field and provide practical learning opportunities through CPD events, seminars and accredited CPD courses. </a:t>
            </a:r>
          </a:p>
          <a:p>
            <a:pPr>
              <a:defRPr/>
            </a:pPr>
            <a:r>
              <a:rPr lang="en-GB" sz="1600" dirty="0">
                <a:latin typeface="Arial" pitchFamily="34" charset="0"/>
              </a:rPr>
              <a:t>Some CPD courses are just 1 or 2 hours long, delivered in a seminar or classroom-style environment. </a:t>
            </a:r>
          </a:p>
          <a:p>
            <a:pPr>
              <a:defRPr/>
            </a:pPr>
            <a:r>
              <a:rPr lang="en-GB" sz="1600" dirty="0">
                <a:latin typeface="Arial" pitchFamily="34" charset="0"/>
              </a:rPr>
              <a:t>Other accredited CPD courses can be a full 6-10 weeks program, split into structured bite-size modules.</a:t>
            </a:r>
          </a:p>
          <a:p>
            <a:pPr>
              <a:defRPr/>
            </a:pPr>
            <a:endParaRPr lang="en-GB" sz="1600" kern="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D33D-D1AA-DB07-5E49-C01ECEA1B912}"/>
              </a:ext>
            </a:extLst>
          </p:cNvPr>
          <p:cNvSpPr>
            <a:spLocks noGrp="1"/>
          </p:cNvSpPr>
          <p:nvPr>
            <p:ph type="title"/>
          </p:nvPr>
        </p:nvSpPr>
        <p:spPr/>
        <p:txBody>
          <a:bodyPr/>
          <a:lstStyle/>
          <a:p>
            <a:pPr>
              <a:defRPr/>
            </a:pPr>
            <a:r>
              <a:rPr lang="en-GB" sz="3600" b="1" kern="1200" dirty="0">
                <a:solidFill>
                  <a:srgbClr val="0070C0"/>
                </a:solidFill>
                <a:latin typeface="+mn-lt"/>
              </a:rPr>
              <a:t>CPD Learning Types</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099DEBCA-8C15-F241-82A2-28D38E0C1D7D}"/>
              </a:ext>
            </a:extLst>
          </p:cNvPr>
          <p:cNvSpPr>
            <a:spLocks noGrp="1"/>
          </p:cNvSpPr>
          <p:nvPr>
            <p:ph idx="1"/>
          </p:nvPr>
        </p:nvSpPr>
        <p:spPr>
          <a:xfrm>
            <a:off x="539750" y="1916113"/>
            <a:ext cx="5327650" cy="4503737"/>
          </a:xfrm>
        </p:spPr>
        <p:txBody>
          <a:bodyPr/>
          <a:lstStyle/>
          <a:p>
            <a:pPr>
              <a:defRPr/>
            </a:pPr>
            <a:r>
              <a:rPr lang="en-GB" sz="1600" dirty="0"/>
              <a:t>Types of CPD learning vary significantly, depending on the requirements for your business, or if you’re learning as an individual.</a:t>
            </a:r>
          </a:p>
          <a:p>
            <a:pPr>
              <a:defRPr/>
            </a:pPr>
            <a:endParaRPr lang="en-GB" sz="1600" dirty="0"/>
          </a:p>
          <a:p>
            <a:pPr>
              <a:defRPr/>
            </a:pPr>
            <a:r>
              <a:rPr lang="en-GB" sz="1600" dirty="0"/>
              <a:t>There are 3 types of learning:</a:t>
            </a:r>
          </a:p>
          <a:p>
            <a:pPr>
              <a:defRPr/>
            </a:pPr>
            <a:endParaRPr lang="en-GB" sz="1600" dirty="0"/>
          </a:p>
          <a:p>
            <a:pPr lvl="1">
              <a:defRPr/>
            </a:pPr>
            <a:r>
              <a:rPr lang="en-GB" sz="1600" kern="1200" dirty="0"/>
              <a:t>Structured CPD / Active Learning</a:t>
            </a:r>
          </a:p>
          <a:p>
            <a:pPr lvl="1">
              <a:defRPr/>
            </a:pPr>
            <a:endParaRPr lang="en-GB" sz="1600" dirty="0"/>
          </a:p>
          <a:p>
            <a:pPr lvl="1">
              <a:defRPr/>
            </a:pPr>
            <a:r>
              <a:rPr lang="en-GB" sz="1600" kern="1200" dirty="0"/>
              <a:t>Reflective CPD / Passive Learning</a:t>
            </a:r>
          </a:p>
          <a:p>
            <a:pPr lvl="1">
              <a:defRPr/>
            </a:pPr>
            <a:endParaRPr lang="en-GB" sz="1600" kern="1200" dirty="0"/>
          </a:p>
          <a:p>
            <a:pPr lvl="1">
              <a:defRPr/>
            </a:pPr>
            <a:r>
              <a:rPr lang="en-GB" sz="1600" kern="1200" dirty="0"/>
              <a:t>Self-Directed CPD / Unstructured Learning</a:t>
            </a:r>
            <a:endParaRPr lang="en-GB" sz="1600" dirty="0"/>
          </a:p>
          <a:p>
            <a:pPr lvl="1">
              <a:defRPr/>
            </a:pPr>
            <a:endParaRPr lang="en-GB" sz="1200" dirty="0"/>
          </a:p>
        </p:txBody>
      </p:sp>
      <p:pic>
        <p:nvPicPr>
          <p:cNvPr id="38916" name="Picture 3">
            <a:extLst>
              <a:ext uri="{FF2B5EF4-FFF2-40B4-BE49-F238E27FC236}">
                <a16:creationId xmlns:a16="http://schemas.microsoft.com/office/drawing/2014/main" id="{0E0A2C29-CA12-0FA7-4207-5A9A3C4817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887538"/>
            <a:ext cx="26479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4">
            <a:extLst>
              <a:ext uri="{FF2B5EF4-FFF2-40B4-BE49-F238E27FC236}">
                <a16:creationId xmlns:a16="http://schemas.microsoft.com/office/drawing/2014/main" id="{C73BC45D-91EF-9C2A-AEA6-E0653690824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183063"/>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D64F9-7A3F-1C03-DBBE-DFFCFC79B733}"/>
              </a:ext>
            </a:extLst>
          </p:cNvPr>
          <p:cNvSpPr>
            <a:spLocks noGrp="1"/>
          </p:cNvSpPr>
          <p:nvPr>
            <p:ph type="title"/>
          </p:nvPr>
        </p:nvSpPr>
        <p:spPr>
          <a:xfrm>
            <a:off x="1187450" y="404813"/>
            <a:ext cx="7721600" cy="939800"/>
          </a:xfrm>
        </p:spPr>
        <p:txBody>
          <a:bodyPr/>
          <a:lstStyle/>
          <a:p>
            <a:pPr>
              <a:defRPr/>
            </a:pPr>
            <a:r>
              <a:rPr lang="en-GB" sz="3200" b="1" kern="1200" dirty="0">
                <a:solidFill>
                  <a:srgbClr val="0070C0"/>
                </a:solidFill>
              </a:rPr>
              <a:t>Structured CPD / Active Learning</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9261A266-6CC9-3CB5-6259-1AD7E785ADD7}"/>
              </a:ext>
            </a:extLst>
          </p:cNvPr>
          <p:cNvSpPr>
            <a:spLocks noGrp="1"/>
          </p:cNvSpPr>
          <p:nvPr>
            <p:ph idx="1"/>
          </p:nvPr>
        </p:nvSpPr>
        <p:spPr>
          <a:xfrm>
            <a:off x="479425" y="1911350"/>
            <a:ext cx="4535488" cy="3743325"/>
          </a:xfrm>
        </p:spPr>
        <p:txBody>
          <a:bodyPr/>
          <a:lstStyle/>
          <a:p>
            <a:pPr>
              <a:defRPr/>
            </a:pPr>
            <a:r>
              <a:rPr lang="en-GB" sz="1600" kern="1200" dirty="0"/>
              <a:t>This type of learning involves interactive and participation-based study. </a:t>
            </a:r>
          </a:p>
          <a:p>
            <a:pPr>
              <a:defRPr/>
            </a:pPr>
            <a:endParaRPr lang="en-GB" sz="1600" kern="1200" dirty="0"/>
          </a:p>
          <a:p>
            <a:pPr>
              <a:defRPr/>
            </a:pPr>
            <a:r>
              <a:rPr lang="en-GB" sz="1600" kern="1200" dirty="0"/>
              <a:t>It is typically proactive and can include attending a training course, conference, workshop, seminar, lecture, e-learning course or CPD certified event. </a:t>
            </a:r>
          </a:p>
          <a:p>
            <a:pPr>
              <a:defRPr/>
            </a:pPr>
            <a:endParaRPr lang="en-GB" sz="1600" kern="1200" dirty="0"/>
          </a:p>
          <a:p>
            <a:pPr>
              <a:defRPr/>
            </a:pPr>
            <a:r>
              <a:rPr lang="en-GB" sz="1600" kern="1200" dirty="0"/>
              <a:t>CPD active learning also applies to when professionals take career orientated exams and assessments (the study and revision would be considered self-directed learning, see Self-Directed CPD).</a:t>
            </a:r>
          </a:p>
          <a:p>
            <a:pPr>
              <a:defRPr/>
            </a:pPr>
            <a:endParaRPr lang="en-GB" sz="1600" dirty="0"/>
          </a:p>
        </p:txBody>
      </p:sp>
      <p:pic>
        <p:nvPicPr>
          <p:cNvPr id="40964" name="Picture 3">
            <a:extLst>
              <a:ext uri="{FF2B5EF4-FFF2-40B4-BE49-F238E27FC236}">
                <a16:creationId xmlns:a16="http://schemas.microsoft.com/office/drawing/2014/main" id="{7909D010-2AC0-2FB5-4D5B-87D78DAE60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1774825"/>
            <a:ext cx="23495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4">
            <a:extLst>
              <a:ext uri="{FF2B5EF4-FFF2-40B4-BE49-F238E27FC236}">
                <a16:creationId xmlns:a16="http://schemas.microsoft.com/office/drawing/2014/main" id="{F3556759-3678-DEBD-C390-9CE9BED0FF1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86475" y="3344863"/>
            <a:ext cx="220345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5">
            <a:extLst>
              <a:ext uri="{FF2B5EF4-FFF2-40B4-BE49-F238E27FC236}">
                <a16:creationId xmlns:a16="http://schemas.microsoft.com/office/drawing/2014/main" id="{37A70860-22DC-11F7-FAB5-3C25EBFC5F8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159375" y="5157788"/>
            <a:ext cx="359092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5712A-5299-F64E-9652-1DD61CA008FB}"/>
              </a:ext>
            </a:extLst>
          </p:cNvPr>
          <p:cNvSpPr>
            <a:spLocks noGrp="1"/>
          </p:cNvSpPr>
          <p:nvPr>
            <p:ph type="title"/>
          </p:nvPr>
        </p:nvSpPr>
        <p:spPr/>
        <p:txBody>
          <a:bodyPr/>
          <a:lstStyle/>
          <a:p>
            <a:pPr>
              <a:defRPr/>
            </a:pPr>
            <a:r>
              <a:rPr lang="en-GB" sz="3200" b="1" kern="1200" dirty="0">
                <a:solidFill>
                  <a:srgbClr val="0070C0"/>
                </a:solidFill>
                <a:latin typeface="+mn-lt"/>
              </a:rPr>
              <a:t>Reflective CPD / Passive Learning</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AB1D0F92-E2C0-415B-62A3-3E3EA417D4D2}"/>
              </a:ext>
            </a:extLst>
          </p:cNvPr>
          <p:cNvSpPr>
            <a:spLocks noGrp="1"/>
          </p:cNvSpPr>
          <p:nvPr>
            <p:ph idx="1"/>
          </p:nvPr>
        </p:nvSpPr>
        <p:spPr>
          <a:xfrm>
            <a:off x="534988" y="2478088"/>
            <a:ext cx="4465637" cy="3527425"/>
          </a:xfrm>
        </p:spPr>
        <p:txBody>
          <a:bodyPr/>
          <a:lstStyle/>
          <a:p>
            <a:pPr>
              <a:defRPr/>
            </a:pPr>
            <a:r>
              <a:rPr lang="en-GB" sz="1600" kern="1200" dirty="0">
                <a:latin typeface="Arial" pitchFamily="34" charset="0"/>
              </a:rPr>
              <a:t>This type of learning involves no participant-based interaction, so this form of CPD is much more passive and one directional. </a:t>
            </a:r>
          </a:p>
          <a:p>
            <a:pPr>
              <a:defRPr/>
            </a:pPr>
            <a:endParaRPr lang="en-GB" sz="1600" kern="1200" dirty="0">
              <a:latin typeface="Arial" pitchFamily="34" charset="0"/>
            </a:endParaRPr>
          </a:p>
          <a:p>
            <a:pPr>
              <a:defRPr/>
            </a:pPr>
            <a:r>
              <a:rPr lang="en-GB" sz="1600" kern="1200" dirty="0">
                <a:latin typeface="Arial" pitchFamily="34" charset="0"/>
              </a:rPr>
              <a:t>Examples of this include reading relevant news articles, podcasts &amp; case studies and industry updates. </a:t>
            </a:r>
          </a:p>
          <a:p>
            <a:pPr>
              <a:defRPr/>
            </a:pPr>
            <a:endParaRPr lang="en-GB" sz="1600" kern="1200" dirty="0">
              <a:latin typeface="Arial" pitchFamily="34" charset="0"/>
            </a:endParaRPr>
          </a:p>
          <a:p>
            <a:pPr>
              <a:defRPr/>
            </a:pPr>
            <a:r>
              <a:rPr lang="en-GB" sz="1600" kern="1200" dirty="0">
                <a:latin typeface="Arial" pitchFamily="34" charset="0"/>
              </a:rPr>
              <a:t>Some informal meetings can be applicable to CPD reflective learning, but the learning objectives of these meetings must be made clear in an individual’s overall CPD plan.</a:t>
            </a:r>
          </a:p>
        </p:txBody>
      </p:sp>
      <p:pic>
        <p:nvPicPr>
          <p:cNvPr id="43012" name="Picture 4">
            <a:extLst>
              <a:ext uri="{FF2B5EF4-FFF2-40B4-BE49-F238E27FC236}">
                <a16:creationId xmlns:a16="http://schemas.microsoft.com/office/drawing/2014/main" id="{3831B087-E1B9-B2E2-61BE-7B2312923A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46825" y="1885950"/>
            <a:ext cx="2365375"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5">
            <a:extLst>
              <a:ext uri="{FF2B5EF4-FFF2-40B4-BE49-F238E27FC236}">
                <a16:creationId xmlns:a16="http://schemas.microsoft.com/office/drawing/2014/main" id="{80CB6350-50CF-36AF-A036-A343B47BD06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48488" y="5118100"/>
            <a:ext cx="160496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6">
            <a:extLst>
              <a:ext uri="{FF2B5EF4-FFF2-40B4-BE49-F238E27FC236}">
                <a16:creationId xmlns:a16="http://schemas.microsoft.com/office/drawing/2014/main" id="{11C0FA31-0D39-D612-E80B-E44746C901A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249863" y="3300413"/>
            <a:ext cx="22796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1BD9-A3A5-0839-1CAA-63422B8D8EB1}"/>
              </a:ext>
            </a:extLst>
          </p:cNvPr>
          <p:cNvSpPr>
            <a:spLocks noGrp="1"/>
          </p:cNvSpPr>
          <p:nvPr>
            <p:ph type="title"/>
          </p:nvPr>
        </p:nvSpPr>
        <p:spPr>
          <a:xfrm>
            <a:off x="1350963" y="476250"/>
            <a:ext cx="7793037" cy="939800"/>
          </a:xfrm>
        </p:spPr>
        <p:txBody>
          <a:bodyPr/>
          <a:lstStyle/>
          <a:p>
            <a:pPr>
              <a:defRPr/>
            </a:pPr>
            <a:r>
              <a:rPr lang="en-GB" sz="2800" b="1" kern="1200" dirty="0">
                <a:solidFill>
                  <a:srgbClr val="0070C0"/>
                </a:solidFill>
                <a:latin typeface="+mn-lt"/>
              </a:rPr>
              <a:t>Self-Directed CPD / Unstructured Learning</a:t>
            </a:r>
            <a:endParaRPr lang="en-GB" sz="2800" b="1" dirty="0">
              <a:solidFill>
                <a:srgbClr val="0070C0"/>
              </a:solidFill>
              <a:latin typeface="+mn-lt"/>
            </a:endParaRPr>
          </a:p>
        </p:txBody>
      </p:sp>
      <p:sp>
        <p:nvSpPr>
          <p:cNvPr id="3" name="Content Placeholder 2">
            <a:extLst>
              <a:ext uri="{FF2B5EF4-FFF2-40B4-BE49-F238E27FC236}">
                <a16:creationId xmlns:a16="http://schemas.microsoft.com/office/drawing/2014/main" id="{CC90EC02-BC19-75E5-D29A-AC8C56352A26}"/>
              </a:ext>
            </a:extLst>
          </p:cNvPr>
          <p:cNvSpPr>
            <a:spLocks noGrp="1"/>
          </p:cNvSpPr>
          <p:nvPr>
            <p:ph idx="1"/>
          </p:nvPr>
        </p:nvSpPr>
        <p:spPr>
          <a:xfrm>
            <a:off x="673100" y="2047875"/>
            <a:ext cx="4103688" cy="4503738"/>
          </a:xfrm>
        </p:spPr>
        <p:txBody>
          <a:bodyPr/>
          <a:lstStyle/>
          <a:p>
            <a:pPr>
              <a:defRPr/>
            </a:pPr>
            <a:r>
              <a:rPr lang="en-GB" sz="1600" kern="1200" dirty="0">
                <a:latin typeface="Arial" pitchFamily="34" charset="0"/>
              </a:rPr>
              <a:t>This type of learning involves all unaccompanied CPD activities.</a:t>
            </a:r>
          </a:p>
          <a:p>
            <a:pPr>
              <a:defRPr/>
            </a:pPr>
            <a:endParaRPr lang="en-GB" sz="1600" kern="1200" dirty="0">
              <a:latin typeface="Arial" pitchFamily="34" charset="0"/>
            </a:endParaRPr>
          </a:p>
          <a:p>
            <a:pPr>
              <a:defRPr/>
            </a:pPr>
            <a:r>
              <a:rPr lang="en-GB" sz="1600" kern="1200" dirty="0">
                <a:latin typeface="Arial" pitchFamily="34" charset="0"/>
              </a:rPr>
              <a:t>It covers the reading of documents, articles and publications; either in print or online.</a:t>
            </a:r>
          </a:p>
          <a:p>
            <a:pPr>
              <a:defRPr/>
            </a:pPr>
            <a:endParaRPr lang="en-GB" sz="1600" kern="1200" dirty="0">
              <a:latin typeface="Arial" pitchFamily="34" charset="0"/>
            </a:endParaRPr>
          </a:p>
          <a:p>
            <a:pPr>
              <a:defRPr/>
            </a:pPr>
            <a:r>
              <a:rPr lang="en-GB" sz="1600" kern="1200" dirty="0">
                <a:latin typeface="Arial" pitchFamily="34" charset="0"/>
              </a:rPr>
              <a:t>Reading relevant publications, books by leading experts, industry journals and trade magazines are all types of self-directed CPD.</a:t>
            </a:r>
          </a:p>
          <a:p>
            <a:pPr>
              <a:defRPr/>
            </a:pPr>
            <a:endParaRPr lang="en-GB" sz="1600" kern="1200" dirty="0">
              <a:latin typeface="Arial" pitchFamily="34" charset="0"/>
            </a:endParaRPr>
          </a:p>
          <a:p>
            <a:pPr>
              <a:defRPr/>
            </a:pPr>
            <a:r>
              <a:rPr lang="en-GB" sz="1600" kern="1200" dirty="0">
                <a:latin typeface="Arial" pitchFamily="34" charset="0"/>
              </a:rPr>
              <a:t>You could also include industry-specific news feeds or research into relevant fields.</a:t>
            </a:r>
          </a:p>
          <a:p>
            <a:pPr>
              <a:defRPr/>
            </a:pPr>
            <a:endParaRPr lang="en-GB" sz="1600" dirty="0"/>
          </a:p>
        </p:txBody>
      </p:sp>
      <p:pic>
        <p:nvPicPr>
          <p:cNvPr id="45060" name="Picture 3">
            <a:extLst>
              <a:ext uri="{FF2B5EF4-FFF2-40B4-BE49-F238E27FC236}">
                <a16:creationId xmlns:a16="http://schemas.microsoft.com/office/drawing/2014/main" id="{8299E925-B6DC-7B81-5BFA-8D1ECF00DA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2220913"/>
            <a:ext cx="2090738"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4">
            <a:extLst>
              <a:ext uri="{FF2B5EF4-FFF2-40B4-BE49-F238E27FC236}">
                <a16:creationId xmlns:a16="http://schemas.microsoft.com/office/drawing/2014/main" id="{4253EE6B-61CE-0FDF-6C44-9F83590631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3175" y="3948113"/>
            <a:ext cx="1335088"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5">
            <a:extLst>
              <a:ext uri="{FF2B5EF4-FFF2-40B4-BE49-F238E27FC236}">
                <a16:creationId xmlns:a16="http://schemas.microsoft.com/office/drawing/2014/main" id="{EDE517A2-4261-7A67-A61E-66A32D6D199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210425" y="1692275"/>
            <a:ext cx="1079500" cy="144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6">
            <a:extLst>
              <a:ext uri="{FF2B5EF4-FFF2-40B4-BE49-F238E27FC236}">
                <a16:creationId xmlns:a16="http://schemas.microsoft.com/office/drawing/2014/main" id="{BEED0BE7-2631-AFD9-4FB2-793E911C329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76788" y="4624388"/>
            <a:ext cx="22098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D7CAA-433B-7A13-7A5A-839EA83EA197}"/>
              </a:ext>
            </a:extLst>
          </p:cNvPr>
          <p:cNvSpPr>
            <a:spLocks noGrp="1"/>
          </p:cNvSpPr>
          <p:nvPr>
            <p:ph type="title"/>
          </p:nvPr>
        </p:nvSpPr>
        <p:spPr>
          <a:xfrm>
            <a:off x="1331913" y="404813"/>
            <a:ext cx="7577137" cy="939800"/>
          </a:xfrm>
        </p:spPr>
        <p:txBody>
          <a:bodyPr/>
          <a:lstStyle/>
          <a:p>
            <a:pPr>
              <a:defRPr/>
            </a:pPr>
            <a:r>
              <a:rPr lang="en-GB" sz="3600" b="1" dirty="0">
                <a:solidFill>
                  <a:srgbClr val="FF0000"/>
                </a:solidFill>
                <a:latin typeface="+mn-lt"/>
              </a:rPr>
              <a:t>Activity</a:t>
            </a:r>
          </a:p>
        </p:txBody>
      </p:sp>
      <p:sp>
        <p:nvSpPr>
          <p:cNvPr id="47107" name="Content Placeholder 2">
            <a:extLst>
              <a:ext uri="{FF2B5EF4-FFF2-40B4-BE49-F238E27FC236}">
                <a16:creationId xmlns:a16="http://schemas.microsoft.com/office/drawing/2014/main" id="{7DF28A32-689B-D6AD-C07F-7398B0732007}"/>
              </a:ext>
            </a:extLst>
          </p:cNvPr>
          <p:cNvSpPr>
            <a:spLocks noGrp="1" noChangeArrowheads="1"/>
          </p:cNvSpPr>
          <p:nvPr>
            <p:ph idx="1"/>
          </p:nvPr>
        </p:nvSpPr>
        <p:spPr>
          <a:xfrm>
            <a:off x="401638" y="2493963"/>
            <a:ext cx="4751387" cy="3384550"/>
          </a:xfrm>
        </p:spPr>
        <p:txBody>
          <a:bodyPr/>
          <a:lstStyle/>
          <a:p>
            <a:r>
              <a:rPr lang="en-GB" altLang="en-US" sz="2000"/>
              <a:t>Identify all the current Continuing Professional Development (CPD) activities you presently undertake.</a:t>
            </a:r>
          </a:p>
          <a:p>
            <a:endParaRPr lang="en-GB" altLang="en-US" sz="2000"/>
          </a:p>
          <a:p>
            <a:r>
              <a:rPr lang="en-GB" altLang="en-US" sz="2000"/>
              <a:t>Create a table which lists all your CPD activities. </a:t>
            </a:r>
          </a:p>
          <a:p>
            <a:endParaRPr lang="en-GB" altLang="en-US" sz="2000"/>
          </a:p>
          <a:p>
            <a:r>
              <a:rPr lang="en-GB" altLang="en-US" sz="2000"/>
              <a:t>Highlight which learning style category they belong to.</a:t>
            </a:r>
          </a:p>
        </p:txBody>
      </p:sp>
      <p:pic>
        <p:nvPicPr>
          <p:cNvPr id="47108" name="Picture 3">
            <a:extLst>
              <a:ext uri="{FF2B5EF4-FFF2-40B4-BE49-F238E27FC236}">
                <a16:creationId xmlns:a16="http://schemas.microsoft.com/office/drawing/2014/main" id="{C4EDE7DC-B1D6-93ED-5A93-C2DA0E374A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11788" y="2492375"/>
            <a:ext cx="325120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4D1CA52-F601-47AE-8A1C-D0356D11F506}"/>
</file>

<file path=customXml/itemProps2.xml><?xml version="1.0" encoding="utf-8"?>
<ds:datastoreItem xmlns:ds="http://schemas.openxmlformats.org/officeDocument/2006/customXml" ds:itemID="{DDD11EFF-F068-429E-8454-24F648E0893D}"/>
</file>

<file path=customXml/itemProps3.xml><?xml version="1.0" encoding="utf-8"?>
<ds:datastoreItem xmlns:ds="http://schemas.openxmlformats.org/officeDocument/2006/customXml" ds:itemID="{4E1FC238-858B-46EB-AA85-36B43D084138}"/>
</file>

<file path=docProps/app.xml><?xml version="1.0" encoding="utf-8"?>
<Properties xmlns="http://schemas.openxmlformats.org/officeDocument/2006/extended-properties" xmlns:vt="http://schemas.openxmlformats.org/officeDocument/2006/docPropsVTypes">
  <Template/>
  <TotalTime>2212</TotalTime>
  <Words>1616</Words>
  <Application>Microsoft Office PowerPoint</Application>
  <PresentationFormat>On-screen Show (4:3)</PresentationFormat>
  <Paragraphs>136</Paragraphs>
  <Slides>16</Slides>
  <Notes>15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Tahoma</vt:lpstr>
      <vt:lpstr>Wingdings</vt:lpstr>
      <vt:lpstr>Blends</vt:lpstr>
      <vt:lpstr>1_Blends</vt:lpstr>
      <vt:lpstr>Occupational Specialist Component Content: Digital Production, Design  and Development</vt:lpstr>
      <vt:lpstr>The unit outcomes</vt:lpstr>
      <vt:lpstr>Learning Objectives</vt:lpstr>
      <vt:lpstr>Continuing Professional Development (CPD)</vt:lpstr>
      <vt:lpstr>Continuing Professional Development (CPD)</vt:lpstr>
      <vt:lpstr>The Importance of Continuing Professional Development (CPD)</vt:lpstr>
      <vt:lpstr>The purpose of CPD</vt:lpstr>
      <vt:lpstr>The purpose of CPD</vt:lpstr>
      <vt:lpstr>What are the benefits of CPD?</vt:lpstr>
      <vt:lpstr>What are the benefits of CPD for individuals?</vt:lpstr>
      <vt:lpstr>What are the benefits of CPD for organisations?</vt:lpstr>
      <vt:lpstr>CPD Learning Types</vt:lpstr>
      <vt:lpstr>Structured CPD / Active Learning</vt:lpstr>
      <vt:lpstr>Reflective CPD / Passive Learning</vt:lpstr>
      <vt:lpstr>Self-Directed CPD / Unstructured Learning</vt:lpstr>
      <vt:lpstr>Activity</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328</cp:revision>
  <dcterms:created xsi:type="dcterms:W3CDTF">2010-11-28T12:04:27Z</dcterms:created>
  <dcterms:modified xsi:type="dcterms:W3CDTF">2025-07-31T15:02:59Z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