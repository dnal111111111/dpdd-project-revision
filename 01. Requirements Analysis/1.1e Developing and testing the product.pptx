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3"/>
  </p:notesMasterIdLst>
  <p:sldIdLst>
    <p:sldId id="345" r:id="rId3"/>
    <p:sldId id="322" r:id="rId4"/>
    <p:sldId id="364" r:id="rId5"/>
    <p:sldId id="368" r:id="rId6"/>
    <p:sldId id="369" r:id="rId7"/>
    <p:sldId id="370" r:id="rId8"/>
    <p:sldId id="371" r:id="rId9"/>
    <p:sldId id="372" r:id="rId10"/>
    <p:sldId id="373" r:id="rId11"/>
    <p:sldId id="367" r:id="rId12"/>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4" autoAdjust="0"/>
    <p:restoredTop sz="68447" autoAdjust="0"/>
  </p:normalViewPr>
  <p:slideViewPr>
    <p:cSldViewPr>
      <p:cViewPr varScale="1">
        <p:scale>
          <a:sx n="72" d="100"/>
          <a:sy n="72" d="100"/>
        </p:scale>
        <p:origin x="1872" y="54"/>
      </p:cViewPr>
      <p:guideLst>
        <p:guide orient="horz" pos="2341"/>
        <p:guide pos="2880"/>
      </p:guideLst>
    </p:cSldViewPr>
  </p:slideViewPr>
  <p:notesTextViewPr>
    <p:cViewPr>
      <p:scale>
        <a:sx n="100" d="100"/>
        <a:sy n="100" d="100"/>
      </p:scale>
      <p:origin x="0" y="0"/>
    </p:cViewPr>
  </p:notesTextViewPr>
  <p:notesViewPr>
    <p:cSldViewPr>
      <p:cViewPr varScale="1">
        <p:scale>
          <a:sx n="53" d="100"/>
          <a:sy n="53" d="100"/>
        </p:scale>
        <p:origin x="-1794"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customXml" Target="../customXml/item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customXml" Target="../customXml/item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8940A51-201F-2351-71C6-B4FD2B9FBF3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B280B3D8-857A-E746-A934-C8A0952AE45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40675924-EEC4-D767-C865-94CF2594D5B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74F066F8-E822-4AF1-D553-2CB8587DFFE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975CFB8E-8328-555A-29DF-6FF2C8238281}"/>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AC11D630-E80E-F54B-C9ED-F09AE6E6C2DE}"/>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6DB2A87-D564-4DE6-835A-A71E29C50696}"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3286854D-B51F-B122-51DB-5E26BFC45B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AF7C91B-4A08-45C7-A46E-E6AC2E382243}"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A7EDD4AF-2AEA-F1F8-E122-8EFAB0172635}"/>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6C3F1A77-2241-F733-7948-98E44C391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A94DD1E1-ED0D-B386-06D9-8C9CF5044D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3480C6-0629-47C8-A81C-DDE0A03AE4E0}" type="slidenum">
              <a:rPr lang="en-GB" altLang="en-US" smtClean="0"/>
              <a:pPr>
                <a:spcBef>
                  <a:spcPct val="0"/>
                </a:spcBef>
              </a:pPr>
              <a:t>2</a:t>
            </a:fld>
            <a:endParaRPr lang="en-GB" altLang="en-US"/>
          </a:p>
        </p:txBody>
      </p:sp>
      <p:sp>
        <p:nvSpPr>
          <p:cNvPr id="19459" name="Rectangle 2">
            <a:extLst>
              <a:ext uri="{FF2B5EF4-FFF2-40B4-BE49-F238E27FC236}">
                <a16:creationId xmlns:a16="http://schemas.microsoft.com/office/drawing/2014/main" id="{9FAE4266-AEE9-6BDB-09BF-77CAC2D71605}"/>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B93BBDD6-34F8-6A82-09F6-645A72AFBB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 typeface="Arial" panose="020B0604020202020204" pitchFamily="34" charset="0"/>
              <a:buNone/>
            </a:pPr>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32D6C-04EB-9872-856B-188F077F919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D00B0A0-3142-3EFE-8F0A-AF9DD98C6B02}"/>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131C3B01-2955-6126-DD31-A376486920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a:p>
            <a:endParaRPr lang="en-GB" dirty="0"/>
          </a:p>
        </p:txBody>
      </p:sp>
      <p:sp>
        <p:nvSpPr>
          <p:cNvPr id="19460" name="Slide Number Placeholder 3">
            <a:extLst>
              <a:ext uri="{FF2B5EF4-FFF2-40B4-BE49-F238E27FC236}">
                <a16:creationId xmlns:a16="http://schemas.microsoft.com/office/drawing/2014/main" id="{1248B560-F751-3CF0-C73E-B05AC84DF8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3</a:t>
            </a:fld>
            <a:endParaRPr lang="en-GB" altLang="en-US"/>
          </a:p>
        </p:txBody>
      </p:sp>
    </p:spTree>
    <p:extLst>
      <p:ext uri="{BB962C8B-B14F-4D97-AF65-F5344CB8AC3E}">
        <p14:creationId xmlns:p14="http://schemas.microsoft.com/office/powerpoint/2010/main" val="3878873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A85F0-7013-EEEE-D0A1-5FFA317DB33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C881BC0-EDF0-B1D0-94AE-D779C4101497}"/>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461480FE-D720-5580-9D2D-C039252BB85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3B627590-1046-7811-8093-3AD7F3E6593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4</a:t>
            </a:fld>
            <a:endParaRPr lang="en-GB" altLang="en-US"/>
          </a:p>
        </p:txBody>
      </p:sp>
    </p:spTree>
    <p:extLst>
      <p:ext uri="{BB962C8B-B14F-4D97-AF65-F5344CB8AC3E}">
        <p14:creationId xmlns:p14="http://schemas.microsoft.com/office/powerpoint/2010/main" val="1314251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A33D7-E851-A04F-2DF1-6A85B0870923}"/>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B62AFE56-C0E6-B1AE-4BB0-05017070E51A}"/>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3D880C21-FADB-B09C-9D3B-659A93191D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26589359-7122-2E5E-E380-BB9E55F0D1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5</a:t>
            </a:fld>
            <a:endParaRPr lang="en-GB" altLang="en-US"/>
          </a:p>
        </p:txBody>
      </p:sp>
    </p:spTree>
    <p:extLst>
      <p:ext uri="{BB962C8B-B14F-4D97-AF65-F5344CB8AC3E}">
        <p14:creationId xmlns:p14="http://schemas.microsoft.com/office/powerpoint/2010/main" val="8440283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35536-2349-7BE0-0149-70C39EC4D1D4}"/>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E956DD8D-567A-5B4A-56EC-105A37FC39D8}"/>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BB657750-B5EC-E075-091B-2152AFA82BD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https://www.dotnetcurry.com/aspnet-mvc/981/unit-testing-aspnet-mvc-nunit-visual-studio</a:t>
            </a:r>
          </a:p>
          <a:p>
            <a:r>
              <a:rPr lang="en-GB" dirty="0"/>
              <a:t>https://learn.microsoft.com/en-us/visualstudio/test/getting-started-with-unit-testing?view=vs-2022&amp;tabs=dotnet%2Cmstest</a:t>
            </a:r>
          </a:p>
          <a:p>
            <a:r>
              <a:rPr lang="en-GB" dirty="0"/>
              <a:t>https://www.youtube.com/watch?v=TGq-gY672_k</a:t>
            </a:r>
          </a:p>
        </p:txBody>
      </p:sp>
      <p:sp>
        <p:nvSpPr>
          <p:cNvPr id="19460" name="Slide Number Placeholder 3">
            <a:extLst>
              <a:ext uri="{FF2B5EF4-FFF2-40B4-BE49-F238E27FC236}">
                <a16:creationId xmlns:a16="http://schemas.microsoft.com/office/drawing/2014/main" id="{9C5A32F3-5613-A8F2-BF50-30A39A0249A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6</a:t>
            </a:fld>
            <a:endParaRPr lang="en-GB" altLang="en-US"/>
          </a:p>
        </p:txBody>
      </p:sp>
    </p:spTree>
    <p:extLst>
      <p:ext uri="{BB962C8B-B14F-4D97-AF65-F5344CB8AC3E}">
        <p14:creationId xmlns:p14="http://schemas.microsoft.com/office/powerpoint/2010/main" val="3129337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DD696-0A17-B828-24D7-E4357A21A69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6DEAD0CD-3C0F-0503-4278-2537CC5D183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487A18C0-429C-CB50-35E3-970A6DA803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https://saucelabs.com/</a:t>
            </a:r>
          </a:p>
          <a:p>
            <a:r>
              <a:rPr lang="en-GB" dirty="0"/>
              <a:t>https://www.browserstack.com/guide/integration-testing</a:t>
            </a:r>
          </a:p>
          <a:p>
            <a:endParaRPr lang="en-GB" dirty="0"/>
          </a:p>
          <a:p>
            <a:endParaRPr lang="en-GB" dirty="0"/>
          </a:p>
          <a:p>
            <a:r>
              <a:rPr lang="en-GB" b="1" dirty="0"/>
              <a:t>Common Scenarios Where Integration Testing is Used:</a:t>
            </a:r>
          </a:p>
          <a:p>
            <a:r>
              <a:rPr lang="en-GB" b="1" dirty="0"/>
              <a:t>1. API Integration Between Frontend and Backend</a:t>
            </a:r>
          </a:p>
          <a:p>
            <a:r>
              <a:rPr lang="en-GB" b="1" dirty="0"/>
              <a:t>Use Case:</a:t>
            </a:r>
            <a:r>
              <a:rPr lang="en-GB" dirty="0"/>
              <a:t> When a frontend web/mobile app consumes data from a backend API.</a:t>
            </a:r>
          </a:p>
          <a:p>
            <a:r>
              <a:rPr lang="en-GB" b="1" dirty="0"/>
              <a:t>Example:</a:t>
            </a:r>
            <a:br>
              <a:rPr lang="en-GB" dirty="0"/>
            </a:br>
            <a:r>
              <a:rPr lang="en-GB" dirty="0"/>
              <a:t>After logging in, the frontend sends user credentials to the /auth/login API. Integration testing ensures:</a:t>
            </a:r>
          </a:p>
          <a:p>
            <a:pPr lvl="1"/>
            <a:r>
              <a:rPr lang="en-GB" dirty="0"/>
              <a:t>The API responds with the correct user token.</a:t>
            </a:r>
          </a:p>
          <a:p>
            <a:pPr lvl="1"/>
            <a:r>
              <a:rPr lang="en-GB" dirty="0"/>
              <a:t>The frontend correctly processes and stores that token.</a:t>
            </a:r>
          </a:p>
          <a:p>
            <a:r>
              <a:rPr lang="en-GB" b="1" dirty="0"/>
              <a:t>Tools:</a:t>
            </a:r>
            <a:r>
              <a:rPr lang="en-GB" dirty="0"/>
              <a:t> Postman, </a:t>
            </a:r>
            <a:r>
              <a:rPr lang="en-GB" dirty="0" err="1"/>
              <a:t>RestAssured</a:t>
            </a:r>
            <a:r>
              <a:rPr lang="en-GB" dirty="0"/>
              <a:t>, Jest (with fetch/</a:t>
            </a:r>
            <a:r>
              <a:rPr lang="en-GB" dirty="0" err="1"/>
              <a:t>axios</a:t>
            </a:r>
            <a:r>
              <a:rPr lang="en-GB" dirty="0"/>
              <a:t> mocking)</a:t>
            </a:r>
          </a:p>
          <a:p>
            <a:r>
              <a:rPr lang="en-GB" b="1" dirty="0"/>
              <a:t>2. Database and Backend Communication</a:t>
            </a:r>
          </a:p>
          <a:p>
            <a:r>
              <a:rPr lang="en-GB" b="1" dirty="0"/>
              <a:t>Use Case:</a:t>
            </a:r>
            <a:r>
              <a:rPr lang="en-GB" dirty="0"/>
              <a:t> When your backend reads or writes to a database.</a:t>
            </a:r>
          </a:p>
          <a:p>
            <a:r>
              <a:rPr lang="en-GB" b="1" dirty="0"/>
              <a:t>Example:</a:t>
            </a:r>
            <a:br>
              <a:rPr lang="en-GB" dirty="0"/>
            </a:br>
            <a:r>
              <a:rPr lang="en-GB" dirty="0"/>
              <a:t>A POST /orders API endpoint saves data to a SQL or NoSQL database. Integration testing confirms:</a:t>
            </a:r>
          </a:p>
          <a:p>
            <a:pPr lvl="1"/>
            <a:r>
              <a:rPr lang="en-GB" dirty="0"/>
              <a:t>Data is stored correctly.</a:t>
            </a:r>
          </a:p>
          <a:p>
            <a:pPr lvl="1"/>
            <a:r>
              <a:rPr lang="en-GB" dirty="0"/>
              <a:t>The backend handles DB errors properly.</a:t>
            </a:r>
          </a:p>
          <a:p>
            <a:r>
              <a:rPr lang="en-GB" b="1" dirty="0"/>
              <a:t>Tools:</a:t>
            </a:r>
            <a:r>
              <a:rPr lang="en-GB" dirty="0"/>
              <a:t> </a:t>
            </a:r>
            <a:r>
              <a:rPr lang="en-GB" dirty="0" err="1"/>
              <a:t>TestContainers</a:t>
            </a:r>
            <a:r>
              <a:rPr lang="en-GB" dirty="0"/>
              <a:t>, </a:t>
            </a:r>
            <a:r>
              <a:rPr lang="en-GB" dirty="0" err="1"/>
              <a:t>Sequelize</a:t>
            </a:r>
            <a:r>
              <a:rPr lang="en-GB" dirty="0"/>
              <a:t> test harnesses, in-memory DBs like SQLite</a:t>
            </a:r>
          </a:p>
          <a:p>
            <a:r>
              <a:rPr lang="en-GB" b="1" dirty="0"/>
              <a:t>3. Third-Party Service Integrations</a:t>
            </a:r>
          </a:p>
          <a:p>
            <a:r>
              <a:rPr lang="en-GB" b="1" dirty="0"/>
              <a:t>Use Case:</a:t>
            </a:r>
            <a:r>
              <a:rPr lang="en-GB" dirty="0"/>
              <a:t> Your app uses external APIs (e.g., payment gateways, email services).</a:t>
            </a:r>
          </a:p>
          <a:p>
            <a:r>
              <a:rPr lang="en-GB" b="1" dirty="0"/>
              <a:t>Example:</a:t>
            </a:r>
            <a:br>
              <a:rPr lang="en-GB" dirty="0"/>
            </a:br>
            <a:r>
              <a:rPr lang="en-GB" dirty="0"/>
              <a:t>An e-commerce app processes payments via the Stripe API. Integration testing checks:</a:t>
            </a:r>
          </a:p>
          <a:p>
            <a:pPr lvl="1"/>
            <a:r>
              <a:rPr lang="en-GB" dirty="0"/>
              <a:t>Payment requests are sent correctly.</a:t>
            </a:r>
          </a:p>
          <a:p>
            <a:pPr lvl="1"/>
            <a:r>
              <a:rPr lang="en-GB" dirty="0"/>
              <a:t>Responses (e.g., success, declined) are handled appropriately.</a:t>
            </a:r>
          </a:p>
          <a:p>
            <a:r>
              <a:rPr lang="en-GB" b="1" dirty="0"/>
              <a:t>Tools:</a:t>
            </a:r>
            <a:r>
              <a:rPr lang="en-GB" dirty="0"/>
              <a:t> Mock servers, </a:t>
            </a:r>
            <a:r>
              <a:rPr lang="en-GB" dirty="0" err="1"/>
              <a:t>WireMock</a:t>
            </a:r>
            <a:r>
              <a:rPr lang="en-GB" dirty="0"/>
              <a:t>, Mockito (for Java)</a:t>
            </a:r>
          </a:p>
          <a:p>
            <a:r>
              <a:rPr lang="en-GB" b="1" dirty="0"/>
              <a:t>4. Microservices Communication</a:t>
            </a:r>
          </a:p>
          <a:p>
            <a:r>
              <a:rPr lang="en-GB" b="1" dirty="0"/>
              <a:t>Use Case:</a:t>
            </a:r>
            <a:r>
              <a:rPr lang="en-GB" dirty="0"/>
              <a:t> Multiple microservices need to interact over REST, </a:t>
            </a:r>
            <a:r>
              <a:rPr lang="en-GB" dirty="0" err="1"/>
              <a:t>gRPC</a:t>
            </a:r>
            <a:r>
              <a:rPr lang="en-GB" dirty="0"/>
              <a:t>, or messaging (e.g., Kafka).</a:t>
            </a:r>
          </a:p>
          <a:p>
            <a:r>
              <a:rPr lang="en-GB" b="1" dirty="0"/>
              <a:t>Example:</a:t>
            </a:r>
            <a:br>
              <a:rPr lang="en-GB" dirty="0"/>
            </a:br>
            <a:r>
              <a:rPr lang="en-GB" dirty="0"/>
              <a:t>A shopping cart service queries a product service to fetch item details. Integration tests ensure:</a:t>
            </a:r>
          </a:p>
          <a:p>
            <a:pPr lvl="1"/>
            <a:r>
              <a:rPr lang="en-GB" dirty="0"/>
              <a:t>The communication protocol works.</a:t>
            </a:r>
          </a:p>
          <a:p>
            <a:pPr lvl="1"/>
            <a:r>
              <a:rPr lang="en-GB" dirty="0"/>
              <a:t>The response format is valid and handled correctly.</a:t>
            </a:r>
          </a:p>
          <a:p>
            <a:r>
              <a:rPr lang="en-GB" b="1" dirty="0"/>
              <a:t>Tools:</a:t>
            </a:r>
            <a:r>
              <a:rPr lang="en-GB" dirty="0"/>
              <a:t> Docker Compose (to run services together), Pact (for contract testing)</a:t>
            </a:r>
          </a:p>
          <a:p>
            <a:r>
              <a:rPr lang="en-GB" b="1" dirty="0"/>
              <a:t>5. Authentication &amp; Authorization Workflows</a:t>
            </a:r>
          </a:p>
          <a:p>
            <a:r>
              <a:rPr lang="en-GB" b="1" dirty="0"/>
              <a:t>Use Case:</a:t>
            </a:r>
            <a:r>
              <a:rPr lang="en-GB" dirty="0"/>
              <a:t> Secure areas of your app require a login.</a:t>
            </a:r>
          </a:p>
          <a:p>
            <a:r>
              <a:rPr lang="en-GB" b="1" dirty="0"/>
              <a:t>Example:</a:t>
            </a:r>
            <a:br>
              <a:rPr lang="en-GB" dirty="0"/>
            </a:br>
            <a:r>
              <a:rPr lang="en-GB" dirty="0"/>
              <a:t>A test logs in via the /login API, then uses the token to access /dashboard. Integration tests validate:</a:t>
            </a:r>
          </a:p>
          <a:p>
            <a:pPr lvl="1"/>
            <a:r>
              <a:rPr lang="en-GB" dirty="0"/>
              <a:t>Tokens are correctly issued and validated.</a:t>
            </a:r>
          </a:p>
          <a:p>
            <a:pPr lvl="1"/>
            <a:r>
              <a:rPr lang="en-GB" dirty="0"/>
              <a:t>Access control rules are enforced.</a:t>
            </a:r>
          </a:p>
          <a:p>
            <a:r>
              <a:rPr lang="en-GB" b="1" dirty="0"/>
              <a:t>Tools:</a:t>
            </a:r>
            <a:r>
              <a:rPr lang="en-GB" dirty="0"/>
              <a:t> Postman collections, Playwright/Cypress with login flows</a:t>
            </a:r>
          </a:p>
          <a:p>
            <a:endParaRPr lang="en-GB" dirty="0"/>
          </a:p>
        </p:txBody>
      </p:sp>
      <p:sp>
        <p:nvSpPr>
          <p:cNvPr id="19460" name="Slide Number Placeholder 3">
            <a:extLst>
              <a:ext uri="{FF2B5EF4-FFF2-40B4-BE49-F238E27FC236}">
                <a16:creationId xmlns:a16="http://schemas.microsoft.com/office/drawing/2014/main" id="{20B3469D-7464-6CC5-D527-AC01C98C03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7</a:t>
            </a:fld>
            <a:endParaRPr lang="en-GB" altLang="en-US"/>
          </a:p>
        </p:txBody>
      </p:sp>
    </p:spTree>
    <p:extLst>
      <p:ext uri="{BB962C8B-B14F-4D97-AF65-F5344CB8AC3E}">
        <p14:creationId xmlns:p14="http://schemas.microsoft.com/office/powerpoint/2010/main" val="3019877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C96D0-D789-763B-881E-A982732BCCC1}"/>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9F192EC7-E2AD-8A16-9D44-30347D4BAA9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770F84C7-394C-DDB3-524B-00B54BC0CA5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1" dirty="0"/>
              <a:t>Common Scenarios for Automated Testing</a:t>
            </a:r>
          </a:p>
          <a:p>
            <a:r>
              <a:rPr lang="en-GB" dirty="0"/>
              <a:t>Automated testing is ideal for </a:t>
            </a:r>
            <a:r>
              <a:rPr lang="en-GB" b="1" dirty="0"/>
              <a:t>repetitive, predictable, and time-consuming</a:t>
            </a:r>
            <a:r>
              <a:rPr lang="en-GB" dirty="0"/>
              <a:t> testing tasks. Below are the most common scenarios where automation adds real value:</a:t>
            </a:r>
          </a:p>
          <a:p>
            <a:r>
              <a:rPr lang="en-GB" b="1" dirty="0"/>
              <a:t>🔹 1. Regression Testing</a:t>
            </a:r>
          </a:p>
          <a:p>
            <a:r>
              <a:rPr lang="en-GB" b="1" dirty="0"/>
              <a:t>Purpose:</a:t>
            </a:r>
            <a:r>
              <a:rPr lang="en-GB" dirty="0"/>
              <a:t> Ensure that new code changes do </a:t>
            </a:r>
            <a:r>
              <a:rPr lang="en-GB" b="1" dirty="0"/>
              <a:t>not break existing functionality</a:t>
            </a:r>
            <a:r>
              <a:rPr lang="en-GB" dirty="0"/>
              <a:t>.</a:t>
            </a:r>
          </a:p>
          <a:p>
            <a:r>
              <a:rPr lang="en-GB" b="1" dirty="0"/>
              <a:t>Example:</a:t>
            </a:r>
            <a:br>
              <a:rPr lang="en-GB" dirty="0"/>
            </a:br>
            <a:r>
              <a:rPr lang="en-GB" dirty="0"/>
              <a:t>After adding a new user role, automatically test all login and permission features to confirm nothing broke.</a:t>
            </a:r>
          </a:p>
          <a:p>
            <a:r>
              <a:rPr lang="en-GB" b="1" dirty="0"/>
              <a:t>Tools:</a:t>
            </a:r>
            <a:r>
              <a:rPr lang="en-GB" dirty="0"/>
              <a:t> Selenium, JUnit, TestNG, Cypress</a:t>
            </a:r>
          </a:p>
          <a:p>
            <a:r>
              <a:rPr lang="en-GB" b="1" dirty="0"/>
              <a:t>🔹 2. Smoke Testing (Build Verification Testing)</a:t>
            </a:r>
          </a:p>
          <a:p>
            <a:r>
              <a:rPr lang="en-GB" b="1" dirty="0"/>
              <a:t>Purpose:</a:t>
            </a:r>
            <a:r>
              <a:rPr lang="en-GB" dirty="0"/>
              <a:t> Quickly verify that the basic features of the app </a:t>
            </a:r>
            <a:r>
              <a:rPr lang="en-GB" b="1" dirty="0"/>
              <a:t>work after a new build or deployment</a:t>
            </a:r>
            <a:r>
              <a:rPr lang="en-GB" dirty="0"/>
              <a:t>.</a:t>
            </a:r>
          </a:p>
          <a:p>
            <a:r>
              <a:rPr lang="en-GB" b="1" dirty="0"/>
              <a:t>Example:</a:t>
            </a:r>
            <a:br>
              <a:rPr lang="en-GB" dirty="0"/>
            </a:br>
            <a:r>
              <a:rPr lang="en-GB" dirty="0"/>
              <a:t>Test that the application loads, login works, and key menus appear.</a:t>
            </a:r>
          </a:p>
          <a:p>
            <a:r>
              <a:rPr lang="en-GB" b="1" dirty="0"/>
              <a:t>Tools:</a:t>
            </a:r>
            <a:r>
              <a:rPr lang="en-GB" dirty="0"/>
              <a:t> Jenkins (CI), Playwright, Cypress</a:t>
            </a:r>
          </a:p>
          <a:p>
            <a:r>
              <a:rPr lang="en-GB" b="1" dirty="0"/>
              <a:t>🔹 3. Unit Testing</a:t>
            </a:r>
          </a:p>
          <a:p>
            <a:r>
              <a:rPr lang="en-GB" b="1" dirty="0"/>
              <a:t>Purpose:</a:t>
            </a:r>
            <a:r>
              <a:rPr lang="en-GB" dirty="0"/>
              <a:t> Test </a:t>
            </a:r>
            <a:r>
              <a:rPr lang="en-GB" b="1" dirty="0"/>
              <a:t>individual functions or methods</a:t>
            </a:r>
            <a:r>
              <a:rPr lang="en-GB" dirty="0"/>
              <a:t> in isolation.</a:t>
            </a:r>
          </a:p>
          <a:p>
            <a:r>
              <a:rPr lang="en-GB" b="1" dirty="0"/>
              <a:t>Example:</a:t>
            </a:r>
            <a:br>
              <a:rPr lang="en-GB" dirty="0"/>
            </a:br>
            <a:r>
              <a:rPr lang="en-GB" dirty="0"/>
              <a:t>Automatically test that a function calculating order totals returns the correct value.</a:t>
            </a:r>
          </a:p>
          <a:p>
            <a:r>
              <a:rPr lang="en-GB" b="1" dirty="0"/>
              <a:t>Tools:</a:t>
            </a:r>
            <a:r>
              <a:rPr lang="en-GB" dirty="0"/>
              <a:t> </a:t>
            </a:r>
            <a:r>
              <a:rPr lang="en-GB" dirty="0" err="1"/>
              <a:t>PyTest</a:t>
            </a:r>
            <a:r>
              <a:rPr lang="en-GB" dirty="0"/>
              <a:t> (Python), JUnit (Java), </a:t>
            </a:r>
            <a:r>
              <a:rPr lang="en-GB" dirty="0" err="1"/>
              <a:t>NUnit</a:t>
            </a:r>
            <a:r>
              <a:rPr lang="en-GB" dirty="0"/>
              <a:t> (C#), Jest (JavaScript)</a:t>
            </a:r>
          </a:p>
          <a:p>
            <a:r>
              <a:rPr lang="en-GB" b="1" dirty="0"/>
              <a:t>🔹 4. API Testing</a:t>
            </a:r>
          </a:p>
          <a:p>
            <a:r>
              <a:rPr lang="en-GB" b="1" dirty="0"/>
              <a:t>Purpose:</a:t>
            </a:r>
            <a:r>
              <a:rPr lang="en-GB" dirty="0"/>
              <a:t> Validate RESTful or </a:t>
            </a:r>
            <a:r>
              <a:rPr lang="en-GB" dirty="0" err="1"/>
              <a:t>GraphQL</a:t>
            </a:r>
            <a:r>
              <a:rPr lang="en-GB" dirty="0"/>
              <a:t> APIs for </a:t>
            </a:r>
            <a:r>
              <a:rPr lang="en-GB" b="1" dirty="0"/>
              <a:t>correct response, status codes, performance, and errors</a:t>
            </a:r>
            <a:r>
              <a:rPr lang="en-GB" dirty="0"/>
              <a:t>.</a:t>
            </a:r>
          </a:p>
          <a:p>
            <a:r>
              <a:rPr lang="en-GB" b="1" dirty="0"/>
              <a:t>Example:</a:t>
            </a:r>
            <a:br>
              <a:rPr lang="en-GB" dirty="0"/>
            </a:br>
            <a:r>
              <a:rPr lang="en-GB" dirty="0"/>
              <a:t>Automatically test that /</a:t>
            </a:r>
            <a:r>
              <a:rPr lang="en-GB" dirty="0" err="1"/>
              <a:t>api</a:t>
            </a:r>
            <a:r>
              <a:rPr lang="en-GB" dirty="0"/>
              <a:t>/products returns the correct list and handles missing parameters gracefully.</a:t>
            </a:r>
          </a:p>
          <a:p>
            <a:r>
              <a:rPr lang="en-GB" b="1" dirty="0"/>
              <a:t>Tools:</a:t>
            </a:r>
            <a:r>
              <a:rPr lang="en-GB" dirty="0"/>
              <a:t> Postman (with Newman), </a:t>
            </a:r>
            <a:r>
              <a:rPr lang="en-GB" dirty="0" err="1"/>
              <a:t>RestAssured</a:t>
            </a:r>
            <a:r>
              <a:rPr lang="en-GB" dirty="0"/>
              <a:t>, Karate, Insomnia</a:t>
            </a:r>
          </a:p>
          <a:p>
            <a:r>
              <a:rPr lang="en-GB" b="1" dirty="0"/>
              <a:t>🔹 5. Cross-Browser / Cross-Platform UI Testing</a:t>
            </a:r>
          </a:p>
          <a:p>
            <a:r>
              <a:rPr lang="en-GB" b="1" dirty="0"/>
              <a:t>Purpose:</a:t>
            </a:r>
            <a:r>
              <a:rPr lang="en-GB" dirty="0"/>
              <a:t> Ensure your web app looks and behaves the same across </a:t>
            </a:r>
            <a:r>
              <a:rPr lang="en-GB" b="1" dirty="0"/>
              <a:t>browsers and devices</a:t>
            </a:r>
            <a:r>
              <a:rPr lang="en-GB" dirty="0"/>
              <a:t>.</a:t>
            </a:r>
          </a:p>
          <a:p>
            <a:r>
              <a:rPr lang="en-GB" b="1" dirty="0"/>
              <a:t>Example:</a:t>
            </a:r>
            <a:br>
              <a:rPr lang="en-GB" dirty="0"/>
            </a:br>
            <a:r>
              <a:rPr lang="en-GB" dirty="0"/>
              <a:t>Automated UI tests simulate user actions on Chrome, Firefox, Safari, etc.</a:t>
            </a:r>
          </a:p>
          <a:p>
            <a:r>
              <a:rPr lang="en-GB" b="1" dirty="0"/>
              <a:t>Tools:</a:t>
            </a:r>
            <a:r>
              <a:rPr lang="en-GB" dirty="0"/>
              <a:t> Selenium Grid, </a:t>
            </a:r>
            <a:r>
              <a:rPr lang="en-GB" dirty="0" err="1"/>
              <a:t>BrowserStack</a:t>
            </a:r>
            <a:r>
              <a:rPr lang="en-GB" dirty="0"/>
              <a:t>, Playwright</a:t>
            </a:r>
          </a:p>
          <a:p>
            <a:r>
              <a:rPr lang="en-GB" b="1" dirty="0"/>
              <a:t>🔹 6. Performance and Load Testing</a:t>
            </a:r>
          </a:p>
          <a:p>
            <a:r>
              <a:rPr lang="en-GB" b="1" dirty="0"/>
              <a:t>Purpose:</a:t>
            </a:r>
            <a:r>
              <a:rPr lang="en-GB" dirty="0"/>
              <a:t> Check how the system behaves under </a:t>
            </a:r>
            <a:r>
              <a:rPr lang="en-GB" b="1" dirty="0"/>
              <a:t>heavy load or stress</a:t>
            </a:r>
            <a:r>
              <a:rPr lang="en-GB" dirty="0"/>
              <a:t>.</a:t>
            </a:r>
          </a:p>
          <a:p>
            <a:r>
              <a:rPr lang="en-GB" b="1" dirty="0"/>
              <a:t>Example:</a:t>
            </a:r>
            <a:br>
              <a:rPr lang="en-GB" dirty="0"/>
            </a:br>
            <a:r>
              <a:rPr lang="en-GB" dirty="0"/>
              <a:t>Simulate 500 users logging in simultaneously and verify system stability.</a:t>
            </a:r>
          </a:p>
          <a:p>
            <a:r>
              <a:rPr lang="en-GB" b="1" dirty="0"/>
              <a:t>Tools:</a:t>
            </a:r>
            <a:r>
              <a:rPr lang="en-GB" dirty="0"/>
              <a:t> JMeter, Locust, Gatling, k6</a:t>
            </a:r>
          </a:p>
          <a:p>
            <a:r>
              <a:rPr lang="en-GB" b="1" dirty="0"/>
              <a:t>🔹 7. End-to-End (E2E) Testing</a:t>
            </a:r>
          </a:p>
          <a:p>
            <a:r>
              <a:rPr lang="en-GB" b="1" dirty="0"/>
              <a:t>Purpose:</a:t>
            </a:r>
            <a:r>
              <a:rPr lang="en-GB" dirty="0"/>
              <a:t> Test the </a:t>
            </a:r>
            <a:r>
              <a:rPr lang="en-GB" b="1" dirty="0"/>
              <a:t>entire workflow</a:t>
            </a:r>
            <a:r>
              <a:rPr lang="en-GB" dirty="0"/>
              <a:t> from start to finish to simulate real user scenarios.</a:t>
            </a:r>
          </a:p>
          <a:p>
            <a:r>
              <a:rPr lang="en-GB" b="1" dirty="0"/>
              <a:t>Example:</a:t>
            </a:r>
            <a:br>
              <a:rPr lang="en-GB" dirty="0"/>
            </a:br>
            <a:r>
              <a:rPr lang="en-GB" dirty="0"/>
              <a:t>Sign up → Browse products → Add to cart → Checkout → Receive order confirmation.</a:t>
            </a:r>
          </a:p>
          <a:p>
            <a:r>
              <a:rPr lang="en-GB" b="1" dirty="0"/>
              <a:t>Tools:</a:t>
            </a:r>
            <a:r>
              <a:rPr lang="en-GB" dirty="0"/>
              <a:t> Cypress, Playwright, Selenium, Puppeteer</a:t>
            </a:r>
          </a:p>
          <a:p>
            <a:r>
              <a:rPr lang="en-GB" b="1" dirty="0"/>
              <a:t>🔹 8. Data Validation Testing</a:t>
            </a:r>
          </a:p>
          <a:p>
            <a:r>
              <a:rPr lang="en-GB" b="1" dirty="0"/>
              <a:t>Purpose:</a:t>
            </a:r>
            <a:r>
              <a:rPr lang="en-GB" dirty="0"/>
              <a:t> Ensure that </a:t>
            </a:r>
            <a:r>
              <a:rPr lang="en-GB" b="1" dirty="0"/>
              <a:t>data integrity</a:t>
            </a:r>
            <a:r>
              <a:rPr lang="en-GB" dirty="0"/>
              <a:t> is maintained when transferred between systems or stored in databases.</a:t>
            </a:r>
          </a:p>
          <a:p>
            <a:r>
              <a:rPr lang="en-GB" b="1" dirty="0"/>
              <a:t>Example:</a:t>
            </a:r>
            <a:br>
              <a:rPr lang="en-GB" dirty="0"/>
            </a:br>
            <a:r>
              <a:rPr lang="en-GB" dirty="0"/>
              <a:t>Verify that a user’s form data is correctly saved to and retrieved from the database.</a:t>
            </a:r>
          </a:p>
          <a:p>
            <a:r>
              <a:rPr lang="en-GB" b="1" dirty="0"/>
              <a:t>Tools:</a:t>
            </a:r>
            <a:r>
              <a:rPr lang="en-GB" dirty="0"/>
              <a:t> </a:t>
            </a:r>
            <a:r>
              <a:rPr lang="en-GB" dirty="0" err="1"/>
              <a:t>DBUnit</a:t>
            </a:r>
            <a:r>
              <a:rPr lang="en-GB" dirty="0"/>
              <a:t>, SQL assertions in test scripts</a:t>
            </a:r>
          </a:p>
          <a:p>
            <a:r>
              <a:rPr lang="en-GB" b="1" dirty="0"/>
              <a:t>🔹 9. Scheduled or Nightly Builds</a:t>
            </a:r>
          </a:p>
          <a:p>
            <a:r>
              <a:rPr lang="en-GB" b="1" dirty="0"/>
              <a:t>Purpose:</a:t>
            </a:r>
            <a:r>
              <a:rPr lang="en-GB" dirty="0"/>
              <a:t> Automatically run full test suites </a:t>
            </a:r>
            <a:r>
              <a:rPr lang="en-GB" b="1" dirty="0"/>
              <a:t>overnight</a:t>
            </a:r>
            <a:r>
              <a:rPr lang="en-GB" dirty="0"/>
              <a:t> or on a schedule to catch issues early.</a:t>
            </a:r>
          </a:p>
          <a:p>
            <a:r>
              <a:rPr lang="en-GB" b="1" dirty="0"/>
              <a:t>Example:</a:t>
            </a:r>
            <a:br>
              <a:rPr lang="en-GB" dirty="0"/>
            </a:br>
            <a:r>
              <a:rPr lang="en-GB" dirty="0"/>
              <a:t>A test job runs every night and emails the team if any tests fail.</a:t>
            </a:r>
          </a:p>
          <a:p>
            <a:r>
              <a:rPr lang="en-GB" b="1" dirty="0"/>
              <a:t>Tools:</a:t>
            </a:r>
            <a:r>
              <a:rPr lang="en-GB" dirty="0"/>
              <a:t> Jenkins, GitHub Actions, GitLab CI/CD</a:t>
            </a:r>
          </a:p>
          <a:p>
            <a:endParaRPr lang="en-GB" b="1" dirty="0"/>
          </a:p>
          <a:p>
            <a:endParaRPr lang="en-GB" b="1" dirty="0"/>
          </a:p>
          <a:p>
            <a:endParaRPr lang="en-GB" b="1" dirty="0"/>
          </a:p>
          <a:p>
            <a:r>
              <a:rPr lang="en-GB" b="1" dirty="0"/>
              <a:t>CI/CD Explained:</a:t>
            </a:r>
            <a:endParaRPr lang="en-GB" dirty="0"/>
          </a:p>
          <a:p>
            <a:r>
              <a:rPr lang="en-GB" b="1" dirty="0"/>
              <a:t>CI (Continuous Integration):</a:t>
            </a:r>
            <a:br>
              <a:rPr lang="en-GB" dirty="0"/>
            </a:br>
            <a:r>
              <a:rPr lang="en-GB" dirty="0"/>
              <a:t>A development practice where developers frequently integrate code into a shared repository, often multiple times a day. Each integration is verified by automated tests to detect issues early.</a:t>
            </a:r>
          </a:p>
          <a:p>
            <a:r>
              <a:rPr lang="en-GB" b="1" dirty="0"/>
              <a:t>CD (Continuous Delivery/Deployment):</a:t>
            </a:r>
            <a:endParaRPr lang="en-GB" dirty="0"/>
          </a:p>
          <a:p>
            <a:pPr lvl="1"/>
            <a:r>
              <a:rPr lang="en-GB" b="1" dirty="0"/>
              <a:t>Continuous Delivery</a:t>
            </a:r>
            <a:r>
              <a:rPr lang="en-GB" dirty="0"/>
              <a:t> ensures that code changes are automatically prepared for release to a testing or staging environment.</a:t>
            </a:r>
          </a:p>
          <a:p>
            <a:pPr lvl="1"/>
            <a:r>
              <a:rPr lang="en-GB" b="1" dirty="0"/>
              <a:t>Continuous Deployment</a:t>
            </a:r>
            <a:r>
              <a:rPr lang="en-GB" dirty="0"/>
              <a:t> goes further by automatically deploying every change that passes the tests directly to production.</a:t>
            </a:r>
          </a:p>
          <a:p>
            <a:r>
              <a:rPr lang="en-GB" b="1" dirty="0"/>
              <a:t>🔹 CI/CD for Testing Automation:</a:t>
            </a:r>
            <a:endParaRPr lang="en-GB" dirty="0"/>
          </a:p>
          <a:p>
            <a:r>
              <a:rPr lang="en-GB" dirty="0"/>
              <a:t>CI/CD pipelines integrate </a:t>
            </a:r>
            <a:r>
              <a:rPr lang="en-GB" b="1" dirty="0"/>
              <a:t>automated testing</a:t>
            </a:r>
            <a:r>
              <a:rPr lang="en-GB" dirty="0"/>
              <a:t> at every stage of the software development lifecycle. This includes:</a:t>
            </a:r>
          </a:p>
          <a:p>
            <a:r>
              <a:rPr lang="en-GB" b="1" dirty="0"/>
              <a:t>Triggering Tests Automatically:</a:t>
            </a:r>
            <a:br>
              <a:rPr lang="en-GB" dirty="0"/>
            </a:br>
            <a:r>
              <a:rPr lang="en-GB" dirty="0"/>
              <a:t>Whenever new code is pushed, tests are automatically run to check for regressions, integration issues, or performance problems.</a:t>
            </a:r>
          </a:p>
          <a:p>
            <a:r>
              <a:rPr lang="en-GB" b="1" dirty="0"/>
              <a:t>Types of Tests in CI/CD Pipelines:</a:t>
            </a:r>
            <a:endParaRPr lang="en-GB" dirty="0"/>
          </a:p>
          <a:p>
            <a:pPr lvl="1"/>
            <a:r>
              <a:rPr lang="en-GB" b="1" dirty="0"/>
              <a:t>Unit Tests</a:t>
            </a:r>
            <a:r>
              <a:rPr lang="en-GB" dirty="0"/>
              <a:t> – Check individual functions or modules.</a:t>
            </a:r>
          </a:p>
          <a:p>
            <a:pPr lvl="1"/>
            <a:r>
              <a:rPr lang="en-GB" b="1" dirty="0"/>
              <a:t>Integration Tests</a:t>
            </a:r>
            <a:r>
              <a:rPr lang="en-GB" dirty="0"/>
              <a:t> – Verify interaction between components.</a:t>
            </a:r>
          </a:p>
          <a:p>
            <a:pPr lvl="1"/>
            <a:r>
              <a:rPr lang="en-GB" b="1" dirty="0"/>
              <a:t>UI/End-to-End Tests</a:t>
            </a:r>
            <a:r>
              <a:rPr lang="en-GB" dirty="0"/>
              <a:t> – Simulate user interactions and workflows.</a:t>
            </a:r>
          </a:p>
          <a:p>
            <a:pPr lvl="1"/>
            <a:r>
              <a:rPr lang="en-GB" b="1" dirty="0"/>
              <a:t>Performance Tests</a:t>
            </a:r>
            <a:r>
              <a:rPr lang="en-GB" dirty="0"/>
              <a:t> – Monitor speed, responsiveness, and stability.</a:t>
            </a:r>
          </a:p>
          <a:p>
            <a:r>
              <a:rPr lang="en-GB" b="1" dirty="0"/>
              <a:t>Feedback Loop:</a:t>
            </a:r>
            <a:br>
              <a:rPr lang="en-GB" dirty="0"/>
            </a:br>
            <a:r>
              <a:rPr lang="en-GB" dirty="0"/>
              <a:t>Developers get immediate feedback if their changes break something, which helps maintain code quality and speed up development.</a:t>
            </a:r>
          </a:p>
          <a:p>
            <a:endParaRPr lang="en-GB" dirty="0"/>
          </a:p>
        </p:txBody>
      </p:sp>
      <p:sp>
        <p:nvSpPr>
          <p:cNvPr id="19460" name="Slide Number Placeholder 3">
            <a:extLst>
              <a:ext uri="{FF2B5EF4-FFF2-40B4-BE49-F238E27FC236}">
                <a16:creationId xmlns:a16="http://schemas.microsoft.com/office/drawing/2014/main" id="{8EEACAB9-35F6-54E2-FCB0-0711C5B94E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8</a:t>
            </a:fld>
            <a:endParaRPr lang="en-GB" altLang="en-US"/>
          </a:p>
        </p:txBody>
      </p:sp>
    </p:spTree>
    <p:extLst>
      <p:ext uri="{BB962C8B-B14F-4D97-AF65-F5344CB8AC3E}">
        <p14:creationId xmlns:p14="http://schemas.microsoft.com/office/powerpoint/2010/main" val="3649361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77E29-4421-F5AB-09D9-76CA3DB4DE81}"/>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EB40E0D5-BD59-F625-49DD-C410443EB71E}"/>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52CB48B4-7801-052A-4CE6-8F4769D800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1" dirty="0"/>
              <a:t>https://trymata.com/blog/types-of-user-feedback/</a:t>
            </a:r>
          </a:p>
          <a:p>
            <a:endParaRPr lang="en-GB" b="1" dirty="0"/>
          </a:p>
          <a:p>
            <a:r>
              <a:rPr lang="en-GB" b="1" dirty="0"/>
              <a:t>Common Scenarios for User Testing and Feedback</a:t>
            </a:r>
          </a:p>
          <a:p>
            <a:r>
              <a:rPr lang="en-GB" dirty="0"/>
              <a:t>User testing and feedback focus on how </a:t>
            </a:r>
            <a:r>
              <a:rPr lang="en-GB" b="1" dirty="0"/>
              <a:t>real users interact with your product</a:t>
            </a:r>
            <a:r>
              <a:rPr lang="en-GB" dirty="0"/>
              <a:t> to identify usability issues, gaps in functionality, or unclear workflows. It's essential for building a user-</a:t>
            </a:r>
            <a:r>
              <a:rPr lang="en-GB" dirty="0" err="1"/>
              <a:t>centered</a:t>
            </a:r>
            <a:r>
              <a:rPr lang="en-GB" dirty="0"/>
              <a:t> product that actually solves problems.</a:t>
            </a:r>
          </a:p>
          <a:p>
            <a:r>
              <a:rPr lang="en-GB" b="1" dirty="0"/>
              <a:t>🔹 1. Usability Testing</a:t>
            </a:r>
          </a:p>
          <a:p>
            <a:r>
              <a:rPr lang="en-GB" b="1" dirty="0"/>
              <a:t>Purpose:</a:t>
            </a:r>
            <a:r>
              <a:rPr lang="en-GB" dirty="0"/>
              <a:t> Observe how easily users can complete tasks.</a:t>
            </a:r>
          </a:p>
          <a:p>
            <a:r>
              <a:rPr lang="en-GB" b="1" dirty="0"/>
              <a:t>Example:</a:t>
            </a:r>
            <a:br>
              <a:rPr lang="en-GB" dirty="0"/>
            </a:br>
            <a:r>
              <a:rPr lang="en-GB" dirty="0"/>
              <a:t>Ask users to sign up, browse products, and complete a checkout. Watch where they struggle or hesitate.</a:t>
            </a:r>
          </a:p>
          <a:p>
            <a:r>
              <a:rPr lang="en-GB" b="1" dirty="0"/>
              <a:t>Feedback Goal:</a:t>
            </a:r>
            <a:r>
              <a:rPr lang="en-GB" dirty="0"/>
              <a:t> Identify confusing navigation, unclear labels, or poor layout.</a:t>
            </a:r>
          </a:p>
          <a:p>
            <a:r>
              <a:rPr lang="en-GB" b="1" dirty="0"/>
              <a:t>Tools:</a:t>
            </a:r>
            <a:r>
              <a:rPr lang="en-GB" dirty="0"/>
              <a:t> Maze, Lookback, UserTesting.com, in-person observation</a:t>
            </a:r>
          </a:p>
          <a:p>
            <a:r>
              <a:rPr lang="en-GB" b="1" dirty="0"/>
              <a:t>🔹 2. Beta Testing</a:t>
            </a:r>
          </a:p>
          <a:p>
            <a:r>
              <a:rPr lang="en-GB" b="1" dirty="0"/>
              <a:t>Purpose:</a:t>
            </a:r>
            <a:r>
              <a:rPr lang="en-GB" dirty="0"/>
              <a:t> Provide early access to a limited group of users before the public release.</a:t>
            </a:r>
          </a:p>
          <a:p>
            <a:r>
              <a:rPr lang="en-GB" b="1" dirty="0"/>
              <a:t>Example:</a:t>
            </a:r>
            <a:br>
              <a:rPr lang="en-GB" dirty="0"/>
            </a:br>
            <a:r>
              <a:rPr lang="en-GB" dirty="0"/>
              <a:t>Release a beta version of a mobile app to 100 users to find bugs and usability issues.</a:t>
            </a:r>
          </a:p>
          <a:p>
            <a:r>
              <a:rPr lang="en-GB" b="1" dirty="0"/>
              <a:t>Feedback Goal:</a:t>
            </a:r>
            <a:r>
              <a:rPr lang="en-GB" dirty="0"/>
              <a:t> Collect bug reports, feature requests, and general user satisfaction.</a:t>
            </a:r>
          </a:p>
          <a:p>
            <a:r>
              <a:rPr lang="en-GB" b="1" dirty="0"/>
              <a:t>Tools:</a:t>
            </a:r>
            <a:r>
              <a:rPr lang="en-GB" dirty="0"/>
              <a:t> TestFlight (iOS), Google Play Console (Android), Discord, Slack channels for feedback</a:t>
            </a:r>
          </a:p>
          <a:p>
            <a:r>
              <a:rPr lang="en-GB" b="1" dirty="0"/>
              <a:t>🔹 3. A/B Testing</a:t>
            </a:r>
          </a:p>
          <a:p>
            <a:r>
              <a:rPr lang="en-GB" b="1" dirty="0"/>
              <a:t>Purpose:</a:t>
            </a:r>
            <a:r>
              <a:rPr lang="en-GB" dirty="0"/>
              <a:t> Compare two versions of a feature to see which performs better with users.</a:t>
            </a:r>
          </a:p>
          <a:p>
            <a:r>
              <a:rPr lang="en-GB" b="1" dirty="0"/>
              <a:t>Example:</a:t>
            </a:r>
            <a:br>
              <a:rPr lang="en-GB" dirty="0"/>
            </a:br>
            <a:r>
              <a:rPr lang="en-GB" dirty="0"/>
              <a:t>Test two different signup button designs to see which gets more clicks.</a:t>
            </a:r>
          </a:p>
          <a:p>
            <a:r>
              <a:rPr lang="en-GB" b="1" dirty="0"/>
              <a:t>Feedback Goal:</a:t>
            </a:r>
            <a:r>
              <a:rPr lang="en-GB" dirty="0"/>
              <a:t> Measure user </a:t>
            </a:r>
            <a:r>
              <a:rPr lang="en-GB" dirty="0" err="1"/>
              <a:t>behavior</a:t>
            </a:r>
            <a:r>
              <a:rPr lang="en-GB" dirty="0"/>
              <a:t> (conversion, engagement) and preference.</a:t>
            </a:r>
          </a:p>
          <a:p>
            <a:r>
              <a:rPr lang="en-GB" b="1" dirty="0"/>
              <a:t>Tools:</a:t>
            </a:r>
            <a:r>
              <a:rPr lang="en-GB" dirty="0"/>
              <a:t> Google Optimize, Optimizely, VWO, </a:t>
            </a:r>
            <a:r>
              <a:rPr lang="en-GB" dirty="0" err="1"/>
              <a:t>Mixpanel</a:t>
            </a:r>
            <a:endParaRPr lang="en-GB" dirty="0"/>
          </a:p>
          <a:p>
            <a:r>
              <a:rPr lang="en-GB" b="1" dirty="0"/>
              <a:t>🔹 4. Surveys and Feedback Forms</a:t>
            </a:r>
          </a:p>
          <a:p>
            <a:r>
              <a:rPr lang="en-GB" b="1" dirty="0"/>
              <a:t>Purpose:</a:t>
            </a:r>
            <a:r>
              <a:rPr lang="en-GB" dirty="0"/>
              <a:t> Collect direct, qualitative feedback from users after using the product.</a:t>
            </a:r>
          </a:p>
          <a:p>
            <a:r>
              <a:rPr lang="en-GB" b="1" dirty="0"/>
              <a:t>Example:</a:t>
            </a:r>
            <a:br>
              <a:rPr lang="en-GB" dirty="0"/>
            </a:br>
            <a:r>
              <a:rPr lang="en-GB" dirty="0"/>
              <a:t>Send a survey after onboarding asking, “Was anything confusing or missing?”</a:t>
            </a:r>
          </a:p>
          <a:p>
            <a:r>
              <a:rPr lang="en-GB" b="1" dirty="0"/>
              <a:t>Feedback Goal:</a:t>
            </a:r>
            <a:r>
              <a:rPr lang="en-GB" dirty="0"/>
              <a:t> Discover pain points, desired features, or satisfaction ratings.</a:t>
            </a:r>
          </a:p>
          <a:p>
            <a:r>
              <a:rPr lang="en-GB" b="1" dirty="0"/>
              <a:t>Tools:</a:t>
            </a:r>
            <a:r>
              <a:rPr lang="en-GB" dirty="0"/>
              <a:t> Google Forms, </a:t>
            </a:r>
            <a:r>
              <a:rPr lang="en-GB" dirty="0" err="1"/>
              <a:t>Typeform</a:t>
            </a:r>
            <a:r>
              <a:rPr lang="en-GB" dirty="0"/>
              <a:t>, SurveyMonkey</a:t>
            </a:r>
          </a:p>
          <a:p>
            <a:r>
              <a:rPr lang="en-GB" b="1" dirty="0"/>
              <a:t>🔹 5. In-App Feedback</a:t>
            </a:r>
          </a:p>
          <a:p>
            <a:r>
              <a:rPr lang="en-GB" b="1" dirty="0"/>
              <a:t>Purpose:</a:t>
            </a:r>
            <a:r>
              <a:rPr lang="en-GB" dirty="0"/>
              <a:t> Let users leave feedback </a:t>
            </a:r>
            <a:r>
              <a:rPr lang="en-GB" b="1" dirty="0"/>
              <a:t>while they’re using the app</a:t>
            </a:r>
            <a:r>
              <a:rPr lang="en-GB" dirty="0"/>
              <a:t>.</a:t>
            </a:r>
          </a:p>
          <a:p>
            <a:r>
              <a:rPr lang="en-GB" b="1" dirty="0"/>
              <a:t>Example:</a:t>
            </a:r>
            <a:br>
              <a:rPr lang="en-GB" dirty="0"/>
            </a:br>
            <a:r>
              <a:rPr lang="en-GB" dirty="0"/>
              <a:t>A floating “Feedback” button allows users to report bugs or suggest features instantly.</a:t>
            </a:r>
          </a:p>
          <a:p>
            <a:r>
              <a:rPr lang="en-GB" b="1" dirty="0"/>
              <a:t>Feedback Goal:</a:t>
            </a:r>
            <a:r>
              <a:rPr lang="en-GB" dirty="0"/>
              <a:t> Get contextual feedback from real usage scenarios.</a:t>
            </a:r>
          </a:p>
          <a:p>
            <a:r>
              <a:rPr lang="en-GB" b="1" dirty="0"/>
              <a:t>Tools:</a:t>
            </a:r>
            <a:r>
              <a:rPr lang="en-GB" dirty="0"/>
              <a:t> Hotjar, </a:t>
            </a:r>
            <a:r>
              <a:rPr lang="en-GB" dirty="0" err="1"/>
              <a:t>Instabug</a:t>
            </a:r>
            <a:r>
              <a:rPr lang="en-GB" dirty="0"/>
              <a:t>, </a:t>
            </a:r>
            <a:r>
              <a:rPr lang="en-GB" dirty="0" err="1"/>
              <a:t>Usersnap</a:t>
            </a:r>
            <a:endParaRPr lang="en-GB" dirty="0"/>
          </a:p>
          <a:p>
            <a:r>
              <a:rPr lang="en-GB" b="1" dirty="0"/>
              <a:t>🔹 6. Customer Support &amp; Helpdesk Insights</a:t>
            </a:r>
          </a:p>
          <a:p>
            <a:r>
              <a:rPr lang="en-GB" b="1" dirty="0"/>
              <a:t>Purpose:</a:t>
            </a:r>
            <a:r>
              <a:rPr lang="en-GB" dirty="0"/>
              <a:t> </a:t>
            </a:r>
            <a:r>
              <a:rPr lang="en-GB" dirty="0" err="1"/>
              <a:t>Analyze</a:t>
            </a:r>
            <a:r>
              <a:rPr lang="en-GB" dirty="0"/>
              <a:t> support tickets and chat logs to find recurring issues.</a:t>
            </a:r>
          </a:p>
          <a:p>
            <a:r>
              <a:rPr lang="en-GB" b="1" dirty="0"/>
              <a:t>Example:</a:t>
            </a:r>
            <a:br>
              <a:rPr lang="en-GB" dirty="0"/>
            </a:br>
            <a:r>
              <a:rPr lang="en-GB" dirty="0"/>
              <a:t>Many users contact support saying they can’t find the billing page — that’s a UX problem.</a:t>
            </a:r>
          </a:p>
          <a:p>
            <a:r>
              <a:rPr lang="en-GB" b="1" dirty="0"/>
              <a:t>Feedback Goal:</a:t>
            </a:r>
            <a:r>
              <a:rPr lang="en-GB" dirty="0"/>
              <a:t> Identify common problems users experience and adjust the design or documentation.</a:t>
            </a:r>
          </a:p>
          <a:p>
            <a:r>
              <a:rPr lang="en-GB" b="1" dirty="0"/>
              <a:t>Tools:</a:t>
            </a:r>
            <a:r>
              <a:rPr lang="en-GB" dirty="0"/>
              <a:t> Zendesk, Intercom, Freshdesk</a:t>
            </a:r>
          </a:p>
          <a:p>
            <a:r>
              <a:rPr lang="en-GB" b="1" dirty="0"/>
              <a:t>🔹 7. Session Recording &amp; Heatmaps</a:t>
            </a:r>
          </a:p>
          <a:p>
            <a:r>
              <a:rPr lang="en-GB" b="1" dirty="0"/>
              <a:t>Purpose:</a:t>
            </a:r>
            <a:r>
              <a:rPr lang="en-GB" dirty="0"/>
              <a:t> Track where users click, scroll, or abandon tasks.</a:t>
            </a:r>
          </a:p>
          <a:p>
            <a:r>
              <a:rPr lang="en-GB" b="1" dirty="0"/>
              <a:t>Example:</a:t>
            </a:r>
            <a:br>
              <a:rPr lang="en-GB" dirty="0"/>
            </a:br>
            <a:r>
              <a:rPr lang="en-GB" dirty="0"/>
              <a:t>Heatmaps show users aren’t scrolling past the fold on your homepage.</a:t>
            </a:r>
          </a:p>
          <a:p>
            <a:r>
              <a:rPr lang="en-GB" b="1" dirty="0"/>
              <a:t>Feedback Goal:</a:t>
            </a:r>
            <a:r>
              <a:rPr lang="en-GB" dirty="0"/>
              <a:t> Visualize user </a:t>
            </a:r>
            <a:r>
              <a:rPr lang="en-GB" dirty="0" err="1"/>
              <a:t>behavior</a:t>
            </a:r>
            <a:r>
              <a:rPr lang="en-GB" dirty="0"/>
              <a:t> to improve layout and content.</a:t>
            </a:r>
          </a:p>
          <a:p>
            <a:r>
              <a:rPr lang="en-GB" b="1" dirty="0"/>
              <a:t>Tools:</a:t>
            </a:r>
            <a:r>
              <a:rPr lang="en-GB" dirty="0"/>
              <a:t> Hotjar, FullStory, Crazy Egg</a:t>
            </a:r>
          </a:p>
          <a:p>
            <a:r>
              <a:rPr lang="en-GB" b="1" dirty="0"/>
              <a:t>🔹 8. Feature Validation or Preference Testing</a:t>
            </a:r>
          </a:p>
          <a:p>
            <a:r>
              <a:rPr lang="en-GB" b="1" dirty="0"/>
              <a:t>Purpose:</a:t>
            </a:r>
            <a:r>
              <a:rPr lang="en-GB" dirty="0"/>
              <a:t> Test early feature ideas or </a:t>
            </a:r>
            <a:r>
              <a:rPr lang="en-GB" dirty="0" err="1"/>
              <a:t>mockups</a:t>
            </a:r>
            <a:r>
              <a:rPr lang="en-GB" dirty="0"/>
              <a:t> before investing in development.</a:t>
            </a:r>
          </a:p>
          <a:p>
            <a:r>
              <a:rPr lang="en-GB" b="1" dirty="0"/>
              <a:t>Example:</a:t>
            </a:r>
            <a:br>
              <a:rPr lang="en-GB" dirty="0"/>
            </a:br>
            <a:r>
              <a:rPr lang="en-GB" dirty="0"/>
              <a:t>Show users two dashboard </a:t>
            </a:r>
            <a:r>
              <a:rPr lang="en-GB" dirty="0" err="1"/>
              <a:t>mockups</a:t>
            </a:r>
            <a:r>
              <a:rPr lang="en-GB" dirty="0"/>
              <a:t> and ask which they prefer.</a:t>
            </a:r>
          </a:p>
          <a:p>
            <a:r>
              <a:rPr lang="en-GB" b="1" dirty="0"/>
              <a:t>Feedback Goal:</a:t>
            </a:r>
            <a:r>
              <a:rPr lang="en-GB" dirty="0"/>
              <a:t> Validate assumptions and guide design choices.</a:t>
            </a:r>
          </a:p>
          <a:p>
            <a:r>
              <a:rPr lang="en-GB" b="1" dirty="0"/>
              <a:t>Tools:</a:t>
            </a:r>
            <a:r>
              <a:rPr lang="en-GB" dirty="0"/>
              <a:t> Figma prototypes, </a:t>
            </a:r>
            <a:r>
              <a:rPr lang="en-GB" dirty="0" err="1"/>
              <a:t>UsabilityHub</a:t>
            </a:r>
            <a:r>
              <a:rPr lang="en-GB" dirty="0"/>
              <a:t>, InVision</a:t>
            </a:r>
          </a:p>
          <a:p>
            <a:endParaRPr lang="en-GB" dirty="0"/>
          </a:p>
        </p:txBody>
      </p:sp>
      <p:sp>
        <p:nvSpPr>
          <p:cNvPr id="19460" name="Slide Number Placeholder 3">
            <a:extLst>
              <a:ext uri="{FF2B5EF4-FFF2-40B4-BE49-F238E27FC236}">
                <a16:creationId xmlns:a16="http://schemas.microsoft.com/office/drawing/2014/main" id="{3CFD7C14-B985-71EB-C990-94A6B8A47F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9</a:t>
            </a:fld>
            <a:endParaRPr lang="en-GB" altLang="en-US"/>
          </a:p>
        </p:txBody>
      </p:sp>
    </p:spTree>
    <p:extLst>
      <p:ext uri="{BB962C8B-B14F-4D97-AF65-F5344CB8AC3E}">
        <p14:creationId xmlns:p14="http://schemas.microsoft.com/office/powerpoint/2010/main" val="32540225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1CFE7-9BAC-92A1-8911-FD1FEA8E0796}"/>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EEFA0842-B317-2E05-C079-17A799AA824C}"/>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C0530003-B3FA-F484-B044-FB034052B3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https://www.youtube.com/watch?v=8jH0mvGyZa4</a:t>
            </a:r>
          </a:p>
          <a:p>
            <a:endParaRPr lang="en-GB" dirty="0"/>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i="0" kern="1200" dirty="0">
                <a:solidFill>
                  <a:schemeClr val="tx1"/>
                </a:solidFill>
                <a:effectLst/>
                <a:latin typeface="Arial" pitchFamily="34" charset="0"/>
                <a:ea typeface="+mn-ea"/>
                <a:cs typeface="Arial" pitchFamily="34" charset="0"/>
              </a:rPr>
              <a:t>5 Best APP Builders For Beginners In 2025 (No-Code + AI)</a:t>
            </a:r>
            <a:endParaRPr lang="en-GB" dirty="0"/>
          </a:p>
          <a:p>
            <a:r>
              <a:rPr lang="en-GB" dirty="0"/>
              <a:t>https://www.youtube.com/watch?v=EXajQaw0tWI</a:t>
            </a:r>
            <a:br>
              <a:rPr lang="en-GB" dirty="0"/>
            </a:br>
            <a:endParaRPr lang="en-GB" dirty="0"/>
          </a:p>
          <a:p>
            <a:endParaRPr lang="en-GB" dirty="0"/>
          </a:p>
          <a:p>
            <a:endParaRPr lang="en-GB" dirty="0"/>
          </a:p>
        </p:txBody>
      </p:sp>
      <p:sp>
        <p:nvSpPr>
          <p:cNvPr id="32772" name="Slide Number Placeholder 3">
            <a:extLst>
              <a:ext uri="{FF2B5EF4-FFF2-40B4-BE49-F238E27FC236}">
                <a16:creationId xmlns:a16="http://schemas.microsoft.com/office/drawing/2014/main" id="{AD189570-8D3D-0501-4036-DFF797FE3B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A66E82B-6047-4B9A-811C-5485D60B65B8}" type="slidenum">
              <a:rPr lang="en-GB" altLang="en-US" smtClean="0"/>
              <a:pPr/>
              <a:t>10</a:t>
            </a:fld>
            <a:endParaRPr lang="en-GB" altLang="en-US"/>
          </a:p>
        </p:txBody>
      </p:sp>
    </p:spTree>
    <p:extLst>
      <p:ext uri="{BB962C8B-B14F-4D97-AF65-F5344CB8AC3E}">
        <p14:creationId xmlns:p14="http://schemas.microsoft.com/office/powerpoint/2010/main" val="3070773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7810480-5ECB-BE87-58F2-A360C2C46151}"/>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00EA3AFF-358A-33A6-DEE8-58A6CC08022F}"/>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AEF0B258-F8AE-51A1-4410-D5988A977085}"/>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F530CAED-1744-ACF9-76BA-4F49ADE2E195}"/>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11C4AD0B-BCCD-DDF6-D6B8-3C7EF96688B3}"/>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EBF9E7C4-36E9-B353-CFEE-63935B65C939}"/>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9C615290-51F2-89BA-91D4-3E9E1C94446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68F637F3-1CFD-F37D-6BB7-2F941BDD9073}"/>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36F9B091-71A7-A578-D31F-69DC6C1898F6}"/>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E9529A3F-D0CC-2872-9695-C20454AE92B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74CEED1C-466E-C63E-0433-0A4779C35D36}"/>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A84E402D-E460-1685-E2AD-09F35FE9B132}"/>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ECBE94BF-49CC-A36E-AA69-68E1D83672D6}"/>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256218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E2FBF1F4-BFFF-A3B3-1F2A-87802D682FF9}"/>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4CAE9D0-28B5-ABC5-9AAF-66C831B9D2E9}"/>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BF052FBC-CFBA-25ED-6E3F-5FE2E540B83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C7FA066-CA49-4154-8229-AEE565484061}" type="slidenum">
              <a:rPr lang="en-US" altLang="en-US"/>
              <a:pPr>
                <a:defRPr/>
              </a:pPr>
              <a:t>‹#›</a:t>
            </a:fld>
            <a:endParaRPr lang="en-US" altLang="en-US"/>
          </a:p>
        </p:txBody>
      </p:sp>
    </p:spTree>
    <p:extLst>
      <p:ext uri="{BB962C8B-B14F-4D97-AF65-F5344CB8AC3E}">
        <p14:creationId xmlns:p14="http://schemas.microsoft.com/office/powerpoint/2010/main" val="4068472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195B97E7-C65B-0657-F08B-2CE5FF0C725E}"/>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5EF6BDE-FBD2-812C-4C6B-79D1F2311AC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4228EBA-1B5D-D071-427A-674FE56ACC9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FC81816-4314-4942-BF52-621C2956052E}" type="slidenum">
              <a:rPr lang="en-US" altLang="en-US"/>
              <a:pPr>
                <a:defRPr/>
              </a:pPr>
              <a:t>‹#›</a:t>
            </a:fld>
            <a:endParaRPr lang="en-US" altLang="en-US"/>
          </a:p>
        </p:txBody>
      </p:sp>
    </p:spTree>
    <p:extLst>
      <p:ext uri="{BB962C8B-B14F-4D97-AF65-F5344CB8AC3E}">
        <p14:creationId xmlns:p14="http://schemas.microsoft.com/office/powerpoint/2010/main" val="658414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FACD645D-12E7-88CB-87CF-6C7837A5F99C}"/>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2B5CE3A2-9405-7B89-7B1B-768B33B59AE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B468623B-024A-1FDE-EAF1-DD056BB7748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470E24D-D6C3-411D-A3D5-2E70EB9C69AD}" type="slidenum">
              <a:rPr lang="en-US" altLang="en-US"/>
              <a:pPr>
                <a:defRPr/>
              </a:pPr>
              <a:t>‹#›</a:t>
            </a:fld>
            <a:endParaRPr lang="en-US" altLang="en-US"/>
          </a:p>
        </p:txBody>
      </p:sp>
    </p:spTree>
    <p:extLst>
      <p:ext uri="{BB962C8B-B14F-4D97-AF65-F5344CB8AC3E}">
        <p14:creationId xmlns:p14="http://schemas.microsoft.com/office/powerpoint/2010/main" val="1559293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28038F72-D80F-C0AE-35EC-EED3B3C48902}"/>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CE0DF27D-8CE0-50AB-5783-55C0262A2844}"/>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2031FD85-94F1-3025-73B8-2DEA60C7A597}"/>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56A4DB9-C831-460C-B5AC-600D0EDA1D81}" type="slidenum">
              <a:rPr lang="en-US" altLang="en-US"/>
              <a:pPr>
                <a:defRPr/>
              </a:pPr>
              <a:t>‹#›</a:t>
            </a:fld>
            <a:endParaRPr lang="en-US" altLang="en-US"/>
          </a:p>
        </p:txBody>
      </p:sp>
    </p:spTree>
    <p:extLst>
      <p:ext uri="{BB962C8B-B14F-4D97-AF65-F5344CB8AC3E}">
        <p14:creationId xmlns:p14="http://schemas.microsoft.com/office/powerpoint/2010/main" val="2984004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DDAC0BDE-56E6-5888-5425-19CEAB1F98F2}"/>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6108F2EA-921C-BC5E-210D-0CEDDC33EF0B}"/>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1938DC64-0E0B-9E40-2AEB-0FF810F56E6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032A1E8-2368-4792-8E4C-0608C616614C}" type="slidenum">
              <a:rPr lang="en-US" altLang="en-US"/>
              <a:pPr>
                <a:defRPr/>
              </a:pPr>
              <a:t>‹#›</a:t>
            </a:fld>
            <a:endParaRPr lang="en-US" altLang="en-US"/>
          </a:p>
        </p:txBody>
      </p:sp>
    </p:spTree>
    <p:extLst>
      <p:ext uri="{BB962C8B-B14F-4D97-AF65-F5344CB8AC3E}">
        <p14:creationId xmlns:p14="http://schemas.microsoft.com/office/powerpoint/2010/main" val="2368990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F3F14EE0-EBD6-D6DA-A9E5-EC13E32AC220}"/>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001C9496-8095-A124-5646-484544CF7CC1}"/>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36BE1709-17D9-E6E3-5ABB-E4B30B153841}"/>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729AF96-B952-46EC-BF3B-07E3BB25340A}" type="slidenum">
              <a:rPr lang="en-US" altLang="en-US"/>
              <a:pPr>
                <a:defRPr/>
              </a:pPr>
              <a:t>‹#›</a:t>
            </a:fld>
            <a:endParaRPr lang="en-US" altLang="en-US"/>
          </a:p>
        </p:txBody>
      </p:sp>
    </p:spTree>
    <p:extLst>
      <p:ext uri="{BB962C8B-B14F-4D97-AF65-F5344CB8AC3E}">
        <p14:creationId xmlns:p14="http://schemas.microsoft.com/office/powerpoint/2010/main" val="1385716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05AB5C6-BD50-A6BF-B5FE-22C8E407ADCD}"/>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5A7603A1-5900-D00D-4D8B-08F208B8C012}"/>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44C9998E-4D02-1C08-708F-DECA68A7A85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0C78E55-6717-4E6B-9F78-CE359F379F1E}" type="slidenum">
              <a:rPr lang="en-US" altLang="en-US"/>
              <a:pPr>
                <a:defRPr/>
              </a:pPr>
              <a:t>‹#›</a:t>
            </a:fld>
            <a:endParaRPr lang="en-US" altLang="en-US"/>
          </a:p>
        </p:txBody>
      </p:sp>
    </p:spTree>
    <p:extLst>
      <p:ext uri="{BB962C8B-B14F-4D97-AF65-F5344CB8AC3E}">
        <p14:creationId xmlns:p14="http://schemas.microsoft.com/office/powerpoint/2010/main" val="2085929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63948DC-6D8B-6569-DA51-FDF05F577159}"/>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027E2FDE-24F3-07D0-AEFF-4CB105FDFAA7}"/>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8985341-E5D8-3F30-BFAE-8830A58E0E86}"/>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A8F0B2A-B223-426C-816D-62612E31A5A9}" type="slidenum">
              <a:rPr lang="en-US" altLang="en-US"/>
              <a:pPr>
                <a:defRPr/>
              </a:pPr>
              <a:t>‹#›</a:t>
            </a:fld>
            <a:endParaRPr lang="en-US" altLang="en-US"/>
          </a:p>
        </p:txBody>
      </p:sp>
    </p:spTree>
    <p:extLst>
      <p:ext uri="{BB962C8B-B14F-4D97-AF65-F5344CB8AC3E}">
        <p14:creationId xmlns:p14="http://schemas.microsoft.com/office/powerpoint/2010/main" val="108365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89353A6-EA69-6442-57C0-88AA9F8813B0}"/>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3C72383-4845-DC68-9243-081EF763980B}"/>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D30F085-A0EC-C47B-DA3C-BFEA34395922}"/>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C239488-D800-4312-B8E5-3AF7F2140D42}" type="slidenum">
              <a:rPr lang="en-US" altLang="en-US"/>
              <a:pPr>
                <a:defRPr/>
              </a:pPr>
              <a:t>‹#›</a:t>
            </a:fld>
            <a:endParaRPr lang="en-US" altLang="en-US"/>
          </a:p>
        </p:txBody>
      </p:sp>
    </p:spTree>
    <p:extLst>
      <p:ext uri="{BB962C8B-B14F-4D97-AF65-F5344CB8AC3E}">
        <p14:creationId xmlns:p14="http://schemas.microsoft.com/office/powerpoint/2010/main" val="400387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964B57A7-5304-4B74-E062-42790573BB34}"/>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EE7DAE4-5415-A8BB-9266-22D89E2C2F0D}"/>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639206F7-B389-1394-207F-70B202F0541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B506300-EC2B-4410-BAC1-029937E7BA4C}" type="slidenum">
              <a:rPr lang="en-US" altLang="en-US"/>
              <a:pPr>
                <a:defRPr/>
              </a:pPr>
              <a:t>‹#›</a:t>
            </a:fld>
            <a:endParaRPr lang="en-US" altLang="en-US"/>
          </a:p>
        </p:txBody>
      </p:sp>
    </p:spTree>
    <p:extLst>
      <p:ext uri="{BB962C8B-B14F-4D97-AF65-F5344CB8AC3E}">
        <p14:creationId xmlns:p14="http://schemas.microsoft.com/office/powerpoint/2010/main" val="318269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D58BE732-F038-221C-983A-85EDF89C445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A212D868-F7C7-433D-CEC8-BF70F92640DA}"/>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3FF7FE1B-A3AC-CC37-9DA6-8FEFD1060921}"/>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048631EF-4B04-3AC7-9DEA-E9A9D9196A4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00AA0BA8-3CE6-8861-96EB-BC4665E4CA82}"/>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746C408B-8C65-C11C-F154-EA06B87D0AFD}"/>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A3EC4121-1BDD-A77C-2AF6-CFC21BF1D794}"/>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7004D551-9CD0-3404-6B1D-0EE5258A727C}"/>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75CBDE54-9BAF-9128-48E8-350C0154B1BD}"/>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A89C34F5-B039-A826-E05B-929D398CE957}"/>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23DF1A86-7E14-A3D0-EE1F-1D860A85C694}"/>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F6B49424-7492-3521-6B6C-71AC3935C9F2}"/>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202321B8-1831-0921-413C-4B8F441F1380}"/>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5327ECCC-955A-4CC1-B570-8D3B1F26AC5A}" type="slidenum">
              <a:rPr lang="en-US" altLang="en-US"/>
              <a:pPr>
                <a:defRPr/>
              </a:pPr>
              <a:t>‹#›</a:t>
            </a:fld>
            <a:endParaRPr lang="en-US" altLang="en-US"/>
          </a:p>
        </p:txBody>
      </p:sp>
    </p:spTree>
    <p:extLst>
      <p:ext uri="{BB962C8B-B14F-4D97-AF65-F5344CB8AC3E}">
        <p14:creationId xmlns:p14="http://schemas.microsoft.com/office/powerpoint/2010/main" val="23424490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E2EBB6AC-FA83-9165-EB13-97F68678532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96AD3C7-BB8A-E8C6-6A4A-2BAECCE801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5E43890-5611-4E4D-27B3-507F3FB773F8}"/>
              </a:ext>
            </a:extLst>
          </p:cNvPr>
          <p:cNvSpPr>
            <a:spLocks noGrp="1" noChangeArrowheads="1"/>
          </p:cNvSpPr>
          <p:nvPr>
            <p:ph type="sldNum" sz="quarter" idx="12"/>
          </p:nvPr>
        </p:nvSpPr>
        <p:spPr>
          <a:ln/>
        </p:spPr>
        <p:txBody>
          <a:bodyPr/>
          <a:lstStyle>
            <a:lvl1pPr>
              <a:defRPr/>
            </a:lvl1pPr>
          </a:lstStyle>
          <a:p>
            <a:pPr>
              <a:defRPr/>
            </a:pPr>
            <a:fld id="{FF767D69-45F3-4FD5-A3C3-B99BBBA31BBD}" type="slidenum">
              <a:rPr lang="en-US" altLang="en-US"/>
              <a:pPr>
                <a:defRPr/>
              </a:pPr>
              <a:t>‹#›</a:t>
            </a:fld>
            <a:endParaRPr lang="en-US" altLang="en-US"/>
          </a:p>
        </p:txBody>
      </p:sp>
    </p:spTree>
    <p:extLst>
      <p:ext uri="{BB962C8B-B14F-4D97-AF65-F5344CB8AC3E}">
        <p14:creationId xmlns:p14="http://schemas.microsoft.com/office/powerpoint/2010/main" val="3578742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E3551835-1EB1-BE40-E14F-0DB9C8B0103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77FFF9D5-FCE7-7433-15F7-F01060F97B7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ABEA767-ED31-8429-9361-BD51593BF268}"/>
              </a:ext>
            </a:extLst>
          </p:cNvPr>
          <p:cNvSpPr>
            <a:spLocks noGrp="1" noChangeArrowheads="1"/>
          </p:cNvSpPr>
          <p:nvPr>
            <p:ph type="sldNum" sz="quarter" idx="12"/>
          </p:nvPr>
        </p:nvSpPr>
        <p:spPr>
          <a:ln/>
        </p:spPr>
        <p:txBody>
          <a:bodyPr/>
          <a:lstStyle>
            <a:lvl1pPr>
              <a:defRPr/>
            </a:lvl1pPr>
          </a:lstStyle>
          <a:p>
            <a:pPr>
              <a:defRPr/>
            </a:pPr>
            <a:fld id="{29BC801C-8383-4F07-ACD9-5073A90B612C}" type="slidenum">
              <a:rPr lang="en-US" altLang="en-US"/>
              <a:pPr>
                <a:defRPr/>
              </a:pPr>
              <a:t>‹#›</a:t>
            </a:fld>
            <a:endParaRPr lang="en-US" altLang="en-US"/>
          </a:p>
        </p:txBody>
      </p:sp>
    </p:spTree>
    <p:extLst>
      <p:ext uri="{BB962C8B-B14F-4D97-AF65-F5344CB8AC3E}">
        <p14:creationId xmlns:p14="http://schemas.microsoft.com/office/powerpoint/2010/main" val="4271162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D26AACF1-B63A-3DFC-1F61-3039DA6B10A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3826BBD-55C8-1989-390F-9D8BB3B20A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E08D2122-4961-52C1-A0A1-25B856B95E61}"/>
              </a:ext>
            </a:extLst>
          </p:cNvPr>
          <p:cNvSpPr>
            <a:spLocks noGrp="1" noChangeArrowheads="1"/>
          </p:cNvSpPr>
          <p:nvPr>
            <p:ph type="sldNum" sz="quarter" idx="12"/>
          </p:nvPr>
        </p:nvSpPr>
        <p:spPr>
          <a:ln/>
        </p:spPr>
        <p:txBody>
          <a:bodyPr/>
          <a:lstStyle>
            <a:lvl1pPr>
              <a:defRPr/>
            </a:lvl1pPr>
          </a:lstStyle>
          <a:p>
            <a:pPr>
              <a:defRPr/>
            </a:pPr>
            <a:fld id="{B7CFB11A-E562-49AA-80DC-C2571ABBF94D}" type="slidenum">
              <a:rPr lang="en-US" altLang="en-US"/>
              <a:pPr>
                <a:defRPr/>
              </a:pPr>
              <a:t>‹#›</a:t>
            </a:fld>
            <a:endParaRPr lang="en-US" altLang="en-US"/>
          </a:p>
        </p:txBody>
      </p:sp>
    </p:spTree>
    <p:extLst>
      <p:ext uri="{BB962C8B-B14F-4D97-AF65-F5344CB8AC3E}">
        <p14:creationId xmlns:p14="http://schemas.microsoft.com/office/powerpoint/2010/main" val="1811400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956C2847-55F0-DD56-5C8E-1231F2C1553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787D3154-3BC8-E8E2-AAD4-C364E9E8425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F0C017E7-C01B-0610-C669-C955CE07FABD}"/>
              </a:ext>
            </a:extLst>
          </p:cNvPr>
          <p:cNvSpPr>
            <a:spLocks noGrp="1" noChangeArrowheads="1"/>
          </p:cNvSpPr>
          <p:nvPr>
            <p:ph type="sldNum" sz="quarter" idx="12"/>
          </p:nvPr>
        </p:nvSpPr>
        <p:spPr>
          <a:ln/>
        </p:spPr>
        <p:txBody>
          <a:bodyPr/>
          <a:lstStyle>
            <a:lvl1pPr>
              <a:defRPr/>
            </a:lvl1pPr>
          </a:lstStyle>
          <a:p>
            <a:pPr>
              <a:defRPr/>
            </a:pPr>
            <a:fld id="{1F35F7B0-D026-4293-B387-BEA254A949BD}" type="slidenum">
              <a:rPr lang="en-US" altLang="en-US"/>
              <a:pPr>
                <a:defRPr/>
              </a:pPr>
              <a:t>‹#›</a:t>
            </a:fld>
            <a:endParaRPr lang="en-US" altLang="en-US"/>
          </a:p>
        </p:txBody>
      </p:sp>
    </p:spTree>
    <p:extLst>
      <p:ext uri="{BB962C8B-B14F-4D97-AF65-F5344CB8AC3E}">
        <p14:creationId xmlns:p14="http://schemas.microsoft.com/office/powerpoint/2010/main" val="2717326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00ECBADA-2525-B62F-7A70-A314EA8BEFE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0346302F-0967-F140-6DEA-624042BDEC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0B32ECB1-2364-7712-2F8E-EFAD5C1DC074}"/>
              </a:ext>
            </a:extLst>
          </p:cNvPr>
          <p:cNvSpPr>
            <a:spLocks noGrp="1" noChangeArrowheads="1"/>
          </p:cNvSpPr>
          <p:nvPr>
            <p:ph type="sldNum" sz="quarter" idx="12"/>
          </p:nvPr>
        </p:nvSpPr>
        <p:spPr>
          <a:ln/>
        </p:spPr>
        <p:txBody>
          <a:bodyPr/>
          <a:lstStyle>
            <a:lvl1pPr>
              <a:defRPr/>
            </a:lvl1pPr>
          </a:lstStyle>
          <a:p>
            <a:pPr>
              <a:defRPr/>
            </a:pPr>
            <a:fld id="{849B93AF-BFC4-493F-B243-EF000CB9545D}" type="slidenum">
              <a:rPr lang="en-US" altLang="en-US"/>
              <a:pPr>
                <a:defRPr/>
              </a:pPr>
              <a:t>‹#›</a:t>
            </a:fld>
            <a:endParaRPr lang="en-US" altLang="en-US"/>
          </a:p>
        </p:txBody>
      </p:sp>
    </p:spTree>
    <p:extLst>
      <p:ext uri="{BB962C8B-B14F-4D97-AF65-F5344CB8AC3E}">
        <p14:creationId xmlns:p14="http://schemas.microsoft.com/office/powerpoint/2010/main" val="1912880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EE7FD273-A0D2-D288-91BF-A5DA22EED21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7905A923-9AA7-BC26-4416-7870884694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DC3B1E04-B1C3-C195-C6D2-692162C5CF7A}"/>
              </a:ext>
            </a:extLst>
          </p:cNvPr>
          <p:cNvSpPr>
            <a:spLocks noGrp="1" noChangeArrowheads="1"/>
          </p:cNvSpPr>
          <p:nvPr>
            <p:ph type="sldNum" sz="quarter" idx="12"/>
          </p:nvPr>
        </p:nvSpPr>
        <p:spPr>
          <a:ln/>
        </p:spPr>
        <p:txBody>
          <a:bodyPr/>
          <a:lstStyle>
            <a:lvl1pPr>
              <a:defRPr/>
            </a:lvl1pPr>
          </a:lstStyle>
          <a:p>
            <a:pPr>
              <a:defRPr/>
            </a:pPr>
            <a:fld id="{552C8C92-F3C4-41A1-A272-FAD3D86FC32D}" type="slidenum">
              <a:rPr lang="en-US" altLang="en-US"/>
              <a:pPr>
                <a:defRPr/>
              </a:pPr>
              <a:t>‹#›</a:t>
            </a:fld>
            <a:endParaRPr lang="en-US" altLang="en-US"/>
          </a:p>
        </p:txBody>
      </p:sp>
    </p:spTree>
    <p:extLst>
      <p:ext uri="{BB962C8B-B14F-4D97-AF65-F5344CB8AC3E}">
        <p14:creationId xmlns:p14="http://schemas.microsoft.com/office/powerpoint/2010/main" val="39457909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577A97C1-F48E-66DD-52D0-E3E4D6541A1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96221AF-4EA4-7CA5-0B02-403ACB29D9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FBBC1B4-5118-0E12-A6FA-297F485E64A2}"/>
              </a:ext>
            </a:extLst>
          </p:cNvPr>
          <p:cNvSpPr>
            <a:spLocks noGrp="1" noChangeArrowheads="1"/>
          </p:cNvSpPr>
          <p:nvPr>
            <p:ph type="sldNum" sz="quarter" idx="12"/>
          </p:nvPr>
        </p:nvSpPr>
        <p:spPr>
          <a:ln/>
        </p:spPr>
        <p:txBody>
          <a:bodyPr/>
          <a:lstStyle>
            <a:lvl1pPr>
              <a:defRPr/>
            </a:lvl1pPr>
          </a:lstStyle>
          <a:p>
            <a:pPr>
              <a:defRPr/>
            </a:pPr>
            <a:fld id="{C87CC952-187B-420C-823A-0957A1D872BA}" type="slidenum">
              <a:rPr lang="en-US" altLang="en-US"/>
              <a:pPr>
                <a:defRPr/>
              </a:pPr>
              <a:t>‹#›</a:t>
            </a:fld>
            <a:endParaRPr lang="en-US" altLang="en-US"/>
          </a:p>
        </p:txBody>
      </p:sp>
    </p:spTree>
    <p:extLst>
      <p:ext uri="{BB962C8B-B14F-4D97-AF65-F5344CB8AC3E}">
        <p14:creationId xmlns:p14="http://schemas.microsoft.com/office/powerpoint/2010/main" val="32631926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9FA3A97C-2D58-EEFA-FE88-E7198426C48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6BA85AC-A44C-9B4D-3684-32D92A16AB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8612D42-88EC-4F56-DCEF-935F4C8A88BB}"/>
              </a:ext>
            </a:extLst>
          </p:cNvPr>
          <p:cNvSpPr>
            <a:spLocks noGrp="1" noChangeArrowheads="1"/>
          </p:cNvSpPr>
          <p:nvPr>
            <p:ph type="sldNum" sz="quarter" idx="12"/>
          </p:nvPr>
        </p:nvSpPr>
        <p:spPr>
          <a:ln/>
        </p:spPr>
        <p:txBody>
          <a:bodyPr/>
          <a:lstStyle>
            <a:lvl1pPr>
              <a:defRPr/>
            </a:lvl1pPr>
          </a:lstStyle>
          <a:p>
            <a:pPr>
              <a:defRPr/>
            </a:pPr>
            <a:fld id="{9715BFFA-586B-41EA-93C2-A393E68CCD90}" type="slidenum">
              <a:rPr lang="en-US" altLang="en-US"/>
              <a:pPr>
                <a:defRPr/>
              </a:pPr>
              <a:t>‹#›</a:t>
            </a:fld>
            <a:endParaRPr lang="en-US" altLang="en-US"/>
          </a:p>
        </p:txBody>
      </p:sp>
    </p:spTree>
    <p:extLst>
      <p:ext uri="{BB962C8B-B14F-4D97-AF65-F5344CB8AC3E}">
        <p14:creationId xmlns:p14="http://schemas.microsoft.com/office/powerpoint/2010/main" val="1673217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60BD873B-AA66-998A-294A-52F656B9990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619282D3-63D2-0502-B93C-DB95C92FA9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E504B96-0FF0-2E89-DFAD-6A0005370227}"/>
              </a:ext>
            </a:extLst>
          </p:cNvPr>
          <p:cNvSpPr>
            <a:spLocks noGrp="1" noChangeArrowheads="1"/>
          </p:cNvSpPr>
          <p:nvPr>
            <p:ph type="sldNum" sz="quarter" idx="12"/>
          </p:nvPr>
        </p:nvSpPr>
        <p:spPr>
          <a:ln/>
        </p:spPr>
        <p:txBody>
          <a:bodyPr/>
          <a:lstStyle>
            <a:lvl1pPr>
              <a:defRPr/>
            </a:lvl1pPr>
          </a:lstStyle>
          <a:p>
            <a:pPr>
              <a:defRPr/>
            </a:pPr>
            <a:fld id="{8C374F23-174C-4BC6-ABD9-92A28803ED65}" type="slidenum">
              <a:rPr lang="en-US" altLang="en-US"/>
              <a:pPr>
                <a:defRPr/>
              </a:pPr>
              <a:t>‹#›</a:t>
            </a:fld>
            <a:endParaRPr lang="en-US" altLang="en-US"/>
          </a:p>
        </p:txBody>
      </p:sp>
    </p:spTree>
    <p:extLst>
      <p:ext uri="{BB962C8B-B14F-4D97-AF65-F5344CB8AC3E}">
        <p14:creationId xmlns:p14="http://schemas.microsoft.com/office/powerpoint/2010/main" val="1706328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8DF6778D-C9BA-FDE6-E0DC-BEBA9643D4F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CF16D62-8A9F-EC79-37FD-49E13CE8731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267F1255-9B56-F3F4-3618-DB1FB151A5F6}"/>
              </a:ext>
            </a:extLst>
          </p:cNvPr>
          <p:cNvSpPr>
            <a:spLocks noGrp="1" noChangeArrowheads="1"/>
          </p:cNvSpPr>
          <p:nvPr>
            <p:ph type="sldNum" sz="quarter" idx="12"/>
          </p:nvPr>
        </p:nvSpPr>
        <p:spPr>
          <a:ln/>
        </p:spPr>
        <p:txBody>
          <a:bodyPr/>
          <a:lstStyle>
            <a:lvl1pPr>
              <a:defRPr/>
            </a:lvl1pPr>
          </a:lstStyle>
          <a:p>
            <a:pPr>
              <a:defRPr/>
            </a:pPr>
            <a:fld id="{21A0EC92-9C02-4F18-9503-339AEB0637AD}" type="slidenum">
              <a:rPr lang="en-US" altLang="en-US"/>
              <a:pPr>
                <a:defRPr/>
              </a:pPr>
              <a:t>‹#›</a:t>
            </a:fld>
            <a:endParaRPr lang="en-US" altLang="en-US"/>
          </a:p>
        </p:txBody>
      </p:sp>
    </p:spTree>
    <p:extLst>
      <p:ext uri="{BB962C8B-B14F-4D97-AF65-F5344CB8AC3E}">
        <p14:creationId xmlns:p14="http://schemas.microsoft.com/office/powerpoint/2010/main" val="177793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D345E34-E467-7991-B2AF-73ED4FE19623}"/>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05615F89-67FA-18BB-54CC-1494E69CBFB6}"/>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C536EC21-8289-B48F-80BD-83B0CD94B0C5}"/>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BC04DC27-63D0-3D8D-3281-D351460C6D3D}"/>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A2D29420-F452-E089-A911-0930C3BFA7FF}"/>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76690800-EE9D-ADDF-DD3A-ABF42BC27FAF}"/>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1A6BA7B5-B51C-EA65-A7D9-A663DD263E41}"/>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0B7EB65F-68BB-567E-2181-5E000C6608A5}"/>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656CC82B-5F89-170B-DA89-463DCE6009BC}"/>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0A6E5069-418D-82BB-7BD4-79DBAA86756B}"/>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0DB11F4D-39C3-F6F1-42B5-94F30E61E058}"/>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23A2BDE6-4A4A-A6D6-D3F9-016479D9FFFF}"/>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5856" r:id="rId1"/>
    <p:sldLayoutId id="2147485857" r:id="rId2"/>
    <p:sldLayoutId id="2147485858" r:id="rId3"/>
    <p:sldLayoutId id="2147485859" r:id="rId4"/>
    <p:sldLayoutId id="2147485860" r:id="rId5"/>
    <p:sldLayoutId id="2147485861" r:id="rId6"/>
    <p:sldLayoutId id="2147485862" r:id="rId7"/>
    <p:sldLayoutId id="2147485863" r:id="rId8"/>
    <p:sldLayoutId id="2147485864" r:id="rId9"/>
    <p:sldLayoutId id="2147485865" r:id="rId10"/>
    <p:sldLayoutId id="21474858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CD2ED16-8D4E-7549-7322-669566DDEF82}"/>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3DBD444D-C319-928E-2736-4C296846DF9E}"/>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BD98CEAA-AF5D-8770-A48A-A8071463FDCC}"/>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D7D0FA5F-A8A5-8118-8E28-4963A5302776}"/>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54B22AED-ED09-9FB5-1E17-D495065FFA6E}"/>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CDE2BA21-D4DC-8931-A8B5-D8AAB43D9CD5}"/>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0B6CE866-230A-C23F-6068-9405CD837022}"/>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B000EBEF-B402-B8C4-12D1-8E1D7CC7FD6D}"/>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3DE1ED43-47FA-6F0C-BAA9-D0C309B3A464}"/>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E25BEB87-A1D8-A59E-E8E5-7F29E963ADDE}"/>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193B0F29-A731-67D2-4118-018B4E5D8A0B}"/>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C124B84F-BA24-F2F7-D46E-C5A9F1600C5F}"/>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A5519EAE-4E3C-4F6D-9DF4-99D2019ECA5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867" r:id="rId1"/>
    <p:sldLayoutId id="2147485846" r:id="rId2"/>
    <p:sldLayoutId id="2147485847" r:id="rId3"/>
    <p:sldLayoutId id="2147485848" r:id="rId4"/>
    <p:sldLayoutId id="2147485849" r:id="rId5"/>
    <p:sldLayoutId id="2147485850" r:id="rId6"/>
    <p:sldLayoutId id="2147485851" r:id="rId7"/>
    <p:sldLayoutId id="2147485852" r:id="rId8"/>
    <p:sldLayoutId id="2147485853" r:id="rId9"/>
    <p:sldLayoutId id="2147485854" r:id="rId10"/>
    <p:sldLayoutId id="214748585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uvqAGchg8bc?feature=oembed" TargetMode="External"/><Relationship Id="rId5" Type="http://schemas.openxmlformats.org/officeDocument/2006/relationships/image" Target="../media/image5.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c-uazo0kExo?feature=oembed" TargetMode="Externa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video" Target="https://www.youtube.com/embed/EXajQaw0tWI?feature=oembed" TargetMode="External"/><Relationship Id="rId7" Type="http://schemas.openxmlformats.org/officeDocument/2006/relationships/image" Target="../media/image12.jpeg"/><Relationship Id="rId2" Type="http://schemas.openxmlformats.org/officeDocument/2006/relationships/video" Target="https://www.youtube.com/embed/8jH0mvGyZa4?feature=oembed" TargetMode="External"/><Relationship Id="rId1" Type="http://schemas.openxmlformats.org/officeDocument/2006/relationships/video" Target="https://www.youtube.com/embed/gXRoIgiuAcA?feature=oembed" TargetMode="External"/><Relationship Id="rId6" Type="http://schemas.openxmlformats.org/officeDocument/2006/relationships/image" Target="../media/image11.jpe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E89979B-9D2C-B40E-9393-37FBFA0B9F2D}"/>
              </a:ext>
            </a:extLst>
          </p:cNvPr>
          <p:cNvSpPr>
            <a:spLocks noGrp="1" noChangeArrowheads="1"/>
          </p:cNvSpPr>
          <p:nvPr>
            <p:ph type="ctrTitle"/>
          </p:nvPr>
        </p:nvSpPr>
        <p:spPr>
          <a:xfrm>
            <a:off x="990600" y="1828800"/>
            <a:ext cx="7542213" cy="1143000"/>
          </a:xfrm>
        </p:spPr>
        <p:txBody>
          <a:bodyPr/>
          <a:lstStyle/>
          <a:p>
            <a:r>
              <a:rPr lang="en-GB" altLang="en-US" sz="2800" b="1">
                <a:solidFill>
                  <a:srgbClr val="0070C0"/>
                </a:solidFill>
              </a:rPr>
              <a:t>Occupational </a:t>
            </a:r>
            <a:r>
              <a:rPr lang="en-GB" altLang="en-US" sz="2800" b="1" dirty="0">
                <a:solidFill>
                  <a:srgbClr val="0070C0"/>
                </a:solidFill>
              </a:rPr>
              <a:t>Specialist Component Content: Digital Production, </a:t>
            </a:r>
            <a:r>
              <a:rPr lang="en-GB" altLang="en-US" sz="2800" b="1">
                <a:solidFill>
                  <a:srgbClr val="0070C0"/>
                </a:solidFill>
              </a:rPr>
              <a:t>Design and </a:t>
            </a:r>
            <a:r>
              <a:rPr lang="en-GB" altLang="en-US" sz="2800" b="1" dirty="0">
                <a:solidFill>
                  <a:srgbClr val="0070C0"/>
                </a:solidFill>
              </a:rPr>
              <a:t>Development</a:t>
            </a:r>
          </a:p>
        </p:txBody>
      </p:sp>
      <p:sp>
        <p:nvSpPr>
          <p:cNvPr id="15363" name="TextBox 4">
            <a:extLst>
              <a:ext uri="{FF2B5EF4-FFF2-40B4-BE49-F238E27FC236}">
                <a16:creationId xmlns:a16="http://schemas.microsoft.com/office/drawing/2014/main" id="{BEEFD9BD-28E1-0CCC-6C56-6D5A9AA9EC2B}"/>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9916D59-0D4D-7A7F-32FD-B66E010CA9E4}"/>
              </a:ext>
            </a:extLst>
          </p:cNvPr>
          <p:cNvSpPr>
            <a:spLocks noGrp="1" noChangeArrowheads="1"/>
          </p:cNvSpPr>
          <p:nvPr>
            <p:ph type="title"/>
          </p:nvPr>
        </p:nvSpPr>
        <p:spPr>
          <a:xfrm>
            <a:off x="1403350" y="404813"/>
            <a:ext cx="7505700" cy="939800"/>
          </a:xfrm>
        </p:spPr>
        <p:txBody>
          <a:bodyPr/>
          <a:lstStyle/>
          <a:p>
            <a:pPr eaLnBrk="1" hangingPunct="1"/>
            <a:r>
              <a:rPr lang="en-GB" altLang="en-US" sz="4000" b="1" dirty="0">
                <a:solidFill>
                  <a:srgbClr val="0070C0"/>
                </a:solidFill>
              </a:rPr>
              <a:t>Learning Objectives</a:t>
            </a:r>
          </a:p>
        </p:txBody>
      </p:sp>
      <p:sp>
        <p:nvSpPr>
          <p:cNvPr id="4099" name="Rectangle 3">
            <a:extLst>
              <a:ext uri="{FF2B5EF4-FFF2-40B4-BE49-F238E27FC236}">
                <a16:creationId xmlns:a16="http://schemas.microsoft.com/office/drawing/2014/main" id="{81D7DF48-5C8C-2A22-10C7-A51FEDB00BB9}"/>
              </a:ext>
            </a:extLst>
          </p:cNvPr>
          <p:cNvSpPr>
            <a:spLocks noGrp="1" noChangeArrowheads="1"/>
          </p:cNvSpPr>
          <p:nvPr>
            <p:ph type="body" idx="1"/>
          </p:nvPr>
        </p:nvSpPr>
        <p:spPr>
          <a:xfrm>
            <a:off x="611560" y="1803709"/>
            <a:ext cx="8424936" cy="4681239"/>
          </a:xfrm>
        </p:spPr>
        <p:txBody>
          <a:bodyPr/>
          <a:lstStyle/>
          <a:p>
            <a:pPr eaLnBrk="1" hangingPunct="1">
              <a:defRPr/>
            </a:pPr>
            <a:r>
              <a:rPr lang="en-GB" sz="2000" b="1" dirty="0"/>
              <a:t>Aims:</a:t>
            </a:r>
          </a:p>
          <a:p>
            <a:pPr lvl="1" eaLnBrk="1" hangingPunct="1">
              <a:defRPr/>
            </a:pPr>
            <a:r>
              <a:rPr lang="en-GB" sz="2000" dirty="0"/>
              <a:t>To understand how to developing and testing a product</a:t>
            </a:r>
          </a:p>
          <a:p>
            <a:pPr marL="457200" lvl="1" indent="0" eaLnBrk="1" hangingPunct="1">
              <a:buNone/>
              <a:defRPr/>
            </a:pPr>
            <a:endParaRPr lang="en-GB" sz="2000" dirty="0"/>
          </a:p>
          <a:p>
            <a:pPr eaLnBrk="1" hangingPunct="1">
              <a:defRPr/>
            </a:pPr>
            <a:r>
              <a:rPr lang="en-GB" sz="2000" b="1" dirty="0"/>
              <a:t>Objectives</a:t>
            </a:r>
            <a:r>
              <a:rPr lang="en-US" sz="2000" b="1" dirty="0"/>
              <a:t>:</a:t>
            </a:r>
          </a:p>
          <a:p>
            <a:pPr lvl="1" eaLnBrk="1" hangingPunct="1">
              <a:defRPr/>
            </a:pPr>
            <a:r>
              <a:rPr lang="en-GB" sz="2000" dirty="0"/>
              <a:t>To be able to identify how to develop and test a product including:</a:t>
            </a:r>
            <a:endParaRPr lang="en-GB" sz="1800" dirty="0"/>
          </a:p>
          <a:p>
            <a:pPr lvl="2" eaLnBrk="1" hangingPunct="1"/>
            <a:r>
              <a:rPr lang="en-GB" altLang="en-US" sz="1800" dirty="0"/>
              <a:t>Creating a prototype.</a:t>
            </a:r>
          </a:p>
          <a:p>
            <a:pPr lvl="2" eaLnBrk="1" hangingPunct="1"/>
            <a:r>
              <a:rPr lang="en-GB" altLang="en-US" sz="1800" dirty="0"/>
              <a:t>Plan and implement appropriate testing, including:</a:t>
            </a:r>
          </a:p>
          <a:p>
            <a:pPr lvl="3" eaLnBrk="1" hangingPunct="1"/>
            <a:r>
              <a:rPr lang="en-GB" altLang="en-US" sz="1800" dirty="0"/>
              <a:t>Module testing</a:t>
            </a:r>
          </a:p>
          <a:p>
            <a:pPr lvl="3" eaLnBrk="1" hangingPunct="1"/>
            <a:r>
              <a:rPr lang="en-GB" altLang="en-US" sz="1800" dirty="0"/>
              <a:t>System integration testing.</a:t>
            </a:r>
          </a:p>
          <a:p>
            <a:pPr lvl="3" eaLnBrk="1" hangingPunct="1"/>
            <a:r>
              <a:rPr lang="en-GB" altLang="en-US" sz="1800" dirty="0"/>
              <a:t>Automated testing</a:t>
            </a:r>
          </a:p>
          <a:p>
            <a:pPr lvl="3" eaLnBrk="1" hangingPunct="1"/>
            <a:r>
              <a:rPr lang="en-GB" altLang="en-US" sz="1800" dirty="0"/>
              <a:t>User testing and feedback.</a:t>
            </a:r>
            <a:endParaRPr lang="en-US" altLang="en-US" sz="1800" dirty="0"/>
          </a:p>
          <a:p>
            <a:pPr marL="914400" lvl="2" indent="0" eaLnBrk="1" hangingPunct="1">
              <a:buNone/>
            </a:pPr>
            <a:endParaRPr lang="en-GB"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77DB-38D2-9FC4-6CAC-236611900968}"/>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393FE4D-16A2-7E4F-BDE1-C85BC37A38EB}"/>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Product Development and Testing</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2A622E7B-F09A-943E-6D60-DADA61E89A47}"/>
              </a:ext>
            </a:extLst>
          </p:cNvPr>
          <p:cNvSpPr>
            <a:spLocks noGrp="1" noChangeArrowheads="1"/>
          </p:cNvSpPr>
          <p:nvPr>
            <p:ph idx="1"/>
          </p:nvPr>
        </p:nvSpPr>
        <p:spPr>
          <a:xfrm>
            <a:off x="186786" y="1772816"/>
            <a:ext cx="8705693" cy="1512168"/>
          </a:xfrm>
        </p:spPr>
        <p:txBody>
          <a:bodyPr/>
          <a:lstStyle/>
          <a:p>
            <a:r>
              <a:rPr lang="en-GB" sz="1600" dirty="0"/>
              <a:t>Product development and testing is the structured process of turning ideas into functional, high-quality products. </a:t>
            </a:r>
          </a:p>
          <a:p>
            <a:r>
              <a:rPr lang="en-GB" sz="1600" dirty="0"/>
              <a:t>It includes designing, prototyping, coding, and conducting multiple layers of testing to ensure the product meets both functional requirements and user expectations. </a:t>
            </a:r>
          </a:p>
          <a:p>
            <a:r>
              <a:rPr lang="en-GB" sz="1600" dirty="0"/>
              <a:t>The process is iterative and often incorporates continuous feedback for refinement.</a:t>
            </a:r>
            <a:endParaRPr lang="en-GB" altLang="en-US" sz="1600" dirty="0"/>
          </a:p>
        </p:txBody>
      </p:sp>
      <p:sp>
        <p:nvSpPr>
          <p:cNvPr id="2" name="Content Placeholder 2">
            <a:extLst>
              <a:ext uri="{FF2B5EF4-FFF2-40B4-BE49-F238E27FC236}">
                <a16:creationId xmlns:a16="http://schemas.microsoft.com/office/drawing/2014/main" id="{9F959247-7851-9DF5-9E16-6717D7C6EF4C}"/>
              </a:ext>
            </a:extLst>
          </p:cNvPr>
          <p:cNvSpPr txBox="1">
            <a:spLocks noChangeArrowheads="1"/>
          </p:cNvSpPr>
          <p:nvPr/>
        </p:nvSpPr>
        <p:spPr bwMode="auto">
          <a:xfrm>
            <a:off x="5006891" y="3573017"/>
            <a:ext cx="3978424" cy="2453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600" dirty="0"/>
              <a:t>Agile tools (Scrum, Kanban boards)</a:t>
            </a:r>
          </a:p>
          <a:p>
            <a:pPr lvl="1"/>
            <a:r>
              <a:rPr lang="en-GB" sz="1600" dirty="0"/>
              <a:t>Git/GitHub for version control</a:t>
            </a:r>
          </a:p>
          <a:p>
            <a:pPr lvl="1"/>
            <a:r>
              <a:rPr lang="en-GB" sz="1600" dirty="0"/>
              <a:t>CI/CD for testing automation</a:t>
            </a:r>
          </a:p>
          <a:p>
            <a:pPr lvl="1"/>
            <a:r>
              <a:rPr lang="en-GB" sz="1600" dirty="0"/>
              <a:t>Trello/Jira (project tracking)</a:t>
            </a:r>
          </a:p>
          <a:p>
            <a:pPr lvl="1"/>
            <a:r>
              <a:rPr lang="en-GB" sz="1600" dirty="0"/>
              <a:t>Visual Studio Code, IntelliJ, etc. (IDE)</a:t>
            </a:r>
          </a:p>
          <a:p>
            <a:pPr marL="542925" lvl="1" indent="-271463"/>
            <a:endParaRPr lang="en-GB" sz="1800" dirty="0"/>
          </a:p>
        </p:txBody>
      </p:sp>
      <p:sp>
        <p:nvSpPr>
          <p:cNvPr id="3" name="Content Placeholder 2">
            <a:extLst>
              <a:ext uri="{FF2B5EF4-FFF2-40B4-BE49-F238E27FC236}">
                <a16:creationId xmlns:a16="http://schemas.microsoft.com/office/drawing/2014/main" id="{8439D122-A5F7-E164-DFB9-BB6353F77CCB}"/>
              </a:ext>
            </a:extLst>
          </p:cNvPr>
          <p:cNvSpPr txBox="1">
            <a:spLocks noChangeArrowheads="1"/>
          </p:cNvSpPr>
          <p:nvPr/>
        </p:nvSpPr>
        <p:spPr bwMode="auto">
          <a:xfrm>
            <a:off x="179512" y="3429000"/>
            <a:ext cx="4806552" cy="2453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a:t>
            </a:r>
          </a:p>
          <a:p>
            <a:pPr marL="542925" lvl="1" indent="-357188"/>
            <a:r>
              <a:rPr lang="en-GB" sz="1600" dirty="0"/>
              <a:t>To ensure the product is </a:t>
            </a:r>
            <a:r>
              <a:rPr lang="en-GB" sz="1600" b="1" dirty="0"/>
              <a:t>fit for purpose</a:t>
            </a:r>
            <a:r>
              <a:rPr lang="en-GB" sz="1600" dirty="0"/>
              <a:t>, </a:t>
            </a:r>
            <a:r>
              <a:rPr lang="en-GB" sz="1600" b="1" dirty="0"/>
              <a:t>reliable</a:t>
            </a:r>
            <a:r>
              <a:rPr lang="en-GB" sz="1600" dirty="0"/>
              <a:t>, and </a:t>
            </a:r>
            <a:r>
              <a:rPr lang="en-GB" sz="1600" b="1" dirty="0"/>
              <a:t>user-friendly</a:t>
            </a:r>
            <a:r>
              <a:rPr lang="en-GB" sz="1600" dirty="0"/>
              <a:t>.</a:t>
            </a:r>
          </a:p>
          <a:p>
            <a:pPr marL="542925" lvl="1" indent="-357188"/>
            <a:r>
              <a:rPr lang="en-GB" sz="1600" dirty="0"/>
              <a:t>To identify and fix issues early in the development cycle, reducing costs and time-to-market.</a:t>
            </a:r>
          </a:p>
          <a:p>
            <a:pPr marL="542925" lvl="1" indent="-357188"/>
            <a:r>
              <a:rPr lang="en-GB" sz="1600" dirty="0"/>
              <a:t>To validate that all system components work individually (unit testing), collectively (integration testing), and in real-world usage scenarios (user testing).</a:t>
            </a:r>
          </a:p>
          <a:p>
            <a:pPr marL="542925" lvl="1" indent="-357188"/>
            <a:r>
              <a:rPr lang="en-GB" sz="1600" dirty="0"/>
              <a:t>To enable continuous improvement through automated testing and user feedback loops.</a:t>
            </a:r>
          </a:p>
        </p:txBody>
      </p:sp>
    </p:spTree>
    <p:extLst>
      <p:ext uri="{BB962C8B-B14F-4D97-AF65-F5344CB8AC3E}">
        <p14:creationId xmlns:p14="http://schemas.microsoft.com/office/powerpoint/2010/main" val="421736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D6B7F-949A-2D92-433F-A51504B87833}"/>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804564B4-5A6F-CF52-5C0E-6A1EFBBBBFC8}"/>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Creating a Prototype</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754E45BD-D2C9-8751-9E3A-28E887ADF3C8}"/>
              </a:ext>
            </a:extLst>
          </p:cNvPr>
          <p:cNvSpPr>
            <a:spLocks noGrp="1" noChangeArrowheads="1"/>
          </p:cNvSpPr>
          <p:nvPr>
            <p:ph idx="1"/>
          </p:nvPr>
        </p:nvSpPr>
        <p:spPr>
          <a:xfrm>
            <a:off x="289352" y="1981290"/>
            <a:ext cx="8351838" cy="504056"/>
          </a:xfrm>
        </p:spPr>
        <p:txBody>
          <a:bodyPr/>
          <a:lstStyle/>
          <a:p>
            <a:r>
              <a:rPr lang="en-GB" sz="1800" dirty="0"/>
              <a:t>Prototyping is the process of building a preliminary model of a product to validate ideas, design, and functionality before full-scale development.</a:t>
            </a:r>
          </a:p>
        </p:txBody>
      </p:sp>
      <p:sp>
        <p:nvSpPr>
          <p:cNvPr id="2" name="Content Placeholder 2">
            <a:extLst>
              <a:ext uri="{FF2B5EF4-FFF2-40B4-BE49-F238E27FC236}">
                <a16:creationId xmlns:a16="http://schemas.microsoft.com/office/drawing/2014/main" id="{D6C3CC10-2649-F05F-3FE6-533EA8723A8C}"/>
              </a:ext>
            </a:extLst>
          </p:cNvPr>
          <p:cNvSpPr txBox="1">
            <a:spLocks noChangeArrowheads="1"/>
          </p:cNvSpPr>
          <p:nvPr/>
        </p:nvSpPr>
        <p:spPr bwMode="auto">
          <a:xfrm>
            <a:off x="283891" y="4474185"/>
            <a:ext cx="5080196"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Figma, Adobe XD (UI/UX prototypes)</a:t>
            </a:r>
          </a:p>
          <a:p>
            <a:pPr lvl="1"/>
            <a:r>
              <a:rPr lang="en-GB" sz="1800" dirty="0"/>
              <a:t>Sketch, Balsamiq (wireframes)</a:t>
            </a:r>
          </a:p>
          <a:p>
            <a:pPr lvl="1"/>
            <a:r>
              <a:rPr lang="en-GB" sz="1800" dirty="0"/>
              <a:t>HTML/CSS/JavaScript (interactive web prototypes)</a:t>
            </a:r>
          </a:p>
          <a:p>
            <a:pPr marL="542925" lvl="1" indent="-271463"/>
            <a:endParaRPr lang="en-GB" sz="1800" dirty="0"/>
          </a:p>
        </p:txBody>
      </p:sp>
      <p:sp>
        <p:nvSpPr>
          <p:cNvPr id="3" name="Content Placeholder 2">
            <a:extLst>
              <a:ext uri="{FF2B5EF4-FFF2-40B4-BE49-F238E27FC236}">
                <a16:creationId xmlns:a16="http://schemas.microsoft.com/office/drawing/2014/main" id="{2B23938B-3DA5-14ED-E571-26F30CD9E9FC}"/>
              </a:ext>
            </a:extLst>
          </p:cNvPr>
          <p:cNvSpPr txBox="1">
            <a:spLocks noChangeArrowheads="1"/>
          </p:cNvSpPr>
          <p:nvPr/>
        </p:nvSpPr>
        <p:spPr bwMode="auto">
          <a:xfrm>
            <a:off x="289352" y="3123426"/>
            <a:ext cx="835183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explore and validate product concepts quickly and cheaply, allowing teams to gather early feedback.</a:t>
            </a:r>
          </a:p>
          <a:p>
            <a:endParaRPr lang="en-GB" sz="1800" dirty="0"/>
          </a:p>
        </p:txBody>
      </p:sp>
      <p:pic>
        <p:nvPicPr>
          <p:cNvPr id="3074" name="Picture 2" descr="Software Prototype - The First Step in Custom Software Development - iTech  US">
            <a:extLst>
              <a:ext uri="{FF2B5EF4-FFF2-40B4-BE49-F238E27FC236}">
                <a16:creationId xmlns:a16="http://schemas.microsoft.com/office/drawing/2014/main" id="{87FBF67D-9FCB-CF94-EA84-970DF7049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7" y="3957058"/>
            <a:ext cx="3408437" cy="2272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5381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28E5D-29C5-AF51-45F4-448E96E1101B}"/>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0EC048E1-CF0C-5343-4F83-FDFEAC331C6F}"/>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Planning the Testing Phases</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A320CDEF-3C08-8A8A-679A-C7EF6EB2513D}"/>
              </a:ext>
            </a:extLst>
          </p:cNvPr>
          <p:cNvSpPr>
            <a:spLocks noGrp="1" noChangeArrowheads="1"/>
          </p:cNvSpPr>
          <p:nvPr>
            <p:ph idx="1"/>
          </p:nvPr>
        </p:nvSpPr>
        <p:spPr>
          <a:xfrm>
            <a:off x="289352" y="1981290"/>
            <a:ext cx="8351838" cy="504056"/>
          </a:xfrm>
        </p:spPr>
        <p:txBody>
          <a:bodyPr/>
          <a:lstStyle/>
          <a:p>
            <a:r>
              <a:rPr lang="en-GB" sz="1800" dirty="0"/>
              <a:t>Effective testing begins with a plan that outlines the scope, strategy, resources, and schedule for testing activities.</a:t>
            </a:r>
          </a:p>
        </p:txBody>
      </p:sp>
      <p:sp>
        <p:nvSpPr>
          <p:cNvPr id="2" name="Content Placeholder 2">
            <a:extLst>
              <a:ext uri="{FF2B5EF4-FFF2-40B4-BE49-F238E27FC236}">
                <a16:creationId xmlns:a16="http://schemas.microsoft.com/office/drawing/2014/main" id="{09797D05-A086-5D06-03C4-2B438C5403CA}"/>
              </a:ext>
            </a:extLst>
          </p:cNvPr>
          <p:cNvSpPr txBox="1">
            <a:spLocks noChangeArrowheads="1"/>
          </p:cNvSpPr>
          <p:nvPr/>
        </p:nvSpPr>
        <p:spPr bwMode="auto">
          <a:xfrm>
            <a:off x="289352" y="4236170"/>
            <a:ext cx="3562567"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TestRail (test case management)</a:t>
            </a:r>
          </a:p>
          <a:p>
            <a:pPr lvl="1"/>
            <a:r>
              <a:rPr lang="en-GB" sz="1800" dirty="0"/>
              <a:t>Confluence (test plan documentation)</a:t>
            </a:r>
          </a:p>
          <a:p>
            <a:pPr lvl="1"/>
            <a:r>
              <a:rPr lang="en-GB" sz="1800" dirty="0"/>
              <a:t>Excel/Google Sheets (simple test tracking)</a:t>
            </a:r>
          </a:p>
          <a:p>
            <a:pPr marL="542925" lvl="1" indent="-271463"/>
            <a:endParaRPr lang="en-GB" sz="1800" dirty="0"/>
          </a:p>
        </p:txBody>
      </p:sp>
      <p:sp>
        <p:nvSpPr>
          <p:cNvPr id="3" name="Content Placeholder 2">
            <a:extLst>
              <a:ext uri="{FF2B5EF4-FFF2-40B4-BE49-F238E27FC236}">
                <a16:creationId xmlns:a16="http://schemas.microsoft.com/office/drawing/2014/main" id="{B8B2A344-53FC-E0C5-4368-6E427376FA7E}"/>
              </a:ext>
            </a:extLst>
          </p:cNvPr>
          <p:cNvSpPr txBox="1">
            <a:spLocks noChangeArrowheads="1"/>
          </p:cNvSpPr>
          <p:nvPr/>
        </p:nvSpPr>
        <p:spPr bwMode="auto">
          <a:xfrm>
            <a:off x="289352" y="3123426"/>
            <a:ext cx="835183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ensure all components of the product are tested systematically, reducing risk and ensuring functionality.</a:t>
            </a:r>
          </a:p>
          <a:p>
            <a:endParaRPr lang="en-GB" sz="1800" dirty="0"/>
          </a:p>
        </p:txBody>
      </p:sp>
      <p:pic>
        <p:nvPicPr>
          <p:cNvPr id="2051" name="Picture 3" descr="How to Create a Software Test Plan - The Genius Blog">
            <a:extLst>
              <a:ext uri="{FF2B5EF4-FFF2-40B4-BE49-F238E27FC236}">
                <a16:creationId xmlns:a16="http://schemas.microsoft.com/office/drawing/2014/main" id="{67FDCD55-986D-6043-A2CA-3A50081887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7123" y="4812568"/>
            <a:ext cx="2680912" cy="1599239"/>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A Complete Guide To Web Application Testing">
            <a:extLst>
              <a:ext uri="{FF2B5EF4-FFF2-40B4-BE49-F238E27FC236}">
                <a16:creationId xmlns:a16="http://schemas.microsoft.com/office/drawing/2014/main" id="{23BF6170-F828-D95F-6DE1-CBEB244DC8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1880" y="3861048"/>
            <a:ext cx="2680912" cy="1633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2619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10B68-3858-13F9-710E-0935F29DC719}"/>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C2470898-11D6-2583-F98A-99FCC8363F83}"/>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Module Testing (Unit Testing)</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0C37AC97-AE64-6AF6-40F0-10714CA74E2C}"/>
              </a:ext>
            </a:extLst>
          </p:cNvPr>
          <p:cNvSpPr>
            <a:spLocks noGrp="1" noChangeArrowheads="1"/>
          </p:cNvSpPr>
          <p:nvPr>
            <p:ph idx="1"/>
          </p:nvPr>
        </p:nvSpPr>
        <p:spPr>
          <a:xfrm>
            <a:off x="289352" y="1981290"/>
            <a:ext cx="8351838" cy="504056"/>
          </a:xfrm>
        </p:spPr>
        <p:txBody>
          <a:bodyPr/>
          <a:lstStyle/>
          <a:p>
            <a:r>
              <a:rPr lang="en-GB" sz="1800" dirty="0"/>
              <a:t>Testing individual components or modules in isolation to verify that each works correctly.</a:t>
            </a:r>
          </a:p>
        </p:txBody>
      </p:sp>
      <p:sp>
        <p:nvSpPr>
          <p:cNvPr id="2" name="Content Placeholder 2">
            <a:extLst>
              <a:ext uri="{FF2B5EF4-FFF2-40B4-BE49-F238E27FC236}">
                <a16:creationId xmlns:a16="http://schemas.microsoft.com/office/drawing/2014/main" id="{3F53FAD1-A7C3-14FD-5BB8-2E9D31FCFB27}"/>
              </a:ext>
            </a:extLst>
          </p:cNvPr>
          <p:cNvSpPr txBox="1">
            <a:spLocks noChangeArrowheads="1"/>
          </p:cNvSpPr>
          <p:nvPr/>
        </p:nvSpPr>
        <p:spPr bwMode="auto">
          <a:xfrm>
            <a:off x="289352" y="4797152"/>
            <a:ext cx="5976119"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JUnit (Java)</a:t>
            </a:r>
          </a:p>
          <a:p>
            <a:pPr lvl="1"/>
            <a:r>
              <a:rPr lang="en-GB" sz="1800" dirty="0" err="1"/>
              <a:t>NUnit</a:t>
            </a:r>
            <a:r>
              <a:rPr lang="en-GB" sz="1800" dirty="0"/>
              <a:t> (C#)</a:t>
            </a:r>
          </a:p>
          <a:p>
            <a:pPr lvl="1"/>
            <a:r>
              <a:rPr lang="en-GB" sz="1800" dirty="0" err="1"/>
              <a:t>PyTest</a:t>
            </a:r>
            <a:r>
              <a:rPr lang="en-GB" sz="1800" dirty="0"/>
              <a:t> (Python)</a:t>
            </a:r>
          </a:p>
          <a:p>
            <a:pPr lvl="1"/>
            <a:r>
              <a:rPr lang="en-GB" sz="1800" dirty="0"/>
              <a:t>Mocha/Chai (JavaScript)</a:t>
            </a:r>
          </a:p>
          <a:p>
            <a:pPr marL="542925" lvl="1" indent="-271463"/>
            <a:endParaRPr lang="en-GB" sz="1800" dirty="0"/>
          </a:p>
        </p:txBody>
      </p:sp>
      <p:sp>
        <p:nvSpPr>
          <p:cNvPr id="3" name="Content Placeholder 2">
            <a:extLst>
              <a:ext uri="{FF2B5EF4-FFF2-40B4-BE49-F238E27FC236}">
                <a16:creationId xmlns:a16="http://schemas.microsoft.com/office/drawing/2014/main" id="{F4B4A1BA-8433-5806-825B-C52102EBEAFF}"/>
              </a:ext>
            </a:extLst>
          </p:cNvPr>
          <p:cNvSpPr txBox="1">
            <a:spLocks noChangeArrowheads="1"/>
          </p:cNvSpPr>
          <p:nvPr/>
        </p:nvSpPr>
        <p:spPr bwMode="auto">
          <a:xfrm>
            <a:off x="289352" y="3123426"/>
            <a:ext cx="835183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catch bugs early by testing small units of code during development.</a:t>
            </a:r>
          </a:p>
        </p:txBody>
      </p:sp>
      <p:pic>
        <p:nvPicPr>
          <p:cNvPr id="7170" name="Picture 2" descr="Module Testing">
            <a:extLst>
              <a:ext uri="{FF2B5EF4-FFF2-40B4-BE49-F238E27FC236}">
                <a16:creationId xmlns:a16="http://schemas.microsoft.com/office/drawing/2014/main" id="{5773F451-7037-7186-A363-760853CB6E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1516" y="3776424"/>
            <a:ext cx="2808312" cy="1683527"/>
          </a:xfrm>
          <a:prstGeom prst="rect">
            <a:avLst/>
          </a:prstGeom>
          <a:noFill/>
          <a:extLst>
            <a:ext uri="{909E8E84-426E-40DD-AFC4-6F175D3DCCD1}">
              <a14:hiddenFill xmlns:a14="http://schemas.microsoft.com/office/drawing/2010/main">
                <a:solidFill>
                  <a:srgbClr val="FFFFFF"/>
                </a:solidFill>
              </a14:hiddenFill>
            </a:ext>
          </a:extLst>
        </p:spPr>
      </p:pic>
      <p:pic>
        <p:nvPicPr>
          <p:cNvPr id="4" name="Online Media 3" title="C# Unit Tests Using NUnit (.NET) (Beginner)">
            <a:hlinkClick r:id="" action="ppaction://media"/>
            <a:extLst>
              <a:ext uri="{FF2B5EF4-FFF2-40B4-BE49-F238E27FC236}">
                <a16:creationId xmlns:a16="http://schemas.microsoft.com/office/drawing/2014/main" id="{0C6E4B65-68D1-6454-36D7-52194D2C8D6A}"/>
              </a:ext>
            </a:extLst>
          </p:cNvPr>
          <p:cNvPicPr>
            <a:picLocks noRot="1" noChangeAspect="1"/>
          </p:cNvPicPr>
          <p:nvPr>
            <a:videoFile r:link="rId1"/>
          </p:nvPr>
        </p:nvPicPr>
        <p:blipFill>
          <a:blip r:embed="rId5"/>
          <a:stretch>
            <a:fillRect/>
          </a:stretch>
        </p:blipFill>
        <p:spPr>
          <a:xfrm>
            <a:off x="5434776" y="4493956"/>
            <a:ext cx="3419872" cy="1931990"/>
          </a:xfrm>
          <a:prstGeom prst="rect">
            <a:avLst/>
          </a:prstGeom>
        </p:spPr>
      </p:pic>
    </p:spTree>
    <p:extLst>
      <p:ext uri="{BB962C8B-B14F-4D97-AF65-F5344CB8AC3E}">
        <p14:creationId xmlns:p14="http://schemas.microsoft.com/office/powerpoint/2010/main" val="378521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EF63F-5296-405E-C707-EF5493BDF3A8}"/>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F2372E9A-2527-B0D6-1E49-98364883873A}"/>
              </a:ext>
            </a:extLst>
          </p:cNvPr>
          <p:cNvSpPr>
            <a:spLocks noGrp="1" noChangeArrowheads="1"/>
          </p:cNvSpPr>
          <p:nvPr>
            <p:ph type="title"/>
          </p:nvPr>
        </p:nvSpPr>
        <p:spPr>
          <a:xfrm>
            <a:off x="1475656" y="446193"/>
            <a:ext cx="6552728" cy="939800"/>
          </a:xfrm>
        </p:spPr>
        <p:txBody>
          <a:bodyPr/>
          <a:lstStyle/>
          <a:p>
            <a:r>
              <a:rPr lang="en-GB" sz="3600" b="1" dirty="0">
                <a:solidFill>
                  <a:srgbClr val="0070C0"/>
                </a:solidFill>
              </a:rPr>
              <a:t>System Integration Testing</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9DF06A2B-9E01-8741-BA12-5EB57B1584D7}"/>
              </a:ext>
            </a:extLst>
          </p:cNvPr>
          <p:cNvSpPr>
            <a:spLocks noGrp="1" noChangeArrowheads="1"/>
          </p:cNvSpPr>
          <p:nvPr>
            <p:ph idx="1"/>
          </p:nvPr>
        </p:nvSpPr>
        <p:spPr>
          <a:xfrm>
            <a:off x="289352" y="1981290"/>
            <a:ext cx="6442888" cy="504056"/>
          </a:xfrm>
        </p:spPr>
        <p:txBody>
          <a:bodyPr/>
          <a:lstStyle/>
          <a:p>
            <a:r>
              <a:rPr lang="en-GB" sz="1800" dirty="0"/>
              <a:t>Tests how modules interact together as a complete system, validating data flow and integration between services.</a:t>
            </a:r>
          </a:p>
        </p:txBody>
      </p:sp>
      <p:sp>
        <p:nvSpPr>
          <p:cNvPr id="2" name="Content Placeholder 2">
            <a:extLst>
              <a:ext uri="{FF2B5EF4-FFF2-40B4-BE49-F238E27FC236}">
                <a16:creationId xmlns:a16="http://schemas.microsoft.com/office/drawing/2014/main" id="{CE2DBE77-BB19-55EF-9913-A6D567898899}"/>
              </a:ext>
            </a:extLst>
          </p:cNvPr>
          <p:cNvSpPr txBox="1">
            <a:spLocks noChangeArrowheads="1"/>
          </p:cNvSpPr>
          <p:nvPr/>
        </p:nvSpPr>
        <p:spPr bwMode="auto">
          <a:xfrm>
            <a:off x="5252184" y="5157192"/>
            <a:ext cx="4066624" cy="144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800" dirty="0"/>
              <a:t>Postman (API testing)</a:t>
            </a:r>
          </a:p>
          <a:p>
            <a:pPr lvl="1"/>
            <a:r>
              <a:rPr lang="en-GB" sz="1800" dirty="0"/>
              <a:t>Selenium (web app testing)</a:t>
            </a:r>
          </a:p>
          <a:p>
            <a:pPr lvl="1"/>
            <a:r>
              <a:rPr lang="en-GB" sz="1800" dirty="0"/>
              <a:t>SoapUI (web services)</a:t>
            </a:r>
          </a:p>
          <a:p>
            <a:pPr marL="542925" lvl="1" indent="-271463"/>
            <a:endParaRPr lang="en-GB" sz="1800" dirty="0"/>
          </a:p>
        </p:txBody>
      </p:sp>
      <p:sp>
        <p:nvSpPr>
          <p:cNvPr id="3" name="Content Placeholder 2">
            <a:extLst>
              <a:ext uri="{FF2B5EF4-FFF2-40B4-BE49-F238E27FC236}">
                <a16:creationId xmlns:a16="http://schemas.microsoft.com/office/drawing/2014/main" id="{2B4856EA-8C23-2558-09E7-B6800E8EE79C}"/>
              </a:ext>
            </a:extLst>
          </p:cNvPr>
          <p:cNvSpPr txBox="1">
            <a:spLocks noChangeArrowheads="1"/>
          </p:cNvSpPr>
          <p:nvPr/>
        </p:nvSpPr>
        <p:spPr bwMode="auto">
          <a:xfrm>
            <a:off x="289352" y="3123426"/>
            <a:ext cx="835183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identify interface defects and communication failures between modules and subsystems.</a:t>
            </a:r>
          </a:p>
        </p:txBody>
      </p:sp>
      <p:pic>
        <p:nvPicPr>
          <p:cNvPr id="5" name="Picture 4">
            <a:extLst>
              <a:ext uri="{FF2B5EF4-FFF2-40B4-BE49-F238E27FC236}">
                <a16:creationId xmlns:a16="http://schemas.microsoft.com/office/drawing/2014/main" id="{D99604CE-5DE8-C9AE-B957-A8D93174BA5A}"/>
              </a:ext>
            </a:extLst>
          </p:cNvPr>
          <p:cNvPicPr>
            <a:picLocks noChangeAspect="1"/>
          </p:cNvPicPr>
          <p:nvPr/>
        </p:nvPicPr>
        <p:blipFill>
          <a:blip r:embed="rId3"/>
          <a:stretch>
            <a:fillRect/>
          </a:stretch>
        </p:blipFill>
        <p:spPr>
          <a:xfrm>
            <a:off x="7181911" y="1815175"/>
            <a:ext cx="1327126" cy="1105938"/>
          </a:xfrm>
          <a:prstGeom prst="rect">
            <a:avLst/>
          </a:prstGeom>
        </p:spPr>
      </p:pic>
      <p:pic>
        <p:nvPicPr>
          <p:cNvPr id="6146" name="Picture 2" descr="Test Pyramid Hierarchy">
            <a:extLst>
              <a:ext uri="{FF2B5EF4-FFF2-40B4-BE49-F238E27FC236}">
                <a16:creationId xmlns:a16="http://schemas.microsoft.com/office/drawing/2014/main" id="{4433F1CC-CD45-D7DE-9860-535564F14E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0420" y="3565627"/>
            <a:ext cx="2017244" cy="131430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What is Integration Testing? | How to perform integration testing? | Edureka">
            <a:extLst>
              <a:ext uri="{FF2B5EF4-FFF2-40B4-BE49-F238E27FC236}">
                <a16:creationId xmlns:a16="http://schemas.microsoft.com/office/drawing/2014/main" id="{1816D6C0-7D9F-EB0F-4A71-FE311E35DF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6464" y="3776424"/>
            <a:ext cx="2082552" cy="1033388"/>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8105E55A-DFDC-AC90-DF2F-F82C703F0185}"/>
              </a:ext>
            </a:extLst>
          </p:cNvPr>
          <p:cNvSpPr txBox="1">
            <a:spLocks noChangeArrowheads="1"/>
          </p:cNvSpPr>
          <p:nvPr/>
        </p:nvSpPr>
        <p:spPr bwMode="auto">
          <a:xfrm>
            <a:off x="284390" y="4429422"/>
            <a:ext cx="4967794" cy="194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Scenarios:</a:t>
            </a:r>
            <a:r>
              <a:rPr lang="en-GB" sz="1800" dirty="0"/>
              <a:t> </a:t>
            </a:r>
          </a:p>
          <a:p>
            <a:pPr marL="542925" lvl="1" indent="-271463"/>
            <a:r>
              <a:rPr lang="en-GB" sz="1600" dirty="0"/>
              <a:t>API Integration Between Frontend and Backend</a:t>
            </a:r>
          </a:p>
          <a:p>
            <a:pPr marL="542925" lvl="1" indent="-271463"/>
            <a:r>
              <a:rPr lang="en-GB" sz="1600" dirty="0"/>
              <a:t>Database and Backend Communication</a:t>
            </a:r>
          </a:p>
          <a:p>
            <a:pPr marL="542925" lvl="1" indent="-271463"/>
            <a:r>
              <a:rPr lang="en-GB" sz="1600" dirty="0"/>
              <a:t>Third-Party Service Integrations</a:t>
            </a:r>
          </a:p>
          <a:p>
            <a:pPr marL="542925" lvl="1" indent="-271463"/>
            <a:r>
              <a:rPr lang="en-GB" sz="1600" dirty="0"/>
              <a:t>Microservices Communication</a:t>
            </a:r>
          </a:p>
          <a:p>
            <a:pPr marL="542925" lvl="1" indent="-271463"/>
            <a:r>
              <a:rPr lang="en-GB" sz="1600" dirty="0"/>
              <a:t>Authentication &amp; Authorization Workflows</a:t>
            </a:r>
          </a:p>
          <a:p>
            <a:endParaRPr lang="en-GB" sz="1600" dirty="0"/>
          </a:p>
        </p:txBody>
      </p:sp>
    </p:spTree>
    <p:extLst>
      <p:ext uri="{BB962C8B-B14F-4D97-AF65-F5344CB8AC3E}">
        <p14:creationId xmlns:p14="http://schemas.microsoft.com/office/powerpoint/2010/main" val="3917872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334F2-EA3C-7416-802C-0C95702E2D24}"/>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A5D6428C-CA9F-FB1C-B070-A11C12E3D5DD}"/>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Automated Testing</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BFDAE3C3-19A8-77F2-FFBA-0B427384695D}"/>
              </a:ext>
            </a:extLst>
          </p:cNvPr>
          <p:cNvSpPr>
            <a:spLocks noGrp="1" noChangeArrowheads="1"/>
          </p:cNvSpPr>
          <p:nvPr>
            <p:ph idx="1"/>
          </p:nvPr>
        </p:nvSpPr>
        <p:spPr>
          <a:xfrm>
            <a:off x="289352" y="1981290"/>
            <a:ext cx="8351838" cy="504056"/>
          </a:xfrm>
        </p:spPr>
        <p:txBody>
          <a:bodyPr/>
          <a:lstStyle/>
          <a:p>
            <a:r>
              <a:rPr lang="en-GB" sz="1800" dirty="0"/>
              <a:t>Automated testing involves writing scripts to automatically run tests, reducing manual effort and improving test coverage.</a:t>
            </a:r>
          </a:p>
        </p:txBody>
      </p:sp>
      <p:sp>
        <p:nvSpPr>
          <p:cNvPr id="2" name="Content Placeholder 2">
            <a:extLst>
              <a:ext uri="{FF2B5EF4-FFF2-40B4-BE49-F238E27FC236}">
                <a16:creationId xmlns:a16="http://schemas.microsoft.com/office/drawing/2014/main" id="{B94F6F65-CFDA-4F9B-9B52-19445E8C746E}"/>
              </a:ext>
            </a:extLst>
          </p:cNvPr>
          <p:cNvSpPr txBox="1">
            <a:spLocks noChangeArrowheads="1"/>
          </p:cNvSpPr>
          <p:nvPr/>
        </p:nvSpPr>
        <p:spPr bwMode="auto">
          <a:xfrm>
            <a:off x="4857761" y="4985792"/>
            <a:ext cx="4022607" cy="1426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600" dirty="0"/>
              <a:t>Selenium, Cypress (UI automation)</a:t>
            </a:r>
          </a:p>
          <a:p>
            <a:pPr lvl="1"/>
            <a:r>
              <a:rPr lang="en-GB" sz="1600" dirty="0"/>
              <a:t>Jenkins, GitHub Actions (CI/CD pipelines)</a:t>
            </a:r>
          </a:p>
          <a:p>
            <a:pPr lvl="1"/>
            <a:r>
              <a:rPr lang="en-GB" sz="1600" dirty="0"/>
              <a:t>TestNG, JUnit (test frameworks)</a:t>
            </a:r>
          </a:p>
          <a:p>
            <a:pPr marL="542925" lvl="1" indent="-271463"/>
            <a:endParaRPr lang="en-GB" sz="1800" dirty="0"/>
          </a:p>
        </p:txBody>
      </p:sp>
      <p:sp>
        <p:nvSpPr>
          <p:cNvPr id="3" name="Content Placeholder 2">
            <a:extLst>
              <a:ext uri="{FF2B5EF4-FFF2-40B4-BE49-F238E27FC236}">
                <a16:creationId xmlns:a16="http://schemas.microsoft.com/office/drawing/2014/main" id="{4B641508-FAD2-1DDB-3436-61FE6B843F76}"/>
              </a:ext>
            </a:extLst>
          </p:cNvPr>
          <p:cNvSpPr txBox="1">
            <a:spLocks noChangeArrowheads="1"/>
          </p:cNvSpPr>
          <p:nvPr/>
        </p:nvSpPr>
        <p:spPr bwMode="auto">
          <a:xfrm>
            <a:off x="289352" y="2859393"/>
            <a:ext cx="8351838"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increase efficiency, consistency, and speed in the testing process.</a:t>
            </a:r>
          </a:p>
        </p:txBody>
      </p:sp>
      <p:sp>
        <p:nvSpPr>
          <p:cNvPr id="4" name="Content Placeholder 2">
            <a:extLst>
              <a:ext uri="{FF2B5EF4-FFF2-40B4-BE49-F238E27FC236}">
                <a16:creationId xmlns:a16="http://schemas.microsoft.com/office/drawing/2014/main" id="{510F31FE-AA8E-BDD5-6121-D45352B1C278}"/>
              </a:ext>
            </a:extLst>
          </p:cNvPr>
          <p:cNvSpPr txBox="1">
            <a:spLocks noChangeArrowheads="1"/>
          </p:cNvSpPr>
          <p:nvPr/>
        </p:nvSpPr>
        <p:spPr bwMode="auto">
          <a:xfrm>
            <a:off x="309482" y="3512391"/>
            <a:ext cx="5359754" cy="1943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Scenarios:</a:t>
            </a:r>
            <a:r>
              <a:rPr lang="en-GB" sz="1800" dirty="0"/>
              <a:t> </a:t>
            </a:r>
          </a:p>
          <a:p>
            <a:pPr marL="542925" lvl="1" indent="-271463"/>
            <a:r>
              <a:rPr lang="en-GB" sz="1600" dirty="0"/>
              <a:t>Regression testing</a:t>
            </a:r>
          </a:p>
          <a:p>
            <a:pPr marL="542925" lvl="1" indent="-271463"/>
            <a:r>
              <a:rPr lang="en-GB" sz="1600" dirty="0"/>
              <a:t>Smoke Testing (Build Verification Testing)</a:t>
            </a:r>
          </a:p>
          <a:p>
            <a:pPr marL="542925" lvl="1" indent="-271463"/>
            <a:r>
              <a:rPr lang="en-GB" sz="1600" dirty="0"/>
              <a:t>Unit Testing</a:t>
            </a:r>
          </a:p>
          <a:p>
            <a:pPr marL="542925" lvl="1" indent="-271463"/>
            <a:r>
              <a:rPr lang="en-GB" sz="1600" dirty="0"/>
              <a:t>API Testing</a:t>
            </a:r>
          </a:p>
          <a:p>
            <a:pPr marL="542925" lvl="1" indent="-271463"/>
            <a:r>
              <a:rPr lang="en-GB" sz="1600" dirty="0"/>
              <a:t>Cross-Browser / Cross-Platform UI Testing</a:t>
            </a:r>
          </a:p>
          <a:p>
            <a:pPr marL="542925" lvl="1" indent="-271463"/>
            <a:r>
              <a:rPr lang="en-GB" sz="1600" dirty="0"/>
              <a:t>Performance and Load Testing</a:t>
            </a:r>
          </a:p>
          <a:p>
            <a:pPr marL="542925" lvl="1" indent="-271463"/>
            <a:r>
              <a:rPr lang="en-GB" sz="1600" dirty="0"/>
              <a:t>End-to-End (E2E) Testing</a:t>
            </a:r>
          </a:p>
          <a:p>
            <a:pPr marL="542925" lvl="1" indent="-271463"/>
            <a:r>
              <a:rPr lang="en-GB" sz="1600" dirty="0"/>
              <a:t>Data Validation Testing</a:t>
            </a:r>
          </a:p>
          <a:p>
            <a:pPr marL="542925" lvl="1" indent="-271463"/>
            <a:r>
              <a:rPr lang="en-GB" sz="1600" dirty="0"/>
              <a:t>Scheduled or Nightly Builds</a:t>
            </a:r>
          </a:p>
          <a:p>
            <a:pPr marL="542925" lvl="1" indent="-271463"/>
            <a:endParaRPr lang="en-GB" sz="1600" b="1" dirty="0"/>
          </a:p>
          <a:p>
            <a:pPr marL="542925" lvl="1" indent="-271463"/>
            <a:endParaRPr lang="en-GB" sz="1600" b="1" dirty="0"/>
          </a:p>
          <a:p>
            <a:pPr marL="542925" lvl="1" indent="-271463"/>
            <a:endParaRPr lang="en-GB" sz="1600" dirty="0"/>
          </a:p>
          <a:p>
            <a:endParaRPr lang="en-GB" sz="1600" dirty="0"/>
          </a:p>
        </p:txBody>
      </p:sp>
      <p:pic>
        <p:nvPicPr>
          <p:cNvPr id="5122" name="Picture 2" descr="Comprehensive Overview to Automation Testing Life Cycle | LambdaTest">
            <a:extLst>
              <a:ext uri="{FF2B5EF4-FFF2-40B4-BE49-F238E27FC236}">
                <a16:creationId xmlns:a16="http://schemas.microsoft.com/office/drawing/2014/main" id="{C040331C-70D6-D906-C9BC-486C9725FE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0362" y="3312583"/>
            <a:ext cx="2650828" cy="1490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131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81970-8234-DEE8-159B-84ADE908C670}"/>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ACA57F96-3A12-16CF-74D3-03CA344506AE}"/>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User Testing and Feedback</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DB87BC10-8FF0-8ACB-AF74-83DD125C582F}"/>
              </a:ext>
            </a:extLst>
          </p:cNvPr>
          <p:cNvSpPr>
            <a:spLocks noGrp="1" noChangeArrowheads="1"/>
          </p:cNvSpPr>
          <p:nvPr>
            <p:ph idx="1"/>
          </p:nvPr>
        </p:nvSpPr>
        <p:spPr>
          <a:xfrm>
            <a:off x="289352" y="1860314"/>
            <a:ext cx="8351838" cy="504056"/>
          </a:xfrm>
        </p:spPr>
        <p:txBody>
          <a:bodyPr/>
          <a:lstStyle/>
          <a:p>
            <a:r>
              <a:rPr lang="en-GB" sz="1800" dirty="0"/>
              <a:t>Engaging real users to test the product in realistic scenarios to gather feedback on usability, functionality, and overall satisfaction.</a:t>
            </a:r>
          </a:p>
        </p:txBody>
      </p:sp>
      <p:sp>
        <p:nvSpPr>
          <p:cNvPr id="2" name="Content Placeholder 2">
            <a:extLst>
              <a:ext uri="{FF2B5EF4-FFF2-40B4-BE49-F238E27FC236}">
                <a16:creationId xmlns:a16="http://schemas.microsoft.com/office/drawing/2014/main" id="{81EB1A2A-7E3E-D0F9-6261-6B23FD80F049}"/>
              </a:ext>
            </a:extLst>
          </p:cNvPr>
          <p:cNvSpPr txBox="1">
            <a:spLocks noChangeArrowheads="1"/>
          </p:cNvSpPr>
          <p:nvPr/>
        </p:nvSpPr>
        <p:spPr bwMode="auto">
          <a:xfrm>
            <a:off x="4139952" y="5013176"/>
            <a:ext cx="4914353" cy="1556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Tools used:</a:t>
            </a:r>
            <a:r>
              <a:rPr lang="en-GB" sz="1800" dirty="0"/>
              <a:t> </a:t>
            </a:r>
          </a:p>
          <a:p>
            <a:pPr lvl="1"/>
            <a:r>
              <a:rPr lang="en-GB" sz="1600" dirty="0"/>
              <a:t>Google Forms, Microsoft Forms, </a:t>
            </a:r>
            <a:r>
              <a:rPr lang="en-GB" sz="1600" dirty="0" err="1"/>
              <a:t>Typeform</a:t>
            </a:r>
            <a:r>
              <a:rPr lang="en-GB" sz="1600" dirty="0"/>
              <a:t> (feedback collection)</a:t>
            </a:r>
          </a:p>
          <a:p>
            <a:pPr lvl="1"/>
            <a:r>
              <a:rPr lang="en-GB" sz="1600" dirty="0" err="1"/>
              <a:t>UsabilityHub</a:t>
            </a:r>
            <a:r>
              <a:rPr lang="en-GB" sz="1600" dirty="0"/>
              <a:t>, Maze (user testing platforms)</a:t>
            </a:r>
          </a:p>
          <a:p>
            <a:pPr lvl="1"/>
            <a:r>
              <a:rPr lang="en-GB" sz="1600" dirty="0"/>
              <a:t>Session recording tools (e.g., Hotjar)</a:t>
            </a:r>
          </a:p>
          <a:p>
            <a:pPr marL="542925" lvl="1" indent="-271463"/>
            <a:endParaRPr lang="en-GB" sz="1800" dirty="0"/>
          </a:p>
        </p:txBody>
      </p:sp>
      <p:sp>
        <p:nvSpPr>
          <p:cNvPr id="3" name="Content Placeholder 2">
            <a:extLst>
              <a:ext uri="{FF2B5EF4-FFF2-40B4-BE49-F238E27FC236}">
                <a16:creationId xmlns:a16="http://schemas.microsoft.com/office/drawing/2014/main" id="{A4305391-5A01-50E2-0DF4-2365405A4060}"/>
              </a:ext>
            </a:extLst>
          </p:cNvPr>
          <p:cNvSpPr txBox="1">
            <a:spLocks noChangeArrowheads="1"/>
          </p:cNvSpPr>
          <p:nvPr/>
        </p:nvSpPr>
        <p:spPr bwMode="auto">
          <a:xfrm>
            <a:off x="289352" y="2603811"/>
            <a:ext cx="4914353" cy="652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Intent: </a:t>
            </a:r>
            <a:r>
              <a:rPr lang="en-GB" sz="1800" dirty="0"/>
              <a:t>To ensure the product meets user expectations and identify potential improvements before launch.</a:t>
            </a:r>
          </a:p>
        </p:txBody>
      </p:sp>
      <p:sp>
        <p:nvSpPr>
          <p:cNvPr id="4" name="Content Placeholder 2">
            <a:extLst>
              <a:ext uri="{FF2B5EF4-FFF2-40B4-BE49-F238E27FC236}">
                <a16:creationId xmlns:a16="http://schemas.microsoft.com/office/drawing/2014/main" id="{FD76FCD2-51B4-16D0-0C16-03A82FAA807D}"/>
              </a:ext>
            </a:extLst>
          </p:cNvPr>
          <p:cNvSpPr txBox="1">
            <a:spLocks noChangeArrowheads="1"/>
          </p:cNvSpPr>
          <p:nvPr/>
        </p:nvSpPr>
        <p:spPr bwMode="auto">
          <a:xfrm>
            <a:off x="303582" y="3632548"/>
            <a:ext cx="4052394" cy="244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Common Scenarios:</a:t>
            </a:r>
            <a:r>
              <a:rPr lang="en-GB" sz="1800" dirty="0"/>
              <a:t> </a:t>
            </a:r>
          </a:p>
          <a:p>
            <a:pPr marL="444500" lvl="1" indent="-258763"/>
            <a:r>
              <a:rPr lang="en-GB" sz="1600" dirty="0"/>
              <a:t>Usability Testing</a:t>
            </a:r>
          </a:p>
          <a:p>
            <a:pPr marL="444500" lvl="1" indent="-258763"/>
            <a:r>
              <a:rPr lang="en-GB" sz="1600" dirty="0"/>
              <a:t>Beta Testing</a:t>
            </a:r>
          </a:p>
          <a:p>
            <a:pPr marL="444500" lvl="1" indent="-258763"/>
            <a:r>
              <a:rPr lang="en-GB" sz="1600" dirty="0"/>
              <a:t>A/B Testing</a:t>
            </a:r>
          </a:p>
          <a:p>
            <a:pPr marL="444500" lvl="1" indent="-258763"/>
            <a:r>
              <a:rPr lang="en-GB" sz="1600" dirty="0"/>
              <a:t>Surveys and Feedback Forms</a:t>
            </a:r>
          </a:p>
          <a:p>
            <a:pPr marL="444500" lvl="1" indent="-258763"/>
            <a:r>
              <a:rPr lang="en-GB" sz="1600" dirty="0"/>
              <a:t>In-App Feedback</a:t>
            </a:r>
          </a:p>
          <a:p>
            <a:pPr marL="444500" lvl="1" indent="-258763"/>
            <a:r>
              <a:rPr lang="en-GB" sz="1600" dirty="0"/>
              <a:t>Customer Support &amp; Helpdesk Insights</a:t>
            </a:r>
          </a:p>
          <a:p>
            <a:pPr marL="444500" lvl="1" indent="-258763"/>
            <a:r>
              <a:rPr lang="en-GB" sz="1600" dirty="0"/>
              <a:t>Session Recording &amp; Heatmaps</a:t>
            </a:r>
          </a:p>
          <a:p>
            <a:pPr marL="444500" lvl="1" indent="-258763"/>
            <a:r>
              <a:rPr lang="en-GB" sz="1600" dirty="0"/>
              <a:t>Feature Validation or Preference Testing</a:t>
            </a:r>
            <a:endParaRPr lang="en-GB" sz="1600" b="1" dirty="0"/>
          </a:p>
          <a:p>
            <a:pPr marL="444500" lvl="1" indent="-258763"/>
            <a:endParaRPr lang="en-GB" sz="1200" b="1" dirty="0"/>
          </a:p>
          <a:p>
            <a:pPr marL="444500" lvl="1" indent="-258763"/>
            <a:endParaRPr lang="en-GB" sz="1200" dirty="0"/>
          </a:p>
          <a:p>
            <a:pPr marL="444500" lvl="1" indent="-258763"/>
            <a:endParaRPr lang="en-GB" sz="1200" dirty="0"/>
          </a:p>
          <a:p>
            <a:pPr marL="542925" lvl="1" indent="-271463"/>
            <a:endParaRPr lang="en-GB" sz="1600" b="1" dirty="0"/>
          </a:p>
          <a:p>
            <a:pPr marL="542925" lvl="1" indent="-271463"/>
            <a:endParaRPr lang="en-GB" sz="1600" b="1" dirty="0"/>
          </a:p>
          <a:p>
            <a:pPr marL="542925" lvl="1" indent="-271463"/>
            <a:endParaRPr lang="en-GB" sz="1600" dirty="0"/>
          </a:p>
          <a:p>
            <a:endParaRPr lang="en-GB" sz="1600" dirty="0"/>
          </a:p>
        </p:txBody>
      </p:sp>
      <p:pic>
        <p:nvPicPr>
          <p:cNvPr id="5" name="Online Media 4" title="How To Conduct User Testing &amp; Feedback For Your Website | Build a Website | User Testing">
            <a:hlinkClick r:id="" action="ppaction://media"/>
            <a:extLst>
              <a:ext uri="{FF2B5EF4-FFF2-40B4-BE49-F238E27FC236}">
                <a16:creationId xmlns:a16="http://schemas.microsoft.com/office/drawing/2014/main" id="{CB98EC42-D25E-6B66-D5E8-ABEC30617437}"/>
              </a:ext>
            </a:extLst>
          </p:cNvPr>
          <p:cNvPicPr>
            <a:picLocks noRot="1" noChangeAspect="1"/>
          </p:cNvPicPr>
          <p:nvPr>
            <a:videoFile r:link="rId1"/>
          </p:nvPr>
        </p:nvPicPr>
        <p:blipFill>
          <a:blip r:embed="rId4"/>
          <a:stretch>
            <a:fillRect/>
          </a:stretch>
        </p:blipFill>
        <p:spPr>
          <a:xfrm>
            <a:off x="5304188" y="2700241"/>
            <a:ext cx="3499658" cy="1977064"/>
          </a:xfrm>
          <a:prstGeom prst="rect">
            <a:avLst/>
          </a:prstGeom>
        </p:spPr>
      </p:pic>
    </p:spTree>
    <p:extLst>
      <p:ext uri="{BB962C8B-B14F-4D97-AF65-F5344CB8AC3E}">
        <p14:creationId xmlns:p14="http://schemas.microsoft.com/office/powerpoint/2010/main" val="3420133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B9DB4-6706-C383-F264-E7013DF5621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D13CC28-A86B-63C9-8209-AE5863BDCE8D}"/>
              </a:ext>
            </a:extLst>
          </p:cNvPr>
          <p:cNvSpPr>
            <a:spLocks noGrp="1" noChangeArrowheads="1"/>
          </p:cNvSpPr>
          <p:nvPr>
            <p:ph type="title"/>
          </p:nvPr>
        </p:nvSpPr>
        <p:spPr>
          <a:xfrm>
            <a:off x="1258888" y="404813"/>
            <a:ext cx="7650162" cy="939800"/>
          </a:xfrm>
        </p:spPr>
        <p:txBody>
          <a:bodyPr/>
          <a:lstStyle/>
          <a:p>
            <a:pPr>
              <a:tabLst>
                <a:tab pos="266700" algn="l"/>
              </a:tabLst>
            </a:pPr>
            <a:r>
              <a:rPr lang="en-GB" sz="2400" b="1" dirty="0">
                <a:solidFill>
                  <a:srgbClr val="FF0000"/>
                </a:solidFill>
              </a:rPr>
              <a:t>Activity – Build, Test and Improve</a:t>
            </a:r>
            <a:endParaRPr lang="en-GB" altLang="en-US" sz="2400" b="1" dirty="0">
              <a:solidFill>
                <a:srgbClr val="FF0000"/>
              </a:solidFill>
            </a:endParaRPr>
          </a:p>
        </p:txBody>
      </p:sp>
      <p:sp>
        <p:nvSpPr>
          <p:cNvPr id="31747" name="Content Placeholder 2">
            <a:extLst>
              <a:ext uri="{FF2B5EF4-FFF2-40B4-BE49-F238E27FC236}">
                <a16:creationId xmlns:a16="http://schemas.microsoft.com/office/drawing/2014/main" id="{2BFB39CE-3A42-929B-5C38-DEFE2B0EAF45}"/>
              </a:ext>
            </a:extLst>
          </p:cNvPr>
          <p:cNvSpPr>
            <a:spLocks noGrp="1" noChangeArrowheads="1"/>
          </p:cNvSpPr>
          <p:nvPr>
            <p:ph idx="1"/>
          </p:nvPr>
        </p:nvSpPr>
        <p:spPr>
          <a:xfrm>
            <a:off x="198705" y="1876587"/>
            <a:ext cx="5597431" cy="760325"/>
          </a:xfrm>
        </p:spPr>
        <p:txBody>
          <a:bodyPr/>
          <a:lstStyle/>
          <a:p>
            <a:r>
              <a:rPr lang="en-GB" sz="1800" b="1" dirty="0"/>
              <a:t>Objective:</a:t>
            </a:r>
            <a:r>
              <a:rPr lang="en-GB" sz="1800" dirty="0"/>
              <a:t> To simulate the process of developing and testing a product through a hands-on, team-based project.</a:t>
            </a:r>
          </a:p>
          <a:p>
            <a:pPr marL="0" indent="0">
              <a:buNone/>
            </a:pPr>
            <a:endParaRPr lang="en-GB" sz="1800" dirty="0"/>
          </a:p>
        </p:txBody>
      </p:sp>
      <p:sp>
        <p:nvSpPr>
          <p:cNvPr id="3" name="Content Placeholder 2">
            <a:extLst>
              <a:ext uri="{FF2B5EF4-FFF2-40B4-BE49-F238E27FC236}">
                <a16:creationId xmlns:a16="http://schemas.microsoft.com/office/drawing/2014/main" id="{F0708651-7EF1-6716-9A44-1A8E85AB6674}"/>
              </a:ext>
            </a:extLst>
          </p:cNvPr>
          <p:cNvSpPr txBox="1">
            <a:spLocks noChangeArrowheads="1"/>
          </p:cNvSpPr>
          <p:nvPr/>
        </p:nvSpPr>
        <p:spPr bwMode="auto">
          <a:xfrm>
            <a:off x="198705" y="2920549"/>
            <a:ext cx="5719899"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You Will Learn To:</a:t>
            </a:r>
          </a:p>
          <a:p>
            <a:pPr marL="542925" lvl="1" indent="-271463"/>
            <a:r>
              <a:rPr lang="en-GB" sz="1800" dirty="0"/>
              <a:t>Design a prototype based on user needs</a:t>
            </a:r>
          </a:p>
          <a:p>
            <a:pPr marL="542925" lvl="1" indent="-271463"/>
            <a:r>
              <a:rPr lang="en-GB" sz="1800" dirty="0"/>
              <a:t>Plan and run unit, integration, and user tests</a:t>
            </a:r>
          </a:p>
          <a:p>
            <a:pPr marL="542925" lvl="1" indent="-271463"/>
            <a:r>
              <a:rPr lang="en-GB" sz="1800" dirty="0"/>
              <a:t>Use feedback to improve your product</a:t>
            </a:r>
          </a:p>
          <a:p>
            <a:pPr lvl="1"/>
            <a:endParaRPr lang="en-GB" sz="1800" kern="0" dirty="0"/>
          </a:p>
        </p:txBody>
      </p:sp>
      <p:sp>
        <p:nvSpPr>
          <p:cNvPr id="4" name="Content Placeholder 2">
            <a:extLst>
              <a:ext uri="{FF2B5EF4-FFF2-40B4-BE49-F238E27FC236}">
                <a16:creationId xmlns:a16="http://schemas.microsoft.com/office/drawing/2014/main" id="{4536FE11-46A6-119D-A13A-F2BD5FC32FC4}"/>
              </a:ext>
            </a:extLst>
          </p:cNvPr>
          <p:cNvSpPr txBox="1">
            <a:spLocks noChangeArrowheads="1"/>
          </p:cNvSpPr>
          <p:nvPr/>
        </p:nvSpPr>
        <p:spPr bwMode="auto">
          <a:xfrm>
            <a:off x="198705" y="4296950"/>
            <a:ext cx="5504734" cy="2401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How It Works:</a:t>
            </a:r>
          </a:p>
          <a:p>
            <a:pPr marL="542925" lvl="1" indent="-271463"/>
            <a:r>
              <a:rPr lang="en-GB" sz="1800" dirty="0"/>
              <a:t>Work in teams of 3–5</a:t>
            </a:r>
          </a:p>
          <a:p>
            <a:pPr marL="542925" lvl="1" indent="-271463"/>
            <a:r>
              <a:rPr lang="en-GB" sz="1800" dirty="0"/>
              <a:t>Choose or receive a simple product idea</a:t>
            </a:r>
          </a:p>
          <a:p>
            <a:pPr marL="542925" lvl="1" indent="-271463"/>
            <a:r>
              <a:rPr lang="en-GB" sz="1800" dirty="0"/>
              <a:t>Build a basic prototype</a:t>
            </a:r>
          </a:p>
          <a:p>
            <a:pPr marL="542925" lvl="1" indent="-271463"/>
            <a:r>
              <a:rPr lang="en-GB" sz="1800" dirty="0"/>
              <a:t>Test it thoroughly (unit, integration, and user)</a:t>
            </a:r>
          </a:p>
          <a:p>
            <a:pPr marL="542925" lvl="1" indent="-271463"/>
            <a:r>
              <a:rPr lang="en-GB" sz="1800" dirty="0"/>
              <a:t>Improve based on feedback</a:t>
            </a:r>
          </a:p>
          <a:p>
            <a:pPr marL="542925" lvl="1" indent="-271463"/>
            <a:r>
              <a:rPr lang="en-GB" sz="1800" dirty="0"/>
              <a:t>Present your work and share lessons learned</a:t>
            </a:r>
          </a:p>
          <a:p>
            <a:pPr lvl="1"/>
            <a:endParaRPr lang="en-GB" sz="1800" kern="0" dirty="0"/>
          </a:p>
        </p:txBody>
      </p:sp>
      <p:pic>
        <p:nvPicPr>
          <p:cNvPr id="2" name="Online Media 1" title="Bolt AI Full Tutorial: AI Software Development Guide">
            <a:hlinkClick r:id="" action="ppaction://media"/>
            <a:extLst>
              <a:ext uri="{FF2B5EF4-FFF2-40B4-BE49-F238E27FC236}">
                <a16:creationId xmlns:a16="http://schemas.microsoft.com/office/drawing/2014/main" id="{C57D861F-135D-4DE1-1216-770CEF49FF62}"/>
              </a:ext>
            </a:extLst>
          </p:cNvPr>
          <p:cNvPicPr>
            <a:picLocks noRot="1" noChangeAspect="1"/>
          </p:cNvPicPr>
          <p:nvPr>
            <a:videoFile r:link="rId1"/>
          </p:nvPr>
        </p:nvPicPr>
        <p:blipFill>
          <a:blip r:embed="rId6"/>
          <a:stretch>
            <a:fillRect/>
          </a:stretch>
        </p:blipFill>
        <p:spPr>
          <a:xfrm>
            <a:off x="6300192" y="3357953"/>
            <a:ext cx="2421806" cy="1368152"/>
          </a:xfrm>
          <a:prstGeom prst="rect">
            <a:avLst/>
          </a:prstGeom>
        </p:spPr>
      </p:pic>
      <p:pic>
        <p:nvPicPr>
          <p:cNvPr id="5" name="Online Media 4" title="We Built and Deployed 2 APPS from Scratch in 9 Minutes! | Bolt.new">
            <a:hlinkClick r:id="" action="ppaction://media"/>
            <a:extLst>
              <a:ext uri="{FF2B5EF4-FFF2-40B4-BE49-F238E27FC236}">
                <a16:creationId xmlns:a16="http://schemas.microsoft.com/office/drawing/2014/main" id="{2856A364-D0BE-E983-7A1B-14369F6E6BA4}"/>
              </a:ext>
            </a:extLst>
          </p:cNvPr>
          <p:cNvPicPr>
            <a:picLocks noRot="1" noChangeAspect="1"/>
          </p:cNvPicPr>
          <p:nvPr>
            <a:videoFile r:link="rId2"/>
          </p:nvPr>
        </p:nvPicPr>
        <p:blipFill>
          <a:blip r:embed="rId7"/>
          <a:stretch>
            <a:fillRect/>
          </a:stretch>
        </p:blipFill>
        <p:spPr>
          <a:xfrm>
            <a:off x="5918604" y="4941168"/>
            <a:ext cx="2915816" cy="1647234"/>
          </a:xfrm>
          <a:prstGeom prst="rect">
            <a:avLst/>
          </a:prstGeom>
        </p:spPr>
      </p:pic>
      <p:pic>
        <p:nvPicPr>
          <p:cNvPr id="6" name="Online Media 5" title="5 Best APP Builders For Beginners In 2025 (No-Code + AI)">
            <a:hlinkClick r:id="" action="ppaction://media"/>
            <a:extLst>
              <a:ext uri="{FF2B5EF4-FFF2-40B4-BE49-F238E27FC236}">
                <a16:creationId xmlns:a16="http://schemas.microsoft.com/office/drawing/2014/main" id="{B5AFC04E-0C61-A3CF-0EDC-0A54EEF3EB3C}"/>
              </a:ext>
            </a:extLst>
          </p:cNvPr>
          <p:cNvPicPr>
            <a:picLocks noRot="1" noChangeAspect="1"/>
          </p:cNvPicPr>
          <p:nvPr>
            <a:videoFile r:link="rId3"/>
          </p:nvPr>
        </p:nvPicPr>
        <p:blipFill>
          <a:blip r:embed="rId8"/>
          <a:stretch>
            <a:fillRect/>
          </a:stretch>
        </p:blipFill>
        <p:spPr>
          <a:xfrm>
            <a:off x="5918604" y="1617209"/>
            <a:ext cx="2915816" cy="1525681"/>
          </a:xfrm>
          <a:prstGeom prst="rect">
            <a:avLst/>
          </a:prstGeom>
        </p:spPr>
      </p:pic>
    </p:spTree>
    <p:extLst>
      <p:ext uri="{BB962C8B-B14F-4D97-AF65-F5344CB8AC3E}">
        <p14:creationId xmlns:p14="http://schemas.microsoft.com/office/powerpoint/2010/main" val="336491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2"/>
                </p:tgtEl>
              </p:cMediaNode>
            </p:video>
            <p:seq concurrent="1" nextAc="seek">
              <p:cTn id="16" restart="whenNotActive" fill="hold" evtFilter="cancelBubble" nodeType="interactiveSeq">
                <p:stCondLst>
                  <p:cond evt="onClick" delay="0">
                    <p:tgtEl>
                      <p:spTgt spid="2"/>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2"/>
                                        </p:tgtEl>
                                      </p:cBhvr>
                                    </p:cmd>
                                  </p:childTnLst>
                                </p:cTn>
                              </p:par>
                            </p:childTnLst>
                          </p:cTn>
                        </p:par>
                      </p:childTnLst>
                    </p:cTn>
                  </p:par>
                </p:childTnLst>
              </p:cTn>
              <p:nextCondLst>
                <p:cond evt="onClick" delay="0">
                  <p:tgtEl>
                    <p:spTgt spid="2"/>
                  </p:tgtEl>
                </p:cond>
              </p:nextCondLst>
            </p:seq>
            <p:video>
              <p:cMediaNode vol="80000">
                <p:cTn id="21" fill="hold" display="0">
                  <p:stCondLst>
                    <p:cond delay="indefinite"/>
                  </p:stCondLst>
                </p:cTn>
                <p:tgtEl>
                  <p:spTgt spid="5"/>
                </p:tgtEl>
              </p:cMediaNode>
            </p:video>
            <p:seq concurrent="1" nextAc="seek">
              <p:cTn id="22" restart="whenNotActive" fill="hold" evtFilter="cancelBubble" nodeType="interactiveSeq">
                <p:stCondLst>
                  <p:cond evt="onClick" delay="0">
                    <p:tgtEl>
                      <p:spTgt spid="5"/>
                    </p:tgtEl>
                  </p:cond>
                </p:stCondLst>
                <p:endSync evt="end" delay="0">
                  <p:rtn val="all"/>
                </p:endSync>
                <p:childTnLst>
                  <p:par>
                    <p:cTn id="23" fill="hold">
                      <p:stCondLst>
                        <p:cond delay="0"/>
                      </p:stCondLst>
                      <p:childTnLst>
                        <p:par>
                          <p:cTn id="24" fill="hold">
                            <p:stCondLst>
                              <p:cond delay="0"/>
                            </p:stCondLst>
                            <p:childTnLst>
                              <p:par>
                                <p:cTn id="25" presetID="2" presetClass="mediacall" presetSubtype="0" fill="hold" nodeType="clickEffect">
                                  <p:stCondLst>
                                    <p:cond delay="0"/>
                                  </p:stCondLst>
                                  <p:childTnLst>
                                    <p:cmd type="call" cmd="togglePause">
                                      <p:cBhvr>
                                        <p:cTn id="26" dur="1" fill="hold"/>
                                        <p:tgtEl>
                                          <p:spTgt spid="5"/>
                                        </p:tgtEl>
                                      </p:cBhvr>
                                    </p:cmd>
                                  </p:childTnLst>
                                </p:cTn>
                              </p:par>
                            </p:childTnLst>
                          </p:cTn>
                        </p:par>
                      </p:childTnLst>
                    </p:cTn>
                  </p:par>
                </p:childTnLst>
              </p:cTn>
              <p:nextCondLst>
                <p:cond evt="onClick" delay="0">
                  <p:tgtEl>
                    <p:spTgt spid="5"/>
                  </p:tgtEl>
                </p:cond>
              </p:nextCondLst>
            </p:seq>
            <p:video>
              <p:cMediaNode vol="80000">
                <p:cTn id="27" fill="hold" display="0">
                  <p:stCondLst>
                    <p:cond delay="indefinite"/>
                  </p:stCondLst>
                </p:cTn>
                <p:tgtEl>
                  <p:spTgt spid="6"/>
                </p:tgtEl>
              </p:cMediaNode>
            </p:video>
            <p:seq concurrent="1" nextAc="seek">
              <p:cTn id="28" restart="whenNotActive" fill="hold" evtFilter="cancelBubble" nodeType="interactiveSeq">
                <p:stCondLst>
                  <p:cond evt="onClick" delay="0">
                    <p:tgtEl>
                      <p:spTgt spid="6"/>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2CF8527-1AEB-4728-BA15-87B0F7850209}"/>
</file>

<file path=customXml/itemProps2.xml><?xml version="1.0" encoding="utf-8"?>
<ds:datastoreItem xmlns:ds="http://schemas.openxmlformats.org/officeDocument/2006/customXml" ds:itemID="{F3B74967-B059-4D6A-AB3A-2BCC23EAFC0F}"/>
</file>

<file path=customXml/itemProps3.xml><?xml version="1.0" encoding="utf-8"?>
<ds:datastoreItem xmlns:ds="http://schemas.openxmlformats.org/officeDocument/2006/customXml" ds:itemID="{6677A066-FC95-4CE5-B290-63FE946526ED}"/>
</file>

<file path=docProps/app.xml><?xml version="1.0" encoding="utf-8"?>
<Properties xmlns="http://schemas.openxmlformats.org/officeDocument/2006/extended-properties" xmlns:vt="http://schemas.openxmlformats.org/officeDocument/2006/docPropsVTypes">
  <Template/>
  <TotalTime>3585</TotalTime>
  <Words>2719</Words>
  <Application>Microsoft Office PowerPoint</Application>
  <PresentationFormat>On-screen Show (4:3)</PresentationFormat>
  <Paragraphs>271</Paragraphs>
  <Slides>10</Slides>
  <Notes>10</Notes>
  <HiddenSlides>0</HiddenSlides>
  <MMClips>5</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10</vt:i4>
      </vt:variant>
    </vt:vector>
  </HeadingPairs>
  <TitlesOfParts>
    <vt:vector size="15" baseType="lpstr">
      <vt:lpstr>Arial</vt:lpstr>
      <vt:lpstr>Tahoma</vt:lpstr>
      <vt:lpstr>Wingdings</vt:lpstr>
      <vt:lpstr>Blends</vt:lpstr>
      <vt:lpstr>1_Blends</vt:lpstr>
      <vt:lpstr>Occupational Specialist Component Content: Digital Production, Design and Development</vt:lpstr>
      <vt:lpstr>Learning Objectives</vt:lpstr>
      <vt:lpstr>Product Development and Testing</vt:lpstr>
      <vt:lpstr>Creating a Prototype</vt:lpstr>
      <vt:lpstr>Planning the Testing Phases</vt:lpstr>
      <vt:lpstr>Module Testing (Unit Testing)</vt:lpstr>
      <vt:lpstr>System Integration Testing</vt:lpstr>
      <vt:lpstr>Automated Testing</vt:lpstr>
      <vt:lpstr>User Testing and Feedback</vt:lpstr>
      <vt:lpstr>Activity – Build, Test and Improve</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564</cp:revision>
  <dcterms:created xsi:type="dcterms:W3CDTF">2010-11-28T12:04:27Z</dcterms:created>
  <dcterms:modified xsi:type="dcterms:W3CDTF">2025-07-30T14:03:26Z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