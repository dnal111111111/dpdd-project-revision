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3.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theme/theme3.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841" r:id="rId2"/>
  </p:sldMasterIdLst>
  <p:notesMasterIdLst>
    <p:notesMasterId r:id="rId16"/>
  </p:notesMasterIdLst>
  <p:sldIdLst>
    <p:sldId id="345" r:id="rId3"/>
    <p:sldId id="341" r:id="rId4"/>
    <p:sldId id="322" r:id="rId5"/>
    <p:sldId id="364" r:id="rId6"/>
    <p:sldId id="370" r:id="rId7"/>
    <p:sldId id="372" r:id="rId8"/>
    <p:sldId id="365" r:id="rId9"/>
    <p:sldId id="366" r:id="rId10"/>
    <p:sldId id="367" r:id="rId11"/>
    <p:sldId id="368" r:id="rId12"/>
    <p:sldId id="369" r:id="rId13"/>
    <p:sldId id="371" r:id="rId14"/>
    <p:sldId id="352" r:id="rId15"/>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341">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9900"/>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57" autoAdjust="0"/>
    <p:restoredTop sz="73932" autoAdjust="0"/>
  </p:normalViewPr>
  <p:slideViewPr>
    <p:cSldViewPr>
      <p:cViewPr varScale="1">
        <p:scale>
          <a:sx n="78" d="100"/>
          <a:sy n="78" d="100"/>
        </p:scale>
        <p:origin x="1608" y="84"/>
      </p:cViewPr>
      <p:guideLst>
        <p:guide orient="horz" pos="2341"/>
        <p:guide pos="2880"/>
      </p:guideLst>
    </p:cSldViewPr>
  </p:slideViewPr>
  <p:notesTextViewPr>
    <p:cViewPr>
      <p:scale>
        <a:sx n="100" d="100"/>
        <a:sy n="100" d="100"/>
      </p:scale>
      <p:origin x="0" y="0"/>
    </p:cViewPr>
  </p:notesTextViewPr>
  <p:notesViewPr>
    <p:cSldViewPr>
      <p:cViewPr varScale="1">
        <p:scale>
          <a:sx n="53" d="100"/>
          <a:sy n="53" d="100"/>
        </p:scale>
        <p:origin x="-1794" y="11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customXml" Target="../customXml/item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customXml" Target="../customXml/item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E3593F5A-D26B-C6AC-AA55-892A89CE672A}"/>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en-GB"/>
          </a:p>
        </p:txBody>
      </p:sp>
      <p:sp>
        <p:nvSpPr>
          <p:cNvPr id="31747" name="Rectangle 3">
            <a:extLst>
              <a:ext uri="{FF2B5EF4-FFF2-40B4-BE49-F238E27FC236}">
                <a16:creationId xmlns:a16="http://schemas.microsoft.com/office/drawing/2014/main" id="{FFA26A8F-CB87-7C30-CB7E-77427DE58314}"/>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cs typeface="Arial" pitchFamily="34" charset="0"/>
              </a:defRPr>
            </a:lvl1pPr>
          </a:lstStyle>
          <a:p>
            <a:pPr>
              <a:defRPr/>
            </a:pPr>
            <a:endParaRPr lang="en-GB"/>
          </a:p>
        </p:txBody>
      </p:sp>
      <p:sp>
        <p:nvSpPr>
          <p:cNvPr id="15364" name="Rectangle 4">
            <a:extLst>
              <a:ext uri="{FF2B5EF4-FFF2-40B4-BE49-F238E27FC236}">
                <a16:creationId xmlns:a16="http://schemas.microsoft.com/office/drawing/2014/main" id="{E7E5F932-F79A-878F-7F00-B1519205974B}"/>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9" name="Rectangle 5">
            <a:extLst>
              <a:ext uri="{FF2B5EF4-FFF2-40B4-BE49-F238E27FC236}">
                <a16:creationId xmlns:a16="http://schemas.microsoft.com/office/drawing/2014/main" id="{790A656F-0EEE-CD64-2E5E-5C1FDD0DF611}"/>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1750" name="Rectangle 6">
            <a:extLst>
              <a:ext uri="{FF2B5EF4-FFF2-40B4-BE49-F238E27FC236}">
                <a16:creationId xmlns:a16="http://schemas.microsoft.com/office/drawing/2014/main" id="{A611A65A-3090-5834-DCF8-859DE1A9C6F4}"/>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en-GB"/>
          </a:p>
        </p:txBody>
      </p:sp>
      <p:sp>
        <p:nvSpPr>
          <p:cNvPr id="31751" name="Rectangle 7">
            <a:extLst>
              <a:ext uri="{FF2B5EF4-FFF2-40B4-BE49-F238E27FC236}">
                <a16:creationId xmlns:a16="http://schemas.microsoft.com/office/drawing/2014/main" id="{09F98EBA-A945-C3AF-FA78-21CE835298FC}"/>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1AA8946F-D45A-43B3-9928-3AC96DF4CE3A}"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86B48F4C-B037-9755-F6FC-CD25C7AC99B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0F27A76-FDA8-4D53-A8D6-7412CF81AF40}" type="slidenum">
              <a:rPr lang="en-GB" altLang="en-US" smtClean="0"/>
              <a:pPr>
                <a:spcBef>
                  <a:spcPct val="0"/>
                </a:spcBef>
              </a:pPr>
              <a:t>1</a:t>
            </a:fld>
            <a:endParaRPr lang="en-GB" altLang="en-US"/>
          </a:p>
        </p:txBody>
      </p:sp>
      <p:sp>
        <p:nvSpPr>
          <p:cNvPr id="17411" name="Rectangle 2">
            <a:extLst>
              <a:ext uri="{FF2B5EF4-FFF2-40B4-BE49-F238E27FC236}">
                <a16:creationId xmlns:a16="http://schemas.microsoft.com/office/drawing/2014/main" id="{40DC31AC-8A13-8129-1ADC-534D2A7D7856}"/>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64E1FCBF-BE67-555A-1A36-0D312D20BE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BD7D0085-BECA-AA2F-490E-8BFD5A53391A}"/>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77CAB426-4140-9073-14B5-99EB6B0464F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sz="1800" b="1">
                <a:latin typeface="OpenSans-Bold"/>
              </a:rPr>
              <a:t>Key features of Agile:</a:t>
            </a:r>
          </a:p>
          <a:p>
            <a:r>
              <a:rPr lang="en-GB" altLang="en-US" sz="1800">
                <a:latin typeface="TimesNewRomanPSMT"/>
              </a:rPr>
              <a:t>● </a:t>
            </a:r>
            <a:r>
              <a:rPr lang="en-GB" altLang="en-US" sz="1800">
                <a:latin typeface="OpenSans"/>
              </a:rPr>
              <a:t>incremental delivery models:</a:t>
            </a:r>
          </a:p>
          <a:p>
            <a:r>
              <a:rPr lang="en-GB" altLang="en-US" sz="1800">
                <a:latin typeface="CourierNewPSMT"/>
              </a:rPr>
              <a:t>o </a:t>
            </a:r>
            <a:r>
              <a:rPr lang="en-GB" altLang="en-US" sz="1800">
                <a:latin typeface="OpenSans"/>
              </a:rPr>
              <a:t>sprint</a:t>
            </a:r>
          </a:p>
          <a:p>
            <a:r>
              <a:rPr lang="en-GB" altLang="en-US" sz="1800">
                <a:latin typeface="CourierNewPSMT"/>
              </a:rPr>
              <a:t>o </a:t>
            </a:r>
            <a:r>
              <a:rPr lang="en-GB" altLang="en-US" sz="1800">
                <a:latin typeface="OpenSans"/>
              </a:rPr>
              <a:t>epic</a:t>
            </a:r>
          </a:p>
          <a:p>
            <a:r>
              <a:rPr lang="en-GB" altLang="en-US" sz="1800">
                <a:latin typeface="CourierNewPSMT"/>
              </a:rPr>
              <a:t>o </a:t>
            </a:r>
            <a:r>
              <a:rPr lang="en-GB" altLang="en-US" sz="1800">
                <a:latin typeface="OpenSans"/>
              </a:rPr>
              <a:t>story</a:t>
            </a:r>
          </a:p>
          <a:p>
            <a:r>
              <a:rPr lang="en-GB" altLang="en-US" sz="1800">
                <a:latin typeface="CourierNewPSMT"/>
              </a:rPr>
              <a:t>o </a:t>
            </a:r>
            <a:r>
              <a:rPr lang="en-GB" altLang="en-US" sz="1800">
                <a:latin typeface="OpenSans"/>
              </a:rPr>
              <a:t>spikes.</a:t>
            </a:r>
          </a:p>
          <a:p>
            <a:r>
              <a:rPr lang="en-GB" altLang="en-US" sz="1800">
                <a:latin typeface="TimesNewRomanPSMT"/>
              </a:rPr>
              <a:t>● </a:t>
            </a:r>
            <a:r>
              <a:rPr lang="en-GB" altLang="en-US" sz="1800">
                <a:latin typeface="OpenSans"/>
              </a:rPr>
              <a:t>emphasis on producing high-quality producing products with initially</a:t>
            </a:r>
          </a:p>
          <a:p>
            <a:r>
              <a:rPr lang="en-GB" altLang="en-US" sz="1800">
                <a:latin typeface="OpenSans"/>
              </a:rPr>
              <a:t>limited functionality.</a:t>
            </a:r>
          </a:p>
          <a:p>
            <a:r>
              <a:rPr lang="en-GB" altLang="en-US" sz="1800">
                <a:latin typeface="TimesNewRomanPSMT"/>
              </a:rPr>
              <a:t>● </a:t>
            </a:r>
            <a:r>
              <a:rPr lang="en-GB" altLang="en-US" sz="1800">
                <a:latin typeface="OpenSans"/>
              </a:rPr>
              <a:t>each increment delivers additional functionality.</a:t>
            </a:r>
          </a:p>
          <a:p>
            <a:r>
              <a:rPr lang="en-GB" altLang="en-US" sz="1800">
                <a:latin typeface="TimesNewRomanPSMT"/>
              </a:rPr>
              <a:t>● </a:t>
            </a:r>
            <a:r>
              <a:rPr lang="en-GB" altLang="en-US" sz="1800">
                <a:latin typeface="OpenSans"/>
              </a:rPr>
              <a:t>requirements can be continually altered throughout the project.</a:t>
            </a:r>
          </a:p>
          <a:p>
            <a:r>
              <a:rPr lang="en-GB" altLang="en-US" sz="1800">
                <a:latin typeface="TimesNewRomanPSMT"/>
              </a:rPr>
              <a:t>● </a:t>
            </a:r>
            <a:r>
              <a:rPr lang="en-GB" altLang="en-US" sz="1800">
                <a:latin typeface="OpenSans"/>
              </a:rPr>
              <a:t>can lack formal documentation.</a:t>
            </a:r>
          </a:p>
          <a:p>
            <a:r>
              <a:rPr lang="en-GB" altLang="en-US" sz="1800">
                <a:latin typeface="TimesNewRomanPSMT"/>
              </a:rPr>
              <a:t>● </a:t>
            </a:r>
            <a:r>
              <a:rPr lang="en-GB" altLang="en-US" sz="1800">
                <a:latin typeface="OpenSans"/>
              </a:rPr>
              <a:t>users/clients see working products at each iteration.</a:t>
            </a:r>
          </a:p>
          <a:p>
            <a:r>
              <a:rPr lang="en-GB" altLang="en-US" sz="1800">
                <a:latin typeface="TimesNewRomanPSMT"/>
              </a:rPr>
              <a:t>● </a:t>
            </a:r>
            <a:r>
              <a:rPr lang="en-GB" altLang="en-US" sz="1800">
                <a:latin typeface="OpenSans"/>
              </a:rPr>
              <a:t>cost effective method to get an initial product to market.</a:t>
            </a:r>
          </a:p>
          <a:p>
            <a:r>
              <a:rPr lang="en-GB" altLang="en-US" sz="1800">
                <a:latin typeface="TimesNewRomanPSMT"/>
              </a:rPr>
              <a:t>● </a:t>
            </a:r>
            <a:r>
              <a:rPr lang="en-GB" altLang="en-US" sz="1800">
                <a:latin typeface="OpenSans"/>
              </a:rPr>
              <a:t>cancelled/partially completed projects will have still resulted in some</a:t>
            </a:r>
          </a:p>
          <a:p>
            <a:r>
              <a:rPr lang="en-GB" altLang="en-US" sz="1800">
                <a:latin typeface="OpenSans"/>
              </a:rPr>
              <a:t>useable code/product(s).</a:t>
            </a:r>
          </a:p>
          <a:p>
            <a:endParaRPr lang="en-GB" altLang="en-US" sz="1800">
              <a:latin typeface="OpenSans"/>
            </a:endParaRPr>
          </a:p>
          <a:p>
            <a:r>
              <a:rPr lang="en-GB" altLang="en-US" sz="1800">
                <a:latin typeface="OpenSans"/>
              </a:rPr>
              <a:t>altered throughout the project.</a:t>
            </a:r>
          </a:p>
          <a:p>
            <a:r>
              <a:rPr lang="en-GB" altLang="en-US" sz="1800">
                <a:latin typeface="TimesNewRomanPSMT"/>
              </a:rPr>
              <a:t>● </a:t>
            </a:r>
            <a:r>
              <a:rPr lang="en-GB" altLang="en-US" sz="1800">
                <a:latin typeface="OpenSans"/>
              </a:rPr>
              <a:t>provides cohesive reporting.</a:t>
            </a:r>
          </a:p>
          <a:p>
            <a:r>
              <a:rPr lang="en-GB" altLang="en-US" sz="1800">
                <a:latin typeface="TimesNewRomanPSMT"/>
              </a:rPr>
              <a:t>● </a:t>
            </a:r>
            <a:r>
              <a:rPr lang="en-GB" altLang="en-US" sz="1800">
                <a:latin typeface="OpenSans"/>
              </a:rPr>
              <a:t>users/clients see working products at each iteration.</a:t>
            </a:r>
          </a:p>
          <a:p>
            <a:r>
              <a:rPr lang="en-GB" altLang="en-US" sz="1800">
                <a:latin typeface="TimesNewRomanPSMT"/>
              </a:rPr>
              <a:t>● </a:t>
            </a:r>
            <a:r>
              <a:rPr lang="en-GB" altLang="en-US" sz="1800">
                <a:latin typeface="OpenSans"/>
              </a:rPr>
              <a:t>cost effective method to get an initial product to market.</a:t>
            </a:r>
          </a:p>
          <a:p>
            <a:r>
              <a:rPr lang="en-GB" altLang="en-US" sz="1800">
                <a:latin typeface="TimesNewRomanPSMT"/>
              </a:rPr>
              <a:t>● </a:t>
            </a:r>
            <a:r>
              <a:rPr lang="en-GB" altLang="en-US" sz="1800">
                <a:latin typeface="OpenSans"/>
              </a:rPr>
              <a:t>cancelled/partially completed projects will have still resulted in some</a:t>
            </a:r>
          </a:p>
          <a:p>
            <a:r>
              <a:rPr lang="en-GB" altLang="en-US" sz="1800">
                <a:latin typeface="OpenSans"/>
              </a:rPr>
              <a:t>useable code/product(s).</a:t>
            </a:r>
          </a:p>
          <a:p>
            <a:r>
              <a:rPr lang="en-GB" altLang="en-US" sz="1800">
                <a:latin typeface="TimesNewRomanPSMT"/>
              </a:rPr>
              <a:t>● </a:t>
            </a:r>
            <a:r>
              <a:rPr lang="en-GB" altLang="en-US" sz="1800">
                <a:latin typeface="OpenSans"/>
              </a:rPr>
              <a:t>final iteration focuses on stability.</a:t>
            </a:r>
          </a:p>
          <a:p>
            <a:r>
              <a:rPr lang="en-GB" altLang="en-US" sz="1800" b="1">
                <a:latin typeface="OpenSans-Bold"/>
              </a:rPr>
              <a:t>Key features of waterfall:</a:t>
            </a:r>
          </a:p>
          <a:p>
            <a:r>
              <a:rPr lang="en-GB" altLang="en-US" sz="1800">
                <a:latin typeface="TimesNewRomanPSMT"/>
              </a:rPr>
              <a:t>● </a:t>
            </a:r>
            <a:r>
              <a:rPr lang="en-GB" altLang="en-US" sz="1800">
                <a:latin typeface="OpenSans"/>
              </a:rPr>
              <a:t>rigidly structured with systematic steps.</a:t>
            </a:r>
          </a:p>
          <a:p>
            <a:r>
              <a:rPr lang="en-GB" altLang="en-US" sz="1800">
                <a:latin typeface="TimesNewRomanPSMT"/>
              </a:rPr>
              <a:t>● </a:t>
            </a:r>
            <a:r>
              <a:rPr lang="en-GB" altLang="en-US" sz="1800">
                <a:latin typeface="OpenSans"/>
              </a:rPr>
              <a:t>progress measured through the number of artefacts completed.</a:t>
            </a:r>
          </a:p>
          <a:p>
            <a:r>
              <a:rPr lang="en-GB" altLang="en-US" sz="1800">
                <a:latin typeface="TimesNewRomanPSMT"/>
              </a:rPr>
              <a:t>● </a:t>
            </a:r>
            <a:r>
              <a:rPr lang="en-GB" altLang="en-US" sz="1800">
                <a:latin typeface="OpenSans"/>
              </a:rPr>
              <a:t>high initial costs with slower return on investment.</a:t>
            </a:r>
          </a:p>
          <a:p>
            <a:r>
              <a:rPr lang="en-GB" altLang="en-US" sz="1800">
                <a:latin typeface="TimesNewRomanPSMT"/>
              </a:rPr>
              <a:t>● </a:t>
            </a:r>
            <a:r>
              <a:rPr lang="en-GB" altLang="en-US" sz="1800">
                <a:latin typeface="OpenSans"/>
              </a:rPr>
              <a:t>products cancelled during early stages may result in no useable</a:t>
            </a:r>
          </a:p>
          <a:p>
            <a:r>
              <a:rPr lang="en-GB" altLang="en-US" sz="1800">
                <a:latin typeface="OpenSans"/>
              </a:rPr>
              <a:t>code/product(s).</a:t>
            </a:r>
          </a:p>
          <a:p>
            <a:r>
              <a:rPr lang="en-GB" altLang="en-US" sz="1800">
                <a:latin typeface="TimesNewRomanPSMT"/>
              </a:rPr>
              <a:t>● </a:t>
            </a:r>
            <a:r>
              <a:rPr lang="en-GB" altLang="en-US" sz="1800">
                <a:latin typeface="OpenSans"/>
              </a:rPr>
              <a:t>limited user/client interaction.</a:t>
            </a:r>
          </a:p>
          <a:p>
            <a:r>
              <a:rPr lang="en-GB" altLang="en-US" sz="1800">
                <a:latin typeface="TimesNewRomanPSMT"/>
              </a:rPr>
              <a:t>● </a:t>
            </a:r>
            <a:r>
              <a:rPr lang="en-GB" altLang="en-US" sz="1800">
                <a:latin typeface="OpenSans"/>
              </a:rPr>
              <a:t>high importance placed on documentation.</a:t>
            </a:r>
          </a:p>
          <a:p>
            <a:r>
              <a:rPr lang="en-GB" altLang="en-US" sz="1800" b="1">
                <a:latin typeface="OpenSans-Bold"/>
              </a:rPr>
              <a:t>Key features of Rapid Application Development (RAD):</a:t>
            </a:r>
          </a:p>
          <a:p>
            <a:r>
              <a:rPr lang="en-GB" altLang="en-US" sz="1800">
                <a:latin typeface="TimesNewRomanPSMT"/>
              </a:rPr>
              <a:t>● </a:t>
            </a:r>
            <a:r>
              <a:rPr lang="en-GB" altLang="en-US" sz="1800">
                <a:latin typeface="OpenSans"/>
              </a:rPr>
              <a:t>focus on quick creation of prototypes which are systematically improved</a:t>
            </a:r>
          </a:p>
          <a:p>
            <a:r>
              <a:rPr lang="en-GB" altLang="en-US" sz="1800">
                <a:latin typeface="TimesNewRomanPSMT"/>
              </a:rPr>
              <a:t>● </a:t>
            </a:r>
            <a:r>
              <a:rPr lang="en-GB" altLang="en-US" sz="1800">
                <a:latin typeface="OpenSans"/>
              </a:rPr>
              <a:t>emphasis on developing all features first and quality second</a:t>
            </a:r>
          </a:p>
          <a:p>
            <a:r>
              <a:rPr lang="en-GB" altLang="en-US" sz="1800">
                <a:latin typeface="TimesNewRomanPSMT"/>
              </a:rPr>
              <a:t>● </a:t>
            </a:r>
            <a:r>
              <a:rPr lang="en-GB" altLang="en-US" sz="1800">
                <a:latin typeface="OpenSans"/>
              </a:rPr>
              <a:t>users/clients may see only partially working products or mockups during</a:t>
            </a:r>
          </a:p>
          <a:p>
            <a:r>
              <a:rPr lang="en-GB" altLang="en-US" sz="1800">
                <a:latin typeface="OpenSans"/>
              </a:rPr>
              <a:t>early iterations</a:t>
            </a:r>
          </a:p>
          <a:p>
            <a:r>
              <a:rPr lang="en-GB" altLang="en-US" sz="1800">
                <a:latin typeface="TimesNewRomanPSMT"/>
              </a:rPr>
              <a:t>● </a:t>
            </a:r>
            <a:r>
              <a:rPr lang="en-GB" altLang="en-US" sz="1800">
                <a:latin typeface="OpenSans"/>
              </a:rPr>
              <a:t>relies heavily on reuse of previously developed code</a:t>
            </a:r>
          </a:p>
          <a:p>
            <a:r>
              <a:rPr lang="en-GB" altLang="en-US" sz="1800">
                <a:latin typeface="TimesNewRomanPSMT"/>
              </a:rPr>
              <a:t>● </a:t>
            </a:r>
            <a:r>
              <a:rPr lang="en-GB" altLang="en-US" sz="1800">
                <a:latin typeface="OpenSans"/>
              </a:rPr>
              <a:t>suitable for small to medium scale projects</a:t>
            </a:r>
          </a:p>
          <a:p>
            <a:endParaRPr lang="en-GB" altLang="en-US" sz="1800">
              <a:latin typeface="OpenSans"/>
            </a:endParaRPr>
          </a:p>
          <a:p>
            <a:r>
              <a:rPr lang="en-GB" altLang="en-US" sz="1800" b="1">
                <a:latin typeface="OpenSans-Bold"/>
              </a:rPr>
              <a:t>Key Features of LEAN:</a:t>
            </a:r>
          </a:p>
          <a:p>
            <a:r>
              <a:rPr lang="en-GB" altLang="en-US" sz="1800">
                <a:latin typeface="TimesNewRomanPSMT"/>
              </a:rPr>
              <a:t>● </a:t>
            </a:r>
            <a:r>
              <a:rPr lang="en-GB" altLang="en-US" sz="1800">
                <a:latin typeface="OpenSans"/>
              </a:rPr>
              <a:t>emphasis on reducing ‘waste’ in software (and projects) which may</a:t>
            </a:r>
          </a:p>
          <a:p>
            <a:r>
              <a:rPr lang="en-GB" altLang="en-US" sz="1800">
                <a:latin typeface="OpenSans"/>
              </a:rPr>
              <a:t>include:</a:t>
            </a:r>
          </a:p>
          <a:p>
            <a:r>
              <a:rPr lang="en-GB" altLang="en-US" sz="1800">
                <a:latin typeface="CourierNewPSMT"/>
              </a:rPr>
              <a:t>o </a:t>
            </a:r>
            <a:r>
              <a:rPr lang="en-GB" altLang="en-US" sz="1800">
                <a:latin typeface="OpenSans"/>
              </a:rPr>
              <a:t>unnecessary or incorrect features</a:t>
            </a:r>
          </a:p>
          <a:p>
            <a:r>
              <a:rPr lang="en-GB" altLang="en-US" sz="1800">
                <a:latin typeface="CourierNewPSMT"/>
              </a:rPr>
              <a:t>o </a:t>
            </a:r>
            <a:r>
              <a:rPr lang="en-GB" altLang="en-US" sz="1800">
                <a:latin typeface="OpenSans"/>
              </a:rPr>
              <a:t>repeated tasks</a:t>
            </a:r>
          </a:p>
          <a:p>
            <a:r>
              <a:rPr lang="en-GB" altLang="en-US" sz="1800">
                <a:latin typeface="CourierNewPSMT"/>
              </a:rPr>
              <a:t>o </a:t>
            </a:r>
            <a:r>
              <a:rPr lang="en-GB" altLang="en-US" sz="1800">
                <a:latin typeface="OpenSans"/>
              </a:rPr>
              <a:t>unnecessarily complex solutions</a:t>
            </a:r>
          </a:p>
          <a:p>
            <a:r>
              <a:rPr lang="en-GB" altLang="en-US" sz="1800">
                <a:latin typeface="CourierNewPSMT"/>
              </a:rPr>
              <a:t>o </a:t>
            </a:r>
            <a:r>
              <a:rPr lang="en-GB" altLang="en-US" sz="1800">
                <a:latin typeface="OpenSans"/>
              </a:rPr>
              <a:t>ineffective communication</a:t>
            </a:r>
          </a:p>
          <a:p>
            <a:r>
              <a:rPr lang="en-GB" altLang="en-US" sz="1800">
                <a:latin typeface="CourierNewPSMT"/>
              </a:rPr>
              <a:t>o </a:t>
            </a:r>
            <a:r>
              <a:rPr lang="en-GB" altLang="en-US" sz="1800">
                <a:latin typeface="OpenSans"/>
              </a:rPr>
              <a:t>unnecessary changes.</a:t>
            </a:r>
          </a:p>
          <a:p>
            <a:r>
              <a:rPr lang="en-GB" altLang="en-US" sz="1800">
                <a:latin typeface="TimesNewRomanPSMT"/>
              </a:rPr>
              <a:t>● </a:t>
            </a:r>
            <a:r>
              <a:rPr lang="en-GB" altLang="en-US" sz="1800">
                <a:latin typeface="OpenSans"/>
              </a:rPr>
              <a:t>decisions are made last minute to reduce chance of waste.</a:t>
            </a:r>
          </a:p>
          <a:p>
            <a:r>
              <a:rPr lang="en-GB" altLang="en-US" sz="1800">
                <a:latin typeface="TimesNewRomanPSMT"/>
              </a:rPr>
              <a:t>● </a:t>
            </a:r>
            <a:r>
              <a:rPr lang="en-GB" altLang="en-US" sz="1800">
                <a:latin typeface="OpenSans"/>
              </a:rPr>
              <a:t>short iteration cycles with fast delivery of working versions.</a:t>
            </a:r>
          </a:p>
          <a:p>
            <a:r>
              <a:rPr lang="en-GB" altLang="en-US" sz="1800">
                <a:latin typeface="TimesNewRomanPSMT"/>
              </a:rPr>
              <a:t>● </a:t>
            </a:r>
            <a:r>
              <a:rPr lang="en-GB" altLang="en-US" sz="1800">
                <a:latin typeface="OpenSans"/>
              </a:rPr>
              <a:t>emphasis placed on producing iterations that are fit for use and not</a:t>
            </a:r>
          </a:p>
          <a:p>
            <a:r>
              <a:rPr lang="en-GB" altLang="en-US" sz="1800">
                <a:latin typeface="OpenSans"/>
              </a:rPr>
              <a:t>specifically in delivering all features or requirements.</a:t>
            </a:r>
          </a:p>
          <a:p>
            <a:r>
              <a:rPr lang="en-GB" altLang="en-US" sz="1800">
                <a:latin typeface="TimesNewRomanPSMT"/>
              </a:rPr>
              <a:t>● </a:t>
            </a:r>
            <a:r>
              <a:rPr lang="en-GB" altLang="en-US" sz="1800">
                <a:latin typeface="OpenSans"/>
              </a:rPr>
              <a:t>suitable for projects with small teams and when resources are limited.</a:t>
            </a:r>
          </a:p>
          <a:p>
            <a:r>
              <a:rPr lang="en-GB" altLang="en-US" sz="1800">
                <a:latin typeface="TimesNewRomanPSMT"/>
              </a:rPr>
              <a:t>● </a:t>
            </a:r>
            <a:r>
              <a:rPr lang="en-GB" altLang="en-US" sz="1800">
                <a:latin typeface="OpenSans"/>
              </a:rPr>
              <a:t>understand features and approaches of User Centered Design (UCD)</a:t>
            </a:r>
          </a:p>
          <a:p>
            <a:r>
              <a:rPr lang="en-GB" altLang="en-US" sz="1800">
                <a:latin typeface="OpenSans"/>
              </a:rPr>
              <a:t>and how it is used within a software development lifecycle:</a:t>
            </a:r>
          </a:p>
          <a:p>
            <a:r>
              <a:rPr lang="en-GB" altLang="en-US" sz="1800">
                <a:latin typeface="CourierNewPSMT"/>
              </a:rPr>
              <a:t>o </a:t>
            </a:r>
            <a:r>
              <a:rPr lang="en-GB" altLang="en-US" sz="1800">
                <a:latin typeface="OpenSans"/>
              </a:rPr>
              <a:t>considerations for UCD:</a:t>
            </a:r>
          </a:p>
          <a:p>
            <a:r>
              <a:rPr lang="en-GB" altLang="en-US" sz="1800">
                <a:latin typeface="OpenSans"/>
              </a:rPr>
              <a:t>– Who is the user?</a:t>
            </a:r>
          </a:p>
          <a:p>
            <a:r>
              <a:rPr lang="en-GB" altLang="en-US" sz="1800">
                <a:latin typeface="OpenSans"/>
              </a:rPr>
              <a:t>– What does the user want to achieve by using the product?</a:t>
            </a:r>
          </a:p>
          <a:p>
            <a:r>
              <a:rPr lang="en-GB" altLang="en-US" sz="1800">
                <a:latin typeface="OpenSans"/>
              </a:rPr>
              <a:t>– How does the user interact with the product?</a:t>
            </a:r>
          </a:p>
          <a:p>
            <a:r>
              <a:rPr lang="en-GB" altLang="en-US" sz="1800">
                <a:latin typeface="OpenSans"/>
              </a:rPr>
              <a:t>– When does the user interact with the product?</a:t>
            </a:r>
          </a:p>
          <a:p>
            <a:r>
              <a:rPr lang="en-GB" altLang="en-US" sz="1800">
                <a:latin typeface="OpenSans"/>
              </a:rPr>
              <a:t>– Why is the product being used?</a:t>
            </a:r>
          </a:p>
          <a:p>
            <a:r>
              <a:rPr lang="en-GB" altLang="en-US" sz="1800">
                <a:latin typeface="OpenSans"/>
              </a:rPr>
              <a:t>– What is the user experience?</a:t>
            </a:r>
          </a:p>
          <a:p>
            <a:r>
              <a:rPr lang="en-GB" altLang="en-US" sz="1800">
                <a:latin typeface="CourierNewPSMT"/>
              </a:rPr>
              <a:t>o </a:t>
            </a:r>
            <a:r>
              <a:rPr lang="en-GB" altLang="en-US" sz="1800">
                <a:latin typeface="OpenSans"/>
              </a:rPr>
              <a:t>Characteristics of UCD (empathetic, iterative, interdisciplinary)</a:t>
            </a:r>
          </a:p>
          <a:p>
            <a:r>
              <a:rPr lang="en-GB" altLang="en-US" sz="1800">
                <a:latin typeface="CourierNewPSMT"/>
              </a:rPr>
              <a:t>o </a:t>
            </a:r>
            <a:r>
              <a:rPr lang="en-GB" altLang="en-US" sz="1800">
                <a:latin typeface="OpenSans"/>
              </a:rPr>
              <a:t>Stages of the UCD iterative approach:</a:t>
            </a:r>
          </a:p>
          <a:p>
            <a:r>
              <a:rPr lang="en-GB" altLang="en-US" sz="1800">
                <a:latin typeface="OpenSans"/>
              </a:rPr>
              <a:t>– understand the use context</a:t>
            </a:r>
          </a:p>
          <a:p>
            <a:r>
              <a:rPr lang="en-GB" altLang="en-US" sz="1800">
                <a:latin typeface="OpenSans"/>
              </a:rPr>
              <a:t>– specify the user requirements</a:t>
            </a:r>
          </a:p>
          <a:p>
            <a:r>
              <a:rPr lang="en-GB" altLang="en-US" sz="1800">
                <a:latin typeface="OpenSans"/>
              </a:rPr>
              <a:t>– design the solution</a:t>
            </a:r>
          </a:p>
          <a:p>
            <a:r>
              <a:rPr lang="en-GB" altLang="en-US" sz="1800">
                <a:latin typeface="OpenSans"/>
              </a:rPr>
              <a:t>– assess against requirements.</a:t>
            </a:r>
            <a:endParaRPr lang="en-US" altLang="en-US"/>
          </a:p>
        </p:txBody>
      </p:sp>
      <p:sp>
        <p:nvSpPr>
          <p:cNvPr id="19460" name="Slide Number Placeholder 3">
            <a:extLst>
              <a:ext uri="{FF2B5EF4-FFF2-40B4-BE49-F238E27FC236}">
                <a16:creationId xmlns:a16="http://schemas.microsoft.com/office/drawing/2014/main" id="{E3346CF2-87B4-5E97-5DC8-1E6A84E7524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1448BAC-ACDE-4F9A-9DCC-6648CABA694C}" type="slidenum">
              <a:rPr lang="en-GB" altLang="en-US" smtClean="0"/>
              <a:pPr>
                <a:spcBef>
                  <a:spcPct val="0"/>
                </a:spcBef>
              </a:pPr>
              <a:t>2</a:t>
            </a:fld>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A94DD1E1-ED0D-B386-06D9-8C9CF5044D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F3480C6-0629-47C8-A81C-DDE0A03AE4E0}" type="slidenum">
              <a:rPr lang="en-GB" altLang="en-US" smtClean="0"/>
              <a:pPr>
                <a:spcBef>
                  <a:spcPct val="0"/>
                </a:spcBef>
              </a:pPr>
              <a:t>3</a:t>
            </a:fld>
            <a:endParaRPr lang="en-GB" altLang="en-US"/>
          </a:p>
        </p:txBody>
      </p:sp>
      <p:sp>
        <p:nvSpPr>
          <p:cNvPr id="19459" name="Rectangle 2">
            <a:extLst>
              <a:ext uri="{FF2B5EF4-FFF2-40B4-BE49-F238E27FC236}">
                <a16:creationId xmlns:a16="http://schemas.microsoft.com/office/drawing/2014/main" id="{9FAE4266-AEE9-6BDB-09BF-77CAC2D71605}"/>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B93BBDD6-34F8-6A82-09F6-645A72AFBB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Arial" panose="020B0604020202020204" pitchFamily="34" charset="0"/>
              <a:buNone/>
            </a:pPr>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32D6C-04EB-9872-856B-188F077F9198}"/>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FD00B0A0-3142-3EFE-8F0A-AF9DD98C6B02}"/>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131C3B01-2955-6126-DD31-A3764869203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https://pmoexcellence.blog/2013/04/28/software-development-methodologies-i/</a:t>
            </a:r>
          </a:p>
          <a:p>
            <a:r>
              <a:rPr lang="en-GB" dirty="0"/>
              <a:t>https://innowise.com/blog/software-development-methodologies/</a:t>
            </a:r>
          </a:p>
        </p:txBody>
      </p:sp>
      <p:sp>
        <p:nvSpPr>
          <p:cNvPr id="19460" name="Slide Number Placeholder 3">
            <a:extLst>
              <a:ext uri="{FF2B5EF4-FFF2-40B4-BE49-F238E27FC236}">
                <a16:creationId xmlns:a16="http://schemas.microsoft.com/office/drawing/2014/main" id="{1248B560-F751-3CF0-C73E-B05AC84DF8A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4</a:t>
            </a:fld>
            <a:endParaRPr lang="en-GB" altLang="en-US"/>
          </a:p>
        </p:txBody>
      </p:sp>
    </p:spTree>
    <p:extLst>
      <p:ext uri="{BB962C8B-B14F-4D97-AF65-F5344CB8AC3E}">
        <p14:creationId xmlns:p14="http://schemas.microsoft.com/office/powerpoint/2010/main" val="38788737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4F457-4659-5ACC-5D6F-A2F8A9B353C1}"/>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A00368C9-BFDF-8A5F-79FF-B84D78D8C554}"/>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E2357FED-2FA4-D616-D4E8-66FAE1B7AD6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https://inclusioncloud.com/insights/blog/agile-methodologies-business/</a:t>
            </a:r>
          </a:p>
        </p:txBody>
      </p:sp>
      <p:sp>
        <p:nvSpPr>
          <p:cNvPr id="19460" name="Slide Number Placeholder 3">
            <a:extLst>
              <a:ext uri="{FF2B5EF4-FFF2-40B4-BE49-F238E27FC236}">
                <a16:creationId xmlns:a16="http://schemas.microsoft.com/office/drawing/2014/main" id="{D151EBC8-3145-94B7-DA4E-AEF639D7421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5</a:t>
            </a:fld>
            <a:endParaRPr lang="en-GB" altLang="en-US"/>
          </a:p>
        </p:txBody>
      </p:sp>
    </p:spTree>
    <p:extLst>
      <p:ext uri="{BB962C8B-B14F-4D97-AF65-F5344CB8AC3E}">
        <p14:creationId xmlns:p14="http://schemas.microsoft.com/office/powerpoint/2010/main" val="33726109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DA510-B485-EAA3-D714-D81235E96E40}"/>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993B65AD-BE05-2525-CA6D-7A43024AF3C9}"/>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CE165494-81DC-C6DB-39BE-AF393B5A3B8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b="1" dirty="0"/>
              <a:t>Scrum</a:t>
            </a:r>
          </a:p>
          <a:p>
            <a:r>
              <a:rPr lang="en-GB" dirty="0"/>
              <a:t>Most widely used Agile framework</a:t>
            </a:r>
          </a:p>
          <a:p>
            <a:r>
              <a:rPr lang="en-GB" dirty="0"/>
              <a:t>Work is divided into time-boxed </a:t>
            </a:r>
            <a:r>
              <a:rPr lang="en-GB" b="1" dirty="0"/>
              <a:t>sprints</a:t>
            </a:r>
            <a:r>
              <a:rPr lang="en-GB" dirty="0"/>
              <a:t> (typically 2–4 weeks)</a:t>
            </a:r>
          </a:p>
          <a:p>
            <a:r>
              <a:rPr lang="en-GB" dirty="0"/>
              <a:t>Defined roles: </a:t>
            </a:r>
            <a:r>
              <a:rPr lang="en-GB" b="1" dirty="0"/>
              <a:t>Scrum Master</a:t>
            </a:r>
            <a:r>
              <a:rPr lang="en-GB" dirty="0"/>
              <a:t>, </a:t>
            </a:r>
            <a:r>
              <a:rPr lang="en-GB" b="1" dirty="0"/>
              <a:t>Product Owner</a:t>
            </a:r>
            <a:r>
              <a:rPr lang="en-GB" dirty="0"/>
              <a:t>, </a:t>
            </a:r>
            <a:r>
              <a:rPr lang="en-GB" b="1" dirty="0"/>
              <a:t>Development Team</a:t>
            </a:r>
            <a:endParaRPr lang="en-GB" dirty="0"/>
          </a:p>
          <a:p>
            <a:r>
              <a:rPr lang="en-GB" dirty="0"/>
              <a:t>Emphasizes </a:t>
            </a:r>
            <a:r>
              <a:rPr lang="en-GB" b="1" dirty="0"/>
              <a:t>daily stand-ups</a:t>
            </a:r>
            <a:r>
              <a:rPr lang="en-GB" dirty="0"/>
              <a:t>, sprint reviews, and retrospectives</a:t>
            </a:r>
          </a:p>
          <a:p>
            <a:r>
              <a:rPr lang="en-GB" b="1" dirty="0"/>
              <a:t>🔄 Kanban</a:t>
            </a:r>
          </a:p>
          <a:p>
            <a:r>
              <a:rPr lang="en-GB" dirty="0"/>
              <a:t>Visual management system using a </a:t>
            </a:r>
            <a:r>
              <a:rPr lang="en-GB" b="1" dirty="0"/>
              <a:t>Kanban board</a:t>
            </a:r>
            <a:endParaRPr lang="en-GB" dirty="0"/>
          </a:p>
          <a:p>
            <a:r>
              <a:rPr lang="en-GB" dirty="0"/>
              <a:t>Focuses on </a:t>
            </a:r>
            <a:r>
              <a:rPr lang="en-GB" b="1" dirty="0"/>
              <a:t>continuous delivery</a:t>
            </a:r>
            <a:r>
              <a:rPr lang="en-GB" dirty="0"/>
              <a:t> and </a:t>
            </a:r>
            <a:r>
              <a:rPr lang="en-GB" b="1" dirty="0"/>
              <a:t>workflow optimization</a:t>
            </a:r>
            <a:endParaRPr lang="en-GB" dirty="0"/>
          </a:p>
          <a:p>
            <a:r>
              <a:rPr lang="en-GB" dirty="0"/>
              <a:t>Limits work in progress (</a:t>
            </a:r>
            <a:r>
              <a:rPr lang="en-GB" b="1" dirty="0"/>
              <a:t>WIP limits</a:t>
            </a:r>
            <a:r>
              <a:rPr lang="en-GB" dirty="0"/>
              <a:t>) to avoid bottlenecks</a:t>
            </a:r>
          </a:p>
          <a:p>
            <a:r>
              <a:rPr lang="en-GB" dirty="0"/>
              <a:t>No fixed time boxes; highly adaptable</a:t>
            </a:r>
          </a:p>
          <a:p>
            <a:r>
              <a:rPr lang="en-GB" b="1" dirty="0"/>
              <a:t>🛠 Extreme Programming (XP)</a:t>
            </a:r>
          </a:p>
          <a:p>
            <a:r>
              <a:rPr lang="en-GB" dirty="0"/>
              <a:t>Prioritizes </a:t>
            </a:r>
            <a:r>
              <a:rPr lang="en-GB" b="1" dirty="0"/>
              <a:t>technical excellence</a:t>
            </a:r>
            <a:r>
              <a:rPr lang="en-GB" dirty="0"/>
              <a:t> and </a:t>
            </a:r>
            <a:r>
              <a:rPr lang="en-GB" b="1" dirty="0"/>
              <a:t>customer satisfaction</a:t>
            </a:r>
            <a:endParaRPr lang="en-GB" dirty="0"/>
          </a:p>
          <a:p>
            <a:r>
              <a:rPr lang="en-GB" dirty="0"/>
              <a:t>Practices include </a:t>
            </a:r>
            <a:r>
              <a:rPr lang="en-GB" b="1" dirty="0"/>
              <a:t>Test-Driven Development (TDD)</a:t>
            </a:r>
            <a:r>
              <a:rPr lang="en-GB" dirty="0"/>
              <a:t>, </a:t>
            </a:r>
            <a:r>
              <a:rPr lang="en-GB" b="1" dirty="0"/>
              <a:t>pair programming</a:t>
            </a:r>
            <a:r>
              <a:rPr lang="en-GB" dirty="0"/>
              <a:t>, and </a:t>
            </a:r>
            <a:r>
              <a:rPr lang="en-GB" b="1" dirty="0"/>
              <a:t>continuous integration</a:t>
            </a:r>
            <a:endParaRPr lang="en-GB" dirty="0"/>
          </a:p>
          <a:p>
            <a:r>
              <a:rPr lang="en-GB" dirty="0"/>
              <a:t>Frequent releases in short development cycles</a:t>
            </a:r>
          </a:p>
          <a:p>
            <a:r>
              <a:rPr lang="en-GB" b="1" dirty="0"/>
              <a:t>🧩 Feature-Driven Development (FDD)</a:t>
            </a:r>
          </a:p>
          <a:p>
            <a:r>
              <a:rPr lang="en-GB" dirty="0"/>
              <a:t>Combines Agile with </a:t>
            </a:r>
            <a:r>
              <a:rPr lang="en-GB" b="1" dirty="0"/>
              <a:t>model-driven engineering</a:t>
            </a:r>
            <a:endParaRPr lang="en-GB" dirty="0"/>
          </a:p>
          <a:p>
            <a:r>
              <a:rPr lang="en-GB" dirty="0"/>
              <a:t>Focuses on designing and building </a:t>
            </a:r>
            <a:r>
              <a:rPr lang="en-GB" b="1" dirty="0"/>
              <a:t>features</a:t>
            </a:r>
            <a:r>
              <a:rPr lang="en-GB" dirty="0"/>
              <a:t> (small, client-valued functions)</a:t>
            </a:r>
          </a:p>
          <a:p>
            <a:r>
              <a:rPr lang="en-GB" dirty="0"/>
              <a:t>Best for </a:t>
            </a:r>
            <a:r>
              <a:rPr lang="en-GB" b="1" dirty="0"/>
              <a:t>larger teams</a:t>
            </a:r>
            <a:r>
              <a:rPr lang="en-GB" dirty="0"/>
              <a:t> and </a:t>
            </a:r>
            <a:r>
              <a:rPr lang="en-GB" b="1" dirty="0"/>
              <a:t>structured environments</a:t>
            </a:r>
            <a:endParaRPr lang="en-GB" dirty="0"/>
          </a:p>
          <a:p>
            <a:r>
              <a:rPr lang="en-GB" b="1" dirty="0"/>
              <a:t>⚙️ Crystal</a:t>
            </a:r>
          </a:p>
          <a:p>
            <a:r>
              <a:rPr lang="en-GB" dirty="0"/>
              <a:t>Lightweight, </a:t>
            </a:r>
            <a:r>
              <a:rPr lang="en-GB" b="1" dirty="0"/>
              <a:t>people-centric</a:t>
            </a:r>
            <a:r>
              <a:rPr lang="en-GB" dirty="0"/>
              <a:t> methodology</a:t>
            </a:r>
          </a:p>
          <a:p>
            <a:r>
              <a:rPr lang="en-GB" dirty="0"/>
              <a:t>Different "</a:t>
            </a:r>
            <a:r>
              <a:rPr lang="en-GB" dirty="0" err="1"/>
              <a:t>colors</a:t>
            </a:r>
            <a:r>
              <a:rPr lang="en-GB" dirty="0"/>
              <a:t>" (e.g., Crystal Clear, Crystal Orange) for different team sizes and project criticality</a:t>
            </a:r>
          </a:p>
          <a:p>
            <a:r>
              <a:rPr lang="en-GB" dirty="0"/>
              <a:t>Prioritizes </a:t>
            </a:r>
            <a:r>
              <a:rPr lang="en-GB" b="1" dirty="0"/>
              <a:t>collaboration</a:t>
            </a:r>
            <a:r>
              <a:rPr lang="en-GB" dirty="0"/>
              <a:t> and </a:t>
            </a:r>
            <a:r>
              <a:rPr lang="en-GB" b="1" dirty="0"/>
              <a:t>adaptability</a:t>
            </a:r>
            <a:endParaRPr lang="en-GB" dirty="0"/>
          </a:p>
        </p:txBody>
      </p:sp>
      <p:sp>
        <p:nvSpPr>
          <p:cNvPr id="19460" name="Slide Number Placeholder 3">
            <a:extLst>
              <a:ext uri="{FF2B5EF4-FFF2-40B4-BE49-F238E27FC236}">
                <a16:creationId xmlns:a16="http://schemas.microsoft.com/office/drawing/2014/main" id="{288B254F-4776-8C93-8A94-B98C78B2B7D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6</a:t>
            </a:fld>
            <a:endParaRPr lang="en-GB" altLang="en-US"/>
          </a:p>
        </p:txBody>
      </p:sp>
    </p:spTree>
    <p:extLst>
      <p:ext uri="{BB962C8B-B14F-4D97-AF65-F5344CB8AC3E}">
        <p14:creationId xmlns:p14="http://schemas.microsoft.com/office/powerpoint/2010/main" val="32070851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8AC32-F213-F8AC-4A91-37BE156FC469}"/>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85A04CA4-B95D-A3AE-0BFB-5BD35760C5C5}"/>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FDD35C20-673E-78CB-232D-88B4E3730D9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https://framework.scaledagile.com/</a:t>
            </a:r>
          </a:p>
        </p:txBody>
      </p:sp>
      <p:sp>
        <p:nvSpPr>
          <p:cNvPr id="19460" name="Slide Number Placeholder 3">
            <a:extLst>
              <a:ext uri="{FF2B5EF4-FFF2-40B4-BE49-F238E27FC236}">
                <a16:creationId xmlns:a16="http://schemas.microsoft.com/office/drawing/2014/main" id="{275470A7-3837-BD68-8484-78BFF4AB865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7</a:t>
            </a:fld>
            <a:endParaRPr lang="en-GB" altLang="en-US"/>
          </a:p>
        </p:txBody>
      </p:sp>
    </p:spTree>
    <p:extLst>
      <p:ext uri="{BB962C8B-B14F-4D97-AF65-F5344CB8AC3E}">
        <p14:creationId xmlns:p14="http://schemas.microsoft.com/office/powerpoint/2010/main" val="38546095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622ED-ED17-31EB-82C8-061AB8D4838A}"/>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906450D6-BC7A-9DF4-2FAB-5E70BD2560E3}"/>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6A7CE8A7-F39B-A105-2D89-56B694E7A92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https://www.techtarget.com/searchsoftwarequality/definition/waterfall-model</a:t>
            </a:r>
          </a:p>
        </p:txBody>
      </p:sp>
      <p:sp>
        <p:nvSpPr>
          <p:cNvPr id="19460" name="Slide Number Placeholder 3">
            <a:extLst>
              <a:ext uri="{FF2B5EF4-FFF2-40B4-BE49-F238E27FC236}">
                <a16:creationId xmlns:a16="http://schemas.microsoft.com/office/drawing/2014/main" id="{211E5539-26ED-9719-07AA-FB4BBFA66F1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8</a:t>
            </a:fld>
            <a:endParaRPr lang="en-GB" altLang="en-US"/>
          </a:p>
        </p:txBody>
      </p:sp>
    </p:spTree>
    <p:extLst>
      <p:ext uri="{BB962C8B-B14F-4D97-AF65-F5344CB8AC3E}">
        <p14:creationId xmlns:p14="http://schemas.microsoft.com/office/powerpoint/2010/main" val="8829216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9B0D6-DF2A-BBD3-0018-3307C8419842}"/>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C7FCE8D4-9D2F-E39C-98BF-50CB0ACE05EF}"/>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94DBBC67-5CA1-0A51-D479-013BE5C7F18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https://www.agilelonestar.com/knowledge-base/rapid-application-development</a:t>
            </a:r>
          </a:p>
          <a:p>
            <a:r>
              <a:rPr lang="en-GB" dirty="0"/>
              <a:t>https://kissflow.com/application-development/rad/rapid-application-development/</a:t>
            </a:r>
          </a:p>
        </p:txBody>
      </p:sp>
      <p:sp>
        <p:nvSpPr>
          <p:cNvPr id="19460" name="Slide Number Placeholder 3">
            <a:extLst>
              <a:ext uri="{FF2B5EF4-FFF2-40B4-BE49-F238E27FC236}">
                <a16:creationId xmlns:a16="http://schemas.microsoft.com/office/drawing/2014/main" id="{71F31360-BEA7-9F8B-C581-D73280BBA89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9</a:t>
            </a:fld>
            <a:endParaRPr lang="en-GB" altLang="en-US"/>
          </a:p>
        </p:txBody>
      </p:sp>
    </p:spTree>
    <p:extLst>
      <p:ext uri="{BB962C8B-B14F-4D97-AF65-F5344CB8AC3E}">
        <p14:creationId xmlns:p14="http://schemas.microsoft.com/office/powerpoint/2010/main" val="11990170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DD790-70E5-6305-7260-63C1BB25314D}"/>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23E5766A-BE13-4323-A579-E15C39AD12DD}"/>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1892C6FD-174A-4633-993C-DD246E092CA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https://hangoutagile.com/lean-software-development-wave-ii/</a:t>
            </a:r>
          </a:p>
          <a:p>
            <a:r>
              <a:rPr lang="en-GB" dirty="0"/>
              <a:t>https://www.spaceo.ca/glossary/software-terms/what-is-lean-software-development/</a:t>
            </a:r>
          </a:p>
        </p:txBody>
      </p:sp>
      <p:sp>
        <p:nvSpPr>
          <p:cNvPr id="19460" name="Slide Number Placeholder 3">
            <a:extLst>
              <a:ext uri="{FF2B5EF4-FFF2-40B4-BE49-F238E27FC236}">
                <a16:creationId xmlns:a16="http://schemas.microsoft.com/office/drawing/2014/main" id="{67B52A9E-FA12-25FD-F3D7-0FE59EAD56B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10</a:t>
            </a:fld>
            <a:endParaRPr lang="en-GB" altLang="en-US"/>
          </a:p>
        </p:txBody>
      </p:sp>
    </p:spTree>
    <p:extLst>
      <p:ext uri="{BB962C8B-B14F-4D97-AF65-F5344CB8AC3E}">
        <p14:creationId xmlns:p14="http://schemas.microsoft.com/office/powerpoint/2010/main" val="42716211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4C989-EE9C-9453-C54B-F1140B14C08A}"/>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D54AF059-7351-3129-2253-B1D7B9E3171C}"/>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E834DD76-AC49-C276-A8D6-4F26CD68288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https://www.justinmind.com/blog/user-centered-design/</a:t>
            </a:r>
          </a:p>
        </p:txBody>
      </p:sp>
      <p:sp>
        <p:nvSpPr>
          <p:cNvPr id="19460" name="Slide Number Placeholder 3">
            <a:extLst>
              <a:ext uri="{FF2B5EF4-FFF2-40B4-BE49-F238E27FC236}">
                <a16:creationId xmlns:a16="http://schemas.microsoft.com/office/drawing/2014/main" id="{C2206886-CAD8-26DC-2B58-75B2FAEB30E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11</a:t>
            </a:fld>
            <a:endParaRPr lang="en-GB" altLang="en-US"/>
          </a:p>
        </p:txBody>
      </p:sp>
    </p:spTree>
    <p:extLst>
      <p:ext uri="{BB962C8B-B14F-4D97-AF65-F5344CB8AC3E}">
        <p14:creationId xmlns:p14="http://schemas.microsoft.com/office/powerpoint/2010/main" val="37156730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DB299-2A9E-4DBB-6AB6-467BA9D48CC5}"/>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F38F25FB-5812-2467-7C81-A8188C704D49}"/>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7273D526-24FB-C392-CCB4-60F4C8C50C9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
        <p:nvSpPr>
          <p:cNvPr id="19460" name="Slide Number Placeholder 3">
            <a:extLst>
              <a:ext uri="{FF2B5EF4-FFF2-40B4-BE49-F238E27FC236}">
                <a16:creationId xmlns:a16="http://schemas.microsoft.com/office/drawing/2014/main" id="{6219A6E1-E0BE-B986-A582-D25866CE19D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12</a:t>
            </a:fld>
            <a:endParaRPr lang="en-GB" altLang="en-US"/>
          </a:p>
        </p:txBody>
      </p:sp>
    </p:spTree>
    <p:extLst>
      <p:ext uri="{BB962C8B-B14F-4D97-AF65-F5344CB8AC3E}">
        <p14:creationId xmlns:p14="http://schemas.microsoft.com/office/powerpoint/2010/main" val="29548466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https://www.tatvasoft.com/blog/top-12-software-development-methodologies-and-its-advantages-disadvantages/</a:t>
            </a:r>
          </a:p>
        </p:txBody>
      </p:sp>
      <p:sp>
        <p:nvSpPr>
          <p:cNvPr id="4" name="Slide Number Placeholder 3"/>
          <p:cNvSpPr>
            <a:spLocks noGrp="1"/>
          </p:cNvSpPr>
          <p:nvPr>
            <p:ph type="sldNum" sz="quarter" idx="5"/>
          </p:nvPr>
        </p:nvSpPr>
        <p:spPr/>
        <p:txBody>
          <a:bodyPr/>
          <a:lstStyle/>
          <a:p>
            <a:pPr>
              <a:defRPr/>
            </a:pPr>
            <a:fld id="{1AA8946F-D45A-43B3-9928-3AC96DF4CE3A}" type="slidenum">
              <a:rPr lang="en-GB" altLang="en-US" smtClean="0"/>
              <a:pPr>
                <a:defRPr/>
              </a:pPr>
              <a:t>13</a:t>
            </a:fld>
            <a:endParaRPr lang="en-GB" altLang="en-US"/>
          </a:p>
        </p:txBody>
      </p:sp>
    </p:spTree>
    <p:extLst>
      <p:ext uri="{BB962C8B-B14F-4D97-AF65-F5344CB8AC3E}">
        <p14:creationId xmlns:p14="http://schemas.microsoft.com/office/powerpoint/2010/main" val="34301806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EF66ADC8-90E0-E5B0-3851-3B663F3498E6}"/>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DD43917E-FF98-97F3-DE26-BEDC0509A9A6}"/>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284FCD58-2370-5603-5ADF-0236992B4848}"/>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11" name="Rectangle 5">
                <a:extLst>
                  <a:ext uri="{FF2B5EF4-FFF2-40B4-BE49-F238E27FC236}">
                    <a16:creationId xmlns:a16="http://schemas.microsoft.com/office/drawing/2014/main" id="{D0541F31-ADF2-8A46-D0E9-57FE54F1F773}"/>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grpSp>
          <p:nvGrpSpPr>
            <p:cNvPr id="4" name="Group 6">
              <a:extLst>
                <a:ext uri="{FF2B5EF4-FFF2-40B4-BE49-F238E27FC236}">
                  <a16:creationId xmlns:a16="http://schemas.microsoft.com/office/drawing/2014/main" id="{4772B6FF-980D-93CD-85DA-95EF1B861221}"/>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836CD3B2-858C-0B7D-B355-F393EB1B5964}"/>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9" name="Rectangle 8">
                <a:extLst>
                  <a:ext uri="{FF2B5EF4-FFF2-40B4-BE49-F238E27FC236}">
                    <a16:creationId xmlns:a16="http://schemas.microsoft.com/office/drawing/2014/main" id="{24C7F9F5-52F9-F408-A222-2A4F6266419B}"/>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5" name="Rectangle 9">
              <a:extLst>
                <a:ext uri="{FF2B5EF4-FFF2-40B4-BE49-F238E27FC236}">
                  <a16:creationId xmlns:a16="http://schemas.microsoft.com/office/drawing/2014/main" id="{9F64D8BA-B49D-B27B-485B-64FE82E6144A}"/>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6" name="Rectangle 10">
              <a:extLst>
                <a:ext uri="{FF2B5EF4-FFF2-40B4-BE49-F238E27FC236}">
                  <a16:creationId xmlns:a16="http://schemas.microsoft.com/office/drawing/2014/main" id="{EA24DF69-E0EF-5EF1-EA5E-3DBAB019A9BC}"/>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7" name="Rectangle 11">
              <a:extLst>
                <a:ext uri="{FF2B5EF4-FFF2-40B4-BE49-F238E27FC236}">
                  <a16:creationId xmlns:a16="http://schemas.microsoft.com/office/drawing/2014/main" id="{9300ABC0-06CD-5480-9D19-6EBB3213D7C5}"/>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12" name="TextBox 17">
            <a:extLst>
              <a:ext uri="{FF2B5EF4-FFF2-40B4-BE49-F238E27FC236}">
                <a16:creationId xmlns:a16="http://schemas.microsoft.com/office/drawing/2014/main" id="{F06278C9-5D43-49D6-568F-174A07D37F68}"/>
              </a:ext>
            </a:extLst>
          </p:cNvPr>
          <p:cNvSpPr txBox="1"/>
          <p:nvPr userDrawn="1"/>
        </p:nvSpPr>
        <p:spPr>
          <a:xfrm>
            <a:off x="7235825" y="6611938"/>
            <a:ext cx="1908175" cy="246062"/>
          </a:xfrm>
          <a:prstGeom prst="rect">
            <a:avLst/>
          </a:prstGeom>
          <a:noFill/>
        </p:spPr>
        <p:txBody>
          <a:bodyPr>
            <a:spAutoFit/>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1000" dirty="0"/>
              <a:t>Prepared by Hamish Spencer</a:t>
            </a:r>
            <a:endParaRPr lang="en-GB" sz="1000" dirty="0"/>
          </a:p>
        </p:txBody>
      </p:sp>
      <p:sp>
        <p:nvSpPr>
          <p:cNvPr id="25612" name="Rectangle 12"/>
          <p:cNvSpPr>
            <a:spLocks noGrp="1" noChangeArrowheads="1"/>
          </p:cNvSpPr>
          <p:nvPr>
            <p:ph type="ctrTitle"/>
          </p:nvPr>
        </p:nvSpPr>
        <p:spPr>
          <a:xfrm>
            <a:off x="990600" y="1828800"/>
            <a:ext cx="7772400" cy="1143000"/>
          </a:xfrm>
        </p:spPr>
        <p:txBody>
          <a:bodyPr/>
          <a:lstStyle>
            <a:lvl1pPr>
              <a:defRPr/>
            </a:lvl1pPr>
          </a:lstStyle>
          <a:p>
            <a:r>
              <a:rPr lang="en-US"/>
              <a:t>Click to edit Master title style</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3" name="Date Placeholder 14">
            <a:extLst>
              <a:ext uri="{FF2B5EF4-FFF2-40B4-BE49-F238E27FC236}">
                <a16:creationId xmlns:a16="http://schemas.microsoft.com/office/drawing/2014/main" id="{5C5E1E5E-C104-F862-CC31-8398523B01E1}"/>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p>
        </p:txBody>
      </p:sp>
      <p:sp>
        <p:nvSpPr>
          <p:cNvPr id="14" name="Footer Placeholder 15">
            <a:extLst>
              <a:ext uri="{FF2B5EF4-FFF2-40B4-BE49-F238E27FC236}">
                <a16:creationId xmlns:a16="http://schemas.microsoft.com/office/drawing/2014/main" id="{B27BAB58-4E48-42A6-D182-731096330E7D}"/>
              </a:ext>
            </a:extLst>
          </p:cNvPr>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p>
        </p:txBody>
      </p:sp>
    </p:spTree>
    <p:extLst>
      <p:ext uri="{BB962C8B-B14F-4D97-AF65-F5344CB8AC3E}">
        <p14:creationId xmlns:p14="http://schemas.microsoft.com/office/powerpoint/2010/main" val="32001534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F03DD7DD-AF97-803D-DA5F-22E85D0CFA14}"/>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E8B6C342-E9B0-6505-04AF-8E0DC988B313}"/>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AA9AA854-18ED-3283-CEF2-F94CA81CAA4F}"/>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299CA454-4665-4301-9CCB-02AAC0D836C8}" type="slidenum">
              <a:rPr lang="en-US" altLang="en-US"/>
              <a:pPr>
                <a:defRPr/>
              </a:pPr>
              <a:t>‹#›</a:t>
            </a:fld>
            <a:endParaRPr lang="en-US" altLang="en-US"/>
          </a:p>
        </p:txBody>
      </p:sp>
    </p:spTree>
    <p:extLst>
      <p:ext uri="{BB962C8B-B14F-4D97-AF65-F5344CB8AC3E}">
        <p14:creationId xmlns:p14="http://schemas.microsoft.com/office/powerpoint/2010/main" val="17412796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499D191D-E70F-E9AF-3D85-AD2A522DEF53}"/>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5F4E4032-18C8-828C-E0FD-422B865B8814}"/>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0CEDC740-AF21-DC77-65AE-801132C9BB0A}"/>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8FA739C9-8D6B-45C1-B7FC-29E4E8DB5413}" type="slidenum">
              <a:rPr lang="en-US" altLang="en-US"/>
              <a:pPr>
                <a:defRPr/>
              </a:pPr>
              <a:t>‹#›</a:t>
            </a:fld>
            <a:endParaRPr lang="en-US" altLang="en-US"/>
          </a:p>
        </p:txBody>
      </p:sp>
    </p:spTree>
    <p:extLst>
      <p:ext uri="{BB962C8B-B14F-4D97-AF65-F5344CB8AC3E}">
        <p14:creationId xmlns:p14="http://schemas.microsoft.com/office/powerpoint/2010/main" val="87453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826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50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a:extLst>
              <a:ext uri="{FF2B5EF4-FFF2-40B4-BE49-F238E27FC236}">
                <a16:creationId xmlns:a16="http://schemas.microsoft.com/office/drawing/2014/main" id="{A716FC9E-D16A-551B-04F2-E4D8B753B974}"/>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EB1D4467-DC73-72ED-70BA-7CF4A683D67F}"/>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5BDAA2F6-95B5-8D99-25F6-A1D538B46310}"/>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1616DA94-381D-4FCA-A277-12662C2371C6}" type="slidenum">
              <a:rPr lang="en-US" altLang="en-US"/>
              <a:pPr>
                <a:defRPr/>
              </a:pPr>
              <a:t>‹#›</a:t>
            </a:fld>
            <a:endParaRPr lang="en-US" altLang="en-US"/>
          </a:p>
        </p:txBody>
      </p:sp>
    </p:spTree>
    <p:extLst>
      <p:ext uri="{BB962C8B-B14F-4D97-AF65-F5344CB8AC3E}">
        <p14:creationId xmlns:p14="http://schemas.microsoft.com/office/powerpoint/2010/main" val="490691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a:extLst>
              <a:ext uri="{FF2B5EF4-FFF2-40B4-BE49-F238E27FC236}">
                <a16:creationId xmlns:a16="http://schemas.microsoft.com/office/drawing/2014/main" id="{5A14EE47-B8E0-2FD6-D896-60B6A83BB03C}"/>
              </a:ext>
            </a:extLst>
          </p:cNvPr>
          <p:cNvSpPr>
            <a:spLocks noGrp="1" noChangeArrowheads="1"/>
          </p:cNvSpPr>
          <p:nvPr>
            <p:ph type="dt" sz="half" idx="10"/>
          </p:nvPr>
        </p:nvSpPr>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ECA7C438-1364-DDC9-141A-32510086A521}"/>
              </a:ext>
            </a:extLst>
          </p:cNvPr>
          <p:cNvSpPr>
            <a:spLocks noGrp="1" noChangeArrowheads="1"/>
          </p:cNvSpPr>
          <p:nvPr>
            <p:ph type="ftr" sz="quarter" idx="11"/>
          </p:nvPr>
        </p:nvSpPr>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15907A07-6A43-49B3-906F-EBC13E93224E}"/>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EDA48B9B-BEA2-49B6-B34B-F23BA00F7505}" type="slidenum">
              <a:rPr lang="en-US" altLang="en-US"/>
              <a:pPr>
                <a:defRPr/>
              </a:pPr>
              <a:t>‹#›</a:t>
            </a:fld>
            <a:endParaRPr lang="en-US" altLang="en-US"/>
          </a:p>
        </p:txBody>
      </p:sp>
    </p:spTree>
    <p:extLst>
      <p:ext uri="{BB962C8B-B14F-4D97-AF65-F5344CB8AC3E}">
        <p14:creationId xmlns:p14="http://schemas.microsoft.com/office/powerpoint/2010/main" val="4082601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a:extLst>
              <a:ext uri="{FF2B5EF4-FFF2-40B4-BE49-F238E27FC236}">
                <a16:creationId xmlns:a16="http://schemas.microsoft.com/office/drawing/2014/main" id="{D78CC49A-2C66-932A-0B1B-15ACB3C2030B}"/>
              </a:ext>
            </a:extLst>
          </p:cNvPr>
          <p:cNvSpPr>
            <a:spLocks noGrp="1" noChangeArrowheads="1"/>
          </p:cNvSpPr>
          <p:nvPr>
            <p:ph type="dt" sz="half" idx="10"/>
          </p:nvPr>
        </p:nvSpPr>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0CD54A70-DFD5-B124-5B24-963DAAC74181}"/>
              </a:ext>
            </a:extLst>
          </p:cNvPr>
          <p:cNvSpPr>
            <a:spLocks noGrp="1" noChangeArrowheads="1"/>
          </p:cNvSpPr>
          <p:nvPr>
            <p:ph type="ftr" sz="quarter" idx="11"/>
          </p:nvPr>
        </p:nvSpPr>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8A328A4E-8F04-5DA7-88DC-4362F4040024}"/>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2BBB9540-916F-49D8-AD43-B894BAAEA04B}" type="slidenum">
              <a:rPr lang="en-US" altLang="en-US"/>
              <a:pPr>
                <a:defRPr/>
              </a:pPr>
              <a:t>‹#›</a:t>
            </a:fld>
            <a:endParaRPr lang="en-US" altLang="en-US"/>
          </a:p>
        </p:txBody>
      </p:sp>
    </p:spTree>
    <p:extLst>
      <p:ext uri="{BB962C8B-B14F-4D97-AF65-F5344CB8AC3E}">
        <p14:creationId xmlns:p14="http://schemas.microsoft.com/office/powerpoint/2010/main" val="4269221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CD3460B4-38DD-B91A-C372-9B4D482BAEB3}"/>
              </a:ext>
            </a:extLst>
          </p:cNvPr>
          <p:cNvSpPr>
            <a:spLocks noGrp="1" noChangeArrowheads="1"/>
          </p:cNvSpPr>
          <p:nvPr>
            <p:ph type="dt" sz="half" idx="10"/>
          </p:nvPr>
        </p:nvSpPr>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134BBC4D-F80F-CDCB-BE07-6552B4BEC341}"/>
              </a:ext>
            </a:extLst>
          </p:cNvPr>
          <p:cNvSpPr>
            <a:spLocks noGrp="1" noChangeArrowheads="1"/>
          </p:cNvSpPr>
          <p:nvPr>
            <p:ph type="ftr" sz="quarter" idx="11"/>
          </p:nvPr>
        </p:nvSpPr>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61201FFC-2456-FCB8-27A3-2B52D1FF8F69}"/>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D250D798-1FAD-430D-A2B9-8530417F3901}" type="slidenum">
              <a:rPr lang="en-US" altLang="en-US"/>
              <a:pPr>
                <a:defRPr/>
              </a:pPr>
              <a:t>‹#›</a:t>
            </a:fld>
            <a:endParaRPr lang="en-US" altLang="en-US"/>
          </a:p>
        </p:txBody>
      </p:sp>
    </p:spTree>
    <p:extLst>
      <p:ext uri="{BB962C8B-B14F-4D97-AF65-F5344CB8AC3E}">
        <p14:creationId xmlns:p14="http://schemas.microsoft.com/office/powerpoint/2010/main" val="15248495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3D8F0A63-DBD3-00E0-9870-D2CB451E693B}"/>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A2098227-993A-F28E-9480-4D91EE39CF6D}"/>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0610A6D4-6129-4CA4-97AD-292ACF4F4745}"/>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88B6DDDB-5EC4-4087-B8F5-E314D23EB360}" type="slidenum">
              <a:rPr lang="en-US" altLang="en-US"/>
              <a:pPr>
                <a:defRPr/>
              </a:pPr>
              <a:t>‹#›</a:t>
            </a:fld>
            <a:endParaRPr lang="en-US" altLang="en-US"/>
          </a:p>
        </p:txBody>
      </p:sp>
    </p:spTree>
    <p:extLst>
      <p:ext uri="{BB962C8B-B14F-4D97-AF65-F5344CB8AC3E}">
        <p14:creationId xmlns:p14="http://schemas.microsoft.com/office/powerpoint/2010/main" val="2997111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EE1C236A-A67B-F39B-0823-E8E77D3E9970}"/>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B279DBEE-8437-E5DD-5022-894D59CB41F4}"/>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87CFAC1D-C13E-B475-E07B-142982934518}"/>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9944DEC7-26DC-4298-89FD-68662D585DC8}" type="slidenum">
              <a:rPr lang="en-US" altLang="en-US"/>
              <a:pPr>
                <a:defRPr/>
              </a:pPr>
              <a:t>‹#›</a:t>
            </a:fld>
            <a:endParaRPr lang="en-US" altLang="en-US"/>
          </a:p>
        </p:txBody>
      </p:sp>
    </p:spTree>
    <p:extLst>
      <p:ext uri="{BB962C8B-B14F-4D97-AF65-F5344CB8AC3E}">
        <p14:creationId xmlns:p14="http://schemas.microsoft.com/office/powerpoint/2010/main" val="773890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6C1501BE-55C0-2FC1-E564-ADC0F348B18A}"/>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7897C9BF-EB2B-A846-D43C-D50EBB238861}"/>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846ABA39-0D45-CF2D-077C-3B4DEC80CA58}"/>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64044B66-6E80-45B6-9674-B37A354F822E}" type="slidenum">
              <a:rPr lang="en-US" altLang="en-US"/>
              <a:pPr>
                <a:defRPr/>
              </a:pPr>
              <a:t>‹#›</a:t>
            </a:fld>
            <a:endParaRPr lang="en-US" altLang="en-US"/>
          </a:p>
        </p:txBody>
      </p:sp>
    </p:spTree>
    <p:extLst>
      <p:ext uri="{BB962C8B-B14F-4D97-AF65-F5344CB8AC3E}">
        <p14:creationId xmlns:p14="http://schemas.microsoft.com/office/powerpoint/2010/main" val="3953689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6113" y="404813"/>
            <a:ext cx="1958975" cy="57277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16013" y="404813"/>
            <a:ext cx="5727700" cy="572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3B3186B7-7D06-49AF-9FD7-FEB3B7027DBA}"/>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B6F5B5A2-DCF4-CE7D-4F3E-AA838DD57658}"/>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C0F78CE2-5785-23D4-BBC6-7C7BFB82F1EC}"/>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3435ED4D-2500-4738-910D-379DD9CC03F6}" type="slidenum">
              <a:rPr lang="en-US" altLang="en-US"/>
              <a:pPr>
                <a:defRPr/>
              </a:pPr>
              <a:t>‹#›</a:t>
            </a:fld>
            <a:endParaRPr lang="en-US" altLang="en-US"/>
          </a:p>
        </p:txBody>
      </p:sp>
    </p:spTree>
    <p:extLst>
      <p:ext uri="{BB962C8B-B14F-4D97-AF65-F5344CB8AC3E}">
        <p14:creationId xmlns:p14="http://schemas.microsoft.com/office/powerpoint/2010/main" val="12024722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0ACEA482-76EA-0845-ABD0-4524B73F84BA}"/>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FB072037-DB21-DB29-68C0-F5086A5F6AA1}"/>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598E56C4-F9CA-7AEB-E612-71E56CA58910}"/>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11" name="Rectangle 5">
                <a:extLst>
                  <a:ext uri="{FF2B5EF4-FFF2-40B4-BE49-F238E27FC236}">
                    <a16:creationId xmlns:a16="http://schemas.microsoft.com/office/drawing/2014/main" id="{E9118310-EF3A-87AB-9CA9-C9623E29CA0F}"/>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grpSp>
          <p:nvGrpSpPr>
            <p:cNvPr id="4" name="Group 6">
              <a:extLst>
                <a:ext uri="{FF2B5EF4-FFF2-40B4-BE49-F238E27FC236}">
                  <a16:creationId xmlns:a16="http://schemas.microsoft.com/office/drawing/2014/main" id="{376244F8-7496-6987-915B-AF37EF5CBFAD}"/>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910DB5AF-D7ED-74F6-FF64-E0E81AC34627}"/>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9" name="Rectangle 8">
                <a:extLst>
                  <a:ext uri="{FF2B5EF4-FFF2-40B4-BE49-F238E27FC236}">
                    <a16:creationId xmlns:a16="http://schemas.microsoft.com/office/drawing/2014/main" id="{4E69465C-B694-51B4-0026-4DD6C717C07C}"/>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sp>
          <p:nvSpPr>
            <p:cNvPr id="5" name="Rectangle 9">
              <a:extLst>
                <a:ext uri="{FF2B5EF4-FFF2-40B4-BE49-F238E27FC236}">
                  <a16:creationId xmlns:a16="http://schemas.microsoft.com/office/drawing/2014/main" id="{8F136BA2-A1FB-777D-7524-792D71BB79C1}"/>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6" name="Rectangle 10">
              <a:extLst>
                <a:ext uri="{FF2B5EF4-FFF2-40B4-BE49-F238E27FC236}">
                  <a16:creationId xmlns:a16="http://schemas.microsoft.com/office/drawing/2014/main" id="{D7AA37E1-22B3-25C8-FC13-051C7A9C5229}"/>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7" name="Rectangle 11">
              <a:extLst>
                <a:ext uri="{FF2B5EF4-FFF2-40B4-BE49-F238E27FC236}">
                  <a16:creationId xmlns:a16="http://schemas.microsoft.com/office/drawing/2014/main" id="{8F58FF10-1D12-F91E-D6C0-9FCFC25E5FA9}"/>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sp>
        <p:nvSpPr>
          <p:cNvPr id="25612" name="Rectangle 12"/>
          <p:cNvSpPr>
            <a:spLocks noGrp="1" noChangeArrowheads="1"/>
          </p:cNvSpPr>
          <p:nvPr>
            <p:ph type="ctrTitle"/>
          </p:nvPr>
        </p:nvSpPr>
        <p:spPr>
          <a:xfrm>
            <a:off x="990600" y="1828800"/>
            <a:ext cx="7772400" cy="1143000"/>
          </a:xfrm>
        </p:spPr>
        <p:txBody>
          <a:bodyPr/>
          <a:lstStyle>
            <a:lvl1pPr>
              <a:defRPr/>
            </a:lvl1pPr>
          </a:lstStyle>
          <a:p>
            <a:pPr lvl="0"/>
            <a:r>
              <a:rPr lang="en-US" noProof="0"/>
              <a:t>Click to edit Master title style</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en-US" noProof="0"/>
              <a:t>Click to edit Master subtitle style</a:t>
            </a:r>
          </a:p>
        </p:txBody>
      </p:sp>
      <p:sp>
        <p:nvSpPr>
          <p:cNvPr id="12" name="Rectangle 14">
            <a:extLst>
              <a:ext uri="{FF2B5EF4-FFF2-40B4-BE49-F238E27FC236}">
                <a16:creationId xmlns:a16="http://schemas.microsoft.com/office/drawing/2014/main" id="{FB722F2C-173A-D39D-3607-CF8B7E9E82A0}"/>
              </a:ext>
            </a:extLst>
          </p:cNvPr>
          <p:cNvSpPr>
            <a:spLocks noGrp="1" noChangeArrowheads="1"/>
          </p:cNvSpPr>
          <p:nvPr>
            <p:ph type="dt" sz="half" idx="10"/>
          </p:nvPr>
        </p:nvSpPr>
        <p:spPr>
          <a:xfrm>
            <a:off x="990600" y="6248400"/>
            <a:ext cx="1905000" cy="457200"/>
          </a:xfrm>
        </p:spPr>
        <p:txBody>
          <a:bodyPr/>
          <a:lstStyle>
            <a:lvl1pPr>
              <a:defRPr>
                <a:solidFill>
                  <a:srgbClr val="1C1C1C"/>
                </a:solidFill>
              </a:defRPr>
            </a:lvl1pPr>
          </a:lstStyle>
          <a:p>
            <a:pPr>
              <a:defRPr/>
            </a:pPr>
            <a:endParaRPr lang="en-US"/>
          </a:p>
        </p:txBody>
      </p:sp>
      <p:sp>
        <p:nvSpPr>
          <p:cNvPr id="13" name="Rectangle 15">
            <a:extLst>
              <a:ext uri="{FF2B5EF4-FFF2-40B4-BE49-F238E27FC236}">
                <a16:creationId xmlns:a16="http://schemas.microsoft.com/office/drawing/2014/main" id="{5E566909-B0A2-2EDC-E613-2FA0EC8A9F4F}"/>
              </a:ext>
            </a:extLst>
          </p:cNvPr>
          <p:cNvSpPr>
            <a:spLocks noGrp="1" noChangeArrowheads="1"/>
          </p:cNvSpPr>
          <p:nvPr>
            <p:ph type="ftr" sz="quarter" idx="11"/>
          </p:nvPr>
        </p:nvSpPr>
        <p:spPr>
          <a:xfrm>
            <a:off x="3429000" y="6248400"/>
            <a:ext cx="2895600" cy="457200"/>
          </a:xfrm>
        </p:spPr>
        <p:txBody>
          <a:bodyPr/>
          <a:lstStyle>
            <a:lvl1pPr>
              <a:defRPr>
                <a:solidFill>
                  <a:srgbClr val="1C1C1C"/>
                </a:solidFill>
              </a:defRPr>
            </a:lvl1pPr>
          </a:lstStyle>
          <a:p>
            <a:pPr>
              <a:defRPr/>
            </a:pPr>
            <a:endParaRPr lang="en-US"/>
          </a:p>
        </p:txBody>
      </p:sp>
      <p:sp>
        <p:nvSpPr>
          <p:cNvPr id="14" name="Rectangle 16">
            <a:extLst>
              <a:ext uri="{FF2B5EF4-FFF2-40B4-BE49-F238E27FC236}">
                <a16:creationId xmlns:a16="http://schemas.microsoft.com/office/drawing/2014/main" id="{912A3C23-73C7-DDF2-4D27-C048BCB2B96A}"/>
              </a:ext>
            </a:extLst>
          </p:cNvPr>
          <p:cNvSpPr>
            <a:spLocks noGrp="1" noChangeArrowheads="1"/>
          </p:cNvSpPr>
          <p:nvPr>
            <p:ph type="sldNum" sz="quarter" idx="12"/>
          </p:nvPr>
        </p:nvSpPr>
        <p:spPr>
          <a:xfrm>
            <a:off x="6858000" y="6248400"/>
            <a:ext cx="1905000" cy="457200"/>
          </a:xfrm>
        </p:spPr>
        <p:txBody>
          <a:bodyPr/>
          <a:lstStyle>
            <a:lvl1pPr>
              <a:defRPr>
                <a:solidFill>
                  <a:srgbClr val="1C1C1C"/>
                </a:solidFill>
              </a:defRPr>
            </a:lvl1pPr>
          </a:lstStyle>
          <a:p>
            <a:pPr>
              <a:defRPr/>
            </a:pPr>
            <a:fld id="{395BE680-0FEB-409D-A3A6-C549A5C3FD74}" type="slidenum">
              <a:rPr lang="en-US" altLang="en-US"/>
              <a:pPr>
                <a:defRPr/>
              </a:pPr>
              <a:t>‹#›</a:t>
            </a:fld>
            <a:endParaRPr lang="en-US" altLang="en-US"/>
          </a:p>
        </p:txBody>
      </p:sp>
    </p:spTree>
    <p:extLst>
      <p:ext uri="{BB962C8B-B14F-4D97-AF65-F5344CB8AC3E}">
        <p14:creationId xmlns:p14="http://schemas.microsoft.com/office/powerpoint/2010/main" val="27174716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3AD4DA83-0E09-B15F-F0E9-33A52666C58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F1248B7E-23F5-3155-20AF-D4A3CF682A7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D8D5BF28-4BEE-C6D5-EDC7-A7FB700DC244}"/>
              </a:ext>
            </a:extLst>
          </p:cNvPr>
          <p:cNvSpPr>
            <a:spLocks noGrp="1" noChangeArrowheads="1"/>
          </p:cNvSpPr>
          <p:nvPr>
            <p:ph type="sldNum" sz="quarter" idx="12"/>
          </p:nvPr>
        </p:nvSpPr>
        <p:spPr>
          <a:ln/>
        </p:spPr>
        <p:txBody>
          <a:bodyPr/>
          <a:lstStyle>
            <a:lvl1pPr>
              <a:defRPr/>
            </a:lvl1pPr>
          </a:lstStyle>
          <a:p>
            <a:pPr>
              <a:defRPr/>
            </a:pPr>
            <a:fld id="{9FFB6714-6C0F-4117-9FF1-B30F0969F4EF}" type="slidenum">
              <a:rPr lang="en-US" altLang="en-US"/>
              <a:pPr>
                <a:defRPr/>
              </a:pPr>
              <a:t>‹#›</a:t>
            </a:fld>
            <a:endParaRPr lang="en-US" altLang="en-US"/>
          </a:p>
        </p:txBody>
      </p:sp>
    </p:spTree>
    <p:extLst>
      <p:ext uri="{BB962C8B-B14F-4D97-AF65-F5344CB8AC3E}">
        <p14:creationId xmlns:p14="http://schemas.microsoft.com/office/powerpoint/2010/main" val="3042150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397422F9-4AE8-A890-3013-D303EF9A0A8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62B5526B-546A-9BB5-9FA5-BD867327578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3FE75B9C-AFC8-A579-2593-840539E78884}"/>
              </a:ext>
            </a:extLst>
          </p:cNvPr>
          <p:cNvSpPr>
            <a:spLocks noGrp="1" noChangeArrowheads="1"/>
          </p:cNvSpPr>
          <p:nvPr>
            <p:ph type="sldNum" sz="quarter" idx="12"/>
          </p:nvPr>
        </p:nvSpPr>
        <p:spPr>
          <a:ln/>
        </p:spPr>
        <p:txBody>
          <a:bodyPr/>
          <a:lstStyle>
            <a:lvl1pPr>
              <a:defRPr/>
            </a:lvl1pPr>
          </a:lstStyle>
          <a:p>
            <a:pPr>
              <a:defRPr/>
            </a:pPr>
            <a:fld id="{EDD5E8E8-D701-4515-A779-B03C2D7EE7D7}" type="slidenum">
              <a:rPr lang="en-US" altLang="en-US"/>
              <a:pPr>
                <a:defRPr/>
              </a:pPr>
              <a:t>‹#›</a:t>
            </a:fld>
            <a:endParaRPr lang="en-US" altLang="en-US"/>
          </a:p>
        </p:txBody>
      </p:sp>
    </p:spTree>
    <p:extLst>
      <p:ext uri="{BB962C8B-B14F-4D97-AF65-F5344CB8AC3E}">
        <p14:creationId xmlns:p14="http://schemas.microsoft.com/office/powerpoint/2010/main" val="11738125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11826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1450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11">
            <a:extLst>
              <a:ext uri="{FF2B5EF4-FFF2-40B4-BE49-F238E27FC236}">
                <a16:creationId xmlns:a16="http://schemas.microsoft.com/office/drawing/2014/main" id="{787A1431-4166-FEA6-4850-E5E8E88C00C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C0768C56-E846-5A6E-5F5E-2384BC5706D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00684D52-3A0E-B996-8643-F0EEE4AA6D90}"/>
              </a:ext>
            </a:extLst>
          </p:cNvPr>
          <p:cNvSpPr>
            <a:spLocks noGrp="1" noChangeArrowheads="1"/>
          </p:cNvSpPr>
          <p:nvPr>
            <p:ph type="sldNum" sz="quarter" idx="12"/>
          </p:nvPr>
        </p:nvSpPr>
        <p:spPr>
          <a:ln/>
        </p:spPr>
        <p:txBody>
          <a:bodyPr/>
          <a:lstStyle>
            <a:lvl1pPr>
              <a:defRPr/>
            </a:lvl1pPr>
          </a:lstStyle>
          <a:p>
            <a:pPr>
              <a:defRPr/>
            </a:pPr>
            <a:fld id="{3CFD5F4D-50C1-43DE-9029-F5599CA78C43}" type="slidenum">
              <a:rPr lang="en-US" altLang="en-US"/>
              <a:pPr>
                <a:defRPr/>
              </a:pPr>
              <a:t>‹#›</a:t>
            </a:fld>
            <a:endParaRPr lang="en-US" altLang="en-US"/>
          </a:p>
        </p:txBody>
      </p:sp>
    </p:spTree>
    <p:extLst>
      <p:ext uri="{BB962C8B-B14F-4D97-AF65-F5344CB8AC3E}">
        <p14:creationId xmlns:p14="http://schemas.microsoft.com/office/powerpoint/2010/main" val="7053421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11">
            <a:extLst>
              <a:ext uri="{FF2B5EF4-FFF2-40B4-BE49-F238E27FC236}">
                <a16:creationId xmlns:a16="http://schemas.microsoft.com/office/drawing/2014/main" id="{E9372E0E-33C1-FF11-2D21-161BC9BB1C66}"/>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D50A9FDC-B74C-792A-0A3B-9B01BB87BB9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357F8D9B-E078-57A2-AF82-79EAE7767797}"/>
              </a:ext>
            </a:extLst>
          </p:cNvPr>
          <p:cNvSpPr>
            <a:spLocks noGrp="1" noChangeArrowheads="1"/>
          </p:cNvSpPr>
          <p:nvPr>
            <p:ph type="sldNum" sz="quarter" idx="12"/>
          </p:nvPr>
        </p:nvSpPr>
        <p:spPr>
          <a:ln/>
        </p:spPr>
        <p:txBody>
          <a:bodyPr/>
          <a:lstStyle>
            <a:lvl1pPr>
              <a:defRPr/>
            </a:lvl1pPr>
          </a:lstStyle>
          <a:p>
            <a:pPr>
              <a:defRPr/>
            </a:pPr>
            <a:fld id="{2DAA5177-0A6E-411A-8730-2F29321778BF}" type="slidenum">
              <a:rPr lang="en-US" altLang="en-US"/>
              <a:pPr>
                <a:defRPr/>
              </a:pPr>
              <a:t>‹#›</a:t>
            </a:fld>
            <a:endParaRPr lang="en-US" altLang="en-US"/>
          </a:p>
        </p:txBody>
      </p:sp>
    </p:spTree>
    <p:extLst>
      <p:ext uri="{BB962C8B-B14F-4D97-AF65-F5344CB8AC3E}">
        <p14:creationId xmlns:p14="http://schemas.microsoft.com/office/powerpoint/2010/main" val="23854364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11">
            <a:extLst>
              <a:ext uri="{FF2B5EF4-FFF2-40B4-BE49-F238E27FC236}">
                <a16:creationId xmlns:a16="http://schemas.microsoft.com/office/drawing/2014/main" id="{FA180473-A29A-7CE6-A809-E3D2D810269D}"/>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CB15EB34-AA04-7314-33F1-EA59064ADAF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A5F6693E-5148-97EF-A71C-CC6444F49E99}"/>
              </a:ext>
            </a:extLst>
          </p:cNvPr>
          <p:cNvSpPr>
            <a:spLocks noGrp="1" noChangeArrowheads="1"/>
          </p:cNvSpPr>
          <p:nvPr>
            <p:ph type="sldNum" sz="quarter" idx="12"/>
          </p:nvPr>
        </p:nvSpPr>
        <p:spPr>
          <a:ln/>
        </p:spPr>
        <p:txBody>
          <a:bodyPr/>
          <a:lstStyle>
            <a:lvl1pPr>
              <a:defRPr/>
            </a:lvl1pPr>
          </a:lstStyle>
          <a:p>
            <a:pPr>
              <a:defRPr/>
            </a:pPr>
            <a:fld id="{7FB3DADD-CB87-474A-A67C-46409FDDBA82}" type="slidenum">
              <a:rPr lang="en-US" altLang="en-US"/>
              <a:pPr>
                <a:defRPr/>
              </a:pPr>
              <a:t>‹#›</a:t>
            </a:fld>
            <a:endParaRPr lang="en-US" altLang="en-US"/>
          </a:p>
        </p:txBody>
      </p:sp>
    </p:spTree>
    <p:extLst>
      <p:ext uri="{BB962C8B-B14F-4D97-AF65-F5344CB8AC3E}">
        <p14:creationId xmlns:p14="http://schemas.microsoft.com/office/powerpoint/2010/main" val="8679425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75C61A03-25C4-6CBA-517F-72684B442DCD}"/>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05574EEB-6C25-B7C4-AD3C-DB23273D5B0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F648C470-B9DE-CCD4-638B-D8EE86A4698B}"/>
              </a:ext>
            </a:extLst>
          </p:cNvPr>
          <p:cNvSpPr>
            <a:spLocks noGrp="1" noChangeArrowheads="1"/>
          </p:cNvSpPr>
          <p:nvPr>
            <p:ph type="sldNum" sz="quarter" idx="12"/>
          </p:nvPr>
        </p:nvSpPr>
        <p:spPr>
          <a:ln/>
        </p:spPr>
        <p:txBody>
          <a:bodyPr/>
          <a:lstStyle>
            <a:lvl1pPr>
              <a:defRPr/>
            </a:lvl1pPr>
          </a:lstStyle>
          <a:p>
            <a:pPr>
              <a:defRPr/>
            </a:pPr>
            <a:fld id="{E7418DF1-F758-44B8-A64B-406ED4A0358A}" type="slidenum">
              <a:rPr lang="en-US" altLang="en-US"/>
              <a:pPr>
                <a:defRPr/>
              </a:pPr>
              <a:t>‹#›</a:t>
            </a:fld>
            <a:endParaRPr lang="en-US" altLang="en-US"/>
          </a:p>
        </p:txBody>
      </p:sp>
    </p:spTree>
    <p:extLst>
      <p:ext uri="{BB962C8B-B14F-4D97-AF65-F5344CB8AC3E}">
        <p14:creationId xmlns:p14="http://schemas.microsoft.com/office/powerpoint/2010/main" val="37263068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CAB7168B-33A8-025E-9651-37AC8A6DB8D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10C7EA88-2B19-1187-F387-4FB80646791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E9F94443-667E-83FF-020D-D418E89EB5D6}"/>
              </a:ext>
            </a:extLst>
          </p:cNvPr>
          <p:cNvSpPr>
            <a:spLocks noGrp="1" noChangeArrowheads="1"/>
          </p:cNvSpPr>
          <p:nvPr>
            <p:ph type="sldNum" sz="quarter" idx="12"/>
          </p:nvPr>
        </p:nvSpPr>
        <p:spPr>
          <a:ln/>
        </p:spPr>
        <p:txBody>
          <a:bodyPr/>
          <a:lstStyle>
            <a:lvl1pPr>
              <a:defRPr/>
            </a:lvl1pPr>
          </a:lstStyle>
          <a:p>
            <a:pPr>
              <a:defRPr/>
            </a:pPr>
            <a:fld id="{F96A6BC7-6433-43B7-8779-7D2C69772F95}" type="slidenum">
              <a:rPr lang="en-US" altLang="en-US"/>
              <a:pPr>
                <a:defRPr/>
              </a:pPr>
              <a:t>‹#›</a:t>
            </a:fld>
            <a:endParaRPr lang="en-US" altLang="en-US"/>
          </a:p>
        </p:txBody>
      </p:sp>
    </p:spTree>
    <p:extLst>
      <p:ext uri="{BB962C8B-B14F-4D97-AF65-F5344CB8AC3E}">
        <p14:creationId xmlns:p14="http://schemas.microsoft.com/office/powerpoint/2010/main" val="36574626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E8A61FB5-4FC6-F48F-8FB9-8A19420DD17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A0817A7C-5565-FB5C-41C4-64DB0EF3330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786C3446-6897-0BA1-845E-7AA321543B12}"/>
              </a:ext>
            </a:extLst>
          </p:cNvPr>
          <p:cNvSpPr>
            <a:spLocks noGrp="1" noChangeArrowheads="1"/>
          </p:cNvSpPr>
          <p:nvPr>
            <p:ph type="sldNum" sz="quarter" idx="12"/>
          </p:nvPr>
        </p:nvSpPr>
        <p:spPr>
          <a:ln/>
        </p:spPr>
        <p:txBody>
          <a:bodyPr/>
          <a:lstStyle>
            <a:lvl1pPr>
              <a:defRPr/>
            </a:lvl1pPr>
          </a:lstStyle>
          <a:p>
            <a:pPr>
              <a:defRPr/>
            </a:pPr>
            <a:fld id="{A1FCB9CD-3B06-4969-AA1C-E660D1C5B4B0}" type="slidenum">
              <a:rPr lang="en-US" altLang="en-US"/>
              <a:pPr>
                <a:defRPr/>
              </a:pPr>
              <a:t>‹#›</a:t>
            </a:fld>
            <a:endParaRPr lang="en-US" altLang="en-US"/>
          </a:p>
        </p:txBody>
      </p:sp>
    </p:spTree>
    <p:extLst>
      <p:ext uri="{BB962C8B-B14F-4D97-AF65-F5344CB8AC3E}">
        <p14:creationId xmlns:p14="http://schemas.microsoft.com/office/powerpoint/2010/main" val="24757247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A35CD995-C95E-E0AE-E2F9-6463348D854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E16B75B2-D599-DF11-27F8-B8930625DCF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463D501E-E3C0-9FA2-3F3C-859668768CE5}"/>
              </a:ext>
            </a:extLst>
          </p:cNvPr>
          <p:cNvSpPr>
            <a:spLocks noGrp="1" noChangeArrowheads="1"/>
          </p:cNvSpPr>
          <p:nvPr>
            <p:ph type="sldNum" sz="quarter" idx="12"/>
          </p:nvPr>
        </p:nvSpPr>
        <p:spPr>
          <a:ln/>
        </p:spPr>
        <p:txBody>
          <a:bodyPr/>
          <a:lstStyle>
            <a:lvl1pPr>
              <a:defRPr/>
            </a:lvl1pPr>
          </a:lstStyle>
          <a:p>
            <a:pPr>
              <a:defRPr/>
            </a:pPr>
            <a:fld id="{BD955CDB-EE5D-46F6-B1A2-521ED5C0A9AD}" type="slidenum">
              <a:rPr lang="en-US" altLang="en-US"/>
              <a:pPr>
                <a:defRPr/>
              </a:pPr>
              <a:t>‹#›</a:t>
            </a:fld>
            <a:endParaRPr lang="en-US" altLang="en-US"/>
          </a:p>
        </p:txBody>
      </p:sp>
    </p:spTree>
    <p:extLst>
      <p:ext uri="{BB962C8B-B14F-4D97-AF65-F5344CB8AC3E}">
        <p14:creationId xmlns:p14="http://schemas.microsoft.com/office/powerpoint/2010/main" val="36769328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6113" y="404813"/>
            <a:ext cx="1958975" cy="57277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116013" y="404813"/>
            <a:ext cx="5727700" cy="572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1AAC4B4D-0004-BE66-F979-13AF024D4AB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45A1D5F8-F486-F781-2CE5-A09628452FB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2E3C07DB-A019-9383-9A7C-3230186CD0A1}"/>
              </a:ext>
            </a:extLst>
          </p:cNvPr>
          <p:cNvSpPr>
            <a:spLocks noGrp="1" noChangeArrowheads="1"/>
          </p:cNvSpPr>
          <p:nvPr>
            <p:ph type="sldNum" sz="quarter" idx="12"/>
          </p:nvPr>
        </p:nvSpPr>
        <p:spPr>
          <a:ln/>
        </p:spPr>
        <p:txBody>
          <a:bodyPr/>
          <a:lstStyle>
            <a:lvl1pPr>
              <a:defRPr/>
            </a:lvl1pPr>
          </a:lstStyle>
          <a:p>
            <a:pPr>
              <a:defRPr/>
            </a:pPr>
            <a:fld id="{B9265D16-B97E-4DB2-8F15-1C6E13D389AC}" type="slidenum">
              <a:rPr lang="en-US" altLang="en-US"/>
              <a:pPr>
                <a:defRPr/>
              </a:pPr>
              <a:t>‹#›</a:t>
            </a:fld>
            <a:endParaRPr lang="en-US" altLang="en-US"/>
          </a:p>
        </p:txBody>
      </p:sp>
    </p:spTree>
    <p:extLst>
      <p:ext uri="{BB962C8B-B14F-4D97-AF65-F5344CB8AC3E}">
        <p14:creationId xmlns:p14="http://schemas.microsoft.com/office/powerpoint/2010/main" val="13053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D10E997-018A-77AD-7F52-DA98AB3C187E}"/>
              </a:ext>
            </a:extLst>
          </p:cNvPr>
          <p:cNvSpPr>
            <a:spLocks noChangeArrowheads="1"/>
          </p:cNvSpPr>
          <p:nvPr/>
        </p:nvSpPr>
        <p:spPr bwMode="ltGray">
          <a:xfrm>
            <a:off x="442913" y="801688"/>
            <a:ext cx="438150" cy="47466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7" name="Rectangle 3">
            <a:extLst>
              <a:ext uri="{FF2B5EF4-FFF2-40B4-BE49-F238E27FC236}">
                <a16:creationId xmlns:a16="http://schemas.microsoft.com/office/drawing/2014/main" id="{8D80C8B3-44F1-E5B8-E94C-03CC8ECE331D}"/>
              </a:ext>
            </a:extLst>
          </p:cNvPr>
          <p:cNvSpPr>
            <a:spLocks noChangeArrowheads="1"/>
          </p:cNvSpPr>
          <p:nvPr/>
        </p:nvSpPr>
        <p:spPr bwMode="ltGray">
          <a:xfrm>
            <a:off x="825500" y="801688"/>
            <a:ext cx="328613" cy="47466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8" name="Rectangle 4">
            <a:extLst>
              <a:ext uri="{FF2B5EF4-FFF2-40B4-BE49-F238E27FC236}">
                <a16:creationId xmlns:a16="http://schemas.microsoft.com/office/drawing/2014/main" id="{CBA74DF2-B5E7-2259-FC58-880D14B58FB1}"/>
              </a:ext>
            </a:extLst>
          </p:cNvPr>
          <p:cNvSpPr>
            <a:spLocks noChangeArrowheads="1"/>
          </p:cNvSpPr>
          <p:nvPr/>
        </p:nvSpPr>
        <p:spPr bwMode="ltGray">
          <a:xfrm>
            <a:off x="566738" y="1223963"/>
            <a:ext cx="422275" cy="47466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9" name="Rectangle 5">
            <a:extLst>
              <a:ext uri="{FF2B5EF4-FFF2-40B4-BE49-F238E27FC236}">
                <a16:creationId xmlns:a16="http://schemas.microsoft.com/office/drawing/2014/main" id="{1558E770-0E02-92BA-0E8A-211C139B3197}"/>
              </a:ext>
            </a:extLst>
          </p:cNvPr>
          <p:cNvSpPr>
            <a:spLocks noChangeArrowheads="1"/>
          </p:cNvSpPr>
          <p:nvPr/>
        </p:nvSpPr>
        <p:spPr bwMode="ltGray">
          <a:xfrm>
            <a:off x="936625" y="1223963"/>
            <a:ext cx="368300" cy="47466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0" name="Rectangle 6">
            <a:extLst>
              <a:ext uri="{FF2B5EF4-FFF2-40B4-BE49-F238E27FC236}">
                <a16:creationId xmlns:a16="http://schemas.microsoft.com/office/drawing/2014/main" id="{1F9EC726-1EE7-1F48-8DFD-F128B61C9B8B}"/>
              </a:ext>
            </a:extLst>
          </p:cNvPr>
          <p:cNvSpPr>
            <a:spLocks noChangeArrowheads="1"/>
          </p:cNvSpPr>
          <p:nvPr/>
        </p:nvSpPr>
        <p:spPr bwMode="ltGray">
          <a:xfrm>
            <a:off x="152400" y="1150938"/>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1" name="Rectangle 7">
            <a:extLst>
              <a:ext uri="{FF2B5EF4-FFF2-40B4-BE49-F238E27FC236}">
                <a16:creationId xmlns:a16="http://schemas.microsoft.com/office/drawing/2014/main" id="{823E19FE-CBCF-E312-5F52-3FA83A8EBCC6}"/>
              </a:ext>
            </a:extLst>
          </p:cNvPr>
          <p:cNvSpPr>
            <a:spLocks noChangeArrowheads="1"/>
          </p:cNvSpPr>
          <p:nvPr/>
        </p:nvSpPr>
        <p:spPr bwMode="gray">
          <a:xfrm>
            <a:off x="787400" y="693738"/>
            <a:ext cx="31750" cy="1052512"/>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2" name="Rectangle 8">
            <a:extLst>
              <a:ext uri="{FF2B5EF4-FFF2-40B4-BE49-F238E27FC236}">
                <a16:creationId xmlns:a16="http://schemas.microsoft.com/office/drawing/2014/main" id="{C9AA2F40-CF16-4785-BD75-6EB3CE64C251}"/>
              </a:ext>
            </a:extLst>
          </p:cNvPr>
          <p:cNvSpPr>
            <a:spLocks noChangeArrowheads="1"/>
          </p:cNvSpPr>
          <p:nvPr/>
        </p:nvSpPr>
        <p:spPr bwMode="gray">
          <a:xfrm>
            <a:off x="468313" y="1484313"/>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3" name="Rectangle 9">
            <a:extLst>
              <a:ext uri="{FF2B5EF4-FFF2-40B4-BE49-F238E27FC236}">
                <a16:creationId xmlns:a16="http://schemas.microsoft.com/office/drawing/2014/main" id="{73276F4E-74C5-65E1-8CA3-197A237FBD23}"/>
              </a:ext>
            </a:extLst>
          </p:cNvPr>
          <p:cNvSpPr>
            <a:spLocks noGrp="1" noChangeArrowheads="1"/>
          </p:cNvSpPr>
          <p:nvPr>
            <p:ph type="title"/>
          </p:nvPr>
        </p:nvSpPr>
        <p:spPr bwMode="auto">
          <a:xfrm>
            <a:off x="1116013" y="404813"/>
            <a:ext cx="779303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34" name="Rectangle 10">
            <a:extLst>
              <a:ext uri="{FF2B5EF4-FFF2-40B4-BE49-F238E27FC236}">
                <a16:creationId xmlns:a16="http://schemas.microsoft.com/office/drawing/2014/main" id="{60D2F8EE-7EC7-CA76-7771-3EF00B07D2CB}"/>
              </a:ext>
            </a:extLst>
          </p:cNvPr>
          <p:cNvSpPr>
            <a:spLocks noGrp="1" noChangeArrowheads="1"/>
          </p:cNvSpPr>
          <p:nvPr>
            <p:ph type="body" idx="1"/>
          </p:nvPr>
        </p:nvSpPr>
        <p:spPr bwMode="auto">
          <a:xfrm>
            <a:off x="1182688" y="1628775"/>
            <a:ext cx="7772400" cy="450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587" name="Rectangle 11">
            <a:extLst>
              <a:ext uri="{FF2B5EF4-FFF2-40B4-BE49-F238E27FC236}">
                <a16:creationId xmlns:a16="http://schemas.microsoft.com/office/drawing/2014/main" id="{10F7A7C2-727C-19CB-45E0-CEC8D65D62DC}"/>
              </a:ext>
            </a:extLst>
          </p:cNvPr>
          <p:cNvSpPr>
            <a:spLocks noGrp="1" noChangeArrowheads="1"/>
          </p:cNvSpPr>
          <p:nvPr>
            <p:ph type="dt" sz="half" idx="2"/>
          </p:nvPr>
        </p:nvSpPr>
        <p:spPr bwMode="auto">
          <a:xfrm>
            <a:off x="9144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latin typeface="+mn-lt"/>
                <a:cs typeface="Arial" pitchFamily="34" charset="0"/>
              </a:defRPr>
            </a:lvl1pPr>
          </a:lstStyle>
          <a:p>
            <a:pPr>
              <a:defRPr/>
            </a:pPr>
            <a:endParaRPr lang="en-US"/>
          </a:p>
        </p:txBody>
      </p:sp>
      <p:sp>
        <p:nvSpPr>
          <p:cNvPr id="24588" name="Rectangle 12">
            <a:extLst>
              <a:ext uri="{FF2B5EF4-FFF2-40B4-BE49-F238E27FC236}">
                <a16:creationId xmlns:a16="http://schemas.microsoft.com/office/drawing/2014/main" id="{6443937F-EC27-C093-E400-DC30C3DD20D9}"/>
              </a:ext>
            </a:extLst>
          </p:cNvPr>
          <p:cNvSpPr>
            <a:spLocks noGrp="1" noChangeArrowheads="1"/>
          </p:cNvSpPr>
          <p:nvPr>
            <p:ph type="ftr" sz="quarter" idx="3"/>
          </p:nvPr>
        </p:nvSpPr>
        <p:spPr bwMode="auto">
          <a:xfrm>
            <a:off x="3352800" y="63246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atin typeface="+mn-lt"/>
                <a:cs typeface="Arial" pitchFamily="34" charset="0"/>
              </a:defRPr>
            </a:lvl1pPr>
          </a:lstStyle>
          <a:p>
            <a:pPr>
              <a:defRPr/>
            </a:pPr>
            <a:endParaRPr lang="en-US"/>
          </a:p>
        </p:txBody>
      </p:sp>
      <p:sp>
        <p:nvSpPr>
          <p:cNvPr id="14" name="TextBox 17">
            <a:extLst>
              <a:ext uri="{FF2B5EF4-FFF2-40B4-BE49-F238E27FC236}">
                <a16:creationId xmlns:a16="http://schemas.microsoft.com/office/drawing/2014/main" id="{06D8FFE3-C563-3C04-F46C-A1E57B90B257}"/>
              </a:ext>
            </a:extLst>
          </p:cNvPr>
          <p:cNvSpPr txBox="1"/>
          <p:nvPr userDrawn="1"/>
        </p:nvSpPr>
        <p:spPr>
          <a:xfrm>
            <a:off x="7235825" y="6611938"/>
            <a:ext cx="1908175" cy="246062"/>
          </a:xfrm>
          <a:prstGeom prst="rect">
            <a:avLst/>
          </a:prstGeom>
          <a:noFill/>
        </p:spPr>
        <p:txBody>
          <a:bodyPr>
            <a:spAutoFit/>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1000" dirty="0"/>
              <a:t>Prepared by Hamish Spencer</a:t>
            </a:r>
            <a:endParaRPr lang="en-GB" sz="1000" dirty="0"/>
          </a:p>
        </p:txBody>
      </p:sp>
    </p:spTree>
  </p:cSld>
  <p:clrMap bg1="lt1" tx1="dk1" bg2="lt2" tx2="dk2" accent1="accent1" accent2="accent2" accent3="accent3" accent4="accent4" accent5="accent5" accent6="accent6" hlink="hlink" folHlink="folHlink"/>
  <p:sldLayoutIdLst>
    <p:sldLayoutId id="2147485822" r:id="rId1"/>
    <p:sldLayoutId id="2147485823" r:id="rId2"/>
    <p:sldLayoutId id="2147485824" r:id="rId3"/>
    <p:sldLayoutId id="2147485825" r:id="rId4"/>
    <p:sldLayoutId id="2147485826" r:id="rId5"/>
    <p:sldLayoutId id="2147485827" r:id="rId6"/>
    <p:sldLayoutId id="2147485828" r:id="rId7"/>
    <p:sldLayoutId id="2147485829" r:id="rId8"/>
    <p:sldLayoutId id="2147485830" r:id="rId9"/>
    <p:sldLayoutId id="2147485831" r:id="rId10"/>
    <p:sldLayoutId id="2147485832"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pitchFamily="34" charset="0"/>
        </a:defRPr>
      </a:lvl2pPr>
      <a:lvl3pPr algn="l" rtl="0" eaLnBrk="0" fontAlgn="base" hangingPunct="0">
        <a:spcBef>
          <a:spcPct val="0"/>
        </a:spcBef>
        <a:spcAft>
          <a:spcPct val="0"/>
        </a:spcAft>
        <a:defRPr sz="4400">
          <a:solidFill>
            <a:schemeClr val="tx2"/>
          </a:solidFill>
          <a:latin typeface="Tahoma" pitchFamily="34" charset="0"/>
          <a:cs typeface="Arial" pitchFamily="34" charset="0"/>
        </a:defRPr>
      </a:lvl3pPr>
      <a:lvl4pPr algn="l" rtl="0" eaLnBrk="0" fontAlgn="base" hangingPunct="0">
        <a:spcBef>
          <a:spcPct val="0"/>
        </a:spcBef>
        <a:spcAft>
          <a:spcPct val="0"/>
        </a:spcAft>
        <a:defRPr sz="4400">
          <a:solidFill>
            <a:schemeClr val="tx2"/>
          </a:solidFill>
          <a:latin typeface="Tahoma" pitchFamily="34" charset="0"/>
          <a:cs typeface="Arial" pitchFamily="34" charset="0"/>
        </a:defRPr>
      </a:lvl4pPr>
      <a:lvl5pPr algn="l" rtl="0" eaLnBrk="0" fontAlgn="base" hangingPunct="0">
        <a:spcBef>
          <a:spcPct val="0"/>
        </a:spcBef>
        <a:spcAft>
          <a:spcPct val="0"/>
        </a:spcAft>
        <a:defRPr sz="4400">
          <a:solidFill>
            <a:schemeClr val="tx2"/>
          </a:solidFill>
          <a:latin typeface="Tahoma" pitchFamily="34" charset="0"/>
          <a:cs typeface="Arial" pitchFamily="34" charset="0"/>
        </a:defRPr>
      </a:lvl5pPr>
      <a:lvl6pPr marL="457200" algn="l" rtl="0" fontAlgn="base">
        <a:spcBef>
          <a:spcPct val="0"/>
        </a:spcBef>
        <a:spcAft>
          <a:spcPct val="0"/>
        </a:spcAft>
        <a:defRPr sz="4400">
          <a:solidFill>
            <a:schemeClr val="tx2"/>
          </a:solidFill>
          <a:latin typeface="Tahoma" pitchFamily="34" charset="0"/>
          <a:cs typeface="Arial" pitchFamily="34" charset="0"/>
        </a:defRPr>
      </a:lvl6pPr>
      <a:lvl7pPr marL="914400" algn="l" rtl="0" fontAlgn="base">
        <a:spcBef>
          <a:spcPct val="0"/>
        </a:spcBef>
        <a:spcAft>
          <a:spcPct val="0"/>
        </a:spcAft>
        <a:defRPr sz="4400">
          <a:solidFill>
            <a:schemeClr val="tx2"/>
          </a:solidFill>
          <a:latin typeface="Tahoma" pitchFamily="34" charset="0"/>
          <a:cs typeface="Arial" pitchFamily="34" charset="0"/>
        </a:defRPr>
      </a:lvl7pPr>
      <a:lvl8pPr marL="1371600" algn="l" rtl="0" fontAlgn="base">
        <a:spcBef>
          <a:spcPct val="0"/>
        </a:spcBef>
        <a:spcAft>
          <a:spcPct val="0"/>
        </a:spcAft>
        <a:defRPr sz="4400">
          <a:solidFill>
            <a:schemeClr val="tx2"/>
          </a:solidFill>
          <a:latin typeface="Tahoma" pitchFamily="34" charset="0"/>
          <a:cs typeface="Arial" pitchFamily="34" charset="0"/>
        </a:defRPr>
      </a:lvl8pPr>
      <a:lvl9pPr marL="1828800" algn="l" rtl="0" fontAlgn="base">
        <a:spcBef>
          <a:spcPct val="0"/>
        </a:spcBef>
        <a:spcAft>
          <a:spcPct val="0"/>
        </a:spcAft>
        <a:defRPr sz="4400">
          <a:solidFill>
            <a:schemeClr val="tx2"/>
          </a:solidFill>
          <a:latin typeface="Tahoma" pitchFamily="34" charset="0"/>
          <a:cs typeface="Arial"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F30FB67F-6A30-4C8A-1BD1-04BC8F31AD3E}"/>
              </a:ext>
            </a:extLst>
          </p:cNvPr>
          <p:cNvSpPr>
            <a:spLocks noChangeArrowheads="1"/>
          </p:cNvSpPr>
          <p:nvPr/>
        </p:nvSpPr>
        <p:spPr bwMode="ltGray">
          <a:xfrm>
            <a:off x="442913" y="801688"/>
            <a:ext cx="438150" cy="47466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1" name="Rectangle 3">
            <a:extLst>
              <a:ext uri="{FF2B5EF4-FFF2-40B4-BE49-F238E27FC236}">
                <a16:creationId xmlns:a16="http://schemas.microsoft.com/office/drawing/2014/main" id="{42431261-C2D4-3F87-18D9-79A0A3692107}"/>
              </a:ext>
            </a:extLst>
          </p:cNvPr>
          <p:cNvSpPr>
            <a:spLocks noChangeArrowheads="1"/>
          </p:cNvSpPr>
          <p:nvPr/>
        </p:nvSpPr>
        <p:spPr bwMode="ltGray">
          <a:xfrm>
            <a:off x="825500" y="801688"/>
            <a:ext cx="328613" cy="47466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2" name="Rectangle 4">
            <a:extLst>
              <a:ext uri="{FF2B5EF4-FFF2-40B4-BE49-F238E27FC236}">
                <a16:creationId xmlns:a16="http://schemas.microsoft.com/office/drawing/2014/main" id="{87FE9F46-FB94-1C1A-3B49-72B781D7F117}"/>
              </a:ext>
            </a:extLst>
          </p:cNvPr>
          <p:cNvSpPr>
            <a:spLocks noChangeArrowheads="1"/>
          </p:cNvSpPr>
          <p:nvPr/>
        </p:nvSpPr>
        <p:spPr bwMode="ltGray">
          <a:xfrm>
            <a:off x="566738" y="1223963"/>
            <a:ext cx="422275" cy="47466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3" name="Rectangle 5">
            <a:extLst>
              <a:ext uri="{FF2B5EF4-FFF2-40B4-BE49-F238E27FC236}">
                <a16:creationId xmlns:a16="http://schemas.microsoft.com/office/drawing/2014/main" id="{8BE41803-620F-ED61-B46D-78B95D037A3F}"/>
              </a:ext>
            </a:extLst>
          </p:cNvPr>
          <p:cNvSpPr>
            <a:spLocks noChangeArrowheads="1"/>
          </p:cNvSpPr>
          <p:nvPr/>
        </p:nvSpPr>
        <p:spPr bwMode="ltGray">
          <a:xfrm>
            <a:off x="936625" y="1223963"/>
            <a:ext cx="368300" cy="47466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4" name="Rectangle 6">
            <a:extLst>
              <a:ext uri="{FF2B5EF4-FFF2-40B4-BE49-F238E27FC236}">
                <a16:creationId xmlns:a16="http://schemas.microsoft.com/office/drawing/2014/main" id="{704F1709-9FB7-42AB-CF5E-49AFA9E1A55E}"/>
              </a:ext>
            </a:extLst>
          </p:cNvPr>
          <p:cNvSpPr>
            <a:spLocks noChangeArrowheads="1"/>
          </p:cNvSpPr>
          <p:nvPr/>
        </p:nvSpPr>
        <p:spPr bwMode="ltGray">
          <a:xfrm>
            <a:off x="152400" y="1150938"/>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5" name="Rectangle 7">
            <a:extLst>
              <a:ext uri="{FF2B5EF4-FFF2-40B4-BE49-F238E27FC236}">
                <a16:creationId xmlns:a16="http://schemas.microsoft.com/office/drawing/2014/main" id="{D5FDC62F-6A2A-3D5A-745B-C6953DFFC32C}"/>
              </a:ext>
            </a:extLst>
          </p:cNvPr>
          <p:cNvSpPr>
            <a:spLocks noChangeArrowheads="1"/>
          </p:cNvSpPr>
          <p:nvPr/>
        </p:nvSpPr>
        <p:spPr bwMode="gray">
          <a:xfrm>
            <a:off x="787400" y="693738"/>
            <a:ext cx="31750" cy="1052512"/>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6" name="Rectangle 8">
            <a:extLst>
              <a:ext uri="{FF2B5EF4-FFF2-40B4-BE49-F238E27FC236}">
                <a16:creationId xmlns:a16="http://schemas.microsoft.com/office/drawing/2014/main" id="{7509DA8F-4F91-97A3-8DD1-873E32AEC186}"/>
              </a:ext>
            </a:extLst>
          </p:cNvPr>
          <p:cNvSpPr>
            <a:spLocks noChangeArrowheads="1"/>
          </p:cNvSpPr>
          <p:nvPr/>
        </p:nvSpPr>
        <p:spPr bwMode="gray">
          <a:xfrm>
            <a:off x="468313" y="1484313"/>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7" name="Rectangle 9">
            <a:extLst>
              <a:ext uri="{FF2B5EF4-FFF2-40B4-BE49-F238E27FC236}">
                <a16:creationId xmlns:a16="http://schemas.microsoft.com/office/drawing/2014/main" id="{9BC3DBB5-EDC1-E235-266D-10D78ACF0E71}"/>
              </a:ext>
            </a:extLst>
          </p:cNvPr>
          <p:cNvSpPr>
            <a:spLocks noGrp="1" noChangeArrowheads="1"/>
          </p:cNvSpPr>
          <p:nvPr>
            <p:ph type="title"/>
          </p:nvPr>
        </p:nvSpPr>
        <p:spPr bwMode="auto">
          <a:xfrm>
            <a:off x="1116013" y="404813"/>
            <a:ext cx="779303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2058" name="Rectangle 10">
            <a:extLst>
              <a:ext uri="{FF2B5EF4-FFF2-40B4-BE49-F238E27FC236}">
                <a16:creationId xmlns:a16="http://schemas.microsoft.com/office/drawing/2014/main" id="{238D2D5C-63BA-BB34-6BEE-1516677147F8}"/>
              </a:ext>
            </a:extLst>
          </p:cNvPr>
          <p:cNvSpPr>
            <a:spLocks noGrp="1" noChangeArrowheads="1"/>
          </p:cNvSpPr>
          <p:nvPr>
            <p:ph type="body" idx="1"/>
          </p:nvPr>
        </p:nvSpPr>
        <p:spPr bwMode="auto">
          <a:xfrm>
            <a:off x="1182688" y="1628775"/>
            <a:ext cx="7772400" cy="450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587" name="Rectangle 11">
            <a:extLst>
              <a:ext uri="{FF2B5EF4-FFF2-40B4-BE49-F238E27FC236}">
                <a16:creationId xmlns:a16="http://schemas.microsoft.com/office/drawing/2014/main" id="{78121866-B1E5-C49D-9B77-F2C6803DC423}"/>
              </a:ext>
            </a:extLst>
          </p:cNvPr>
          <p:cNvSpPr>
            <a:spLocks noGrp="1" noChangeArrowheads="1"/>
          </p:cNvSpPr>
          <p:nvPr>
            <p:ph type="dt" sz="half" idx="2"/>
          </p:nvPr>
        </p:nvSpPr>
        <p:spPr bwMode="auto">
          <a:xfrm>
            <a:off x="9144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400">
                <a:solidFill>
                  <a:srgbClr val="000000"/>
                </a:solidFill>
                <a:latin typeface="+mn-lt"/>
                <a:cs typeface="Arial" charset="0"/>
              </a:defRPr>
            </a:lvl1pPr>
          </a:lstStyle>
          <a:p>
            <a:pPr>
              <a:defRPr/>
            </a:pPr>
            <a:endParaRPr lang="en-US"/>
          </a:p>
        </p:txBody>
      </p:sp>
      <p:sp>
        <p:nvSpPr>
          <p:cNvPr id="24588" name="Rectangle 12">
            <a:extLst>
              <a:ext uri="{FF2B5EF4-FFF2-40B4-BE49-F238E27FC236}">
                <a16:creationId xmlns:a16="http://schemas.microsoft.com/office/drawing/2014/main" id="{50A94342-DEE2-BCC8-B1E8-BF9B2EDDFDD1}"/>
              </a:ext>
            </a:extLst>
          </p:cNvPr>
          <p:cNvSpPr>
            <a:spLocks noGrp="1" noChangeArrowheads="1"/>
          </p:cNvSpPr>
          <p:nvPr>
            <p:ph type="ftr" sz="quarter" idx="3"/>
          </p:nvPr>
        </p:nvSpPr>
        <p:spPr bwMode="auto">
          <a:xfrm>
            <a:off x="3352800" y="6324600"/>
            <a:ext cx="2895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eaLnBrk="1" hangingPunct="1">
              <a:defRPr sz="1400">
                <a:solidFill>
                  <a:srgbClr val="000000"/>
                </a:solidFill>
                <a:latin typeface="+mn-lt"/>
                <a:cs typeface="Arial" charset="0"/>
              </a:defRPr>
            </a:lvl1pPr>
          </a:lstStyle>
          <a:p>
            <a:pPr>
              <a:defRPr/>
            </a:pPr>
            <a:endParaRPr lang="en-US"/>
          </a:p>
        </p:txBody>
      </p:sp>
      <p:sp>
        <p:nvSpPr>
          <p:cNvPr id="24589" name="Rectangle 13">
            <a:extLst>
              <a:ext uri="{FF2B5EF4-FFF2-40B4-BE49-F238E27FC236}">
                <a16:creationId xmlns:a16="http://schemas.microsoft.com/office/drawing/2014/main" id="{8B2EEF5A-6B2B-6224-87CD-5CF4879824C5}"/>
              </a:ext>
            </a:extLst>
          </p:cNvPr>
          <p:cNvSpPr>
            <a:spLocks noGrp="1" noChangeArrowheads="1"/>
          </p:cNvSpPr>
          <p:nvPr>
            <p:ph type="sldNum" sz="quarter" idx="4"/>
          </p:nvPr>
        </p:nvSpPr>
        <p:spPr bwMode="auto">
          <a:xfrm>
            <a:off x="67818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400">
                <a:solidFill>
                  <a:srgbClr val="000000"/>
                </a:solidFill>
                <a:latin typeface="Tahoma" panose="020B0604030504040204" pitchFamily="34" charset="0"/>
              </a:defRPr>
            </a:lvl1pPr>
          </a:lstStyle>
          <a:p>
            <a:pPr>
              <a:defRPr/>
            </a:pPr>
            <a:fld id="{257E2979-E8E8-49B7-AD22-5675BEA4F6B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5833" r:id="rId1"/>
    <p:sldLayoutId id="2147485812" r:id="rId2"/>
    <p:sldLayoutId id="2147485813" r:id="rId3"/>
    <p:sldLayoutId id="2147485814" r:id="rId4"/>
    <p:sldLayoutId id="2147485815" r:id="rId5"/>
    <p:sldLayoutId id="2147485816" r:id="rId6"/>
    <p:sldLayoutId id="2147485817" r:id="rId7"/>
    <p:sldLayoutId id="2147485818" r:id="rId8"/>
    <p:sldLayoutId id="2147485819" r:id="rId9"/>
    <p:sldLayoutId id="2147485820" r:id="rId10"/>
    <p:sldLayoutId id="2147485821"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charset="0"/>
        </a:defRPr>
      </a:lvl2pPr>
      <a:lvl3pPr algn="l" rtl="0" eaLnBrk="0" fontAlgn="base" hangingPunct="0">
        <a:spcBef>
          <a:spcPct val="0"/>
        </a:spcBef>
        <a:spcAft>
          <a:spcPct val="0"/>
        </a:spcAft>
        <a:defRPr sz="4400">
          <a:solidFill>
            <a:schemeClr val="tx2"/>
          </a:solidFill>
          <a:latin typeface="Tahoma" pitchFamily="34" charset="0"/>
          <a:cs typeface="Arial" charset="0"/>
        </a:defRPr>
      </a:lvl3pPr>
      <a:lvl4pPr algn="l" rtl="0" eaLnBrk="0" fontAlgn="base" hangingPunct="0">
        <a:spcBef>
          <a:spcPct val="0"/>
        </a:spcBef>
        <a:spcAft>
          <a:spcPct val="0"/>
        </a:spcAft>
        <a:defRPr sz="4400">
          <a:solidFill>
            <a:schemeClr val="tx2"/>
          </a:solidFill>
          <a:latin typeface="Tahoma" pitchFamily="34" charset="0"/>
          <a:cs typeface="Arial" charset="0"/>
        </a:defRPr>
      </a:lvl4pPr>
      <a:lvl5pPr algn="l" rtl="0" eaLnBrk="0" fontAlgn="base" hangingPunct="0">
        <a:spcBef>
          <a:spcPct val="0"/>
        </a:spcBef>
        <a:spcAft>
          <a:spcPct val="0"/>
        </a:spcAft>
        <a:defRPr sz="4400">
          <a:solidFill>
            <a:schemeClr val="tx2"/>
          </a:solidFill>
          <a:latin typeface="Tahoma" pitchFamily="34" charset="0"/>
          <a:cs typeface="Arial" charset="0"/>
        </a:defRPr>
      </a:lvl5pPr>
      <a:lvl6pPr marL="457200" algn="l" rtl="0" fontAlgn="base">
        <a:spcBef>
          <a:spcPct val="0"/>
        </a:spcBef>
        <a:spcAft>
          <a:spcPct val="0"/>
        </a:spcAft>
        <a:defRPr sz="4400">
          <a:solidFill>
            <a:schemeClr val="tx2"/>
          </a:solidFill>
          <a:latin typeface="Tahoma" pitchFamily="34" charset="0"/>
          <a:cs typeface="Arial" charset="0"/>
        </a:defRPr>
      </a:lvl6pPr>
      <a:lvl7pPr marL="914400" algn="l" rtl="0" fontAlgn="base">
        <a:spcBef>
          <a:spcPct val="0"/>
        </a:spcBef>
        <a:spcAft>
          <a:spcPct val="0"/>
        </a:spcAft>
        <a:defRPr sz="4400">
          <a:solidFill>
            <a:schemeClr val="tx2"/>
          </a:solidFill>
          <a:latin typeface="Tahoma" pitchFamily="34" charset="0"/>
          <a:cs typeface="Arial" charset="0"/>
        </a:defRPr>
      </a:lvl7pPr>
      <a:lvl8pPr marL="1371600" algn="l" rtl="0" fontAlgn="base">
        <a:spcBef>
          <a:spcPct val="0"/>
        </a:spcBef>
        <a:spcAft>
          <a:spcPct val="0"/>
        </a:spcAft>
        <a:defRPr sz="4400">
          <a:solidFill>
            <a:schemeClr val="tx2"/>
          </a:solidFill>
          <a:latin typeface="Tahoma" pitchFamily="34" charset="0"/>
          <a:cs typeface="Arial" charset="0"/>
        </a:defRPr>
      </a:lvl8pPr>
      <a:lvl9pPr marL="1828800" algn="l" rtl="0" fontAlgn="base">
        <a:spcBef>
          <a:spcPct val="0"/>
        </a:spcBef>
        <a:spcAft>
          <a:spcPct val="0"/>
        </a:spcAft>
        <a:defRPr sz="4400">
          <a:solidFill>
            <a:schemeClr val="tx2"/>
          </a:solidFill>
          <a:latin typeface="Tahoma" pitchFamily="34" charset="0"/>
          <a:cs typeface="Arial"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746CC3AA-932B-C74A-457A-28525E459E97}"/>
              </a:ext>
            </a:extLst>
          </p:cNvPr>
          <p:cNvSpPr>
            <a:spLocks noGrp="1" noChangeArrowheads="1"/>
          </p:cNvSpPr>
          <p:nvPr>
            <p:ph type="ctrTitle"/>
          </p:nvPr>
        </p:nvSpPr>
        <p:spPr>
          <a:xfrm>
            <a:off x="990600" y="1828800"/>
            <a:ext cx="7542213" cy="1143000"/>
          </a:xfrm>
        </p:spPr>
        <p:txBody>
          <a:bodyPr/>
          <a:lstStyle/>
          <a:p>
            <a:r>
              <a:rPr lang="en-GB" altLang="en-US" sz="2800" b="1" dirty="0">
                <a:solidFill>
                  <a:srgbClr val="0070C0"/>
                </a:solidFill>
              </a:rPr>
              <a:t>Occupational Specialist Component Content: Digital Production, Design  and Development</a:t>
            </a:r>
          </a:p>
        </p:txBody>
      </p:sp>
      <p:sp>
        <p:nvSpPr>
          <p:cNvPr id="15363" name="TextBox 4">
            <a:extLst>
              <a:ext uri="{FF2B5EF4-FFF2-40B4-BE49-F238E27FC236}">
                <a16:creationId xmlns:a16="http://schemas.microsoft.com/office/drawing/2014/main" id="{40BB4960-359C-B2C2-1D13-1B95D0D518E2}"/>
              </a:ext>
            </a:extLst>
          </p:cNvPr>
          <p:cNvSpPr txBox="1">
            <a:spLocks noChangeArrowheads="1"/>
          </p:cNvSpPr>
          <p:nvPr/>
        </p:nvSpPr>
        <p:spPr bwMode="auto">
          <a:xfrm>
            <a:off x="323850" y="3716338"/>
            <a:ext cx="8613775" cy="2952750"/>
          </a:xfrm>
          <a:prstGeom prst="rect">
            <a:avLst/>
          </a:prstGeom>
          <a:noFill/>
          <a:ln>
            <a:noFill/>
          </a:ln>
        </p:spPr>
        <p:txBody>
          <a:bodyPr/>
          <a:lstStyle>
            <a:lvl1pPr marL="171450" indent="-171450"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defRPr/>
            </a:pPr>
            <a:r>
              <a:rPr lang="en-GB" sz="1400" dirty="0">
                <a:solidFill>
                  <a:srgbClr val="000000"/>
                </a:solidFill>
                <a:latin typeface="+mn-lt"/>
              </a:rPr>
              <a:t>The T Level T Level Technical Qualification in Digital: Digital Production, Design and Development includes a single Occupational Specialist Component. Therefore, there is a single synoptic assessment for the Occupational Specialist Component, which is an extended ‘design, development and implementation’ project. The synoptic element of the project is important in order to ensure that students are able to demonstrate threshold competence: this is the principal reason why the Occupational Specialism is assessed via a single extended project assessment to ensure that students are able to evidence all the skills required by the Performance Outcomes. </a:t>
            </a:r>
          </a:p>
          <a:p>
            <a:pPr>
              <a:defRPr/>
            </a:pPr>
            <a:r>
              <a:rPr lang="en-GB" sz="1400" dirty="0">
                <a:solidFill>
                  <a:srgbClr val="000000"/>
                </a:solidFill>
                <a:latin typeface="+mn-lt"/>
              </a:rPr>
              <a:t>The T Level Technical Qualification in Digital: Digital Production, Design and Development Occupational Specialist Component consists of several activities grouped into four substantive tasks. </a:t>
            </a:r>
          </a:p>
          <a:p>
            <a:pPr>
              <a:defRPr/>
            </a:pPr>
            <a:r>
              <a:rPr lang="en-GB" sz="1400" dirty="0">
                <a:solidFill>
                  <a:srgbClr val="000000"/>
                </a:solidFill>
                <a:latin typeface="+mn-lt"/>
              </a:rPr>
              <a:t>Each task will be completed during a window set by Pearson during which you will schedule supervised assessment sessions. In some cases, tasks will also involve opportunities for unsupervised activities where the requirements of the skills being assessed make this necessary.</a:t>
            </a:r>
            <a:endParaRPr lang="en-GB" altLang="en-US" sz="1400" dirty="0">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B063DDAF-E645-8E8E-1CD7-FB3E4942AD42}"/>
              </a:ext>
            </a:extLst>
          </p:cNvPr>
          <p:cNvSpPr>
            <a:spLocks noGrp="1" noChangeArrowheads="1"/>
          </p:cNvSpPr>
          <p:nvPr>
            <p:ph type="title"/>
          </p:nvPr>
        </p:nvSpPr>
        <p:spPr>
          <a:xfrm>
            <a:off x="1258888" y="404813"/>
            <a:ext cx="7650162" cy="939800"/>
          </a:xfrm>
        </p:spPr>
        <p:txBody>
          <a:bodyPr/>
          <a:lstStyle/>
          <a:p>
            <a:r>
              <a:rPr lang="en-GB" altLang="en-US" sz="3600" b="1">
                <a:solidFill>
                  <a:srgbClr val="0070C0"/>
                </a:solidFill>
              </a:rPr>
              <a:t>The unit outcomes</a:t>
            </a:r>
            <a:endParaRPr lang="en-US" altLang="en-US" sz="3600" b="1">
              <a:solidFill>
                <a:srgbClr val="0070C0"/>
              </a:solidFill>
            </a:endParaRPr>
          </a:p>
        </p:txBody>
      </p:sp>
      <p:sp>
        <p:nvSpPr>
          <p:cNvPr id="21507" name="Content Placeholder 2">
            <a:extLst>
              <a:ext uri="{FF2B5EF4-FFF2-40B4-BE49-F238E27FC236}">
                <a16:creationId xmlns:a16="http://schemas.microsoft.com/office/drawing/2014/main" id="{F89D6847-75B7-0CA3-CA96-1E855E1D75D6}"/>
              </a:ext>
            </a:extLst>
          </p:cNvPr>
          <p:cNvSpPr>
            <a:spLocks noGrp="1" noChangeArrowheads="1"/>
          </p:cNvSpPr>
          <p:nvPr>
            <p:ph idx="1"/>
          </p:nvPr>
        </p:nvSpPr>
        <p:spPr>
          <a:xfrm>
            <a:off x="323850" y="1916113"/>
            <a:ext cx="8208963" cy="4340225"/>
          </a:xfrm>
        </p:spPr>
        <p:txBody>
          <a:bodyPr/>
          <a:lstStyle/>
          <a:p>
            <a:pPr>
              <a:defRPr/>
            </a:pPr>
            <a:r>
              <a:rPr lang="en-GB" sz="1800" b="1" dirty="0"/>
              <a:t>1.3 </a:t>
            </a:r>
            <a:r>
              <a:rPr lang="en-GB" sz="1800" dirty="0"/>
              <a:t>Understand the key features of, and be able to select, appropriate project methodologies when developing a software solution</a:t>
            </a:r>
          </a:p>
          <a:p>
            <a:pPr marL="457200" lvl="1" indent="0">
              <a:buFont typeface="Wingdings" panose="05000000000000000000" pitchFamily="2" charset="2"/>
              <a:buNone/>
              <a:defRPr/>
            </a:pPr>
            <a:endParaRPr lang="en-GB" sz="1400" dirty="0"/>
          </a:p>
          <a:p>
            <a:pPr lvl="1">
              <a:defRPr/>
            </a:pPr>
            <a:r>
              <a:rPr lang="en-GB" sz="1800" dirty="0"/>
              <a:t>Key features of Agile</a:t>
            </a:r>
          </a:p>
          <a:p>
            <a:pPr lvl="1">
              <a:defRPr/>
            </a:pPr>
            <a:r>
              <a:rPr lang="en-GB" sz="1800" dirty="0"/>
              <a:t>Key features of Scaled Agile</a:t>
            </a:r>
          </a:p>
          <a:p>
            <a:pPr lvl="1">
              <a:defRPr/>
            </a:pPr>
            <a:r>
              <a:rPr lang="en-GB" sz="1800" dirty="0"/>
              <a:t>Key features of waterfall</a:t>
            </a:r>
          </a:p>
          <a:p>
            <a:pPr lvl="1">
              <a:defRPr/>
            </a:pPr>
            <a:r>
              <a:rPr lang="en-GB" sz="1800" dirty="0"/>
              <a:t>Key features of Rapid Application Development (RAD)</a:t>
            </a:r>
          </a:p>
          <a:p>
            <a:pPr lvl="1">
              <a:defRPr/>
            </a:pPr>
            <a:r>
              <a:rPr lang="en-GB" sz="1800" dirty="0"/>
              <a:t>Key Features of LEAN</a:t>
            </a:r>
            <a:endParaRPr lang="en-GB"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D9916D59-0D4D-7A7F-32FD-B66E010CA9E4}"/>
              </a:ext>
            </a:extLst>
          </p:cNvPr>
          <p:cNvSpPr>
            <a:spLocks noGrp="1" noChangeArrowheads="1"/>
          </p:cNvSpPr>
          <p:nvPr>
            <p:ph type="title"/>
          </p:nvPr>
        </p:nvSpPr>
        <p:spPr>
          <a:xfrm>
            <a:off x="1403350" y="404813"/>
            <a:ext cx="7505700" cy="939800"/>
          </a:xfrm>
        </p:spPr>
        <p:txBody>
          <a:bodyPr/>
          <a:lstStyle/>
          <a:p>
            <a:pPr eaLnBrk="1" hangingPunct="1"/>
            <a:r>
              <a:rPr lang="en-GB" altLang="en-US" sz="4000" b="1" dirty="0">
                <a:solidFill>
                  <a:srgbClr val="0070C0"/>
                </a:solidFill>
              </a:rPr>
              <a:t>Learning Objectives</a:t>
            </a:r>
          </a:p>
        </p:txBody>
      </p:sp>
      <p:sp>
        <p:nvSpPr>
          <p:cNvPr id="4099" name="Rectangle 3">
            <a:extLst>
              <a:ext uri="{FF2B5EF4-FFF2-40B4-BE49-F238E27FC236}">
                <a16:creationId xmlns:a16="http://schemas.microsoft.com/office/drawing/2014/main" id="{81D7DF48-5C8C-2A22-10C7-A51FEDB00BB9}"/>
              </a:ext>
            </a:extLst>
          </p:cNvPr>
          <p:cNvSpPr>
            <a:spLocks noGrp="1" noChangeArrowheads="1"/>
          </p:cNvSpPr>
          <p:nvPr>
            <p:ph type="body" idx="1"/>
          </p:nvPr>
        </p:nvSpPr>
        <p:spPr>
          <a:xfrm>
            <a:off x="484114" y="1772817"/>
            <a:ext cx="8424936" cy="4536504"/>
          </a:xfrm>
        </p:spPr>
        <p:txBody>
          <a:bodyPr/>
          <a:lstStyle/>
          <a:p>
            <a:pPr eaLnBrk="1" hangingPunct="1">
              <a:defRPr/>
            </a:pPr>
            <a:r>
              <a:rPr lang="en-GB" sz="2000" b="1" dirty="0"/>
              <a:t>Aims:</a:t>
            </a:r>
          </a:p>
          <a:p>
            <a:pPr lvl="1" eaLnBrk="1" hangingPunct="1">
              <a:defRPr/>
            </a:pPr>
            <a:r>
              <a:rPr lang="en-GB" sz="1800" dirty="0"/>
              <a:t>To introduce the key features of, and be able to select, appropriate project methodologies when developing a software solution</a:t>
            </a:r>
          </a:p>
          <a:p>
            <a:pPr lvl="1" eaLnBrk="1" hangingPunct="1">
              <a:defRPr/>
            </a:pPr>
            <a:endParaRPr lang="en-GB" sz="2000" dirty="0"/>
          </a:p>
          <a:p>
            <a:pPr eaLnBrk="1" hangingPunct="1">
              <a:defRPr/>
            </a:pPr>
            <a:r>
              <a:rPr lang="en-GB" sz="2000" b="1" dirty="0"/>
              <a:t>Objectives</a:t>
            </a:r>
            <a:r>
              <a:rPr lang="en-US" sz="2000" b="1" dirty="0"/>
              <a:t>:</a:t>
            </a:r>
          </a:p>
          <a:p>
            <a:pPr lvl="1"/>
            <a:r>
              <a:rPr lang="en-GB" sz="1800" dirty="0"/>
              <a:t>To be able to :</a:t>
            </a:r>
          </a:p>
          <a:p>
            <a:pPr lvl="2"/>
            <a:r>
              <a:rPr lang="en-GB" sz="1800" dirty="0"/>
              <a:t>Understand key characteristics of major development methodologies</a:t>
            </a:r>
          </a:p>
          <a:p>
            <a:pPr lvl="2"/>
            <a:r>
              <a:rPr lang="en-GB" sz="1800" dirty="0"/>
              <a:t>Evaluate when to use each approach</a:t>
            </a:r>
          </a:p>
          <a:p>
            <a:pPr lvl="2"/>
            <a:r>
              <a:rPr lang="en-GB" sz="1800" dirty="0"/>
              <a:t>Recognize advantages such as iterative delivery and cost-effectiveness</a:t>
            </a:r>
          </a:p>
          <a:p>
            <a:pPr lvl="2"/>
            <a:r>
              <a:rPr lang="en-GB" sz="1800" dirty="0"/>
              <a:t>Explore user-centred design (UCD) in the development lifecycle</a:t>
            </a:r>
          </a:p>
          <a:p>
            <a:pPr lvl="2" eaLnBrk="1" hangingPunct="1">
              <a:defRPr/>
            </a:pPr>
            <a:endParaRPr lang="en-GB"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477DB-38D2-9FC4-6CAC-236611900968}"/>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7393FE4D-16A2-7E4F-BDE1-C85BC37A38EB}"/>
              </a:ext>
            </a:extLst>
          </p:cNvPr>
          <p:cNvSpPr>
            <a:spLocks noGrp="1" noChangeArrowheads="1"/>
          </p:cNvSpPr>
          <p:nvPr>
            <p:ph type="title"/>
          </p:nvPr>
        </p:nvSpPr>
        <p:spPr>
          <a:xfrm>
            <a:off x="1475656" y="446193"/>
            <a:ext cx="7668344" cy="939800"/>
          </a:xfrm>
        </p:spPr>
        <p:txBody>
          <a:bodyPr/>
          <a:lstStyle/>
          <a:p>
            <a:r>
              <a:rPr lang="en-GB" sz="3600" b="1" dirty="0">
                <a:solidFill>
                  <a:srgbClr val="0070C0"/>
                </a:solidFill>
              </a:rPr>
              <a:t>Why Methodology Matters</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2A622E7B-F09A-943E-6D60-DADA61E89A47}"/>
              </a:ext>
            </a:extLst>
          </p:cNvPr>
          <p:cNvSpPr>
            <a:spLocks noGrp="1" noChangeArrowheads="1"/>
          </p:cNvSpPr>
          <p:nvPr>
            <p:ph idx="1"/>
          </p:nvPr>
        </p:nvSpPr>
        <p:spPr>
          <a:xfrm>
            <a:off x="234432" y="1916832"/>
            <a:ext cx="8675136" cy="727631"/>
          </a:xfrm>
        </p:spPr>
        <p:txBody>
          <a:bodyPr/>
          <a:lstStyle/>
          <a:p>
            <a:r>
              <a:rPr lang="en-GB" sz="1800" dirty="0"/>
              <a:t>Before the start of a software development project a decision has to be made on which software development methodology should be used.</a:t>
            </a:r>
          </a:p>
        </p:txBody>
      </p:sp>
      <p:sp>
        <p:nvSpPr>
          <p:cNvPr id="6" name="Content Placeholder 2">
            <a:extLst>
              <a:ext uri="{FF2B5EF4-FFF2-40B4-BE49-F238E27FC236}">
                <a16:creationId xmlns:a16="http://schemas.microsoft.com/office/drawing/2014/main" id="{87FB6BB5-FDC4-FAEA-F853-F12FFA9CF36B}"/>
              </a:ext>
            </a:extLst>
          </p:cNvPr>
          <p:cNvSpPr txBox="1">
            <a:spLocks noChangeArrowheads="1"/>
          </p:cNvSpPr>
          <p:nvPr/>
        </p:nvSpPr>
        <p:spPr bwMode="auto">
          <a:xfrm>
            <a:off x="234432" y="2852936"/>
            <a:ext cx="8675136" cy="18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altLang="en-US" sz="1800" kern="0" dirty="0"/>
              <a:t>This management decision will:</a:t>
            </a:r>
          </a:p>
          <a:p>
            <a:pPr lvl="1"/>
            <a:r>
              <a:rPr lang="en-GB" sz="1800" dirty="0"/>
              <a:t>Shapes </a:t>
            </a:r>
            <a:r>
              <a:rPr lang="en-GB" sz="1800" b="1" dirty="0"/>
              <a:t>how</a:t>
            </a:r>
            <a:r>
              <a:rPr lang="en-GB" sz="1800" dirty="0"/>
              <a:t> software is built and delivered</a:t>
            </a:r>
          </a:p>
          <a:p>
            <a:pPr lvl="1"/>
            <a:r>
              <a:rPr lang="en-GB" sz="1800" dirty="0"/>
              <a:t>Influences team structure, time, budget, and client involvement</a:t>
            </a:r>
          </a:p>
          <a:p>
            <a:pPr lvl="1"/>
            <a:r>
              <a:rPr lang="en-GB" sz="1800" dirty="0"/>
              <a:t>Determines how well a project can </a:t>
            </a:r>
            <a:r>
              <a:rPr lang="en-GB" sz="1800" b="1" dirty="0"/>
              <a:t>adapt to change</a:t>
            </a:r>
            <a:endParaRPr lang="en-GB" sz="1800" dirty="0"/>
          </a:p>
          <a:p>
            <a:pPr lvl="1"/>
            <a:r>
              <a:rPr lang="en-GB" sz="1800" dirty="0"/>
              <a:t>Helps ensure projects are </a:t>
            </a:r>
            <a:r>
              <a:rPr lang="en-GB" sz="1800" b="1" dirty="0"/>
              <a:t>on time</a:t>
            </a:r>
            <a:r>
              <a:rPr lang="en-GB" sz="1800" dirty="0"/>
              <a:t>, </a:t>
            </a:r>
            <a:r>
              <a:rPr lang="en-GB" sz="1800" b="1" dirty="0"/>
              <a:t>within budget</a:t>
            </a:r>
            <a:r>
              <a:rPr lang="en-GB" sz="1800" dirty="0"/>
              <a:t>, and </a:t>
            </a:r>
            <a:r>
              <a:rPr lang="en-GB" sz="1800" b="1" dirty="0"/>
              <a:t>meet user needs</a:t>
            </a:r>
            <a:endParaRPr lang="en-GB" sz="1800" dirty="0"/>
          </a:p>
          <a:p>
            <a:endParaRPr lang="en-GB" altLang="en-US" sz="1800" kern="0" dirty="0"/>
          </a:p>
        </p:txBody>
      </p:sp>
      <p:pic>
        <p:nvPicPr>
          <p:cNvPr id="2051" name="Picture 3" descr="Top software development methodologies and approaches explained">
            <a:extLst>
              <a:ext uri="{FF2B5EF4-FFF2-40B4-BE49-F238E27FC236}">
                <a16:creationId xmlns:a16="http://schemas.microsoft.com/office/drawing/2014/main" id="{DEE76097-66EC-BD5D-3401-40CA42A0EF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018" y="4779095"/>
            <a:ext cx="4071880" cy="1758826"/>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Software Development Methodologies I | Program, Project &amp; Product  Management Excellence">
            <a:extLst>
              <a:ext uri="{FF2B5EF4-FFF2-40B4-BE49-F238E27FC236}">
                <a16:creationId xmlns:a16="http://schemas.microsoft.com/office/drawing/2014/main" id="{AC9224EF-A3F3-9FC3-A368-300AF8A960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52120" y="4756355"/>
            <a:ext cx="2786050" cy="19054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7368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90149-3090-793B-B46E-675EC235A5E1}"/>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1E7E78D8-FD78-4CF4-57F8-6C18166D9407}"/>
              </a:ext>
            </a:extLst>
          </p:cNvPr>
          <p:cNvSpPr>
            <a:spLocks noGrp="1" noChangeArrowheads="1"/>
          </p:cNvSpPr>
          <p:nvPr>
            <p:ph type="title"/>
          </p:nvPr>
        </p:nvSpPr>
        <p:spPr>
          <a:xfrm>
            <a:off x="1475656" y="446193"/>
            <a:ext cx="2160240" cy="939800"/>
          </a:xfrm>
        </p:spPr>
        <p:txBody>
          <a:bodyPr/>
          <a:lstStyle/>
          <a:p>
            <a:r>
              <a:rPr lang="en-GB" sz="3600" b="1" dirty="0">
                <a:solidFill>
                  <a:srgbClr val="0070C0"/>
                </a:solidFill>
              </a:rPr>
              <a:t>Agile</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EA72C060-EDD5-BBDD-F19E-681DAE7C6B91}"/>
              </a:ext>
            </a:extLst>
          </p:cNvPr>
          <p:cNvSpPr>
            <a:spLocks noGrp="1" noChangeArrowheads="1"/>
          </p:cNvSpPr>
          <p:nvPr>
            <p:ph idx="1"/>
          </p:nvPr>
        </p:nvSpPr>
        <p:spPr>
          <a:xfrm>
            <a:off x="234432" y="1844824"/>
            <a:ext cx="8730056" cy="1358976"/>
          </a:xfrm>
        </p:spPr>
        <p:txBody>
          <a:bodyPr/>
          <a:lstStyle/>
          <a:p>
            <a:r>
              <a:rPr lang="en-GB" sz="1800" b="1" dirty="0"/>
              <a:t>Agile</a:t>
            </a:r>
            <a:r>
              <a:rPr lang="en-GB" sz="1800" dirty="0"/>
              <a:t> is a flexible, collaborative software development methodology focused on delivering </a:t>
            </a:r>
            <a:r>
              <a:rPr lang="en-GB" sz="1800" b="1" dirty="0"/>
              <a:t>small, functional components quickly</a:t>
            </a:r>
            <a:r>
              <a:rPr lang="en-GB" sz="1800" dirty="0"/>
              <a:t>.</a:t>
            </a:r>
          </a:p>
          <a:p>
            <a:r>
              <a:rPr lang="en-GB" sz="1800" dirty="0"/>
              <a:t>It promotes continuous user feedback, frequent releases, and the ability to </a:t>
            </a:r>
            <a:r>
              <a:rPr lang="en-GB" sz="1800" b="1" dirty="0"/>
              <a:t>adapt to change</a:t>
            </a:r>
            <a:r>
              <a:rPr lang="en-GB" sz="1800" dirty="0"/>
              <a:t> throughout the project.</a:t>
            </a:r>
          </a:p>
        </p:txBody>
      </p:sp>
      <p:sp>
        <p:nvSpPr>
          <p:cNvPr id="3" name="Content Placeholder 2">
            <a:extLst>
              <a:ext uri="{FF2B5EF4-FFF2-40B4-BE49-F238E27FC236}">
                <a16:creationId xmlns:a16="http://schemas.microsoft.com/office/drawing/2014/main" id="{0D237328-AC30-A7FE-60C3-CB4CC6F744AA}"/>
              </a:ext>
            </a:extLst>
          </p:cNvPr>
          <p:cNvSpPr txBox="1">
            <a:spLocks noChangeArrowheads="1"/>
          </p:cNvSpPr>
          <p:nvPr/>
        </p:nvSpPr>
        <p:spPr bwMode="auto">
          <a:xfrm>
            <a:off x="234432" y="3348681"/>
            <a:ext cx="4896544" cy="310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Key Features:</a:t>
            </a:r>
          </a:p>
          <a:p>
            <a:pPr lvl="1"/>
            <a:r>
              <a:rPr lang="en-GB" sz="1600" b="1" dirty="0">
                <a:solidFill>
                  <a:srgbClr val="0070C0"/>
                </a:solidFill>
              </a:rPr>
              <a:t>Iterative and incremental</a:t>
            </a:r>
            <a:r>
              <a:rPr lang="en-GB" sz="1600" dirty="0">
                <a:solidFill>
                  <a:srgbClr val="0070C0"/>
                </a:solidFill>
              </a:rPr>
              <a:t> </a:t>
            </a:r>
            <a:r>
              <a:rPr lang="en-GB" sz="1600" dirty="0"/>
              <a:t>development cycles (e.g., sprints)</a:t>
            </a:r>
          </a:p>
          <a:p>
            <a:pPr lvl="1"/>
            <a:r>
              <a:rPr lang="en-GB" sz="1600" b="1" dirty="0">
                <a:solidFill>
                  <a:srgbClr val="0070C0"/>
                </a:solidFill>
              </a:rPr>
              <a:t>Frequent delivery</a:t>
            </a:r>
            <a:r>
              <a:rPr lang="en-GB" sz="1600" dirty="0">
                <a:solidFill>
                  <a:srgbClr val="0070C0"/>
                </a:solidFill>
              </a:rPr>
              <a:t> </a:t>
            </a:r>
            <a:r>
              <a:rPr lang="en-GB" sz="1600" dirty="0"/>
              <a:t>of working software</a:t>
            </a:r>
          </a:p>
          <a:p>
            <a:pPr lvl="1"/>
            <a:r>
              <a:rPr lang="en-GB" sz="1600" dirty="0"/>
              <a:t>Prioritizes </a:t>
            </a:r>
            <a:r>
              <a:rPr lang="en-GB" sz="1600" b="1" dirty="0">
                <a:solidFill>
                  <a:srgbClr val="0070C0"/>
                </a:solidFill>
              </a:rPr>
              <a:t>user involvement and feedback</a:t>
            </a:r>
            <a:endParaRPr lang="en-GB" sz="1600" dirty="0">
              <a:solidFill>
                <a:srgbClr val="0070C0"/>
              </a:solidFill>
            </a:endParaRPr>
          </a:p>
          <a:p>
            <a:pPr lvl="1"/>
            <a:r>
              <a:rPr lang="en-GB" sz="1600" dirty="0"/>
              <a:t>Encourages </a:t>
            </a:r>
            <a:r>
              <a:rPr lang="en-GB" sz="1600" b="1" dirty="0">
                <a:solidFill>
                  <a:srgbClr val="0070C0"/>
                </a:solidFill>
              </a:rPr>
              <a:t>face-to-face communication</a:t>
            </a:r>
            <a:endParaRPr lang="en-GB" sz="1600" dirty="0">
              <a:solidFill>
                <a:srgbClr val="0070C0"/>
              </a:solidFill>
            </a:endParaRPr>
          </a:p>
          <a:p>
            <a:pPr lvl="1"/>
            <a:r>
              <a:rPr lang="en-GB" sz="1600" dirty="0"/>
              <a:t>Accepts </a:t>
            </a:r>
            <a:r>
              <a:rPr lang="en-GB" sz="1600" b="1" dirty="0">
                <a:solidFill>
                  <a:srgbClr val="0070C0"/>
                </a:solidFill>
              </a:rPr>
              <a:t>changing requirements</a:t>
            </a:r>
            <a:r>
              <a:rPr lang="en-GB" sz="1600" dirty="0"/>
              <a:t>, even late in the project</a:t>
            </a:r>
          </a:p>
          <a:p>
            <a:pPr lvl="1"/>
            <a:r>
              <a:rPr lang="en-GB" sz="1600" dirty="0"/>
              <a:t>Promotes </a:t>
            </a:r>
            <a:r>
              <a:rPr lang="en-GB" sz="1600" b="1" dirty="0">
                <a:solidFill>
                  <a:srgbClr val="0070C0"/>
                </a:solidFill>
              </a:rPr>
              <a:t>team collaboration</a:t>
            </a:r>
            <a:r>
              <a:rPr lang="en-GB" sz="1600" dirty="0">
                <a:solidFill>
                  <a:srgbClr val="0070C0"/>
                </a:solidFill>
              </a:rPr>
              <a:t> and </a:t>
            </a:r>
            <a:r>
              <a:rPr lang="en-GB" sz="1600" b="1" dirty="0">
                <a:solidFill>
                  <a:srgbClr val="0070C0"/>
                </a:solidFill>
              </a:rPr>
              <a:t>self-organization</a:t>
            </a:r>
            <a:endParaRPr lang="en-GB" sz="1600" dirty="0">
              <a:solidFill>
                <a:srgbClr val="0070C0"/>
              </a:solidFill>
            </a:endParaRPr>
          </a:p>
          <a:p>
            <a:endParaRPr lang="en-GB" sz="1800" b="1" dirty="0"/>
          </a:p>
          <a:p>
            <a:endParaRPr lang="en-GB" sz="1800" dirty="0"/>
          </a:p>
          <a:p>
            <a:endParaRPr lang="en-GB" altLang="en-US" sz="1800" kern="0" dirty="0"/>
          </a:p>
        </p:txBody>
      </p:sp>
      <p:sp>
        <p:nvSpPr>
          <p:cNvPr id="4" name="Content Placeholder 2">
            <a:extLst>
              <a:ext uri="{FF2B5EF4-FFF2-40B4-BE49-F238E27FC236}">
                <a16:creationId xmlns:a16="http://schemas.microsoft.com/office/drawing/2014/main" id="{EB5DFA6F-4A67-7E85-2415-C1030ED3F4EA}"/>
              </a:ext>
            </a:extLst>
          </p:cNvPr>
          <p:cNvSpPr txBox="1">
            <a:spLocks noChangeArrowheads="1"/>
          </p:cNvSpPr>
          <p:nvPr/>
        </p:nvSpPr>
        <p:spPr bwMode="auto">
          <a:xfrm>
            <a:off x="5112162" y="3348681"/>
            <a:ext cx="3835146" cy="1843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Best suited for:</a:t>
            </a:r>
          </a:p>
          <a:p>
            <a:pPr lvl="1"/>
            <a:r>
              <a:rPr lang="en-GB" sz="1600" dirty="0"/>
              <a:t>Small to medium-sized teams</a:t>
            </a:r>
          </a:p>
          <a:p>
            <a:pPr lvl="1"/>
            <a:r>
              <a:rPr lang="en-GB" sz="1600" dirty="0"/>
              <a:t>Projects where </a:t>
            </a:r>
            <a:r>
              <a:rPr lang="en-GB" sz="1600" b="1" dirty="0"/>
              <a:t>requirements evolve over time</a:t>
            </a:r>
          </a:p>
          <a:p>
            <a:pPr lvl="1"/>
            <a:r>
              <a:rPr lang="en-GB" sz="1600" dirty="0"/>
              <a:t>Environments needing </a:t>
            </a:r>
            <a:r>
              <a:rPr lang="en-GB" sz="1600" b="1" dirty="0"/>
              <a:t>fast delivery and adaptability</a:t>
            </a:r>
            <a:endParaRPr lang="en-GB" sz="1600" dirty="0"/>
          </a:p>
          <a:p>
            <a:endParaRPr lang="en-GB" sz="1800" dirty="0"/>
          </a:p>
          <a:p>
            <a:endParaRPr lang="en-GB" altLang="en-US" sz="1800" kern="0" dirty="0"/>
          </a:p>
        </p:txBody>
      </p:sp>
      <p:pic>
        <p:nvPicPr>
          <p:cNvPr id="5122" name="Picture 2" descr="Agile Methodologies: What You Need to Know for Successful Implementation">
            <a:extLst>
              <a:ext uri="{FF2B5EF4-FFF2-40B4-BE49-F238E27FC236}">
                <a16:creationId xmlns:a16="http://schemas.microsoft.com/office/drawing/2014/main" id="{A18230E6-14AC-A1ED-DF60-E979435828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2200" y="173597"/>
            <a:ext cx="2251360" cy="14790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7495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B8DE6-3A15-1611-831D-182E95878B6E}"/>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3129067E-DC50-E7C1-6DB8-BF40957027C1}"/>
              </a:ext>
            </a:extLst>
          </p:cNvPr>
          <p:cNvSpPr>
            <a:spLocks noGrp="1" noChangeArrowheads="1"/>
          </p:cNvSpPr>
          <p:nvPr>
            <p:ph type="title"/>
          </p:nvPr>
        </p:nvSpPr>
        <p:spPr>
          <a:xfrm>
            <a:off x="1475656" y="446193"/>
            <a:ext cx="4464496" cy="939800"/>
          </a:xfrm>
        </p:spPr>
        <p:txBody>
          <a:bodyPr/>
          <a:lstStyle/>
          <a:p>
            <a:r>
              <a:rPr lang="en-GB" sz="3600" b="1" dirty="0">
                <a:solidFill>
                  <a:srgbClr val="0070C0"/>
                </a:solidFill>
              </a:rPr>
              <a:t>Types of Agile Development</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2D8168A3-7C19-3F28-0AF0-E31B8BF742F6}"/>
              </a:ext>
            </a:extLst>
          </p:cNvPr>
          <p:cNvSpPr>
            <a:spLocks noGrp="1" noChangeArrowheads="1"/>
          </p:cNvSpPr>
          <p:nvPr>
            <p:ph idx="1"/>
          </p:nvPr>
        </p:nvSpPr>
        <p:spPr>
          <a:xfrm>
            <a:off x="234432" y="1844824"/>
            <a:ext cx="8730056" cy="939800"/>
          </a:xfrm>
        </p:spPr>
        <p:txBody>
          <a:bodyPr/>
          <a:lstStyle/>
          <a:p>
            <a:r>
              <a:rPr lang="en-GB" sz="1800" dirty="0"/>
              <a:t>Agile is an umbrella term for several </a:t>
            </a:r>
            <a:r>
              <a:rPr lang="en-GB" sz="1800" b="1" dirty="0"/>
              <a:t>lightweight, flexible methodologies</a:t>
            </a:r>
            <a:r>
              <a:rPr lang="en-GB" sz="1800" dirty="0"/>
              <a:t> that promote </a:t>
            </a:r>
            <a:r>
              <a:rPr lang="en-GB" sz="1800" b="1" dirty="0"/>
              <a:t>iterative development</a:t>
            </a:r>
            <a:r>
              <a:rPr lang="en-GB" sz="1800" dirty="0"/>
              <a:t>, </a:t>
            </a:r>
            <a:r>
              <a:rPr lang="en-GB" sz="1800" b="1" dirty="0"/>
              <a:t>collaboration</a:t>
            </a:r>
            <a:r>
              <a:rPr lang="en-GB" sz="1800" dirty="0"/>
              <a:t>, and </a:t>
            </a:r>
            <a:r>
              <a:rPr lang="en-GB" sz="1800" b="1" dirty="0"/>
              <a:t>customer feedback</a:t>
            </a:r>
            <a:r>
              <a:rPr lang="en-GB" sz="1800" dirty="0"/>
              <a:t>. </a:t>
            </a:r>
          </a:p>
          <a:p>
            <a:r>
              <a:rPr lang="en-GB" sz="1800" dirty="0"/>
              <a:t>Here are the most commonly used types:</a:t>
            </a:r>
          </a:p>
        </p:txBody>
      </p:sp>
      <p:sp>
        <p:nvSpPr>
          <p:cNvPr id="3" name="Content Placeholder 2">
            <a:extLst>
              <a:ext uri="{FF2B5EF4-FFF2-40B4-BE49-F238E27FC236}">
                <a16:creationId xmlns:a16="http://schemas.microsoft.com/office/drawing/2014/main" id="{B77429B2-130B-84A6-1C14-30CB2491A217}"/>
              </a:ext>
            </a:extLst>
          </p:cNvPr>
          <p:cNvSpPr txBox="1">
            <a:spLocks noChangeArrowheads="1"/>
          </p:cNvSpPr>
          <p:nvPr/>
        </p:nvSpPr>
        <p:spPr bwMode="auto">
          <a:xfrm>
            <a:off x="234432" y="3348681"/>
            <a:ext cx="3257448" cy="1520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600" b="1" dirty="0"/>
              <a:t>Scrum:</a:t>
            </a:r>
          </a:p>
          <a:p>
            <a:pPr marL="444500" lvl="1" indent="-258763"/>
            <a:r>
              <a:rPr lang="en-GB" sz="1000" dirty="0"/>
              <a:t>Most widely used Agile framework</a:t>
            </a:r>
          </a:p>
          <a:p>
            <a:pPr marL="444500" lvl="1" indent="-258763"/>
            <a:r>
              <a:rPr lang="en-GB" sz="1000" dirty="0"/>
              <a:t>Work is divided into time-boxed </a:t>
            </a:r>
            <a:r>
              <a:rPr lang="en-GB" sz="1000" b="1" dirty="0"/>
              <a:t>sprints</a:t>
            </a:r>
            <a:r>
              <a:rPr lang="en-GB" sz="1000" dirty="0"/>
              <a:t> (typically 2–4 weeks)</a:t>
            </a:r>
          </a:p>
          <a:p>
            <a:pPr marL="444500" lvl="1" indent="-258763"/>
            <a:r>
              <a:rPr lang="en-GB" sz="1000" dirty="0"/>
              <a:t>Defined roles: </a:t>
            </a:r>
            <a:r>
              <a:rPr lang="en-GB" sz="1000" b="1" dirty="0"/>
              <a:t>Scrum Master</a:t>
            </a:r>
            <a:r>
              <a:rPr lang="en-GB" sz="1000" dirty="0"/>
              <a:t>, </a:t>
            </a:r>
            <a:r>
              <a:rPr lang="en-GB" sz="1000" b="1" dirty="0"/>
              <a:t>Product Owner</a:t>
            </a:r>
            <a:r>
              <a:rPr lang="en-GB" sz="1000" dirty="0"/>
              <a:t>, </a:t>
            </a:r>
            <a:r>
              <a:rPr lang="en-GB" sz="1000" b="1" dirty="0"/>
              <a:t>Development Team</a:t>
            </a:r>
            <a:endParaRPr lang="en-GB" sz="1000" dirty="0"/>
          </a:p>
          <a:p>
            <a:pPr marL="444500" lvl="1" indent="-258763"/>
            <a:r>
              <a:rPr lang="en-GB" sz="1000" dirty="0"/>
              <a:t>Emphasizes </a:t>
            </a:r>
            <a:r>
              <a:rPr lang="en-GB" sz="1000" b="1" dirty="0"/>
              <a:t>daily stand-ups</a:t>
            </a:r>
            <a:r>
              <a:rPr lang="en-GB" sz="1000" dirty="0"/>
              <a:t>, sprint reviews, and retrospectives</a:t>
            </a:r>
          </a:p>
          <a:p>
            <a:endParaRPr lang="en-GB" sz="1400" b="1" dirty="0"/>
          </a:p>
          <a:p>
            <a:endParaRPr lang="en-GB" sz="1400" dirty="0"/>
          </a:p>
          <a:p>
            <a:endParaRPr lang="en-GB" altLang="en-US" sz="1800" kern="0" dirty="0"/>
          </a:p>
        </p:txBody>
      </p:sp>
      <p:sp>
        <p:nvSpPr>
          <p:cNvPr id="4" name="Content Placeholder 2">
            <a:extLst>
              <a:ext uri="{FF2B5EF4-FFF2-40B4-BE49-F238E27FC236}">
                <a16:creationId xmlns:a16="http://schemas.microsoft.com/office/drawing/2014/main" id="{76894369-2D28-E94A-FA86-FA4AA2CDB300}"/>
              </a:ext>
            </a:extLst>
          </p:cNvPr>
          <p:cNvSpPr txBox="1">
            <a:spLocks noChangeArrowheads="1"/>
          </p:cNvSpPr>
          <p:nvPr/>
        </p:nvSpPr>
        <p:spPr bwMode="auto">
          <a:xfrm>
            <a:off x="5112162" y="3348681"/>
            <a:ext cx="3835146" cy="1843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Best suited for:</a:t>
            </a:r>
          </a:p>
          <a:p>
            <a:pPr lvl="1"/>
            <a:r>
              <a:rPr lang="en-GB" sz="1600" dirty="0"/>
              <a:t>Small to medium-sized teams</a:t>
            </a:r>
          </a:p>
          <a:p>
            <a:pPr lvl="1"/>
            <a:r>
              <a:rPr lang="en-GB" sz="1600" dirty="0"/>
              <a:t>Projects where </a:t>
            </a:r>
            <a:r>
              <a:rPr lang="en-GB" sz="1600" b="1" dirty="0"/>
              <a:t>requirements evolve over time</a:t>
            </a:r>
          </a:p>
          <a:p>
            <a:pPr lvl="1"/>
            <a:r>
              <a:rPr lang="en-GB" sz="1600" dirty="0"/>
              <a:t>Environments needing </a:t>
            </a:r>
            <a:r>
              <a:rPr lang="en-GB" sz="1600" b="1" dirty="0"/>
              <a:t>fast delivery and adaptability</a:t>
            </a:r>
            <a:endParaRPr lang="en-GB" sz="1600" dirty="0"/>
          </a:p>
          <a:p>
            <a:endParaRPr lang="en-GB" sz="1800" dirty="0"/>
          </a:p>
          <a:p>
            <a:endParaRPr lang="en-GB" altLang="en-US" sz="1800" kern="0" dirty="0"/>
          </a:p>
        </p:txBody>
      </p:sp>
      <p:pic>
        <p:nvPicPr>
          <p:cNvPr id="5122" name="Picture 2" descr="Agile Methodologies: What You Need to Know for Successful Implementation">
            <a:extLst>
              <a:ext uri="{FF2B5EF4-FFF2-40B4-BE49-F238E27FC236}">
                <a16:creationId xmlns:a16="http://schemas.microsoft.com/office/drawing/2014/main" id="{0964C4E6-09EC-0BC3-5D91-8A724F3A5F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2200" y="173597"/>
            <a:ext cx="2251360" cy="14790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5246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22C45-AB03-38E4-F041-A79161B1E94E}"/>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DC70AC3C-044D-00E1-1426-09DA6FBC2C69}"/>
              </a:ext>
            </a:extLst>
          </p:cNvPr>
          <p:cNvSpPr>
            <a:spLocks noGrp="1" noChangeArrowheads="1"/>
          </p:cNvSpPr>
          <p:nvPr>
            <p:ph type="title"/>
          </p:nvPr>
        </p:nvSpPr>
        <p:spPr>
          <a:xfrm>
            <a:off x="1475656" y="446193"/>
            <a:ext cx="7668344" cy="939800"/>
          </a:xfrm>
        </p:spPr>
        <p:txBody>
          <a:bodyPr/>
          <a:lstStyle/>
          <a:p>
            <a:r>
              <a:rPr lang="en-GB" sz="3600" b="1" dirty="0">
                <a:solidFill>
                  <a:srgbClr val="0070C0"/>
                </a:solidFill>
              </a:rPr>
              <a:t>Scale Agile</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B09E0465-3959-AFAA-96BA-46FDD8E24303}"/>
              </a:ext>
            </a:extLst>
          </p:cNvPr>
          <p:cNvSpPr>
            <a:spLocks noGrp="1" noChangeArrowheads="1"/>
          </p:cNvSpPr>
          <p:nvPr>
            <p:ph idx="1"/>
          </p:nvPr>
        </p:nvSpPr>
        <p:spPr>
          <a:xfrm>
            <a:off x="234432" y="1799645"/>
            <a:ext cx="8675136" cy="939800"/>
          </a:xfrm>
        </p:spPr>
        <p:txBody>
          <a:bodyPr/>
          <a:lstStyle/>
          <a:p>
            <a:r>
              <a:rPr lang="en-GB" sz="1800" b="1" dirty="0"/>
              <a:t>Scaled Agile Framework (</a:t>
            </a:r>
            <a:r>
              <a:rPr lang="en-GB" sz="1800" b="1" dirty="0" err="1"/>
              <a:t>SAFe</a:t>
            </a:r>
            <a:r>
              <a:rPr lang="en-GB" sz="1800" b="1" dirty="0"/>
              <a:t>)</a:t>
            </a:r>
            <a:r>
              <a:rPr lang="en-GB" sz="1800" dirty="0"/>
              <a:t> is an </a:t>
            </a:r>
            <a:r>
              <a:rPr lang="en-GB" sz="1800" b="1" dirty="0"/>
              <a:t>agile methodology</a:t>
            </a:r>
            <a:r>
              <a:rPr lang="en-GB" sz="1800" dirty="0"/>
              <a:t> designed to apply agile principles to </a:t>
            </a:r>
            <a:r>
              <a:rPr lang="en-GB" sz="1800" b="1" dirty="0"/>
              <a:t>large-scale enterprise projects</a:t>
            </a:r>
            <a:r>
              <a:rPr lang="en-GB" sz="1800" dirty="0"/>
              <a:t>.</a:t>
            </a:r>
          </a:p>
          <a:p>
            <a:r>
              <a:rPr lang="en-GB" sz="1800" dirty="0"/>
              <a:t>It promotes continuous delivery, fast feedback, and coordination across multiple teams.</a:t>
            </a:r>
          </a:p>
        </p:txBody>
      </p:sp>
      <p:sp>
        <p:nvSpPr>
          <p:cNvPr id="6" name="Content Placeholder 2">
            <a:extLst>
              <a:ext uri="{FF2B5EF4-FFF2-40B4-BE49-F238E27FC236}">
                <a16:creationId xmlns:a16="http://schemas.microsoft.com/office/drawing/2014/main" id="{1F74B364-DE25-6545-FA8A-A4A93655B4E1}"/>
              </a:ext>
            </a:extLst>
          </p:cNvPr>
          <p:cNvSpPr txBox="1">
            <a:spLocks noChangeArrowheads="1"/>
          </p:cNvSpPr>
          <p:nvPr/>
        </p:nvSpPr>
        <p:spPr bwMode="auto">
          <a:xfrm>
            <a:off x="234432" y="3132868"/>
            <a:ext cx="4896544" cy="3470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Key Features:</a:t>
            </a:r>
          </a:p>
          <a:p>
            <a:pPr lvl="1"/>
            <a:r>
              <a:rPr lang="en-GB" sz="1600" b="1" dirty="0">
                <a:solidFill>
                  <a:srgbClr val="0070C0"/>
                </a:solidFill>
              </a:rPr>
              <a:t>Expanded incremental delivery </a:t>
            </a:r>
            <a:r>
              <a:rPr lang="en-GB" sz="1600" dirty="0"/>
              <a:t>using Sprint, Epic, Story, Spike, Product Increment.</a:t>
            </a:r>
          </a:p>
          <a:p>
            <a:pPr lvl="1"/>
            <a:r>
              <a:rPr lang="en-GB" sz="1600" dirty="0"/>
              <a:t>Delivers </a:t>
            </a:r>
            <a:r>
              <a:rPr lang="en-GB" sz="1600" b="1" dirty="0">
                <a:solidFill>
                  <a:srgbClr val="0070C0"/>
                </a:solidFill>
              </a:rPr>
              <a:t>high-quality products </a:t>
            </a:r>
            <a:r>
              <a:rPr lang="en-GB" sz="1600" dirty="0"/>
              <a:t>with limited initial functionality</a:t>
            </a:r>
          </a:p>
          <a:p>
            <a:pPr lvl="1"/>
            <a:r>
              <a:rPr lang="en-GB" sz="1600" dirty="0"/>
              <a:t>Each increment adds </a:t>
            </a:r>
            <a:r>
              <a:rPr lang="en-GB" sz="1600" b="1" dirty="0">
                <a:solidFill>
                  <a:srgbClr val="0070C0"/>
                </a:solidFill>
              </a:rPr>
              <a:t>new features</a:t>
            </a:r>
          </a:p>
          <a:p>
            <a:pPr lvl="1"/>
            <a:r>
              <a:rPr lang="en-GB" sz="1600" dirty="0"/>
              <a:t>Requirements can </a:t>
            </a:r>
            <a:r>
              <a:rPr lang="en-GB" sz="1600" b="1" dirty="0">
                <a:solidFill>
                  <a:srgbClr val="0070C0"/>
                </a:solidFill>
              </a:rPr>
              <a:t>change continually</a:t>
            </a:r>
          </a:p>
          <a:p>
            <a:pPr lvl="1"/>
            <a:r>
              <a:rPr lang="en-GB" sz="1600" dirty="0"/>
              <a:t>Clients see </a:t>
            </a:r>
            <a:r>
              <a:rPr lang="en-GB" sz="1600" b="1" dirty="0">
                <a:solidFill>
                  <a:srgbClr val="0070C0"/>
                </a:solidFill>
              </a:rPr>
              <a:t>working software regularly</a:t>
            </a:r>
          </a:p>
          <a:p>
            <a:pPr lvl="1"/>
            <a:r>
              <a:rPr lang="en-GB" sz="1600" b="1" dirty="0">
                <a:solidFill>
                  <a:srgbClr val="0070C0"/>
                </a:solidFill>
              </a:rPr>
              <a:t>Final iteration </a:t>
            </a:r>
            <a:r>
              <a:rPr lang="en-GB" sz="1600" dirty="0"/>
              <a:t>focuses on polishing and stability</a:t>
            </a:r>
          </a:p>
          <a:p>
            <a:pPr lvl="1"/>
            <a:r>
              <a:rPr lang="en-GB" sz="1600" dirty="0"/>
              <a:t>Provides clear </a:t>
            </a:r>
            <a:r>
              <a:rPr lang="en-GB" sz="1600" b="1" dirty="0">
                <a:solidFill>
                  <a:srgbClr val="0070C0"/>
                </a:solidFill>
              </a:rPr>
              <a:t>reporting and coordination tools</a:t>
            </a:r>
          </a:p>
          <a:p>
            <a:endParaRPr lang="en-GB" sz="1800" dirty="0"/>
          </a:p>
          <a:p>
            <a:endParaRPr lang="en-GB" altLang="en-US" sz="1800" kern="0" dirty="0"/>
          </a:p>
        </p:txBody>
      </p:sp>
      <p:sp>
        <p:nvSpPr>
          <p:cNvPr id="5" name="Content Placeholder 2">
            <a:extLst>
              <a:ext uri="{FF2B5EF4-FFF2-40B4-BE49-F238E27FC236}">
                <a16:creationId xmlns:a16="http://schemas.microsoft.com/office/drawing/2014/main" id="{E15129B1-7C63-4897-A84E-716F8A1F7AB8}"/>
              </a:ext>
            </a:extLst>
          </p:cNvPr>
          <p:cNvSpPr txBox="1">
            <a:spLocks noChangeArrowheads="1"/>
          </p:cNvSpPr>
          <p:nvPr/>
        </p:nvSpPr>
        <p:spPr bwMode="auto">
          <a:xfrm>
            <a:off x="4826881" y="3132868"/>
            <a:ext cx="4300876" cy="2892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Benefits:</a:t>
            </a:r>
          </a:p>
          <a:p>
            <a:pPr lvl="1"/>
            <a:r>
              <a:rPr lang="en-GB" sz="1600" dirty="0"/>
              <a:t>Early delivery of working software</a:t>
            </a:r>
          </a:p>
          <a:p>
            <a:pPr lvl="1"/>
            <a:r>
              <a:rPr lang="en-GB" sz="1600" dirty="0"/>
              <a:t>Cost-effective market entry</a:t>
            </a:r>
          </a:p>
          <a:p>
            <a:pPr lvl="1"/>
            <a:r>
              <a:rPr lang="en-GB" sz="1600" dirty="0"/>
              <a:t>Cancelled projects still yield useful components</a:t>
            </a:r>
          </a:p>
          <a:p>
            <a:pPr lvl="1"/>
            <a:r>
              <a:rPr lang="en-GB" sz="1600" dirty="0"/>
              <a:t>Encourages collaboration, adaptation, and visibility</a:t>
            </a:r>
          </a:p>
          <a:p>
            <a:pPr lvl="1"/>
            <a:r>
              <a:rPr lang="en-GB" sz="1600" dirty="0"/>
              <a:t>Ideal for large organizations with complex projects</a:t>
            </a:r>
          </a:p>
          <a:p>
            <a:endParaRPr lang="en-GB" sz="1800" dirty="0"/>
          </a:p>
          <a:p>
            <a:endParaRPr lang="en-GB" altLang="en-US" sz="1800" kern="0" dirty="0"/>
          </a:p>
        </p:txBody>
      </p:sp>
      <p:pic>
        <p:nvPicPr>
          <p:cNvPr id="3077" name="Picture 5">
            <a:extLst>
              <a:ext uri="{FF2B5EF4-FFF2-40B4-BE49-F238E27FC236}">
                <a16:creationId xmlns:a16="http://schemas.microsoft.com/office/drawing/2014/main" id="{FFCAF25D-C52B-B1B5-81F2-E24229CE2B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4168" y="86689"/>
            <a:ext cx="2651469" cy="14928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8481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7239E-41F3-BB5A-EB47-870CC15E34EA}"/>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73B6ED0F-5CCD-6F24-4329-B1817FD894EC}"/>
              </a:ext>
            </a:extLst>
          </p:cNvPr>
          <p:cNvSpPr>
            <a:spLocks noGrp="1" noChangeArrowheads="1"/>
          </p:cNvSpPr>
          <p:nvPr>
            <p:ph type="title"/>
          </p:nvPr>
        </p:nvSpPr>
        <p:spPr>
          <a:xfrm>
            <a:off x="1475656" y="446193"/>
            <a:ext cx="7668344" cy="939800"/>
          </a:xfrm>
        </p:spPr>
        <p:txBody>
          <a:bodyPr/>
          <a:lstStyle/>
          <a:p>
            <a:r>
              <a:rPr lang="en-GB" sz="3600" b="1" dirty="0">
                <a:solidFill>
                  <a:srgbClr val="0070C0"/>
                </a:solidFill>
              </a:rPr>
              <a:t>Waterfall</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588A4769-4C3A-19D1-162E-1483ADCD9912}"/>
              </a:ext>
            </a:extLst>
          </p:cNvPr>
          <p:cNvSpPr>
            <a:spLocks noGrp="1" noChangeArrowheads="1"/>
          </p:cNvSpPr>
          <p:nvPr>
            <p:ph idx="1"/>
          </p:nvPr>
        </p:nvSpPr>
        <p:spPr>
          <a:xfrm>
            <a:off x="234432" y="1799645"/>
            <a:ext cx="8675136" cy="939800"/>
          </a:xfrm>
        </p:spPr>
        <p:txBody>
          <a:bodyPr/>
          <a:lstStyle/>
          <a:p>
            <a:r>
              <a:rPr lang="en-GB" sz="1800" b="1" dirty="0"/>
              <a:t>Waterfall</a:t>
            </a:r>
            <a:r>
              <a:rPr lang="en-GB" sz="1800" dirty="0"/>
              <a:t> is a </a:t>
            </a:r>
            <a:r>
              <a:rPr lang="en-GB" sz="1800" b="1" dirty="0"/>
              <a:t>linear and sequential methodology</a:t>
            </a:r>
            <a:r>
              <a:rPr lang="en-GB" sz="1800" dirty="0"/>
              <a:t>, where each phase (e.g., requirements, design, development) is completed before the next begins. </a:t>
            </a:r>
          </a:p>
          <a:p>
            <a:r>
              <a:rPr lang="en-GB" sz="1800" dirty="0"/>
              <a:t>It is heavily </a:t>
            </a:r>
            <a:r>
              <a:rPr lang="en-GB" sz="1800" b="1" dirty="0"/>
              <a:t>documented and structured</a:t>
            </a:r>
            <a:r>
              <a:rPr lang="en-GB" sz="1800" dirty="0"/>
              <a:t>.</a:t>
            </a:r>
          </a:p>
        </p:txBody>
      </p:sp>
      <p:sp>
        <p:nvSpPr>
          <p:cNvPr id="6" name="Content Placeholder 2">
            <a:extLst>
              <a:ext uri="{FF2B5EF4-FFF2-40B4-BE49-F238E27FC236}">
                <a16:creationId xmlns:a16="http://schemas.microsoft.com/office/drawing/2014/main" id="{A96B09E5-6CAC-7FA6-0E82-6C39FC7FDE52}"/>
              </a:ext>
            </a:extLst>
          </p:cNvPr>
          <p:cNvSpPr txBox="1">
            <a:spLocks noChangeArrowheads="1"/>
          </p:cNvSpPr>
          <p:nvPr/>
        </p:nvSpPr>
        <p:spPr bwMode="auto">
          <a:xfrm>
            <a:off x="234432" y="3028871"/>
            <a:ext cx="4896544" cy="3470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Key Features:</a:t>
            </a:r>
          </a:p>
          <a:p>
            <a:pPr lvl="1"/>
            <a:r>
              <a:rPr lang="en-GB" sz="1600" dirty="0"/>
              <a:t>Strict, </a:t>
            </a:r>
            <a:r>
              <a:rPr lang="en-GB" sz="1600" b="1" dirty="0">
                <a:solidFill>
                  <a:srgbClr val="0070C0"/>
                </a:solidFill>
              </a:rPr>
              <a:t>step-by-step progression</a:t>
            </a:r>
            <a:endParaRPr lang="en-GB" sz="1600" dirty="0">
              <a:solidFill>
                <a:srgbClr val="0070C0"/>
              </a:solidFill>
            </a:endParaRPr>
          </a:p>
          <a:p>
            <a:pPr lvl="1"/>
            <a:r>
              <a:rPr lang="en-GB" sz="1600" dirty="0"/>
              <a:t>Emphasis on </a:t>
            </a:r>
            <a:r>
              <a:rPr lang="en-GB" sz="1600" b="1" dirty="0">
                <a:solidFill>
                  <a:srgbClr val="0070C0"/>
                </a:solidFill>
              </a:rPr>
              <a:t>planning and documentation</a:t>
            </a:r>
            <a:endParaRPr lang="en-GB" sz="1600" dirty="0">
              <a:solidFill>
                <a:srgbClr val="0070C0"/>
              </a:solidFill>
            </a:endParaRPr>
          </a:p>
          <a:p>
            <a:pPr lvl="1"/>
            <a:r>
              <a:rPr lang="en-GB" sz="1600" b="1" dirty="0">
                <a:solidFill>
                  <a:srgbClr val="0070C0"/>
                </a:solidFill>
              </a:rPr>
              <a:t>Little client interaction</a:t>
            </a:r>
            <a:r>
              <a:rPr lang="en-GB" sz="1600" dirty="0">
                <a:solidFill>
                  <a:srgbClr val="0070C0"/>
                </a:solidFill>
              </a:rPr>
              <a:t> </a:t>
            </a:r>
            <a:r>
              <a:rPr lang="en-GB" sz="1600" dirty="0"/>
              <a:t>after the initial stages</a:t>
            </a:r>
          </a:p>
          <a:p>
            <a:pPr lvl="1"/>
            <a:r>
              <a:rPr lang="en-GB" sz="1600" dirty="0"/>
              <a:t>Progress measured by </a:t>
            </a:r>
            <a:r>
              <a:rPr lang="en-GB" sz="1600" b="1" dirty="0">
                <a:solidFill>
                  <a:srgbClr val="0070C0"/>
                </a:solidFill>
              </a:rPr>
              <a:t>artefacts</a:t>
            </a:r>
            <a:r>
              <a:rPr lang="en-GB" sz="1600" dirty="0"/>
              <a:t>, not working code</a:t>
            </a:r>
          </a:p>
          <a:p>
            <a:pPr lvl="1"/>
            <a:r>
              <a:rPr lang="en-GB" sz="1600" b="1" dirty="0">
                <a:solidFill>
                  <a:srgbClr val="0070C0"/>
                </a:solidFill>
              </a:rPr>
              <a:t>High initial cost</a:t>
            </a:r>
            <a:r>
              <a:rPr lang="en-GB" sz="1600" dirty="0"/>
              <a:t>; slow returns</a:t>
            </a:r>
          </a:p>
          <a:p>
            <a:pPr lvl="1"/>
            <a:r>
              <a:rPr lang="en-GB" sz="1600" b="1" dirty="0">
                <a:solidFill>
                  <a:srgbClr val="0070C0"/>
                </a:solidFill>
              </a:rPr>
              <a:t>No usable product</a:t>
            </a:r>
            <a:r>
              <a:rPr lang="en-GB" sz="1600" dirty="0">
                <a:solidFill>
                  <a:srgbClr val="0070C0"/>
                </a:solidFill>
              </a:rPr>
              <a:t> </a:t>
            </a:r>
            <a:r>
              <a:rPr lang="en-GB" sz="1600" dirty="0"/>
              <a:t>if cancelled early</a:t>
            </a:r>
          </a:p>
          <a:p>
            <a:endParaRPr lang="en-GB" sz="1800" dirty="0"/>
          </a:p>
          <a:p>
            <a:endParaRPr lang="en-GB" altLang="en-US" sz="1800" kern="0" dirty="0"/>
          </a:p>
        </p:txBody>
      </p:sp>
      <p:sp>
        <p:nvSpPr>
          <p:cNvPr id="5" name="Content Placeholder 2">
            <a:extLst>
              <a:ext uri="{FF2B5EF4-FFF2-40B4-BE49-F238E27FC236}">
                <a16:creationId xmlns:a16="http://schemas.microsoft.com/office/drawing/2014/main" id="{1341F57C-3C2E-667D-8A2A-3EBB0FBFF854}"/>
              </a:ext>
            </a:extLst>
          </p:cNvPr>
          <p:cNvSpPr txBox="1">
            <a:spLocks noChangeArrowheads="1"/>
          </p:cNvSpPr>
          <p:nvPr/>
        </p:nvSpPr>
        <p:spPr bwMode="auto">
          <a:xfrm>
            <a:off x="4788024" y="3142206"/>
            <a:ext cx="4300876" cy="2892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Best Use Cases:</a:t>
            </a:r>
          </a:p>
          <a:p>
            <a:pPr lvl="1"/>
            <a:r>
              <a:rPr lang="en-GB" sz="1600" dirty="0"/>
              <a:t>Early delivery of working software</a:t>
            </a:r>
          </a:p>
          <a:p>
            <a:pPr lvl="1"/>
            <a:r>
              <a:rPr lang="en-GB" sz="1600" dirty="0"/>
              <a:t>Fixed requirements</a:t>
            </a:r>
          </a:p>
          <a:p>
            <a:pPr lvl="1"/>
            <a:r>
              <a:rPr lang="en-GB" sz="1600" dirty="0"/>
              <a:t>Safety-critical systems (e.g., aerospace, banking)</a:t>
            </a:r>
          </a:p>
          <a:p>
            <a:pPr lvl="1"/>
            <a:r>
              <a:rPr lang="en-GB" sz="1600" dirty="0"/>
              <a:t>Projects requiring </a:t>
            </a:r>
            <a:r>
              <a:rPr lang="en-GB" sz="1600" b="1" dirty="0"/>
              <a:t>full documentation and traceability</a:t>
            </a:r>
          </a:p>
          <a:p>
            <a:pPr lvl="1"/>
            <a:r>
              <a:rPr lang="en-GB" sz="1600" b="1" dirty="0">
                <a:solidFill>
                  <a:srgbClr val="FF0000"/>
                </a:solidFill>
              </a:rPr>
              <a:t>Poor fit for changing or unclear requirements</a:t>
            </a:r>
          </a:p>
          <a:p>
            <a:endParaRPr lang="en-GB" sz="1600" dirty="0"/>
          </a:p>
          <a:p>
            <a:endParaRPr lang="en-GB" altLang="en-US" sz="1800" kern="0" dirty="0"/>
          </a:p>
        </p:txBody>
      </p:sp>
      <p:pic>
        <p:nvPicPr>
          <p:cNvPr id="9218" name="Picture 2" descr="Diagram of the Waterfall model procedures and processes">
            <a:extLst>
              <a:ext uri="{FF2B5EF4-FFF2-40B4-BE49-F238E27FC236}">
                <a16:creationId xmlns:a16="http://schemas.microsoft.com/office/drawing/2014/main" id="{EBA4E8FD-8BEE-B154-266F-786CB1326C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8264" y="156767"/>
            <a:ext cx="1663950" cy="11291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46945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A8461-A8E1-54F3-AFB2-DDBC794C7147}"/>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2CE6015D-0F72-6577-3A92-871CBBCB16C5}"/>
              </a:ext>
            </a:extLst>
          </p:cNvPr>
          <p:cNvSpPr>
            <a:spLocks noGrp="1" noChangeArrowheads="1"/>
          </p:cNvSpPr>
          <p:nvPr>
            <p:ph type="title"/>
          </p:nvPr>
        </p:nvSpPr>
        <p:spPr>
          <a:xfrm>
            <a:off x="1475656" y="446193"/>
            <a:ext cx="7668344" cy="939800"/>
          </a:xfrm>
        </p:spPr>
        <p:txBody>
          <a:bodyPr/>
          <a:lstStyle/>
          <a:p>
            <a:r>
              <a:rPr lang="en-GB" sz="3200" b="1" dirty="0">
                <a:solidFill>
                  <a:srgbClr val="0070C0"/>
                </a:solidFill>
              </a:rPr>
              <a:t>Rapid Application Development (RAD) </a:t>
            </a:r>
            <a:endParaRPr lang="en-US" altLang="en-US" sz="3200" b="1" dirty="0">
              <a:solidFill>
                <a:srgbClr val="0070C0"/>
              </a:solidFill>
            </a:endParaRPr>
          </a:p>
        </p:txBody>
      </p:sp>
      <p:sp>
        <p:nvSpPr>
          <p:cNvPr id="18435" name="Content Placeholder 2">
            <a:extLst>
              <a:ext uri="{FF2B5EF4-FFF2-40B4-BE49-F238E27FC236}">
                <a16:creationId xmlns:a16="http://schemas.microsoft.com/office/drawing/2014/main" id="{8EBBA9D7-4770-F55C-B7EC-CC8BD5AAFAC2}"/>
              </a:ext>
            </a:extLst>
          </p:cNvPr>
          <p:cNvSpPr>
            <a:spLocks noGrp="1" noChangeArrowheads="1"/>
          </p:cNvSpPr>
          <p:nvPr>
            <p:ph idx="1"/>
          </p:nvPr>
        </p:nvSpPr>
        <p:spPr>
          <a:xfrm>
            <a:off x="234432" y="1799645"/>
            <a:ext cx="8675136" cy="939800"/>
          </a:xfrm>
        </p:spPr>
        <p:txBody>
          <a:bodyPr/>
          <a:lstStyle/>
          <a:p>
            <a:r>
              <a:rPr lang="en-GB" sz="1800" b="1" dirty="0"/>
              <a:t>RAD</a:t>
            </a:r>
            <a:r>
              <a:rPr lang="en-GB" sz="1800" dirty="0"/>
              <a:t> emphasizes </a:t>
            </a:r>
            <a:r>
              <a:rPr lang="en-GB" sz="1800" b="1" dirty="0"/>
              <a:t>rapid prototyping</a:t>
            </a:r>
            <a:r>
              <a:rPr lang="en-GB" sz="1800" dirty="0"/>
              <a:t> and user feedback over strict planning. </a:t>
            </a:r>
          </a:p>
          <a:p>
            <a:r>
              <a:rPr lang="en-GB" sz="1800" dirty="0"/>
              <a:t>It prioritizes building a </a:t>
            </a:r>
            <a:r>
              <a:rPr lang="en-GB" sz="1800" b="1" dirty="0"/>
              <a:t>functional system quickly</a:t>
            </a:r>
            <a:r>
              <a:rPr lang="en-GB" sz="1800" dirty="0"/>
              <a:t>, often by reusing components.</a:t>
            </a:r>
          </a:p>
        </p:txBody>
      </p:sp>
      <p:sp>
        <p:nvSpPr>
          <p:cNvPr id="6" name="Content Placeholder 2">
            <a:extLst>
              <a:ext uri="{FF2B5EF4-FFF2-40B4-BE49-F238E27FC236}">
                <a16:creationId xmlns:a16="http://schemas.microsoft.com/office/drawing/2014/main" id="{02C98F72-0A07-8A0E-CFF4-17DF41E96977}"/>
              </a:ext>
            </a:extLst>
          </p:cNvPr>
          <p:cNvSpPr txBox="1">
            <a:spLocks noChangeArrowheads="1"/>
          </p:cNvSpPr>
          <p:nvPr/>
        </p:nvSpPr>
        <p:spPr bwMode="auto">
          <a:xfrm>
            <a:off x="234432" y="3028871"/>
            <a:ext cx="4896544" cy="3470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Key Features:</a:t>
            </a:r>
          </a:p>
          <a:p>
            <a:pPr lvl="1"/>
            <a:r>
              <a:rPr lang="en-GB" sz="1600" dirty="0"/>
              <a:t>Focuses on </a:t>
            </a:r>
            <a:r>
              <a:rPr lang="en-GB" sz="1600" b="1" dirty="0">
                <a:solidFill>
                  <a:srgbClr val="0070C0"/>
                </a:solidFill>
              </a:rPr>
              <a:t>speed and iteration</a:t>
            </a:r>
            <a:endParaRPr lang="en-GB" sz="1600" dirty="0">
              <a:solidFill>
                <a:srgbClr val="0070C0"/>
              </a:solidFill>
            </a:endParaRPr>
          </a:p>
          <a:p>
            <a:pPr lvl="1"/>
            <a:r>
              <a:rPr lang="en-GB" sz="1600" dirty="0"/>
              <a:t>Users interact with </a:t>
            </a:r>
            <a:r>
              <a:rPr lang="en-GB" sz="1600" b="1" dirty="0">
                <a:solidFill>
                  <a:srgbClr val="0070C0"/>
                </a:solidFill>
              </a:rPr>
              <a:t>mock-ups or partial systems</a:t>
            </a:r>
            <a:endParaRPr lang="en-GB" sz="1600" dirty="0">
              <a:solidFill>
                <a:srgbClr val="0070C0"/>
              </a:solidFill>
            </a:endParaRPr>
          </a:p>
          <a:p>
            <a:pPr lvl="1"/>
            <a:r>
              <a:rPr lang="en-GB" sz="1600" b="1" dirty="0">
                <a:solidFill>
                  <a:srgbClr val="0070C0"/>
                </a:solidFill>
              </a:rPr>
              <a:t>Quick feedback cycles</a:t>
            </a:r>
            <a:endParaRPr lang="en-GB" sz="1600" dirty="0">
              <a:solidFill>
                <a:srgbClr val="0070C0"/>
              </a:solidFill>
            </a:endParaRPr>
          </a:p>
          <a:p>
            <a:pPr lvl="1"/>
            <a:r>
              <a:rPr lang="en-GB" sz="1600" dirty="0"/>
              <a:t>Heavy </a:t>
            </a:r>
            <a:r>
              <a:rPr lang="en-GB" sz="1600" b="1" dirty="0">
                <a:solidFill>
                  <a:srgbClr val="0070C0"/>
                </a:solidFill>
              </a:rPr>
              <a:t>reuse</a:t>
            </a:r>
            <a:r>
              <a:rPr lang="en-GB" sz="1600" dirty="0"/>
              <a:t> of existing code/components</a:t>
            </a:r>
          </a:p>
          <a:p>
            <a:pPr lvl="1"/>
            <a:r>
              <a:rPr lang="en-GB" sz="1600" dirty="0"/>
              <a:t>Prioritizes building </a:t>
            </a:r>
            <a:r>
              <a:rPr lang="en-GB" sz="1600" b="1" dirty="0">
                <a:solidFill>
                  <a:srgbClr val="0070C0"/>
                </a:solidFill>
              </a:rPr>
              <a:t>features first, quality later</a:t>
            </a:r>
            <a:endParaRPr lang="en-GB" sz="1600" dirty="0">
              <a:solidFill>
                <a:srgbClr val="0070C0"/>
              </a:solidFill>
            </a:endParaRPr>
          </a:p>
          <a:p>
            <a:pPr lvl="1"/>
            <a:r>
              <a:rPr lang="en-GB" sz="1600" dirty="0"/>
              <a:t>Best suited for </a:t>
            </a:r>
            <a:r>
              <a:rPr lang="en-GB" sz="1600" b="1" dirty="0">
                <a:solidFill>
                  <a:srgbClr val="0070C0"/>
                </a:solidFill>
              </a:rPr>
              <a:t>smaller, time-sensitive projects</a:t>
            </a:r>
            <a:endParaRPr lang="en-GB" sz="1600" dirty="0">
              <a:solidFill>
                <a:srgbClr val="0070C0"/>
              </a:solidFill>
            </a:endParaRPr>
          </a:p>
          <a:p>
            <a:endParaRPr lang="en-GB" sz="1800" dirty="0"/>
          </a:p>
          <a:p>
            <a:endParaRPr lang="en-GB" altLang="en-US" sz="1800" kern="0" dirty="0"/>
          </a:p>
        </p:txBody>
      </p:sp>
      <p:sp>
        <p:nvSpPr>
          <p:cNvPr id="5" name="Content Placeholder 2">
            <a:extLst>
              <a:ext uri="{FF2B5EF4-FFF2-40B4-BE49-F238E27FC236}">
                <a16:creationId xmlns:a16="http://schemas.microsoft.com/office/drawing/2014/main" id="{96B13297-5062-F05A-E762-2D2C33BF99FD}"/>
              </a:ext>
            </a:extLst>
          </p:cNvPr>
          <p:cNvSpPr txBox="1">
            <a:spLocks noChangeArrowheads="1"/>
          </p:cNvSpPr>
          <p:nvPr/>
        </p:nvSpPr>
        <p:spPr bwMode="auto">
          <a:xfrm>
            <a:off x="5130976" y="2739445"/>
            <a:ext cx="3778592" cy="2128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Pros &amp; Cons:</a:t>
            </a:r>
          </a:p>
          <a:p>
            <a:pPr lvl="1"/>
            <a:r>
              <a:rPr lang="en-GB" sz="1600" dirty="0"/>
              <a:t>Fast results and user feedback</a:t>
            </a:r>
          </a:p>
          <a:p>
            <a:pPr lvl="1"/>
            <a:r>
              <a:rPr lang="en-GB" sz="1600" dirty="0"/>
              <a:t>Efficient for time-critical or well-scoped projects.</a:t>
            </a:r>
          </a:p>
          <a:p>
            <a:pPr lvl="1"/>
            <a:r>
              <a:rPr lang="en-GB" sz="1600" b="1" dirty="0">
                <a:solidFill>
                  <a:srgbClr val="FF0000"/>
                </a:solidFill>
              </a:rPr>
              <a:t>Lower initial quality.</a:t>
            </a:r>
          </a:p>
          <a:p>
            <a:pPr lvl="1"/>
            <a:r>
              <a:rPr lang="en-GB" sz="1600" b="1" dirty="0">
                <a:solidFill>
                  <a:srgbClr val="FF0000"/>
                </a:solidFill>
              </a:rPr>
              <a:t>Less structured; harder to manage at scale.</a:t>
            </a:r>
            <a:endParaRPr lang="en-GB" sz="1600" dirty="0"/>
          </a:p>
          <a:p>
            <a:endParaRPr lang="en-GB" altLang="en-US" sz="1800" kern="0" dirty="0"/>
          </a:p>
        </p:txBody>
      </p:sp>
      <p:pic>
        <p:nvPicPr>
          <p:cNvPr id="8194" name="Picture 2" descr="Rapid Application Development (RAD)">
            <a:extLst>
              <a:ext uri="{FF2B5EF4-FFF2-40B4-BE49-F238E27FC236}">
                <a16:creationId xmlns:a16="http://schemas.microsoft.com/office/drawing/2014/main" id="{58099837-8E6E-1F37-4327-F23305B375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0152" y="5088844"/>
            <a:ext cx="2681384" cy="14374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5724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01811-6301-FFAD-0BE1-7F32C14EC409}"/>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0864A610-48A6-7561-D6D4-A3812C769AA6}"/>
              </a:ext>
            </a:extLst>
          </p:cNvPr>
          <p:cNvSpPr>
            <a:spLocks noGrp="1" noChangeArrowheads="1"/>
          </p:cNvSpPr>
          <p:nvPr>
            <p:ph type="title"/>
          </p:nvPr>
        </p:nvSpPr>
        <p:spPr>
          <a:xfrm>
            <a:off x="1475656" y="446193"/>
            <a:ext cx="2232248" cy="939800"/>
          </a:xfrm>
        </p:spPr>
        <p:txBody>
          <a:bodyPr/>
          <a:lstStyle/>
          <a:p>
            <a:r>
              <a:rPr lang="en-GB" b="1" dirty="0">
                <a:solidFill>
                  <a:srgbClr val="0070C0"/>
                </a:solidFill>
              </a:rPr>
              <a:t>LEAN</a:t>
            </a:r>
            <a:endParaRPr lang="en-US" altLang="en-US" b="1" dirty="0">
              <a:solidFill>
                <a:srgbClr val="0070C0"/>
              </a:solidFill>
            </a:endParaRPr>
          </a:p>
        </p:txBody>
      </p:sp>
      <p:sp>
        <p:nvSpPr>
          <p:cNvPr id="18435" name="Content Placeholder 2">
            <a:extLst>
              <a:ext uri="{FF2B5EF4-FFF2-40B4-BE49-F238E27FC236}">
                <a16:creationId xmlns:a16="http://schemas.microsoft.com/office/drawing/2014/main" id="{F6E760BE-750A-8D65-57DE-C1B1CB805838}"/>
              </a:ext>
            </a:extLst>
          </p:cNvPr>
          <p:cNvSpPr>
            <a:spLocks noGrp="1" noChangeArrowheads="1"/>
          </p:cNvSpPr>
          <p:nvPr>
            <p:ph idx="1"/>
          </p:nvPr>
        </p:nvSpPr>
        <p:spPr>
          <a:xfrm>
            <a:off x="234432" y="1799645"/>
            <a:ext cx="8675136" cy="939800"/>
          </a:xfrm>
        </p:spPr>
        <p:txBody>
          <a:bodyPr/>
          <a:lstStyle/>
          <a:p>
            <a:r>
              <a:rPr lang="en-GB" sz="1800" b="1" dirty="0"/>
              <a:t>LEAN development</a:t>
            </a:r>
            <a:r>
              <a:rPr lang="en-GB" sz="1800" dirty="0"/>
              <a:t> is based on manufacturing principles, focusing on </a:t>
            </a:r>
            <a:r>
              <a:rPr lang="en-GB" sz="1800" b="1" dirty="0"/>
              <a:t>maximizing value</a:t>
            </a:r>
            <a:r>
              <a:rPr lang="en-GB" sz="1800" dirty="0"/>
              <a:t> by </a:t>
            </a:r>
            <a:r>
              <a:rPr lang="en-GB" sz="1800" b="1" dirty="0"/>
              <a:t>eliminating waste</a:t>
            </a:r>
            <a:r>
              <a:rPr lang="en-GB" sz="1800" dirty="0"/>
              <a:t> in processes, code, and communication..</a:t>
            </a:r>
          </a:p>
        </p:txBody>
      </p:sp>
      <p:sp>
        <p:nvSpPr>
          <p:cNvPr id="6" name="Content Placeholder 2">
            <a:extLst>
              <a:ext uri="{FF2B5EF4-FFF2-40B4-BE49-F238E27FC236}">
                <a16:creationId xmlns:a16="http://schemas.microsoft.com/office/drawing/2014/main" id="{55CF6DE0-BBC7-DAF2-6F2E-0BCAD55DA6D7}"/>
              </a:ext>
            </a:extLst>
          </p:cNvPr>
          <p:cNvSpPr txBox="1">
            <a:spLocks noChangeArrowheads="1"/>
          </p:cNvSpPr>
          <p:nvPr/>
        </p:nvSpPr>
        <p:spPr bwMode="auto">
          <a:xfrm>
            <a:off x="234432" y="3028871"/>
            <a:ext cx="4896544" cy="3470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Key Features:</a:t>
            </a:r>
          </a:p>
          <a:p>
            <a:pPr lvl="1"/>
            <a:r>
              <a:rPr lang="en-GB" sz="1600" dirty="0"/>
              <a:t>Identifies and removes </a:t>
            </a:r>
            <a:r>
              <a:rPr lang="en-GB" sz="1600" b="1" dirty="0">
                <a:solidFill>
                  <a:srgbClr val="0070C0"/>
                </a:solidFill>
              </a:rPr>
              <a:t>waste</a:t>
            </a:r>
            <a:r>
              <a:rPr lang="en-GB" sz="1600" dirty="0"/>
              <a:t>:</a:t>
            </a:r>
          </a:p>
          <a:p>
            <a:pPr lvl="1"/>
            <a:r>
              <a:rPr lang="en-GB" sz="1600" dirty="0"/>
              <a:t>Unneeded features, manual tasks, communication gaps</a:t>
            </a:r>
          </a:p>
          <a:p>
            <a:pPr lvl="1"/>
            <a:r>
              <a:rPr lang="en-GB" sz="1600" b="1" dirty="0">
                <a:solidFill>
                  <a:srgbClr val="0070C0"/>
                </a:solidFill>
              </a:rPr>
              <a:t>Delays decisions</a:t>
            </a:r>
            <a:r>
              <a:rPr lang="en-GB" sz="1600" dirty="0">
                <a:solidFill>
                  <a:srgbClr val="0070C0"/>
                </a:solidFill>
              </a:rPr>
              <a:t> </a:t>
            </a:r>
            <a:r>
              <a:rPr lang="en-GB" sz="1600" dirty="0"/>
              <a:t>to avoid rework</a:t>
            </a:r>
          </a:p>
          <a:p>
            <a:pPr lvl="1"/>
            <a:r>
              <a:rPr lang="en-GB" sz="1600" dirty="0"/>
              <a:t>Short, fast cycles with </a:t>
            </a:r>
            <a:r>
              <a:rPr lang="en-GB" sz="1600" b="1" dirty="0">
                <a:solidFill>
                  <a:srgbClr val="0070C0"/>
                </a:solidFill>
              </a:rPr>
              <a:t>frequent, usable releases</a:t>
            </a:r>
            <a:endParaRPr lang="en-GB" sz="1600" dirty="0">
              <a:solidFill>
                <a:srgbClr val="0070C0"/>
              </a:solidFill>
            </a:endParaRPr>
          </a:p>
          <a:p>
            <a:pPr lvl="1"/>
            <a:r>
              <a:rPr lang="en-GB" sz="1600" dirty="0"/>
              <a:t>Focused on </a:t>
            </a:r>
            <a:r>
              <a:rPr lang="en-GB" sz="1600" b="1" dirty="0">
                <a:solidFill>
                  <a:srgbClr val="0070C0"/>
                </a:solidFill>
              </a:rPr>
              <a:t>functionality over feature completeness</a:t>
            </a:r>
            <a:endParaRPr lang="en-GB" sz="1600" dirty="0">
              <a:solidFill>
                <a:srgbClr val="0070C0"/>
              </a:solidFill>
            </a:endParaRPr>
          </a:p>
          <a:p>
            <a:pPr lvl="1"/>
            <a:r>
              <a:rPr lang="en-GB" sz="1600" dirty="0"/>
              <a:t>Ideal for </a:t>
            </a:r>
            <a:r>
              <a:rPr lang="en-GB" sz="1600" b="1" dirty="0">
                <a:solidFill>
                  <a:srgbClr val="0070C0"/>
                </a:solidFill>
              </a:rPr>
              <a:t>small teams</a:t>
            </a:r>
            <a:r>
              <a:rPr lang="en-GB" sz="1600" dirty="0">
                <a:solidFill>
                  <a:srgbClr val="0070C0"/>
                </a:solidFill>
              </a:rPr>
              <a:t> </a:t>
            </a:r>
            <a:r>
              <a:rPr lang="en-GB" sz="1600" dirty="0"/>
              <a:t>or </a:t>
            </a:r>
            <a:r>
              <a:rPr lang="en-GB" sz="1600" b="1" dirty="0">
                <a:solidFill>
                  <a:srgbClr val="0070C0"/>
                </a:solidFill>
              </a:rPr>
              <a:t>resource-constrained</a:t>
            </a:r>
            <a:r>
              <a:rPr lang="en-GB" sz="1600" dirty="0"/>
              <a:t> environments</a:t>
            </a:r>
          </a:p>
          <a:p>
            <a:pPr lvl="1"/>
            <a:endParaRPr lang="en-GB" sz="1200" dirty="0"/>
          </a:p>
          <a:p>
            <a:endParaRPr lang="en-GB" altLang="en-US" sz="1800" kern="0" dirty="0"/>
          </a:p>
        </p:txBody>
      </p:sp>
      <p:sp>
        <p:nvSpPr>
          <p:cNvPr id="5" name="Content Placeholder 2">
            <a:extLst>
              <a:ext uri="{FF2B5EF4-FFF2-40B4-BE49-F238E27FC236}">
                <a16:creationId xmlns:a16="http://schemas.microsoft.com/office/drawing/2014/main" id="{EADEAF32-87E7-F6F7-5B78-4E5F58D21585}"/>
              </a:ext>
            </a:extLst>
          </p:cNvPr>
          <p:cNvSpPr txBox="1">
            <a:spLocks noChangeArrowheads="1"/>
          </p:cNvSpPr>
          <p:nvPr/>
        </p:nvSpPr>
        <p:spPr bwMode="auto">
          <a:xfrm>
            <a:off x="5130976" y="2635989"/>
            <a:ext cx="3778592" cy="2128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Suitable For:</a:t>
            </a:r>
          </a:p>
          <a:p>
            <a:pPr lvl="1"/>
            <a:r>
              <a:rPr lang="en-GB" sz="1600" dirty="0"/>
              <a:t>Small teams/startups</a:t>
            </a:r>
          </a:p>
          <a:p>
            <a:pPr lvl="1"/>
            <a:r>
              <a:rPr lang="en-GB" sz="1600" dirty="0"/>
              <a:t>Projects needing continuous delivery</a:t>
            </a:r>
          </a:p>
          <a:p>
            <a:pPr lvl="1"/>
            <a:r>
              <a:rPr lang="en-GB" sz="1600" dirty="0"/>
              <a:t>Situations requiring agility and </a:t>
            </a:r>
            <a:r>
              <a:rPr lang="en-GB" sz="1600" b="1" dirty="0"/>
              <a:t>fast value delivery</a:t>
            </a:r>
          </a:p>
          <a:p>
            <a:pPr lvl="1"/>
            <a:r>
              <a:rPr lang="en-GB" sz="1600" b="1" dirty="0">
                <a:solidFill>
                  <a:srgbClr val="FF0000"/>
                </a:solidFill>
              </a:rPr>
              <a:t>Less suitable for rigid, heavily regulated projects</a:t>
            </a:r>
          </a:p>
        </p:txBody>
      </p:sp>
      <p:pic>
        <p:nvPicPr>
          <p:cNvPr id="7170" name="Picture 2" descr="Lean Software Development">
            <a:extLst>
              <a:ext uri="{FF2B5EF4-FFF2-40B4-BE49-F238E27FC236}">
                <a16:creationId xmlns:a16="http://schemas.microsoft.com/office/drawing/2014/main" id="{3A8B8A26-C371-0D7D-1352-356CAD93C2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8593" y="186983"/>
            <a:ext cx="2139502" cy="1289016"/>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What is Lean Software Development? [Definition]">
            <a:extLst>
              <a:ext uri="{FF2B5EF4-FFF2-40B4-BE49-F238E27FC236}">
                <a16:creationId xmlns:a16="http://schemas.microsoft.com/office/drawing/2014/main" id="{B269D2D8-817F-F40D-19BC-0E22C0F991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0457" y="4921287"/>
            <a:ext cx="2987824" cy="15784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69857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BFC02-96EB-11FE-986C-3DE31B03EEB3}"/>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4E61FE45-222C-991E-E878-17217FE5D22B}"/>
              </a:ext>
            </a:extLst>
          </p:cNvPr>
          <p:cNvSpPr>
            <a:spLocks noGrp="1" noChangeArrowheads="1"/>
          </p:cNvSpPr>
          <p:nvPr>
            <p:ph type="title"/>
          </p:nvPr>
        </p:nvSpPr>
        <p:spPr>
          <a:xfrm>
            <a:off x="1475656" y="446193"/>
            <a:ext cx="6552728" cy="939800"/>
          </a:xfrm>
        </p:spPr>
        <p:txBody>
          <a:bodyPr/>
          <a:lstStyle/>
          <a:p>
            <a:r>
              <a:rPr lang="en-GB" sz="3200" b="1" dirty="0">
                <a:solidFill>
                  <a:srgbClr val="0070C0"/>
                </a:solidFill>
              </a:rPr>
              <a:t>USER-CENTRED DESIGN (UCD)</a:t>
            </a:r>
            <a:endParaRPr lang="en-US" altLang="en-US" sz="3200" b="1" dirty="0">
              <a:solidFill>
                <a:srgbClr val="0070C0"/>
              </a:solidFill>
            </a:endParaRPr>
          </a:p>
        </p:txBody>
      </p:sp>
      <p:sp>
        <p:nvSpPr>
          <p:cNvPr id="18435" name="Content Placeholder 2">
            <a:extLst>
              <a:ext uri="{FF2B5EF4-FFF2-40B4-BE49-F238E27FC236}">
                <a16:creationId xmlns:a16="http://schemas.microsoft.com/office/drawing/2014/main" id="{0B42237D-DAF3-194A-1D7E-E01732694DA5}"/>
              </a:ext>
            </a:extLst>
          </p:cNvPr>
          <p:cNvSpPr>
            <a:spLocks noGrp="1" noChangeArrowheads="1"/>
          </p:cNvSpPr>
          <p:nvPr>
            <p:ph idx="1"/>
          </p:nvPr>
        </p:nvSpPr>
        <p:spPr>
          <a:xfrm>
            <a:off x="234432" y="1799645"/>
            <a:ext cx="8675136" cy="939800"/>
          </a:xfrm>
        </p:spPr>
        <p:txBody>
          <a:bodyPr/>
          <a:lstStyle/>
          <a:p>
            <a:r>
              <a:rPr lang="en-GB" sz="1800" b="1" dirty="0"/>
              <a:t>UCD</a:t>
            </a:r>
            <a:r>
              <a:rPr lang="en-GB" sz="1800" dirty="0"/>
              <a:t> is an approach to software development that </a:t>
            </a:r>
            <a:r>
              <a:rPr lang="en-GB" sz="1800" b="1" dirty="0"/>
              <a:t>prioritizes the user's needs, goals, and experience</a:t>
            </a:r>
            <a:r>
              <a:rPr lang="en-GB" sz="1800" dirty="0"/>
              <a:t> throughout the lifecycle. </a:t>
            </a:r>
          </a:p>
          <a:p>
            <a:r>
              <a:rPr lang="en-GB" sz="1800" dirty="0"/>
              <a:t>It’s </a:t>
            </a:r>
            <a:r>
              <a:rPr lang="en-GB" sz="1800" b="1" dirty="0"/>
              <a:t>iterative, empathetic</a:t>
            </a:r>
            <a:r>
              <a:rPr lang="en-GB" sz="1800" dirty="0"/>
              <a:t>, and involves feedback at every stage.</a:t>
            </a:r>
          </a:p>
        </p:txBody>
      </p:sp>
      <p:sp>
        <p:nvSpPr>
          <p:cNvPr id="6" name="Content Placeholder 2">
            <a:extLst>
              <a:ext uri="{FF2B5EF4-FFF2-40B4-BE49-F238E27FC236}">
                <a16:creationId xmlns:a16="http://schemas.microsoft.com/office/drawing/2014/main" id="{2715016F-F581-F78A-7D68-C4B3F8C40D79}"/>
              </a:ext>
            </a:extLst>
          </p:cNvPr>
          <p:cNvSpPr txBox="1">
            <a:spLocks noChangeArrowheads="1"/>
          </p:cNvSpPr>
          <p:nvPr/>
        </p:nvSpPr>
        <p:spPr bwMode="auto">
          <a:xfrm>
            <a:off x="234432" y="3028871"/>
            <a:ext cx="4364793" cy="1912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Key Considerations:</a:t>
            </a:r>
          </a:p>
          <a:p>
            <a:pPr lvl="1"/>
            <a:r>
              <a:rPr lang="en-GB" sz="1600" b="1" dirty="0"/>
              <a:t>Who</a:t>
            </a:r>
            <a:r>
              <a:rPr lang="en-GB" sz="1600" dirty="0"/>
              <a:t> are the users?</a:t>
            </a:r>
          </a:p>
          <a:p>
            <a:pPr lvl="1"/>
            <a:r>
              <a:rPr lang="en-GB" sz="1600" b="1" dirty="0"/>
              <a:t>What</a:t>
            </a:r>
            <a:r>
              <a:rPr lang="en-GB" sz="1600" dirty="0"/>
              <a:t> are their goals?</a:t>
            </a:r>
          </a:p>
          <a:p>
            <a:pPr lvl="1"/>
            <a:r>
              <a:rPr lang="en-GB" sz="1600" b="1" dirty="0"/>
              <a:t>How</a:t>
            </a:r>
            <a:r>
              <a:rPr lang="en-GB" sz="1600" dirty="0"/>
              <a:t> do they use the product?</a:t>
            </a:r>
          </a:p>
          <a:p>
            <a:pPr lvl="1"/>
            <a:r>
              <a:rPr lang="en-GB" sz="1600" b="1" dirty="0"/>
              <a:t>Why</a:t>
            </a:r>
            <a:r>
              <a:rPr lang="en-GB" sz="1600" dirty="0"/>
              <a:t> and </a:t>
            </a:r>
            <a:r>
              <a:rPr lang="en-GB" sz="1600" b="1" dirty="0"/>
              <a:t>when</a:t>
            </a:r>
            <a:r>
              <a:rPr lang="en-GB" sz="1600" dirty="0"/>
              <a:t> is it used?</a:t>
            </a:r>
          </a:p>
          <a:p>
            <a:pPr lvl="1"/>
            <a:r>
              <a:rPr lang="en-GB" sz="1600" dirty="0"/>
              <a:t>What is the </a:t>
            </a:r>
            <a:r>
              <a:rPr lang="en-GB" sz="1600" b="1" dirty="0"/>
              <a:t>user experience</a:t>
            </a:r>
            <a:r>
              <a:rPr lang="en-GB" sz="1600" dirty="0"/>
              <a:t> like?</a:t>
            </a:r>
          </a:p>
          <a:p>
            <a:pPr lvl="1"/>
            <a:endParaRPr lang="en-GB" sz="1200" dirty="0"/>
          </a:p>
          <a:p>
            <a:endParaRPr lang="en-GB" altLang="en-US" sz="1800" kern="0" dirty="0"/>
          </a:p>
        </p:txBody>
      </p:sp>
      <p:sp>
        <p:nvSpPr>
          <p:cNvPr id="5" name="Content Placeholder 2">
            <a:extLst>
              <a:ext uri="{FF2B5EF4-FFF2-40B4-BE49-F238E27FC236}">
                <a16:creationId xmlns:a16="http://schemas.microsoft.com/office/drawing/2014/main" id="{3DDED928-C3D7-7D9E-E457-C049F3665D84}"/>
              </a:ext>
            </a:extLst>
          </p:cNvPr>
          <p:cNvSpPr txBox="1">
            <a:spLocks noChangeArrowheads="1"/>
          </p:cNvSpPr>
          <p:nvPr/>
        </p:nvSpPr>
        <p:spPr bwMode="auto">
          <a:xfrm>
            <a:off x="4599224" y="2924945"/>
            <a:ext cx="4149239" cy="18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Stages:</a:t>
            </a:r>
          </a:p>
          <a:p>
            <a:pPr lvl="1"/>
            <a:r>
              <a:rPr lang="en-GB" sz="1600" dirty="0"/>
              <a:t>Understand the context of use</a:t>
            </a:r>
          </a:p>
          <a:p>
            <a:pPr lvl="1"/>
            <a:r>
              <a:rPr lang="en-GB" sz="1600" dirty="0"/>
              <a:t>Specify user requirements</a:t>
            </a:r>
          </a:p>
          <a:p>
            <a:pPr lvl="1"/>
            <a:r>
              <a:rPr lang="en-GB" sz="1600" dirty="0"/>
              <a:t>Design the solution</a:t>
            </a:r>
          </a:p>
          <a:p>
            <a:pPr lvl="1"/>
            <a:r>
              <a:rPr lang="en-GB" sz="1600" dirty="0"/>
              <a:t>Assess against requirements</a:t>
            </a:r>
            <a:br>
              <a:rPr lang="en-GB" sz="1600" dirty="0"/>
            </a:br>
            <a:r>
              <a:rPr lang="en-GB" sz="1600" dirty="0"/>
              <a:t>Repeat until user needs are met</a:t>
            </a:r>
          </a:p>
          <a:p>
            <a:pPr lvl="1"/>
            <a:endParaRPr lang="en-GB" sz="1600" dirty="0"/>
          </a:p>
          <a:p>
            <a:endParaRPr lang="en-GB" altLang="en-US" sz="1800" kern="0" dirty="0"/>
          </a:p>
        </p:txBody>
      </p:sp>
      <p:sp>
        <p:nvSpPr>
          <p:cNvPr id="2" name="Content Placeholder 2">
            <a:extLst>
              <a:ext uri="{FF2B5EF4-FFF2-40B4-BE49-F238E27FC236}">
                <a16:creationId xmlns:a16="http://schemas.microsoft.com/office/drawing/2014/main" id="{BCAAC3CB-12B7-FF8D-0818-EDB910F1E66D}"/>
              </a:ext>
            </a:extLst>
          </p:cNvPr>
          <p:cNvSpPr txBox="1">
            <a:spLocks noChangeArrowheads="1"/>
          </p:cNvSpPr>
          <p:nvPr/>
        </p:nvSpPr>
        <p:spPr bwMode="auto">
          <a:xfrm>
            <a:off x="527532" y="5214132"/>
            <a:ext cx="3778592" cy="1411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Characteristics:</a:t>
            </a:r>
          </a:p>
          <a:p>
            <a:pPr lvl="1"/>
            <a:r>
              <a:rPr lang="en-GB" sz="1600" dirty="0"/>
              <a:t>Empathetic</a:t>
            </a:r>
          </a:p>
          <a:p>
            <a:pPr lvl="1"/>
            <a:r>
              <a:rPr lang="en-GB" sz="1600" dirty="0"/>
              <a:t>Iterative</a:t>
            </a:r>
          </a:p>
          <a:p>
            <a:pPr lvl="1"/>
            <a:r>
              <a:rPr lang="en-GB" sz="1600" dirty="0"/>
              <a:t>Interdisciplinary</a:t>
            </a:r>
          </a:p>
          <a:p>
            <a:endParaRPr lang="en-GB" altLang="en-US" sz="1800" kern="0" dirty="0"/>
          </a:p>
        </p:txBody>
      </p:sp>
      <p:pic>
        <p:nvPicPr>
          <p:cNvPr id="6146" name="Picture 2" descr="User needs and business objectives loop diagram showing explore, discovery, design, and deliver stages">
            <a:extLst>
              <a:ext uri="{FF2B5EF4-FFF2-40B4-BE49-F238E27FC236}">
                <a16:creationId xmlns:a16="http://schemas.microsoft.com/office/drawing/2014/main" id="{C99017B7-1A14-8427-0DCC-F7D93CF6BC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9932" y="4756289"/>
            <a:ext cx="2987824" cy="1888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7206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E0323-D922-57ED-52F0-89C7C017E6C2}"/>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01AEB68F-A620-8CA8-73C6-28F5505D13FC}"/>
              </a:ext>
            </a:extLst>
          </p:cNvPr>
          <p:cNvSpPr>
            <a:spLocks noGrp="1" noChangeArrowheads="1"/>
          </p:cNvSpPr>
          <p:nvPr>
            <p:ph type="title"/>
          </p:nvPr>
        </p:nvSpPr>
        <p:spPr>
          <a:xfrm>
            <a:off x="1475656" y="446193"/>
            <a:ext cx="6552728" cy="939800"/>
          </a:xfrm>
        </p:spPr>
        <p:txBody>
          <a:bodyPr/>
          <a:lstStyle/>
          <a:p>
            <a:r>
              <a:rPr lang="en-GB" sz="3200" b="1" dirty="0">
                <a:solidFill>
                  <a:srgbClr val="0070C0"/>
                </a:solidFill>
              </a:rPr>
              <a:t>Comparing Methodologies</a:t>
            </a:r>
            <a:endParaRPr lang="en-US" altLang="en-US" sz="3200" b="1" dirty="0">
              <a:solidFill>
                <a:srgbClr val="0070C0"/>
              </a:solidFill>
            </a:endParaRPr>
          </a:p>
        </p:txBody>
      </p:sp>
      <p:graphicFrame>
        <p:nvGraphicFramePr>
          <p:cNvPr id="4" name="Table 3">
            <a:extLst>
              <a:ext uri="{FF2B5EF4-FFF2-40B4-BE49-F238E27FC236}">
                <a16:creationId xmlns:a16="http://schemas.microsoft.com/office/drawing/2014/main" id="{8DFA8131-DC4F-4805-99A8-F843B7D02D93}"/>
              </a:ext>
            </a:extLst>
          </p:cNvPr>
          <p:cNvGraphicFramePr>
            <a:graphicFrameLocks noGrp="1"/>
          </p:cNvGraphicFramePr>
          <p:nvPr>
            <p:extLst>
              <p:ext uri="{D42A27DB-BD31-4B8C-83A1-F6EECF244321}">
                <p14:modId xmlns:p14="http://schemas.microsoft.com/office/powerpoint/2010/main" val="1456251548"/>
              </p:ext>
            </p:extLst>
          </p:nvPr>
        </p:nvGraphicFramePr>
        <p:xfrm>
          <a:off x="341784" y="1908070"/>
          <a:ext cx="8460432" cy="4503737"/>
        </p:xfrm>
        <a:graphic>
          <a:graphicData uri="http://schemas.openxmlformats.org/drawingml/2006/table">
            <a:tbl>
              <a:tblPr>
                <a:tableStyleId>{35758FB7-9AC5-4552-8A53-C91805E547FA}</a:tableStyleId>
              </a:tblPr>
              <a:tblGrid>
                <a:gridCol w="1410072">
                  <a:extLst>
                    <a:ext uri="{9D8B030D-6E8A-4147-A177-3AD203B41FA5}">
                      <a16:colId xmlns:a16="http://schemas.microsoft.com/office/drawing/2014/main" val="948997632"/>
                    </a:ext>
                  </a:extLst>
                </a:gridCol>
                <a:gridCol w="1410072">
                  <a:extLst>
                    <a:ext uri="{9D8B030D-6E8A-4147-A177-3AD203B41FA5}">
                      <a16:colId xmlns:a16="http://schemas.microsoft.com/office/drawing/2014/main" val="1210519137"/>
                    </a:ext>
                  </a:extLst>
                </a:gridCol>
                <a:gridCol w="1410072">
                  <a:extLst>
                    <a:ext uri="{9D8B030D-6E8A-4147-A177-3AD203B41FA5}">
                      <a16:colId xmlns:a16="http://schemas.microsoft.com/office/drawing/2014/main" val="4246082028"/>
                    </a:ext>
                  </a:extLst>
                </a:gridCol>
                <a:gridCol w="1410072">
                  <a:extLst>
                    <a:ext uri="{9D8B030D-6E8A-4147-A177-3AD203B41FA5}">
                      <a16:colId xmlns:a16="http://schemas.microsoft.com/office/drawing/2014/main" val="1611692763"/>
                    </a:ext>
                  </a:extLst>
                </a:gridCol>
                <a:gridCol w="1410072">
                  <a:extLst>
                    <a:ext uri="{9D8B030D-6E8A-4147-A177-3AD203B41FA5}">
                      <a16:colId xmlns:a16="http://schemas.microsoft.com/office/drawing/2014/main" val="581700088"/>
                    </a:ext>
                  </a:extLst>
                </a:gridCol>
                <a:gridCol w="1410072">
                  <a:extLst>
                    <a:ext uri="{9D8B030D-6E8A-4147-A177-3AD203B41FA5}">
                      <a16:colId xmlns:a16="http://schemas.microsoft.com/office/drawing/2014/main" val="3350541956"/>
                    </a:ext>
                  </a:extLst>
                </a:gridCol>
              </a:tblGrid>
              <a:tr h="379833">
                <a:tc>
                  <a:txBody>
                    <a:bodyPr/>
                    <a:lstStyle/>
                    <a:p>
                      <a:pPr algn="ctr"/>
                      <a:r>
                        <a:rPr lang="en-GB" sz="1100" b="1" dirty="0"/>
                        <a:t>Feature</a:t>
                      </a:r>
                    </a:p>
                  </a:txBody>
                  <a:tcPr marL="54262" marR="54262" marT="27131" marB="27131" anchor="ctr">
                    <a:solidFill>
                      <a:schemeClr val="accent1">
                        <a:lumMod val="40000"/>
                        <a:lumOff val="60000"/>
                      </a:schemeClr>
                    </a:solidFill>
                  </a:tcPr>
                </a:tc>
                <a:tc>
                  <a:txBody>
                    <a:bodyPr/>
                    <a:lstStyle/>
                    <a:p>
                      <a:pPr algn="ctr"/>
                      <a:r>
                        <a:rPr lang="en-GB" sz="1100" b="1" dirty="0"/>
                        <a:t>Agile</a:t>
                      </a:r>
                    </a:p>
                  </a:txBody>
                  <a:tcPr marL="54262" marR="54262" marT="27131" marB="27131" anchor="ctr">
                    <a:solidFill>
                      <a:schemeClr val="accent1">
                        <a:lumMod val="40000"/>
                        <a:lumOff val="60000"/>
                      </a:schemeClr>
                    </a:solidFill>
                  </a:tcPr>
                </a:tc>
                <a:tc>
                  <a:txBody>
                    <a:bodyPr/>
                    <a:lstStyle/>
                    <a:p>
                      <a:pPr algn="ctr"/>
                      <a:r>
                        <a:rPr lang="en-GB" sz="1100" b="1" dirty="0"/>
                        <a:t>Scaled Agile</a:t>
                      </a:r>
                    </a:p>
                  </a:txBody>
                  <a:tcPr marL="54262" marR="54262" marT="27131" marB="27131" anchor="ctr">
                    <a:solidFill>
                      <a:schemeClr val="accent1">
                        <a:lumMod val="40000"/>
                        <a:lumOff val="60000"/>
                      </a:schemeClr>
                    </a:solidFill>
                  </a:tcPr>
                </a:tc>
                <a:tc>
                  <a:txBody>
                    <a:bodyPr/>
                    <a:lstStyle/>
                    <a:p>
                      <a:pPr algn="ctr"/>
                      <a:r>
                        <a:rPr lang="en-GB" sz="1100" b="1" dirty="0"/>
                        <a:t>Waterfall</a:t>
                      </a:r>
                    </a:p>
                  </a:txBody>
                  <a:tcPr marL="54262" marR="54262" marT="27131" marB="27131" anchor="ctr">
                    <a:solidFill>
                      <a:schemeClr val="accent1">
                        <a:lumMod val="40000"/>
                        <a:lumOff val="60000"/>
                      </a:schemeClr>
                    </a:solidFill>
                  </a:tcPr>
                </a:tc>
                <a:tc>
                  <a:txBody>
                    <a:bodyPr/>
                    <a:lstStyle/>
                    <a:p>
                      <a:pPr algn="ctr"/>
                      <a:r>
                        <a:rPr lang="en-GB" sz="1100" b="1" dirty="0"/>
                        <a:t>RAD</a:t>
                      </a:r>
                    </a:p>
                  </a:txBody>
                  <a:tcPr marL="54262" marR="54262" marT="27131" marB="27131" anchor="ctr">
                    <a:solidFill>
                      <a:schemeClr val="accent1">
                        <a:lumMod val="40000"/>
                        <a:lumOff val="60000"/>
                      </a:schemeClr>
                    </a:solidFill>
                  </a:tcPr>
                </a:tc>
                <a:tc>
                  <a:txBody>
                    <a:bodyPr/>
                    <a:lstStyle/>
                    <a:p>
                      <a:pPr algn="ctr"/>
                      <a:r>
                        <a:rPr lang="en-GB" sz="1100" b="1" dirty="0"/>
                        <a:t>LEAN</a:t>
                      </a:r>
                    </a:p>
                  </a:txBody>
                  <a:tcPr marL="54262" marR="54262" marT="27131" marB="27131" anchor="ctr">
                    <a:solidFill>
                      <a:schemeClr val="accent1">
                        <a:lumMod val="40000"/>
                        <a:lumOff val="60000"/>
                      </a:schemeClr>
                    </a:solidFill>
                  </a:tcPr>
                </a:tc>
                <a:extLst>
                  <a:ext uri="{0D108BD9-81ED-4DB2-BD59-A6C34878D82A}">
                    <a16:rowId xmlns:a16="http://schemas.microsoft.com/office/drawing/2014/main" val="1378989089"/>
                  </a:ext>
                </a:extLst>
              </a:tr>
              <a:tr h="542619">
                <a:tc>
                  <a:txBody>
                    <a:bodyPr/>
                    <a:lstStyle/>
                    <a:p>
                      <a:r>
                        <a:rPr lang="en-GB" sz="1100" b="1" dirty="0"/>
                        <a:t>Iterative Development</a:t>
                      </a:r>
                    </a:p>
                  </a:txBody>
                  <a:tcPr marL="54262" marR="54262" marT="27131" marB="27131" anchor="ctr"/>
                </a:tc>
                <a:tc>
                  <a:txBody>
                    <a:bodyPr/>
                    <a:lstStyle/>
                    <a:p>
                      <a:pPr algn="ctr"/>
                      <a:r>
                        <a:rPr lang="en-GB" sz="1100" dirty="0"/>
                        <a:t>✅</a:t>
                      </a:r>
                    </a:p>
                  </a:txBody>
                  <a:tcPr marL="54262" marR="54262" marT="27131" marB="27131" anchor="ctr"/>
                </a:tc>
                <a:tc>
                  <a:txBody>
                    <a:bodyPr/>
                    <a:lstStyle/>
                    <a:p>
                      <a:pPr algn="ctr"/>
                      <a:r>
                        <a:rPr lang="en-GB" sz="1100" dirty="0"/>
                        <a:t>✅</a:t>
                      </a:r>
                    </a:p>
                  </a:txBody>
                  <a:tcPr marL="54262" marR="54262" marT="27131" marB="27131" anchor="ctr"/>
                </a:tc>
                <a:tc>
                  <a:txBody>
                    <a:bodyPr/>
                    <a:lstStyle/>
                    <a:p>
                      <a:pPr algn="ctr"/>
                      <a:r>
                        <a:rPr lang="en-GB" sz="1100" dirty="0"/>
                        <a:t>❌</a:t>
                      </a:r>
                    </a:p>
                  </a:txBody>
                  <a:tcPr marL="54262" marR="54262" marT="27131" marB="27131" anchor="ctr"/>
                </a:tc>
                <a:tc>
                  <a:txBody>
                    <a:bodyPr/>
                    <a:lstStyle/>
                    <a:p>
                      <a:pPr algn="ctr"/>
                      <a:r>
                        <a:rPr lang="en-GB" sz="1100"/>
                        <a:t>✅</a:t>
                      </a:r>
                    </a:p>
                  </a:txBody>
                  <a:tcPr marL="54262" marR="54262" marT="27131" marB="27131" anchor="ctr"/>
                </a:tc>
                <a:tc>
                  <a:txBody>
                    <a:bodyPr/>
                    <a:lstStyle/>
                    <a:p>
                      <a:pPr algn="ctr"/>
                      <a:r>
                        <a:rPr lang="en-GB" sz="1100"/>
                        <a:t>✅</a:t>
                      </a:r>
                    </a:p>
                  </a:txBody>
                  <a:tcPr marL="54262" marR="54262" marT="27131" marB="27131" anchor="ctr"/>
                </a:tc>
                <a:extLst>
                  <a:ext uri="{0D108BD9-81ED-4DB2-BD59-A6C34878D82A}">
                    <a16:rowId xmlns:a16="http://schemas.microsoft.com/office/drawing/2014/main" val="2439472478"/>
                  </a:ext>
                </a:extLst>
              </a:tr>
              <a:tr h="542619">
                <a:tc>
                  <a:txBody>
                    <a:bodyPr/>
                    <a:lstStyle/>
                    <a:p>
                      <a:r>
                        <a:rPr lang="en-GB" sz="1100" b="1" dirty="0"/>
                        <a:t>Client/User Involvement</a:t>
                      </a:r>
                    </a:p>
                  </a:txBody>
                  <a:tcPr marL="54262" marR="54262" marT="27131" marB="27131" anchor="ctr"/>
                </a:tc>
                <a:tc>
                  <a:txBody>
                    <a:bodyPr/>
                    <a:lstStyle/>
                    <a:p>
                      <a:pPr algn="ctr"/>
                      <a:r>
                        <a:rPr lang="en-GB" sz="1100"/>
                        <a:t>High</a:t>
                      </a:r>
                    </a:p>
                  </a:txBody>
                  <a:tcPr marL="54262" marR="54262" marT="27131" marB="27131" anchor="ctr"/>
                </a:tc>
                <a:tc>
                  <a:txBody>
                    <a:bodyPr/>
                    <a:lstStyle/>
                    <a:p>
                      <a:pPr algn="ctr"/>
                      <a:r>
                        <a:rPr lang="en-GB" sz="1100"/>
                        <a:t>High</a:t>
                      </a:r>
                    </a:p>
                  </a:txBody>
                  <a:tcPr marL="54262" marR="54262" marT="27131" marB="27131" anchor="ctr"/>
                </a:tc>
                <a:tc>
                  <a:txBody>
                    <a:bodyPr/>
                    <a:lstStyle/>
                    <a:p>
                      <a:pPr algn="ctr"/>
                      <a:r>
                        <a:rPr lang="en-GB" sz="1100" dirty="0"/>
                        <a:t>Low</a:t>
                      </a:r>
                    </a:p>
                  </a:txBody>
                  <a:tcPr marL="54262" marR="54262" marT="27131" marB="27131" anchor="ctr"/>
                </a:tc>
                <a:tc>
                  <a:txBody>
                    <a:bodyPr/>
                    <a:lstStyle/>
                    <a:p>
                      <a:pPr algn="ctr"/>
                      <a:r>
                        <a:rPr lang="en-GB" sz="1100"/>
                        <a:t>Medium</a:t>
                      </a:r>
                    </a:p>
                  </a:txBody>
                  <a:tcPr marL="54262" marR="54262" marT="27131" marB="27131" anchor="ctr"/>
                </a:tc>
                <a:tc>
                  <a:txBody>
                    <a:bodyPr/>
                    <a:lstStyle/>
                    <a:p>
                      <a:pPr algn="ctr"/>
                      <a:r>
                        <a:rPr lang="en-GB" sz="1100"/>
                        <a:t>Medium</a:t>
                      </a:r>
                    </a:p>
                  </a:txBody>
                  <a:tcPr marL="54262" marR="54262" marT="27131" marB="27131" anchor="ctr"/>
                </a:tc>
                <a:extLst>
                  <a:ext uri="{0D108BD9-81ED-4DB2-BD59-A6C34878D82A}">
                    <a16:rowId xmlns:a16="http://schemas.microsoft.com/office/drawing/2014/main" val="3186560670"/>
                  </a:ext>
                </a:extLst>
              </a:tr>
              <a:tr h="868190">
                <a:tc>
                  <a:txBody>
                    <a:bodyPr/>
                    <a:lstStyle/>
                    <a:p>
                      <a:r>
                        <a:rPr lang="en-GB" sz="1100" b="1" dirty="0"/>
                        <a:t>Suitable for Changing Requirements</a:t>
                      </a:r>
                    </a:p>
                  </a:txBody>
                  <a:tcPr marL="54262" marR="54262" marT="27131" marB="27131" anchor="ctr"/>
                </a:tc>
                <a:tc>
                  <a:txBody>
                    <a:bodyPr/>
                    <a:lstStyle/>
                    <a:p>
                      <a:pPr algn="ctr"/>
                      <a:r>
                        <a:rPr lang="en-GB" sz="1100"/>
                        <a:t>✅</a:t>
                      </a:r>
                    </a:p>
                  </a:txBody>
                  <a:tcPr marL="54262" marR="54262" marT="27131" marB="27131" anchor="ctr"/>
                </a:tc>
                <a:tc>
                  <a:txBody>
                    <a:bodyPr/>
                    <a:lstStyle/>
                    <a:p>
                      <a:pPr algn="ctr"/>
                      <a:r>
                        <a:rPr lang="en-GB" sz="1100"/>
                        <a:t>✅</a:t>
                      </a:r>
                    </a:p>
                  </a:txBody>
                  <a:tcPr marL="54262" marR="54262" marT="27131" marB="27131" anchor="ctr"/>
                </a:tc>
                <a:tc>
                  <a:txBody>
                    <a:bodyPr/>
                    <a:lstStyle/>
                    <a:p>
                      <a:pPr algn="ctr"/>
                      <a:r>
                        <a:rPr lang="en-GB" sz="1100"/>
                        <a:t>❌</a:t>
                      </a:r>
                    </a:p>
                  </a:txBody>
                  <a:tcPr marL="54262" marR="54262" marT="27131" marB="27131" anchor="ctr"/>
                </a:tc>
                <a:tc>
                  <a:txBody>
                    <a:bodyPr/>
                    <a:lstStyle/>
                    <a:p>
                      <a:pPr algn="ctr"/>
                      <a:r>
                        <a:rPr lang="en-GB" sz="1100" dirty="0"/>
                        <a:t>✅</a:t>
                      </a:r>
                    </a:p>
                  </a:txBody>
                  <a:tcPr marL="54262" marR="54262" marT="27131" marB="27131" anchor="ctr"/>
                </a:tc>
                <a:tc>
                  <a:txBody>
                    <a:bodyPr/>
                    <a:lstStyle/>
                    <a:p>
                      <a:pPr algn="ctr"/>
                      <a:r>
                        <a:rPr lang="en-GB" sz="1100"/>
                        <a:t>✅</a:t>
                      </a:r>
                    </a:p>
                  </a:txBody>
                  <a:tcPr marL="54262" marR="54262" marT="27131" marB="27131" anchor="ctr"/>
                </a:tc>
                <a:extLst>
                  <a:ext uri="{0D108BD9-81ED-4DB2-BD59-A6C34878D82A}">
                    <a16:rowId xmlns:a16="http://schemas.microsoft.com/office/drawing/2014/main" val="1902376045"/>
                  </a:ext>
                </a:extLst>
              </a:tr>
              <a:tr h="705405">
                <a:tc>
                  <a:txBody>
                    <a:bodyPr/>
                    <a:lstStyle/>
                    <a:p>
                      <a:r>
                        <a:rPr lang="en-GB" sz="1100" b="1" dirty="0"/>
                        <a:t>Fast Delivery of Working Products</a:t>
                      </a:r>
                    </a:p>
                  </a:txBody>
                  <a:tcPr marL="54262" marR="54262" marT="27131" marB="27131" anchor="ctr"/>
                </a:tc>
                <a:tc>
                  <a:txBody>
                    <a:bodyPr/>
                    <a:lstStyle/>
                    <a:p>
                      <a:pPr algn="ctr"/>
                      <a:r>
                        <a:rPr lang="en-GB" sz="1100"/>
                        <a:t>✅</a:t>
                      </a:r>
                    </a:p>
                  </a:txBody>
                  <a:tcPr marL="54262" marR="54262" marT="27131" marB="27131" anchor="ctr"/>
                </a:tc>
                <a:tc>
                  <a:txBody>
                    <a:bodyPr/>
                    <a:lstStyle/>
                    <a:p>
                      <a:pPr algn="ctr"/>
                      <a:r>
                        <a:rPr lang="en-GB" sz="1100"/>
                        <a:t>✅</a:t>
                      </a:r>
                    </a:p>
                  </a:txBody>
                  <a:tcPr marL="54262" marR="54262" marT="27131" marB="27131" anchor="ctr"/>
                </a:tc>
                <a:tc>
                  <a:txBody>
                    <a:bodyPr/>
                    <a:lstStyle/>
                    <a:p>
                      <a:pPr algn="ctr"/>
                      <a:r>
                        <a:rPr lang="en-GB" sz="1100"/>
                        <a:t>❌</a:t>
                      </a:r>
                    </a:p>
                  </a:txBody>
                  <a:tcPr marL="54262" marR="54262" marT="27131" marB="27131" anchor="ctr"/>
                </a:tc>
                <a:tc>
                  <a:txBody>
                    <a:bodyPr/>
                    <a:lstStyle/>
                    <a:p>
                      <a:pPr algn="ctr"/>
                      <a:r>
                        <a:rPr lang="en-GB" sz="1100" dirty="0"/>
                        <a:t>✅</a:t>
                      </a:r>
                    </a:p>
                  </a:txBody>
                  <a:tcPr marL="54262" marR="54262" marT="27131" marB="27131" anchor="ctr"/>
                </a:tc>
                <a:tc>
                  <a:txBody>
                    <a:bodyPr/>
                    <a:lstStyle/>
                    <a:p>
                      <a:pPr algn="ctr"/>
                      <a:r>
                        <a:rPr lang="en-GB" sz="1100"/>
                        <a:t>✅</a:t>
                      </a:r>
                    </a:p>
                  </a:txBody>
                  <a:tcPr marL="54262" marR="54262" marT="27131" marB="27131" anchor="ctr"/>
                </a:tc>
                <a:extLst>
                  <a:ext uri="{0D108BD9-81ED-4DB2-BD59-A6C34878D82A}">
                    <a16:rowId xmlns:a16="http://schemas.microsoft.com/office/drawing/2014/main" val="1394962045"/>
                  </a:ext>
                </a:extLst>
              </a:tr>
              <a:tr h="379833">
                <a:tc>
                  <a:txBody>
                    <a:bodyPr/>
                    <a:lstStyle/>
                    <a:p>
                      <a:r>
                        <a:rPr lang="en-GB" sz="1100" b="1" dirty="0"/>
                        <a:t>Team Size</a:t>
                      </a:r>
                    </a:p>
                  </a:txBody>
                  <a:tcPr marL="54262" marR="54262" marT="27131" marB="27131" anchor="ctr"/>
                </a:tc>
                <a:tc>
                  <a:txBody>
                    <a:bodyPr/>
                    <a:lstStyle/>
                    <a:p>
                      <a:pPr algn="ctr"/>
                      <a:r>
                        <a:rPr lang="en-GB" sz="1100"/>
                        <a:t>Small</a:t>
                      </a:r>
                    </a:p>
                  </a:txBody>
                  <a:tcPr marL="54262" marR="54262" marT="27131" marB="27131" anchor="ctr"/>
                </a:tc>
                <a:tc>
                  <a:txBody>
                    <a:bodyPr/>
                    <a:lstStyle/>
                    <a:p>
                      <a:pPr algn="ctr"/>
                      <a:r>
                        <a:rPr lang="en-GB" sz="1100"/>
                        <a:t>Large/Enterprise</a:t>
                      </a:r>
                    </a:p>
                  </a:txBody>
                  <a:tcPr marL="54262" marR="54262" marT="27131" marB="27131" anchor="ctr"/>
                </a:tc>
                <a:tc>
                  <a:txBody>
                    <a:bodyPr/>
                    <a:lstStyle/>
                    <a:p>
                      <a:pPr algn="ctr"/>
                      <a:r>
                        <a:rPr lang="en-GB" sz="1100"/>
                        <a:t>Medium to Large</a:t>
                      </a:r>
                    </a:p>
                  </a:txBody>
                  <a:tcPr marL="54262" marR="54262" marT="27131" marB="27131" anchor="ctr"/>
                </a:tc>
                <a:tc>
                  <a:txBody>
                    <a:bodyPr/>
                    <a:lstStyle/>
                    <a:p>
                      <a:pPr algn="ctr"/>
                      <a:r>
                        <a:rPr lang="en-GB" sz="1100" dirty="0"/>
                        <a:t>Small to Medium</a:t>
                      </a:r>
                    </a:p>
                  </a:txBody>
                  <a:tcPr marL="54262" marR="54262" marT="27131" marB="27131" anchor="ctr"/>
                </a:tc>
                <a:tc>
                  <a:txBody>
                    <a:bodyPr/>
                    <a:lstStyle/>
                    <a:p>
                      <a:pPr algn="ctr"/>
                      <a:r>
                        <a:rPr lang="en-GB" sz="1100"/>
                        <a:t>Small</a:t>
                      </a:r>
                    </a:p>
                  </a:txBody>
                  <a:tcPr marL="54262" marR="54262" marT="27131" marB="27131" anchor="ctr"/>
                </a:tc>
                <a:extLst>
                  <a:ext uri="{0D108BD9-81ED-4DB2-BD59-A6C34878D82A}">
                    <a16:rowId xmlns:a16="http://schemas.microsoft.com/office/drawing/2014/main" val="767999303"/>
                  </a:ext>
                </a:extLst>
              </a:tr>
              <a:tr h="542619">
                <a:tc>
                  <a:txBody>
                    <a:bodyPr/>
                    <a:lstStyle/>
                    <a:p>
                      <a:r>
                        <a:rPr lang="en-GB" sz="1100" b="1" dirty="0"/>
                        <a:t>Documentation Emphasis</a:t>
                      </a:r>
                    </a:p>
                  </a:txBody>
                  <a:tcPr marL="54262" marR="54262" marT="27131" marB="27131" anchor="ctr"/>
                </a:tc>
                <a:tc>
                  <a:txBody>
                    <a:bodyPr/>
                    <a:lstStyle/>
                    <a:p>
                      <a:pPr algn="ctr"/>
                      <a:r>
                        <a:rPr lang="en-GB" sz="1100"/>
                        <a:t>Low</a:t>
                      </a:r>
                    </a:p>
                  </a:txBody>
                  <a:tcPr marL="54262" marR="54262" marT="27131" marB="27131" anchor="ctr"/>
                </a:tc>
                <a:tc>
                  <a:txBody>
                    <a:bodyPr/>
                    <a:lstStyle/>
                    <a:p>
                      <a:pPr algn="ctr"/>
                      <a:r>
                        <a:rPr lang="en-GB" sz="1100"/>
                        <a:t>Medium</a:t>
                      </a:r>
                    </a:p>
                  </a:txBody>
                  <a:tcPr marL="54262" marR="54262" marT="27131" marB="27131" anchor="ctr"/>
                </a:tc>
                <a:tc>
                  <a:txBody>
                    <a:bodyPr/>
                    <a:lstStyle/>
                    <a:p>
                      <a:pPr algn="ctr"/>
                      <a:r>
                        <a:rPr lang="en-GB" sz="1100"/>
                        <a:t>✅</a:t>
                      </a:r>
                    </a:p>
                  </a:txBody>
                  <a:tcPr marL="54262" marR="54262" marT="27131" marB="27131" anchor="ctr"/>
                </a:tc>
                <a:tc>
                  <a:txBody>
                    <a:bodyPr/>
                    <a:lstStyle/>
                    <a:p>
                      <a:pPr algn="ctr"/>
                      <a:r>
                        <a:rPr lang="en-GB" sz="1100" dirty="0"/>
                        <a:t>Low</a:t>
                      </a:r>
                    </a:p>
                  </a:txBody>
                  <a:tcPr marL="54262" marR="54262" marT="27131" marB="27131" anchor="ctr"/>
                </a:tc>
                <a:tc>
                  <a:txBody>
                    <a:bodyPr/>
                    <a:lstStyle/>
                    <a:p>
                      <a:pPr algn="ctr"/>
                      <a:r>
                        <a:rPr lang="en-GB" sz="1100" dirty="0"/>
                        <a:t>Low</a:t>
                      </a:r>
                    </a:p>
                  </a:txBody>
                  <a:tcPr marL="54262" marR="54262" marT="27131" marB="27131" anchor="ctr"/>
                </a:tc>
                <a:extLst>
                  <a:ext uri="{0D108BD9-81ED-4DB2-BD59-A6C34878D82A}">
                    <a16:rowId xmlns:a16="http://schemas.microsoft.com/office/drawing/2014/main" val="2409542348"/>
                  </a:ext>
                </a:extLst>
              </a:tr>
              <a:tr h="542619">
                <a:tc>
                  <a:txBody>
                    <a:bodyPr/>
                    <a:lstStyle/>
                    <a:p>
                      <a:r>
                        <a:rPr lang="en-GB" sz="1100" b="1" dirty="0"/>
                        <a:t>Usable Output if Cancelled</a:t>
                      </a:r>
                    </a:p>
                  </a:txBody>
                  <a:tcPr marL="54262" marR="54262" marT="27131" marB="27131" anchor="ctr"/>
                </a:tc>
                <a:tc>
                  <a:txBody>
                    <a:bodyPr/>
                    <a:lstStyle/>
                    <a:p>
                      <a:pPr algn="ctr"/>
                      <a:r>
                        <a:rPr lang="en-GB" sz="1100"/>
                        <a:t>✅</a:t>
                      </a:r>
                    </a:p>
                  </a:txBody>
                  <a:tcPr marL="54262" marR="54262" marT="27131" marB="27131" anchor="ctr"/>
                </a:tc>
                <a:tc>
                  <a:txBody>
                    <a:bodyPr/>
                    <a:lstStyle/>
                    <a:p>
                      <a:pPr algn="ctr"/>
                      <a:r>
                        <a:rPr lang="en-GB" sz="1100"/>
                        <a:t>✅</a:t>
                      </a:r>
                    </a:p>
                  </a:txBody>
                  <a:tcPr marL="54262" marR="54262" marT="27131" marB="27131" anchor="ctr"/>
                </a:tc>
                <a:tc>
                  <a:txBody>
                    <a:bodyPr/>
                    <a:lstStyle/>
                    <a:p>
                      <a:pPr algn="ctr"/>
                      <a:r>
                        <a:rPr lang="en-GB" sz="1100"/>
                        <a:t>❌</a:t>
                      </a:r>
                    </a:p>
                  </a:txBody>
                  <a:tcPr marL="54262" marR="54262" marT="27131" marB="27131" anchor="ctr"/>
                </a:tc>
                <a:tc>
                  <a:txBody>
                    <a:bodyPr/>
                    <a:lstStyle/>
                    <a:p>
                      <a:pPr algn="ctr"/>
                      <a:r>
                        <a:rPr lang="en-GB" sz="1100"/>
                        <a:t>✅</a:t>
                      </a:r>
                    </a:p>
                  </a:txBody>
                  <a:tcPr marL="54262" marR="54262" marT="27131" marB="27131" anchor="ctr"/>
                </a:tc>
                <a:tc>
                  <a:txBody>
                    <a:bodyPr/>
                    <a:lstStyle/>
                    <a:p>
                      <a:pPr algn="ctr"/>
                      <a:r>
                        <a:rPr lang="en-GB" sz="1100" dirty="0"/>
                        <a:t>✅</a:t>
                      </a:r>
                    </a:p>
                  </a:txBody>
                  <a:tcPr marL="54262" marR="54262" marT="27131" marB="27131" anchor="ctr"/>
                </a:tc>
                <a:extLst>
                  <a:ext uri="{0D108BD9-81ED-4DB2-BD59-A6C34878D82A}">
                    <a16:rowId xmlns:a16="http://schemas.microsoft.com/office/drawing/2014/main" val="3372239971"/>
                  </a:ext>
                </a:extLst>
              </a:tr>
            </a:tbl>
          </a:graphicData>
        </a:graphic>
      </p:graphicFrame>
    </p:spTree>
    <p:extLst>
      <p:ext uri="{BB962C8B-B14F-4D97-AF65-F5344CB8AC3E}">
        <p14:creationId xmlns:p14="http://schemas.microsoft.com/office/powerpoint/2010/main" val="28480746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2BEB539D-91CE-B279-D900-A5D80CE590A5}"/>
              </a:ext>
            </a:extLst>
          </p:cNvPr>
          <p:cNvSpPr>
            <a:spLocks noGrp="1" noChangeArrowheads="1"/>
          </p:cNvSpPr>
          <p:nvPr>
            <p:ph type="title"/>
          </p:nvPr>
        </p:nvSpPr>
        <p:spPr>
          <a:xfrm>
            <a:off x="1182688" y="404813"/>
            <a:ext cx="7726362" cy="939800"/>
          </a:xfrm>
        </p:spPr>
        <p:txBody>
          <a:bodyPr/>
          <a:lstStyle/>
          <a:p>
            <a:r>
              <a:rPr lang="en-GB" altLang="en-US" sz="2800" b="1" dirty="0">
                <a:solidFill>
                  <a:srgbClr val="FF0000"/>
                </a:solidFill>
              </a:rPr>
              <a:t>Activity - S</a:t>
            </a:r>
            <a:r>
              <a:rPr lang="en-GB" sz="2800" b="1" dirty="0">
                <a:solidFill>
                  <a:srgbClr val="FF0000"/>
                </a:solidFill>
              </a:rPr>
              <a:t>electing the Right Software Development Methodology</a:t>
            </a:r>
            <a:endParaRPr lang="en-GB" altLang="en-US" sz="2800" b="1" dirty="0">
              <a:solidFill>
                <a:srgbClr val="FF0000"/>
              </a:solidFill>
            </a:endParaRPr>
          </a:p>
        </p:txBody>
      </p:sp>
      <p:sp>
        <p:nvSpPr>
          <p:cNvPr id="31747" name="Content Placeholder 2">
            <a:extLst>
              <a:ext uri="{FF2B5EF4-FFF2-40B4-BE49-F238E27FC236}">
                <a16:creationId xmlns:a16="http://schemas.microsoft.com/office/drawing/2014/main" id="{16B6B4F7-8F29-EB40-455E-E5038579D8B4}"/>
              </a:ext>
            </a:extLst>
          </p:cNvPr>
          <p:cNvSpPr>
            <a:spLocks noGrp="1" noChangeArrowheads="1"/>
          </p:cNvSpPr>
          <p:nvPr>
            <p:ph idx="1"/>
          </p:nvPr>
        </p:nvSpPr>
        <p:spPr>
          <a:xfrm>
            <a:off x="467544" y="1930543"/>
            <a:ext cx="8352928" cy="648097"/>
          </a:xfrm>
        </p:spPr>
        <p:txBody>
          <a:bodyPr/>
          <a:lstStyle/>
          <a:p>
            <a:r>
              <a:rPr lang="en-GB" sz="1800" dirty="0"/>
              <a:t>Working in teams, explore different project methodologies and apply your understanding to a real-world scenario.</a:t>
            </a:r>
            <a:endParaRPr lang="en-US" altLang="en-US" sz="1800" dirty="0"/>
          </a:p>
        </p:txBody>
      </p:sp>
      <p:sp>
        <p:nvSpPr>
          <p:cNvPr id="2" name="Content Placeholder 2">
            <a:extLst>
              <a:ext uri="{FF2B5EF4-FFF2-40B4-BE49-F238E27FC236}">
                <a16:creationId xmlns:a16="http://schemas.microsoft.com/office/drawing/2014/main" id="{D7F1FE1D-7A26-38FD-7D7B-6A3495C37A52}"/>
              </a:ext>
            </a:extLst>
          </p:cNvPr>
          <p:cNvSpPr txBox="1">
            <a:spLocks noChangeArrowheads="1"/>
          </p:cNvSpPr>
          <p:nvPr/>
        </p:nvSpPr>
        <p:spPr bwMode="auto">
          <a:xfrm>
            <a:off x="395536" y="2780928"/>
            <a:ext cx="8352928" cy="1872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What You’ll Do:</a:t>
            </a:r>
            <a:endParaRPr lang="en-GB" sz="1800" dirty="0"/>
          </a:p>
          <a:p>
            <a:pPr lvl="1"/>
            <a:r>
              <a:rPr lang="en-GB" sz="1800" dirty="0"/>
              <a:t>Research Agile, Waterfall, and RAD/LEAN methods</a:t>
            </a:r>
          </a:p>
          <a:p>
            <a:pPr lvl="1"/>
            <a:r>
              <a:rPr lang="en-GB" sz="1800" dirty="0"/>
              <a:t>Compare their features, strengths, and limitations</a:t>
            </a:r>
          </a:p>
          <a:p>
            <a:pPr lvl="1"/>
            <a:r>
              <a:rPr lang="en-GB" sz="1800" dirty="0"/>
              <a:t>Choose the most appropriate methodology for a project case</a:t>
            </a:r>
          </a:p>
          <a:p>
            <a:pPr lvl="1"/>
            <a:r>
              <a:rPr lang="en-GB" sz="1800" dirty="0"/>
              <a:t>Reflect on what you’ve learned</a:t>
            </a:r>
          </a:p>
        </p:txBody>
      </p:sp>
      <p:pic>
        <p:nvPicPr>
          <p:cNvPr id="10242" name="Picture 2" descr="Top 12 Software Development Methodologies - TatvaSoft Blog">
            <a:extLst>
              <a:ext uri="{FF2B5EF4-FFF2-40B4-BE49-F238E27FC236}">
                <a16:creationId xmlns:a16="http://schemas.microsoft.com/office/drawing/2014/main" id="{4056A617-CAB5-75DB-5A79-9A897A8E00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8592" y="4437112"/>
            <a:ext cx="3419872" cy="17307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C646F5E18B7F644AA5B880758D99BE0" ma:contentTypeVersion="0" ma:contentTypeDescription="Create a new document." ma:contentTypeScope="" ma:versionID="5dd15dd6ca134e1876e3a61e71abe859">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0C83CA3-A914-4881-9CA9-4D47EF46EDD9}"/>
</file>

<file path=customXml/itemProps2.xml><?xml version="1.0" encoding="utf-8"?>
<ds:datastoreItem xmlns:ds="http://schemas.openxmlformats.org/officeDocument/2006/customXml" ds:itemID="{5AB407E5-49AE-451D-A66D-D599303FA0AB}"/>
</file>

<file path=customXml/itemProps3.xml><?xml version="1.0" encoding="utf-8"?>
<ds:datastoreItem xmlns:ds="http://schemas.openxmlformats.org/officeDocument/2006/customXml" ds:itemID="{B4476F85-DF06-425F-B3F3-C9B8AFE6EC84}"/>
</file>

<file path=docProps/app.xml><?xml version="1.0" encoding="utf-8"?>
<Properties xmlns="http://schemas.openxmlformats.org/officeDocument/2006/extended-properties" xmlns:vt="http://schemas.openxmlformats.org/officeDocument/2006/docPropsVTypes">
  <Template/>
  <TotalTime>3289</TotalTime>
  <Words>2016</Words>
  <Application>Microsoft Office PowerPoint</Application>
  <PresentationFormat>On-screen Show (4:3)</PresentationFormat>
  <Paragraphs>306</Paragraphs>
  <Slides>13</Slides>
  <Notes>13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13</vt:i4>
      </vt:variant>
    </vt:vector>
  </HeadingPairs>
  <TitlesOfParts>
    <vt:vector size="22" baseType="lpstr">
      <vt:lpstr>Arial</vt:lpstr>
      <vt:lpstr>CourierNewPSMT</vt:lpstr>
      <vt:lpstr>OpenSans</vt:lpstr>
      <vt:lpstr>OpenSans-Bold</vt:lpstr>
      <vt:lpstr>Tahoma</vt:lpstr>
      <vt:lpstr>TimesNewRomanPSMT</vt:lpstr>
      <vt:lpstr>Wingdings</vt:lpstr>
      <vt:lpstr>Blends</vt:lpstr>
      <vt:lpstr>1_Blends</vt:lpstr>
      <vt:lpstr>Occupational Specialist Component Content: Digital Production, Design  and Development</vt:lpstr>
      <vt:lpstr>The unit outcomes</vt:lpstr>
      <vt:lpstr>Learning Objectives</vt:lpstr>
      <vt:lpstr>Why Methodology Matters</vt:lpstr>
      <vt:lpstr>Agile</vt:lpstr>
      <vt:lpstr>Types of Agile Development</vt:lpstr>
      <vt:lpstr>Scale Agile</vt:lpstr>
      <vt:lpstr>Waterfall</vt:lpstr>
      <vt:lpstr>Rapid Application Development (RAD) </vt:lpstr>
      <vt:lpstr>LEAN</vt:lpstr>
      <vt:lpstr>USER-CENTRED DESIGN (UCD)</vt:lpstr>
      <vt:lpstr>Comparing Methodologies</vt:lpstr>
      <vt:lpstr>Activity - Selecting the Right Software Development Methodology</vt:lpstr>
    </vt:vector>
  </TitlesOfParts>
  <Company>dabs.com PLC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Introduction to Programming and Visual Basic</dc:title>
  <dc:creator>Hamish</dc:creator>
  <cp:lastModifiedBy>Hamish Spencer</cp:lastModifiedBy>
  <cp:revision>525</cp:revision>
  <dcterms:created xsi:type="dcterms:W3CDTF">2010-11-28T12:04:27Z</dcterms:created>
  <dcterms:modified xsi:type="dcterms:W3CDTF">2025-07-31T10:21:14Z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0x0101001C646F5E18B7F644AA5B880758D99BE0</vt:lpwstr>
  </property>
</Properties>
</file>