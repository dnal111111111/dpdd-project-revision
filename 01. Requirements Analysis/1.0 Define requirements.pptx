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slideLayouts/slideLayout21.xml" ContentType="application/vnd.openxmlformats-officedocument.presentationml.slideLayout+xml"/>
  <Override PartName="/ppt/notesSlides/notesSlide9.xml" ContentType="application/vnd.openxmlformats-officedocument.presentationml.notes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841" r:id="rId2"/>
  </p:sldMasterIdLst>
  <p:notesMasterIdLst>
    <p:notesMasterId r:id="rId13"/>
  </p:notesMasterIdLst>
  <p:sldIdLst>
    <p:sldId id="345" r:id="rId3"/>
    <p:sldId id="338" r:id="rId4"/>
    <p:sldId id="257" r:id="rId5"/>
    <p:sldId id="321" r:id="rId6"/>
    <p:sldId id="339" r:id="rId7"/>
    <p:sldId id="340" r:id="rId8"/>
    <p:sldId id="341" r:id="rId9"/>
    <p:sldId id="342" r:id="rId10"/>
    <p:sldId id="343" r:id="rId11"/>
    <p:sldId id="344" r:id="rId12"/>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34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FF00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57" autoAdjust="0"/>
    <p:restoredTop sz="73209" autoAdjust="0"/>
  </p:normalViewPr>
  <p:slideViewPr>
    <p:cSldViewPr>
      <p:cViewPr varScale="1">
        <p:scale>
          <a:sx n="68" d="100"/>
          <a:sy n="68" d="100"/>
        </p:scale>
        <p:origin x="1872" y="54"/>
      </p:cViewPr>
      <p:guideLst>
        <p:guide orient="horz" pos="2341"/>
        <p:guide pos="2880"/>
      </p:guideLst>
    </p:cSldViewPr>
  </p:slideViewPr>
  <p:notesTextViewPr>
    <p:cViewPr>
      <p:scale>
        <a:sx n="100" d="100"/>
        <a:sy n="100" d="100"/>
      </p:scale>
      <p:origin x="0" y="0"/>
    </p:cViewPr>
  </p:notesTextViewPr>
  <p:notesViewPr>
    <p:cSldViewPr>
      <p:cViewPr>
        <p:scale>
          <a:sx n="75" d="100"/>
          <a:sy n="75" d="100"/>
        </p:scale>
        <p:origin x="-1536" y="283"/>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customXml" Target="../customXml/item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customXml" Target="../customXml/item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E5DFDF44-A1AD-46B6-9AE7-38A86E84761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47" name="Rectangle 3">
            <a:extLst>
              <a:ext uri="{FF2B5EF4-FFF2-40B4-BE49-F238E27FC236}">
                <a16:creationId xmlns:a16="http://schemas.microsoft.com/office/drawing/2014/main" id="{924D3F03-CF39-46FB-BB7B-3FEF68A16EC9}"/>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cs typeface="Arial" pitchFamily="34" charset="0"/>
              </a:defRPr>
            </a:lvl1pPr>
          </a:lstStyle>
          <a:p>
            <a:pPr>
              <a:defRPr/>
            </a:pPr>
            <a:endParaRPr lang="en-GB"/>
          </a:p>
        </p:txBody>
      </p:sp>
      <p:sp>
        <p:nvSpPr>
          <p:cNvPr id="15364" name="Rectangle 4">
            <a:extLst>
              <a:ext uri="{FF2B5EF4-FFF2-40B4-BE49-F238E27FC236}">
                <a16:creationId xmlns:a16="http://schemas.microsoft.com/office/drawing/2014/main" id="{3C66DB9D-43D4-4717-98B1-D7716516049C}"/>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9" name="Rectangle 5">
            <a:extLst>
              <a:ext uri="{FF2B5EF4-FFF2-40B4-BE49-F238E27FC236}">
                <a16:creationId xmlns:a16="http://schemas.microsoft.com/office/drawing/2014/main" id="{03D47A9F-6558-4B6C-8C8E-22D8AEEDF09E}"/>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1750" name="Rectangle 6">
            <a:extLst>
              <a:ext uri="{FF2B5EF4-FFF2-40B4-BE49-F238E27FC236}">
                <a16:creationId xmlns:a16="http://schemas.microsoft.com/office/drawing/2014/main" id="{6AB3C4A1-24B3-44A9-9DC8-E427B4A6AEDD}"/>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51" name="Rectangle 7">
            <a:extLst>
              <a:ext uri="{FF2B5EF4-FFF2-40B4-BE49-F238E27FC236}">
                <a16:creationId xmlns:a16="http://schemas.microsoft.com/office/drawing/2014/main" id="{42167697-9C63-4543-8555-5CFF596E0102}"/>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165323BA-7296-483C-BD7B-BDD3DD599FB2}"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A4FEFAE8-08F3-47DC-A28A-A7F58E6951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7048C67-2AED-4691-84C7-3CAEC953A1D1}" type="slidenum">
              <a:rPr lang="en-GB" altLang="en-US" smtClean="0"/>
              <a:pPr>
                <a:spcBef>
                  <a:spcPct val="0"/>
                </a:spcBef>
              </a:pPr>
              <a:t>1</a:t>
            </a:fld>
            <a:endParaRPr lang="en-GB" altLang="en-US"/>
          </a:p>
        </p:txBody>
      </p:sp>
      <p:sp>
        <p:nvSpPr>
          <p:cNvPr id="17411" name="Rectangle 2">
            <a:extLst>
              <a:ext uri="{FF2B5EF4-FFF2-40B4-BE49-F238E27FC236}">
                <a16:creationId xmlns:a16="http://schemas.microsoft.com/office/drawing/2014/main" id="{2636C127-663C-4A8A-A774-14CD924A60DA}"/>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D16A65F2-8B25-4953-AEA8-272CE4C7F1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49662B30-0961-40A5-8C1A-8CA69B3FFE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CD4922C-932D-4199-9829-1DEBAB7778AC}" type="slidenum">
              <a:rPr lang="en-GB" altLang="en-US" smtClean="0"/>
              <a:pPr>
                <a:spcBef>
                  <a:spcPct val="0"/>
                </a:spcBef>
              </a:pPr>
              <a:t>3</a:t>
            </a:fld>
            <a:endParaRPr lang="en-GB" altLang="en-US"/>
          </a:p>
        </p:txBody>
      </p:sp>
      <p:sp>
        <p:nvSpPr>
          <p:cNvPr id="20483" name="Rectangle 2">
            <a:extLst>
              <a:ext uri="{FF2B5EF4-FFF2-40B4-BE49-F238E27FC236}">
                <a16:creationId xmlns:a16="http://schemas.microsoft.com/office/drawing/2014/main" id="{FC5C00F7-D80C-48E0-BD63-0E29BA744EA8}"/>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BFE1CC3F-9176-4254-8F22-34105A98CF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25CB5C41-EE88-4B52-9D7C-A0C1F3D05574}"/>
              </a:ext>
            </a:extLst>
          </p:cNvPr>
          <p:cNvSpPr>
            <a:spLocks noGrp="1" noRot="1" noChangeAspect="1" noChangeArrowheads="1" noTextEdit="1"/>
          </p:cNvSpPr>
          <p:nvPr>
            <p:ph type="sldImg"/>
          </p:nvPr>
        </p:nvSpPr>
        <p:spPr>
          <a:ln/>
        </p:spPr>
      </p:sp>
      <p:sp>
        <p:nvSpPr>
          <p:cNvPr id="22531" name="Notes Placeholder 2">
            <a:extLst>
              <a:ext uri="{FF2B5EF4-FFF2-40B4-BE49-F238E27FC236}">
                <a16:creationId xmlns:a16="http://schemas.microsoft.com/office/drawing/2014/main" id="{ACF0E361-681D-4879-80E8-FC51D379A20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GB" sz="1800" b="0" i="0" u="none" strike="noStrike" baseline="0" dirty="0">
                <a:latin typeface="OpenSans"/>
              </a:rPr>
              <a:t>Lifecycle Stage: Research and familiarization</a:t>
            </a:r>
          </a:p>
          <a:p>
            <a:pPr algn="l"/>
            <a:r>
              <a:rPr lang="en-GB" sz="1800" b="0" i="0" u="none" strike="noStrike" baseline="0" dirty="0">
                <a:latin typeface="OpenSans"/>
              </a:rPr>
              <a:t>Exploring and understanding the initial client request/project brief</a:t>
            </a:r>
          </a:p>
          <a:p>
            <a:pPr algn="l"/>
            <a:r>
              <a:rPr lang="en-GB" sz="1800" b="0" i="0" u="none" strike="noStrike" baseline="0" dirty="0">
                <a:latin typeface="OpenSans"/>
              </a:rPr>
              <a:t>Carry out research relating to the specific context and market environment</a:t>
            </a:r>
          </a:p>
          <a:p>
            <a:pPr algn="l"/>
            <a:r>
              <a:rPr lang="en-GB" sz="1800" b="0" i="0" u="none" strike="noStrike" baseline="0" dirty="0">
                <a:latin typeface="OpenSans"/>
              </a:rPr>
              <a:t>including:</a:t>
            </a:r>
          </a:p>
          <a:p>
            <a:pPr algn="l"/>
            <a:r>
              <a:rPr lang="en-GB" sz="1800" b="0" i="0" u="none" strike="noStrike" baseline="0" dirty="0">
                <a:latin typeface="TimesNewRomanPSMT"/>
              </a:rPr>
              <a:t>● </a:t>
            </a:r>
            <a:r>
              <a:rPr lang="en-GB" sz="1800" b="0" i="0" u="none" strike="noStrike" baseline="0" dirty="0">
                <a:latin typeface="OpenSans"/>
              </a:rPr>
              <a:t>common problems and risks</a:t>
            </a:r>
          </a:p>
          <a:p>
            <a:pPr algn="l"/>
            <a:r>
              <a:rPr lang="en-GB" sz="1800" b="0" i="0" u="none" strike="noStrike" baseline="0" dirty="0">
                <a:latin typeface="TimesNewRomanPSMT"/>
              </a:rPr>
              <a:t>● </a:t>
            </a:r>
            <a:r>
              <a:rPr lang="en-GB" sz="1800" b="0" i="0" u="none" strike="noStrike" baseline="0" dirty="0">
                <a:latin typeface="OpenSans"/>
              </a:rPr>
              <a:t>current uses of hardware and software within the identified context</a:t>
            </a:r>
          </a:p>
          <a:p>
            <a:pPr algn="l"/>
            <a:r>
              <a:rPr lang="en-GB" sz="1800" b="0" i="0" u="none" strike="noStrike" baseline="0" dirty="0">
                <a:latin typeface="TimesNewRomanPSMT"/>
              </a:rPr>
              <a:t>● </a:t>
            </a:r>
            <a:r>
              <a:rPr lang="en-GB" sz="1800" b="0" i="0" u="none" strike="noStrike" baseline="0" dirty="0">
                <a:latin typeface="OpenSans"/>
              </a:rPr>
              <a:t>newly emerging technologies</a:t>
            </a:r>
          </a:p>
          <a:p>
            <a:pPr algn="l"/>
            <a:r>
              <a:rPr lang="en-GB" sz="1800" b="0" i="0" u="none" strike="noStrike" baseline="0" dirty="0">
                <a:latin typeface="TimesNewRomanPSMT"/>
              </a:rPr>
              <a:t>● </a:t>
            </a:r>
            <a:r>
              <a:rPr lang="en-GB" sz="1800" b="0" i="0" u="none" strike="noStrike" baseline="0" dirty="0">
                <a:latin typeface="OpenSans"/>
              </a:rPr>
              <a:t>existing or potential solutions and how these meet different user needs</a:t>
            </a:r>
          </a:p>
          <a:p>
            <a:pPr algn="l"/>
            <a:r>
              <a:rPr lang="en-GB" sz="1800" b="0" i="0" u="none" strike="noStrike" baseline="0" dirty="0">
                <a:latin typeface="TimesNewRomanPSMT"/>
              </a:rPr>
              <a:t>● </a:t>
            </a:r>
            <a:r>
              <a:rPr lang="en-GB" sz="1800" b="0" i="0" u="none" strike="noStrike" baseline="0" dirty="0">
                <a:latin typeface="OpenSans"/>
              </a:rPr>
              <a:t>industry/situational specific guidelines and regulations</a:t>
            </a:r>
          </a:p>
          <a:p>
            <a:pPr algn="l"/>
            <a:r>
              <a:rPr lang="en-GB" sz="1800" b="0" i="0" u="none" strike="noStrike" baseline="0" dirty="0">
                <a:latin typeface="TimesNewRomanPSMT"/>
              </a:rPr>
              <a:t>● </a:t>
            </a:r>
            <a:r>
              <a:rPr lang="en-GB" sz="1800" b="0" i="0" u="none" strike="noStrike" baseline="0" dirty="0">
                <a:latin typeface="OpenSans"/>
              </a:rPr>
              <a:t>identify shortfalls in own skills and knowledge and plan learning</a:t>
            </a:r>
          </a:p>
          <a:p>
            <a:pPr algn="l"/>
            <a:r>
              <a:rPr lang="en-GB" sz="1800" b="0" i="0" u="none" strike="noStrike" baseline="0" dirty="0">
                <a:latin typeface="OpenSans"/>
              </a:rPr>
              <a:t>opportunities to make up these shortfalls.</a:t>
            </a:r>
          </a:p>
          <a:p>
            <a:pPr algn="l"/>
            <a:r>
              <a:rPr lang="en-GB" sz="1800" b="0" i="0" u="none" strike="noStrike" baseline="0" dirty="0">
                <a:latin typeface="OpenSans"/>
              </a:rPr>
              <a:t>Lifecycle Stage: Planning and requirement analysis:</a:t>
            </a:r>
          </a:p>
          <a:p>
            <a:pPr algn="l"/>
            <a:r>
              <a:rPr lang="en-GB" sz="1800" b="0" i="0" u="none" strike="noStrike" baseline="0" dirty="0">
                <a:latin typeface="TimesNewRomanPSMT"/>
              </a:rPr>
              <a:t>● </a:t>
            </a:r>
            <a:r>
              <a:rPr lang="en-GB" sz="1800" b="0" i="0" u="none" strike="noStrike" baseline="0" dirty="0">
                <a:latin typeface="OpenSans"/>
              </a:rPr>
              <a:t>identify business requirements such as new software/amending/</a:t>
            </a:r>
          </a:p>
          <a:p>
            <a:pPr algn="l"/>
            <a:r>
              <a:rPr lang="en-GB" sz="1800" b="0" i="0" u="none" strike="noStrike" baseline="0" dirty="0">
                <a:latin typeface="OpenSans"/>
              </a:rPr>
              <a:t>increasing security.</a:t>
            </a:r>
          </a:p>
          <a:p>
            <a:pPr algn="l"/>
            <a:r>
              <a:rPr lang="en-GB" sz="1800" b="0" i="0" u="none" strike="noStrike" baseline="0" dirty="0">
                <a:latin typeface="TimesNewRomanPSMT"/>
              </a:rPr>
              <a:t>● </a:t>
            </a:r>
            <a:r>
              <a:rPr lang="en-GB" sz="1800" b="0" i="0" u="none" strike="noStrike" baseline="0" dirty="0">
                <a:latin typeface="OpenSans"/>
              </a:rPr>
              <a:t>assess the measurable value of the proposed solution in relation to:</a:t>
            </a:r>
          </a:p>
          <a:p>
            <a:pPr algn="l"/>
            <a:r>
              <a:rPr lang="en-GB" sz="1800" b="0" i="0" u="none" strike="noStrike" baseline="0" dirty="0">
                <a:latin typeface="CourierNewPSMT"/>
              </a:rPr>
              <a:t>o </a:t>
            </a:r>
            <a:r>
              <a:rPr lang="en-GB" sz="1800" b="0" i="0" u="none" strike="noStrike" baseline="0" dirty="0">
                <a:latin typeface="OpenSans"/>
              </a:rPr>
              <a:t>the user</a:t>
            </a:r>
          </a:p>
          <a:p>
            <a:pPr algn="l"/>
            <a:r>
              <a:rPr lang="en-GB" sz="1800" b="0" i="0" u="none" strike="noStrike" baseline="0" dirty="0">
                <a:latin typeface="CourierNewPSMT"/>
              </a:rPr>
              <a:t>o </a:t>
            </a:r>
            <a:r>
              <a:rPr lang="en-GB" sz="1800" b="0" i="0" u="none" strike="noStrike" baseline="0" dirty="0">
                <a:latin typeface="OpenSans"/>
              </a:rPr>
              <a:t>the client/business.</a:t>
            </a:r>
          </a:p>
          <a:p>
            <a:pPr algn="l"/>
            <a:r>
              <a:rPr lang="en-GB" sz="1800" b="0" i="0" u="none" strike="noStrike" baseline="0" dirty="0">
                <a:latin typeface="TimesNewRomanPSMT"/>
              </a:rPr>
              <a:t>● </a:t>
            </a:r>
            <a:r>
              <a:rPr lang="en-GB" sz="1800" b="0" i="0" u="none" strike="noStrike" baseline="0" dirty="0">
                <a:latin typeface="OpenSans"/>
              </a:rPr>
              <a:t>apply computational thinking (decomposition, pattern recognition, and</a:t>
            </a:r>
          </a:p>
          <a:p>
            <a:pPr algn="l"/>
            <a:r>
              <a:rPr lang="en-GB" sz="1800" b="0" i="0" u="none" strike="noStrike" baseline="0" dirty="0">
                <a:latin typeface="OpenSans"/>
              </a:rPr>
              <a:t>abstraction) to split the problem into discrete objects.</a:t>
            </a:r>
          </a:p>
          <a:p>
            <a:pPr algn="l"/>
            <a:r>
              <a:rPr lang="en-GB" sz="1800" b="0" i="0" u="none" strike="noStrike" baseline="0" dirty="0">
                <a:latin typeface="TimesNewRomanPSMT"/>
              </a:rPr>
              <a:t>● </a:t>
            </a:r>
            <a:r>
              <a:rPr lang="en-GB" sz="1800" b="0" i="0" u="none" strike="noStrike" baseline="0" dirty="0">
                <a:latin typeface="OpenSans"/>
              </a:rPr>
              <a:t>define the functional and non-functional requirements of the solution.</a:t>
            </a:r>
          </a:p>
          <a:p>
            <a:pPr algn="l"/>
            <a:r>
              <a:rPr lang="en-GB" sz="1800" b="0" i="0" u="none" strike="noStrike" baseline="0" dirty="0">
                <a:latin typeface="TimesNewRomanPSMT"/>
              </a:rPr>
              <a:t>● </a:t>
            </a:r>
            <a:r>
              <a:rPr lang="en-GB" sz="1800" b="0" i="0" u="none" strike="noStrike" baseline="0" dirty="0">
                <a:latin typeface="OpenSans"/>
              </a:rPr>
              <a:t>define the Key performance indicators (KPIs) of the solution.</a:t>
            </a:r>
          </a:p>
          <a:p>
            <a:pPr algn="l"/>
            <a:r>
              <a:rPr lang="en-GB" sz="1800" b="0" i="0" u="none" strike="noStrike" baseline="0" dirty="0">
                <a:latin typeface="TimesNewRomanPSMT"/>
              </a:rPr>
              <a:t>● </a:t>
            </a:r>
            <a:r>
              <a:rPr lang="en-GB" sz="1800" b="0" i="0" u="none" strike="noStrike" baseline="0" dirty="0">
                <a:latin typeface="OpenSans"/>
              </a:rPr>
              <a:t>identify the performance constraints in digital projects.</a:t>
            </a:r>
          </a:p>
          <a:p>
            <a:pPr algn="l"/>
            <a:r>
              <a:rPr lang="en-GB" sz="1800" b="0" i="0" u="none" strike="noStrike" baseline="0" dirty="0">
                <a:latin typeface="TimesNewRomanPSMT"/>
              </a:rPr>
              <a:t>● </a:t>
            </a:r>
            <a:r>
              <a:rPr lang="en-GB" sz="1800" b="0" i="0" u="none" strike="noStrike" baseline="0" dirty="0">
                <a:latin typeface="OpenSans"/>
              </a:rPr>
              <a:t>creation of user acceptance criteria.</a:t>
            </a:r>
          </a:p>
          <a:p>
            <a:pPr algn="l"/>
            <a:r>
              <a:rPr lang="en-GB" sz="1800" b="0" i="0" u="none" strike="noStrike" baseline="0" dirty="0">
                <a:latin typeface="TimesNewRomanPSMT"/>
              </a:rPr>
              <a:t>● </a:t>
            </a:r>
            <a:r>
              <a:rPr lang="en-GB" sz="1800" b="0" i="0" u="none" strike="noStrike" baseline="0" dirty="0">
                <a:latin typeface="OpenSans"/>
              </a:rPr>
              <a:t>schedule projects (tasks, subtasks, milestones).</a:t>
            </a:r>
          </a:p>
          <a:p>
            <a:pPr algn="l"/>
            <a:r>
              <a:rPr lang="en-GB" sz="1800" b="0" i="0" u="none" strike="noStrike" baseline="0" dirty="0">
                <a:latin typeface="TimesNewRomanPSMT"/>
              </a:rPr>
              <a:t>● </a:t>
            </a:r>
            <a:r>
              <a:rPr lang="en-GB" sz="1800" b="0" i="0" u="none" strike="noStrike" baseline="0" dirty="0">
                <a:latin typeface="OpenSans"/>
              </a:rPr>
              <a:t>allocate appropriate resources to digital projects.</a:t>
            </a:r>
          </a:p>
          <a:p>
            <a:pPr algn="l"/>
            <a:r>
              <a:rPr lang="en-GB" sz="1800" b="0" i="0" u="none" strike="noStrike" baseline="0" dirty="0">
                <a:latin typeface="TimesNewRomanPSMT"/>
              </a:rPr>
              <a:t>● </a:t>
            </a:r>
            <a:r>
              <a:rPr lang="en-GB" sz="1800" b="0" i="0" u="none" strike="noStrike" baseline="0" dirty="0">
                <a:latin typeface="OpenSans"/>
              </a:rPr>
              <a:t>estimate costs of digital projects.</a:t>
            </a:r>
          </a:p>
          <a:p>
            <a:pPr algn="l"/>
            <a:r>
              <a:rPr lang="en-GB" sz="1800" b="0" i="0" u="none" strike="noStrike" baseline="0" dirty="0">
                <a:latin typeface="TimesNewRomanPSMT"/>
              </a:rPr>
              <a:t>● </a:t>
            </a:r>
            <a:r>
              <a:rPr lang="en-GB" sz="1800" b="0" i="0" u="none" strike="noStrike" baseline="0" dirty="0">
                <a:latin typeface="OpenSans"/>
              </a:rPr>
              <a:t>choose programming language(s) for digital projects based on</a:t>
            </a:r>
          </a:p>
          <a:p>
            <a:pPr algn="l"/>
            <a:r>
              <a:rPr lang="en-GB" sz="1800" b="0" i="0" u="none" strike="noStrike" baseline="0" dirty="0">
                <a:latin typeface="OpenSans"/>
              </a:rPr>
              <a:t>key criteria.</a:t>
            </a:r>
          </a:p>
          <a:p>
            <a:pPr algn="l"/>
            <a:r>
              <a:rPr lang="en-GB" sz="1800" b="0" i="0" u="none" strike="noStrike" baseline="0" dirty="0">
                <a:latin typeface="TimesNewRomanPSMT"/>
              </a:rPr>
              <a:t>● </a:t>
            </a:r>
            <a:r>
              <a:rPr lang="en-GB" sz="1800" b="0" i="0" u="none" strike="noStrike" baseline="0" dirty="0">
                <a:latin typeface="OpenSans"/>
              </a:rPr>
              <a:t>suitability to the proposed task.</a:t>
            </a:r>
          </a:p>
          <a:p>
            <a:pPr algn="l"/>
            <a:r>
              <a:rPr lang="en-GB" sz="1800" b="0" i="0" u="none" strike="noStrike" baseline="0" dirty="0">
                <a:latin typeface="TimesNewRomanPSMT"/>
              </a:rPr>
              <a:t>● </a:t>
            </a:r>
            <a:r>
              <a:rPr lang="en-GB" sz="1800" b="0" i="0" u="none" strike="noStrike" baseline="0" dirty="0">
                <a:latin typeface="OpenSans"/>
              </a:rPr>
              <a:t>organisational policy.</a:t>
            </a:r>
          </a:p>
          <a:p>
            <a:pPr algn="l"/>
            <a:endParaRPr lang="en-GB" sz="1800" b="0" i="0" u="none" strike="noStrike" baseline="0" dirty="0">
              <a:latin typeface="OpenSans"/>
            </a:endParaRPr>
          </a:p>
          <a:p>
            <a:pPr algn="l"/>
            <a:endParaRPr lang="en-GB" sz="1800" b="0" i="0" u="none" strike="noStrike" baseline="0" dirty="0">
              <a:latin typeface="OpenSans"/>
            </a:endParaRPr>
          </a:p>
          <a:p>
            <a:pPr algn="l"/>
            <a:endParaRPr lang="en-GB" sz="1800" b="0" i="0" u="none" strike="noStrike" baseline="0" dirty="0">
              <a:latin typeface="OpenSans"/>
            </a:endParaRPr>
          </a:p>
          <a:p>
            <a:pPr algn="l"/>
            <a:endParaRPr lang="en-GB" sz="1800" b="0" i="0" u="none" strike="noStrike" baseline="0" dirty="0">
              <a:latin typeface="OpenSans"/>
            </a:endParaRPr>
          </a:p>
          <a:p>
            <a:pPr algn="l"/>
            <a:r>
              <a:rPr lang="en-GB" sz="1800" b="0" i="0" u="none" strike="noStrike" baseline="0" dirty="0">
                <a:latin typeface="OpenSans"/>
              </a:rPr>
              <a:t>scalability.</a:t>
            </a:r>
          </a:p>
          <a:p>
            <a:pPr algn="l"/>
            <a:r>
              <a:rPr lang="en-GB" sz="1800" b="0" i="0" u="none" strike="noStrike" baseline="0" dirty="0">
                <a:latin typeface="TimesNewRomanPSMT"/>
              </a:rPr>
              <a:t>● </a:t>
            </a:r>
            <a:r>
              <a:rPr lang="en-GB" sz="1800" b="0" i="0" u="none" strike="noStrike" baseline="0" dirty="0">
                <a:latin typeface="OpenSans"/>
              </a:rPr>
              <a:t>security.</a:t>
            </a:r>
          </a:p>
          <a:p>
            <a:pPr algn="l"/>
            <a:r>
              <a:rPr lang="en-GB" sz="1800" b="0" i="0" u="none" strike="noStrike" baseline="0" dirty="0">
                <a:latin typeface="TimesNewRomanPSMT"/>
              </a:rPr>
              <a:t>● </a:t>
            </a:r>
            <a:r>
              <a:rPr lang="en-GB" sz="1800" b="0" i="0" u="none" strike="noStrike" baseline="0" dirty="0">
                <a:latin typeface="OpenSans"/>
              </a:rPr>
              <a:t>availability of trained staff.</a:t>
            </a:r>
          </a:p>
          <a:p>
            <a:pPr algn="l"/>
            <a:r>
              <a:rPr lang="en-GB" sz="1800" b="0" i="0" u="none" strike="noStrike" baseline="0" dirty="0">
                <a:latin typeface="TimesNewRomanPSMT"/>
              </a:rPr>
              <a:t>● </a:t>
            </a:r>
            <a:r>
              <a:rPr lang="en-GB" sz="1800" b="0" i="0" u="none" strike="noStrike" baseline="0" dirty="0">
                <a:latin typeface="OpenSans"/>
              </a:rPr>
              <a:t>costs.</a:t>
            </a:r>
          </a:p>
          <a:p>
            <a:pPr algn="l"/>
            <a:r>
              <a:rPr lang="en-GB" sz="1800" b="0" i="0" u="none" strike="noStrike" baseline="0" dirty="0">
                <a:latin typeface="TimesNewRomanPSMT"/>
              </a:rPr>
              <a:t>● </a:t>
            </a:r>
            <a:r>
              <a:rPr lang="en-GB" sz="1800" b="0" i="0" u="none" strike="noStrike" baseline="0" dirty="0">
                <a:latin typeface="OpenSans"/>
              </a:rPr>
              <a:t>reliability.</a:t>
            </a:r>
          </a:p>
          <a:p>
            <a:pPr algn="l"/>
            <a:r>
              <a:rPr lang="en-GB" sz="1800" b="0" i="0" u="none" strike="noStrike" baseline="0" dirty="0">
                <a:latin typeface="TimesNewRomanPSMT"/>
              </a:rPr>
              <a:t>● </a:t>
            </a:r>
            <a:r>
              <a:rPr lang="en-GB" sz="1800" b="0" i="0" u="none" strike="noStrike" baseline="0" dirty="0">
                <a:latin typeface="OpenSans"/>
              </a:rPr>
              <a:t>identify risks and explore ways to mitigate these risks.</a:t>
            </a:r>
          </a:p>
          <a:p>
            <a:pPr algn="l"/>
            <a:r>
              <a:rPr lang="en-GB" sz="1800" b="0" i="0" u="none" strike="noStrike" baseline="0" dirty="0">
                <a:latin typeface="OpenSans"/>
              </a:rPr>
              <a:t>Lifecycle Stage: Performing a user analysis:</a:t>
            </a:r>
          </a:p>
          <a:p>
            <a:pPr algn="l"/>
            <a:r>
              <a:rPr lang="en-GB" sz="1800" b="0" i="0" u="none" strike="noStrike" baseline="0" dirty="0">
                <a:latin typeface="TimesNewRomanPSMT"/>
              </a:rPr>
              <a:t>● </a:t>
            </a:r>
            <a:r>
              <a:rPr lang="en-GB" sz="1800" b="0" i="0" u="none" strike="noStrike" baseline="0" dirty="0">
                <a:latin typeface="OpenSans"/>
              </a:rPr>
              <a:t>select and use business analysis models to aid problem solving:</a:t>
            </a:r>
          </a:p>
          <a:p>
            <a:pPr algn="l"/>
            <a:r>
              <a:rPr lang="en-GB" sz="1800" b="0" i="0" u="none" strike="noStrike" baseline="0" dirty="0">
                <a:latin typeface="CourierNewPSMT"/>
              </a:rPr>
              <a:t>o </a:t>
            </a:r>
            <a:r>
              <a:rPr lang="en-GB" sz="1800" b="0" i="0" u="none" strike="noStrike" baseline="0" dirty="0">
                <a:latin typeface="OpenSans"/>
              </a:rPr>
              <a:t>user stories</a:t>
            </a:r>
          </a:p>
          <a:p>
            <a:pPr algn="l"/>
            <a:r>
              <a:rPr lang="en-GB" sz="1800" b="0" i="0" u="none" strike="noStrike" baseline="0" dirty="0">
                <a:latin typeface="CourierNewPSMT"/>
              </a:rPr>
              <a:t>o </a:t>
            </a:r>
            <a:r>
              <a:rPr lang="en-GB" sz="1800" b="0" i="0" u="none" strike="noStrike" baseline="0" dirty="0">
                <a:latin typeface="OpenSans"/>
              </a:rPr>
              <a:t>activity diagrams</a:t>
            </a:r>
          </a:p>
          <a:p>
            <a:pPr algn="l"/>
            <a:r>
              <a:rPr lang="en-GB" sz="1800" b="0" i="0" u="none" strike="noStrike" baseline="0" dirty="0">
                <a:latin typeface="CourierNewPSMT"/>
              </a:rPr>
              <a:t>o </a:t>
            </a:r>
            <a:r>
              <a:rPr lang="en-GB" sz="1800" b="0" i="0" u="none" strike="noStrike" baseline="0" dirty="0">
                <a:latin typeface="OpenSans"/>
              </a:rPr>
              <a:t>mind maps</a:t>
            </a:r>
          </a:p>
          <a:p>
            <a:pPr algn="l"/>
            <a:r>
              <a:rPr lang="en-GB" sz="1800" b="0" i="0" u="none" strike="noStrike" baseline="0" dirty="0">
                <a:latin typeface="CourierNewPSMT"/>
              </a:rPr>
              <a:t>o </a:t>
            </a:r>
            <a:r>
              <a:rPr lang="en-GB" sz="1800" b="0" i="0" u="none" strike="noStrike" baseline="0" dirty="0">
                <a:latin typeface="OpenSans"/>
              </a:rPr>
              <a:t>product road maps</a:t>
            </a:r>
          </a:p>
          <a:p>
            <a:pPr algn="l"/>
            <a:r>
              <a:rPr lang="en-GB" sz="1800" b="0" i="0" u="none" strike="noStrike" baseline="0" dirty="0">
                <a:latin typeface="CourierNewPSMT"/>
              </a:rPr>
              <a:t>o </a:t>
            </a:r>
            <a:r>
              <a:rPr lang="en-GB" sz="1800" b="0" i="0" u="none" strike="noStrike" baseline="0" dirty="0">
                <a:latin typeface="OpenSans"/>
              </a:rPr>
              <a:t>process diagrams</a:t>
            </a:r>
          </a:p>
          <a:p>
            <a:pPr algn="l"/>
            <a:r>
              <a:rPr lang="en-GB" sz="1800" b="0" i="0" u="none" strike="noStrike" baseline="0" dirty="0">
                <a:latin typeface="CourierNewPSMT"/>
              </a:rPr>
              <a:t>o </a:t>
            </a:r>
            <a:r>
              <a:rPr lang="en-GB" sz="1800" b="0" i="0" u="none" strike="noStrike" baseline="0" dirty="0">
                <a:latin typeface="OpenSans"/>
              </a:rPr>
              <a:t>entity relationship diagrams.</a:t>
            </a:r>
          </a:p>
          <a:p>
            <a:pPr algn="l"/>
            <a:r>
              <a:rPr lang="en-GB" sz="1800" b="0" i="0" u="none" strike="noStrike" baseline="0" dirty="0">
                <a:latin typeface="OpenSans"/>
              </a:rPr>
              <a:t>Lifecycle Stage: Designing the product</a:t>
            </a:r>
          </a:p>
          <a:p>
            <a:pPr algn="l"/>
            <a:r>
              <a:rPr lang="en-GB" sz="1800" b="0" i="0" u="none" strike="noStrike" baseline="0" dirty="0">
                <a:latin typeface="TimesNewRomanPSMT"/>
              </a:rPr>
              <a:t>● </a:t>
            </a:r>
            <a:r>
              <a:rPr lang="en-GB" sz="1800" b="0" i="0" u="none" strike="noStrike" baseline="0" dirty="0">
                <a:latin typeface="OpenSans"/>
              </a:rPr>
              <a:t>create interface designs.</a:t>
            </a:r>
          </a:p>
          <a:p>
            <a:pPr algn="l"/>
            <a:r>
              <a:rPr lang="en-GB" sz="1800" b="0" i="0" u="none" strike="noStrike" baseline="0" dirty="0">
                <a:latin typeface="TimesNewRomanPSMT"/>
              </a:rPr>
              <a:t>● </a:t>
            </a:r>
            <a:r>
              <a:rPr lang="en-GB" sz="1800" b="0" i="0" u="none" strike="noStrike" baseline="0" dirty="0">
                <a:latin typeface="OpenSans"/>
              </a:rPr>
              <a:t>plan how to solve key problems (design algorithms).</a:t>
            </a:r>
          </a:p>
          <a:p>
            <a:pPr algn="l"/>
            <a:r>
              <a:rPr lang="en-GB" sz="1800" b="0" i="0" u="none" strike="noStrike" baseline="0" dirty="0">
                <a:latin typeface="TimesNewRomanPSMT"/>
              </a:rPr>
              <a:t>● </a:t>
            </a:r>
            <a:r>
              <a:rPr lang="en-GB" sz="1800" b="0" i="0" u="none" strike="noStrike" baseline="0" dirty="0">
                <a:latin typeface="OpenSans"/>
              </a:rPr>
              <a:t>create data requirements designs.</a:t>
            </a:r>
          </a:p>
          <a:p>
            <a:pPr algn="l"/>
            <a:r>
              <a:rPr lang="en-GB" sz="1800" b="0" i="0" u="none" strike="noStrike" baseline="0" dirty="0">
                <a:latin typeface="TimesNewRomanPSMT"/>
              </a:rPr>
              <a:t>● </a:t>
            </a:r>
            <a:r>
              <a:rPr lang="en-GB" sz="1800" b="0" i="0" u="none" strike="noStrike" baseline="0" dirty="0">
                <a:latin typeface="OpenSans"/>
              </a:rPr>
              <a:t>create a proof of concept.</a:t>
            </a:r>
          </a:p>
          <a:p>
            <a:pPr algn="l"/>
            <a:r>
              <a:rPr lang="en-GB" sz="1800" b="0" i="0" u="none" strike="noStrike" baseline="0" dirty="0">
                <a:latin typeface="TimesNewRomanPSMT"/>
              </a:rPr>
              <a:t>● </a:t>
            </a:r>
            <a:r>
              <a:rPr lang="en-GB" sz="1800" b="0" i="0" u="none" strike="noStrike" baseline="0" dirty="0">
                <a:latin typeface="OpenSans"/>
              </a:rPr>
              <a:t>produce initial testing schedule.</a:t>
            </a:r>
          </a:p>
          <a:p>
            <a:pPr algn="l"/>
            <a:r>
              <a:rPr lang="en-GB" sz="1800" b="0" i="0" u="none" strike="noStrike" baseline="0" dirty="0">
                <a:latin typeface="OpenSans"/>
              </a:rPr>
              <a:t>Lifecycle Stage: Developing and testing the product</a:t>
            </a:r>
          </a:p>
          <a:p>
            <a:pPr algn="l"/>
            <a:r>
              <a:rPr lang="en-GB" sz="1800" b="0" i="0" u="none" strike="noStrike" baseline="0" dirty="0">
                <a:latin typeface="TimesNewRomanPSMT"/>
              </a:rPr>
              <a:t>● </a:t>
            </a:r>
            <a:r>
              <a:rPr lang="en-GB" sz="1800" b="0" i="0" u="none" strike="noStrike" baseline="0" dirty="0">
                <a:latin typeface="OpenSans"/>
              </a:rPr>
              <a:t>create a prototype.</a:t>
            </a:r>
          </a:p>
          <a:p>
            <a:pPr algn="l"/>
            <a:r>
              <a:rPr lang="en-GB" sz="1800" b="0" i="0" u="none" strike="noStrike" baseline="0" dirty="0">
                <a:latin typeface="TimesNewRomanPSMT"/>
              </a:rPr>
              <a:t>● </a:t>
            </a:r>
            <a:r>
              <a:rPr lang="en-GB" sz="1800" b="0" i="0" u="none" strike="noStrike" baseline="0" dirty="0">
                <a:latin typeface="OpenSans"/>
              </a:rPr>
              <a:t>plan and implement appropriate testing including:</a:t>
            </a:r>
          </a:p>
          <a:p>
            <a:pPr algn="l"/>
            <a:r>
              <a:rPr lang="en-GB" sz="1800" b="0" i="0" u="none" strike="noStrike" baseline="0" dirty="0">
                <a:latin typeface="CourierNewPSMT"/>
              </a:rPr>
              <a:t>o </a:t>
            </a:r>
            <a:r>
              <a:rPr lang="en-GB" sz="1800" b="0" i="0" u="none" strike="noStrike" baseline="0" dirty="0">
                <a:latin typeface="OpenSans"/>
              </a:rPr>
              <a:t>module testing</a:t>
            </a:r>
          </a:p>
          <a:p>
            <a:pPr algn="l"/>
            <a:r>
              <a:rPr lang="en-GB" sz="1800" b="0" i="0" u="none" strike="noStrike" baseline="0" dirty="0">
                <a:latin typeface="CourierNewPSMT"/>
              </a:rPr>
              <a:t>o </a:t>
            </a:r>
            <a:r>
              <a:rPr lang="en-GB" sz="1800" b="0" i="0" u="none" strike="noStrike" baseline="0" dirty="0">
                <a:latin typeface="OpenSans"/>
              </a:rPr>
              <a:t>system integration testing</a:t>
            </a:r>
          </a:p>
          <a:p>
            <a:pPr algn="l"/>
            <a:r>
              <a:rPr lang="en-GB" sz="1800" b="0" i="0" u="none" strike="noStrike" baseline="0" dirty="0">
                <a:latin typeface="CourierNewPSMT"/>
              </a:rPr>
              <a:t>o </a:t>
            </a:r>
            <a:r>
              <a:rPr lang="en-GB" sz="1800" b="0" i="0" u="none" strike="noStrike" baseline="0" dirty="0">
                <a:latin typeface="OpenSans"/>
              </a:rPr>
              <a:t>automated testing</a:t>
            </a:r>
          </a:p>
          <a:p>
            <a:pPr algn="l"/>
            <a:r>
              <a:rPr lang="en-GB" sz="1800" b="0" i="0" u="none" strike="noStrike" baseline="0" dirty="0">
                <a:latin typeface="CourierNewPSMT"/>
              </a:rPr>
              <a:t>o </a:t>
            </a:r>
            <a:r>
              <a:rPr lang="en-GB" sz="1800" b="0" i="0" u="none" strike="noStrike" baseline="0" dirty="0">
                <a:latin typeface="OpenSans"/>
              </a:rPr>
              <a:t>user testing and feedback.</a:t>
            </a:r>
          </a:p>
          <a:p>
            <a:pPr algn="l"/>
            <a:r>
              <a:rPr lang="en-GB" sz="1800" b="0" i="0" u="none" strike="noStrike" baseline="0" dirty="0">
                <a:latin typeface="OpenSans"/>
              </a:rPr>
              <a:t>Lifecycle Stage: Deploying/implementing the product:</a:t>
            </a:r>
          </a:p>
          <a:p>
            <a:pPr algn="l"/>
            <a:r>
              <a:rPr lang="en-GB" sz="1800" b="0" i="0" u="none" strike="noStrike" baseline="0" dirty="0">
                <a:latin typeface="TimesNewRomanPSMT"/>
              </a:rPr>
              <a:t>● </a:t>
            </a:r>
            <a:r>
              <a:rPr lang="en-GB" sz="1800" b="0" i="0" u="none" strike="noStrike" baseline="0" dirty="0">
                <a:latin typeface="OpenSans"/>
              </a:rPr>
              <a:t>install &amp; configure the product.</a:t>
            </a:r>
          </a:p>
          <a:p>
            <a:pPr algn="l"/>
            <a:r>
              <a:rPr lang="en-GB" sz="1800" b="0" i="0" u="none" strike="noStrike" baseline="0" dirty="0">
                <a:latin typeface="TimesNewRomanPSMT"/>
              </a:rPr>
              <a:t>● </a:t>
            </a:r>
            <a:r>
              <a:rPr lang="en-GB" sz="1800" b="0" i="0" u="none" strike="noStrike" baseline="0" dirty="0">
                <a:latin typeface="OpenSans"/>
              </a:rPr>
              <a:t>update the product.</a:t>
            </a:r>
          </a:p>
          <a:p>
            <a:pPr algn="l"/>
            <a:r>
              <a:rPr lang="en-GB" sz="1800" b="0" i="0" u="none" strike="noStrike" baseline="0" dirty="0">
                <a:latin typeface="OpenSans"/>
              </a:rPr>
              <a:t>Lifecycle Stage: Maintenance:</a:t>
            </a:r>
          </a:p>
          <a:p>
            <a:pPr algn="l"/>
            <a:r>
              <a:rPr lang="en-GB" sz="1800" b="0" i="0" u="none" strike="noStrike" baseline="0" dirty="0">
                <a:latin typeface="TimesNewRomanPSMT"/>
              </a:rPr>
              <a:t>● </a:t>
            </a:r>
            <a:r>
              <a:rPr lang="en-GB" sz="1800" b="0" i="0" u="none" strike="noStrike" baseline="0" dirty="0">
                <a:latin typeface="OpenSans"/>
              </a:rPr>
              <a:t>provide system support.</a:t>
            </a:r>
          </a:p>
          <a:p>
            <a:pPr algn="l"/>
            <a:r>
              <a:rPr lang="en-GB" sz="1800" b="0" i="0" u="none" strike="noStrike" baseline="0" dirty="0">
                <a:latin typeface="TimesNewRomanPSMT"/>
              </a:rPr>
              <a:t>● </a:t>
            </a:r>
            <a:r>
              <a:rPr lang="en-GB" sz="1800" b="0" i="0" u="none" strike="noStrike" baseline="0" dirty="0">
                <a:latin typeface="OpenSans"/>
              </a:rPr>
              <a:t>provide user support.</a:t>
            </a:r>
          </a:p>
          <a:p>
            <a:pPr algn="l"/>
            <a:r>
              <a:rPr lang="en-GB" sz="1800" b="0" i="0" u="none" strike="noStrike" baseline="0" dirty="0">
                <a:latin typeface="TimesNewRomanPSMT"/>
              </a:rPr>
              <a:t>● </a:t>
            </a:r>
            <a:r>
              <a:rPr lang="en-GB" sz="1800" b="0" i="0" u="none" strike="noStrike" baseline="0" dirty="0">
                <a:latin typeface="OpenSans"/>
              </a:rPr>
              <a:t>carry out bug fixing.</a:t>
            </a:r>
          </a:p>
          <a:p>
            <a:pPr algn="l"/>
            <a:r>
              <a:rPr lang="en-GB" sz="1800" b="0" i="0" u="none" strike="noStrike" baseline="0" dirty="0">
                <a:latin typeface="TimesNewRomanPSMT"/>
              </a:rPr>
              <a:t>● </a:t>
            </a:r>
            <a:r>
              <a:rPr lang="en-GB" sz="1800" b="0" i="0" u="none" strike="noStrike" baseline="0" dirty="0">
                <a:latin typeface="OpenSans"/>
              </a:rPr>
              <a:t>arrange/carry out user training.</a:t>
            </a:r>
          </a:p>
          <a:p>
            <a:pPr algn="l"/>
            <a:r>
              <a:rPr lang="en-GB" sz="1800" b="0" i="0" u="none" strike="noStrike" baseline="0" dirty="0">
                <a:latin typeface="TimesNewRomanPSMT"/>
              </a:rPr>
              <a:t>● </a:t>
            </a:r>
            <a:r>
              <a:rPr lang="en-GB" sz="1800" b="0" i="0" u="none" strike="noStrike" baseline="0" dirty="0">
                <a:latin typeface="OpenSans"/>
              </a:rPr>
              <a:t>release updates to enhance the product.</a:t>
            </a:r>
          </a:p>
          <a:p>
            <a:pPr algn="l"/>
            <a:r>
              <a:rPr lang="en-GB" sz="1800" b="0" i="0" u="none" strike="noStrike" baseline="0" dirty="0">
                <a:latin typeface="OpenSans"/>
              </a:rPr>
              <a:t>Understand the value to the organisation of the digital product and the</a:t>
            </a:r>
          </a:p>
          <a:p>
            <a:pPr algn="l"/>
            <a:r>
              <a:rPr lang="en-GB" sz="1800" b="0" i="0" u="none" strike="noStrike" baseline="0" dirty="0">
                <a:latin typeface="OpenSans"/>
              </a:rPr>
              <a:t>role the software development lifecycle plays.</a:t>
            </a:r>
            <a:endParaRPr lang="en-US" altLang="en-US" dirty="0"/>
          </a:p>
        </p:txBody>
      </p:sp>
      <p:sp>
        <p:nvSpPr>
          <p:cNvPr id="22532" name="Slide Number Placeholder 3">
            <a:extLst>
              <a:ext uri="{FF2B5EF4-FFF2-40B4-BE49-F238E27FC236}">
                <a16:creationId xmlns:a16="http://schemas.microsoft.com/office/drawing/2014/main" id="{0A8FF87A-17F0-495B-84DC-BE01DFCA672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C2B727B-AC5C-4821-A9E5-7D1C4DB9A03D}" type="slidenum">
              <a:rPr lang="en-GB" altLang="en-US" smtClean="0"/>
              <a:pPr>
                <a:spcBef>
                  <a:spcPct val="0"/>
                </a:spcBef>
              </a:pPr>
              <a:t>4</a:t>
            </a:fld>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25CB5C41-EE88-4B52-9D7C-A0C1F3D05574}"/>
              </a:ext>
            </a:extLst>
          </p:cNvPr>
          <p:cNvSpPr>
            <a:spLocks noGrp="1" noRot="1" noChangeAspect="1" noChangeArrowheads="1" noTextEdit="1"/>
          </p:cNvSpPr>
          <p:nvPr>
            <p:ph type="sldImg"/>
          </p:nvPr>
        </p:nvSpPr>
        <p:spPr>
          <a:ln/>
        </p:spPr>
      </p:sp>
      <p:sp>
        <p:nvSpPr>
          <p:cNvPr id="22531" name="Notes Placeholder 2">
            <a:extLst>
              <a:ext uri="{FF2B5EF4-FFF2-40B4-BE49-F238E27FC236}">
                <a16:creationId xmlns:a16="http://schemas.microsoft.com/office/drawing/2014/main" id="{ACF0E361-681D-4879-80E8-FC51D379A20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GB" sz="1800" b="0" i="0" u="none" strike="noStrike" baseline="0" dirty="0">
                <a:latin typeface="OpenSans"/>
              </a:rPr>
              <a:t>Lifecycle Stage: Research and familiarization</a:t>
            </a:r>
          </a:p>
          <a:p>
            <a:pPr algn="l"/>
            <a:r>
              <a:rPr lang="en-GB" sz="1800" b="0" i="0" u="none" strike="noStrike" baseline="0" dirty="0">
                <a:latin typeface="OpenSans"/>
              </a:rPr>
              <a:t>Exploring and understanding the initial client request/project brief</a:t>
            </a:r>
          </a:p>
          <a:p>
            <a:pPr algn="l"/>
            <a:r>
              <a:rPr lang="en-GB" sz="1800" b="0" i="0" u="none" strike="noStrike" baseline="0" dirty="0">
                <a:latin typeface="OpenSans"/>
              </a:rPr>
              <a:t>Carry out research relating to the specific context and market environment</a:t>
            </a:r>
          </a:p>
          <a:p>
            <a:pPr algn="l"/>
            <a:r>
              <a:rPr lang="en-GB" sz="1800" b="0" i="0" u="none" strike="noStrike" baseline="0" dirty="0">
                <a:latin typeface="OpenSans"/>
              </a:rPr>
              <a:t>including:</a:t>
            </a:r>
          </a:p>
          <a:p>
            <a:pPr algn="l"/>
            <a:r>
              <a:rPr lang="en-GB" sz="1800" b="0" i="0" u="none" strike="noStrike" baseline="0" dirty="0">
                <a:latin typeface="TimesNewRomanPSMT"/>
              </a:rPr>
              <a:t>● </a:t>
            </a:r>
            <a:r>
              <a:rPr lang="en-GB" sz="1800" b="0" i="0" u="none" strike="noStrike" baseline="0" dirty="0">
                <a:latin typeface="OpenSans"/>
              </a:rPr>
              <a:t>common problems and risks</a:t>
            </a:r>
          </a:p>
          <a:p>
            <a:pPr algn="l"/>
            <a:r>
              <a:rPr lang="en-GB" sz="1800" b="0" i="0" u="none" strike="noStrike" baseline="0" dirty="0">
                <a:latin typeface="TimesNewRomanPSMT"/>
              </a:rPr>
              <a:t>● </a:t>
            </a:r>
            <a:r>
              <a:rPr lang="en-GB" sz="1800" b="0" i="0" u="none" strike="noStrike" baseline="0" dirty="0">
                <a:latin typeface="OpenSans"/>
              </a:rPr>
              <a:t>current uses of hardware and software within the identified context</a:t>
            </a:r>
          </a:p>
          <a:p>
            <a:pPr algn="l"/>
            <a:r>
              <a:rPr lang="en-GB" sz="1800" b="0" i="0" u="none" strike="noStrike" baseline="0" dirty="0">
                <a:latin typeface="TimesNewRomanPSMT"/>
              </a:rPr>
              <a:t>● </a:t>
            </a:r>
            <a:r>
              <a:rPr lang="en-GB" sz="1800" b="0" i="0" u="none" strike="noStrike" baseline="0" dirty="0">
                <a:latin typeface="OpenSans"/>
              </a:rPr>
              <a:t>newly emerging technologies</a:t>
            </a:r>
          </a:p>
          <a:p>
            <a:pPr algn="l"/>
            <a:r>
              <a:rPr lang="en-GB" sz="1800" b="0" i="0" u="none" strike="noStrike" baseline="0" dirty="0">
                <a:latin typeface="TimesNewRomanPSMT"/>
              </a:rPr>
              <a:t>● </a:t>
            </a:r>
            <a:r>
              <a:rPr lang="en-GB" sz="1800" b="0" i="0" u="none" strike="noStrike" baseline="0" dirty="0">
                <a:latin typeface="OpenSans"/>
              </a:rPr>
              <a:t>existing or potential solutions and how these meet different user needs</a:t>
            </a:r>
          </a:p>
          <a:p>
            <a:pPr algn="l"/>
            <a:r>
              <a:rPr lang="en-GB" sz="1800" b="0" i="0" u="none" strike="noStrike" baseline="0" dirty="0">
                <a:latin typeface="TimesNewRomanPSMT"/>
              </a:rPr>
              <a:t>● </a:t>
            </a:r>
            <a:r>
              <a:rPr lang="en-GB" sz="1800" b="0" i="0" u="none" strike="noStrike" baseline="0" dirty="0">
                <a:latin typeface="OpenSans"/>
              </a:rPr>
              <a:t>industry/situational specific guidelines and regulations</a:t>
            </a:r>
          </a:p>
          <a:p>
            <a:pPr algn="l"/>
            <a:r>
              <a:rPr lang="en-GB" sz="1800" b="0" i="0" u="none" strike="noStrike" baseline="0" dirty="0">
                <a:latin typeface="TimesNewRomanPSMT"/>
              </a:rPr>
              <a:t>● </a:t>
            </a:r>
            <a:r>
              <a:rPr lang="en-GB" sz="1800" b="0" i="0" u="none" strike="noStrike" baseline="0" dirty="0">
                <a:latin typeface="OpenSans"/>
              </a:rPr>
              <a:t>identify shortfalls in own skills and knowledge and plan learning</a:t>
            </a:r>
          </a:p>
          <a:p>
            <a:pPr algn="l"/>
            <a:r>
              <a:rPr lang="en-GB" sz="1800" b="0" i="0" u="none" strike="noStrike" baseline="0" dirty="0">
                <a:latin typeface="OpenSans"/>
              </a:rPr>
              <a:t>opportunities to make up these shortfalls.</a:t>
            </a:r>
          </a:p>
          <a:p>
            <a:pPr algn="l"/>
            <a:r>
              <a:rPr lang="en-GB" sz="1800" b="0" i="0" u="none" strike="noStrike" baseline="0" dirty="0">
                <a:latin typeface="OpenSans"/>
              </a:rPr>
              <a:t>Lifecycle Stage: Planning and requirement analysis:</a:t>
            </a:r>
          </a:p>
          <a:p>
            <a:pPr algn="l"/>
            <a:r>
              <a:rPr lang="en-GB" sz="1800" b="0" i="0" u="none" strike="noStrike" baseline="0" dirty="0">
                <a:latin typeface="TimesNewRomanPSMT"/>
              </a:rPr>
              <a:t>● </a:t>
            </a:r>
            <a:r>
              <a:rPr lang="en-GB" sz="1800" b="0" i="0" u="none" strike="noStrike" baseline="0" dirty="0">
                <a:latin typeface="OpenSans"/>
              </a:rPr>
              <a:t>identify business requirements such as new software/amending/</a:t>
            </a:r>
          </a:p>
          <a:p>
            <a:pPr algn="l"/>
            <a:r>
              <a:rPr lang="en-GB" sz="1800" b="0" i="0" u="none" strike="noStrike" baseline="0" dirty="0">
                <a:latin typeface="OpenSans"/>
              </a:rPr>
              <a:t>increasing security.</a:t>
            </a:r>
          </a:p>
          <a:p>
            <a:pPr algn="l"/>
            <a:r>
              <a:rPr lang="en-GB" sz="1800" b="0" i="0" u="none" strike="noStrike" baseline="0" dirty="0">
                <a:latin typeface="TimesNewRomanPSMT"/>
              </a:rPr>
              <a:t>● </a:t>
            </a:r>
            <a:r>
              <a:rPr lang="en-GB" sz="1800" b="0" i="0" u="none" strike="noStrike" baseline="0" dirty="0">
                <a:latin typeface="OpenSans"/>
              </a:rPr>
              <a:t>assess the measurable value of the proposed solution in relation to:</a:t>
            </a:r>
          </a:p>
          <a:p>
            <a:pPr algn="l"/>
            <a:r>
              <a:rPr lang="en-GB" sz="1800" b="0" i="0" u="none" strike="noStrike" baseline="0" dirty="0">
                <a:latin typeface="CourierNewPSMT"/>
              </a:rPr>
              <a:t>o </a:t>
            </a:r>
            <a:r>
              <a:rPr lang="en-GB" sz="1800" b="0" i="0" u="none" strike="noStrike" baseline="0" dirty="0">
                <a:latin typeface="OpenSans"/>
              </a:rPr>
              <a:t>the user</a:t>
            </a:r>
          </a:p>
          <a:p>
            <a:pPr algn="l"/>
            <a:r>
              <a:rPr lang="en-GB" sz="1800" b="0" i="0" u="none" strike="noStrike" baseline="0" dirty="0">
                <a:latin typeface="CourierNewPSMT"/>
              </a:rPr>
              <a:t>o </a:t>
            </a:r>
            <a:r>
              <a:rPr lang="en-GB" sz="1800" b="0" i="0" u="none" strike="noStrike" baseline="0" dirty="0">
                <a:latin typeface="OpenSans"/>
              </a:rPr>
              <a:t>the client/business.</a:t>
            </a:r>
          </a:p>
          <a:p>
            <a:pPr algn="l"/>
            <a:r>
              <a:rPr lang="en-GB" sz="1800" b="0" i="0" u="none" strike="noStrike" baseline="0" dirty="0">
                <a:latin typeface="TimesNewRomanPSMT"/>
              </a:rPr>
              <a:t>● </a:t>
            </a:r>
            <a:r>
              <a:rPr lang="en-GB" sz="1800" b="0" i="0" u="none" strike="noStrike" baseline="0" dirty="0">
                <a:latin typeface="OpenSans"/>
              </a:rPr>
              <a:t>apply computational thinking (decomposition, pattern recognition, and</a:t>
            </a:r>
          </a:p>
          <a:p>
            <a:pPr algn="l"/>
            <a:r>
              <a:rPr lang="en-GB" sz="1800" b="0" i="0" u="none" strike="noStrike" baseline="0" dirty="0">
                <a:latin typeface="OpenSans"/>
              </a:rPr>
              <a:t>abstraction) to split the problem into discrete objects.</a:t>
            </a:r>
          </a:p>
          <a:p>
            <a:pPr algn="l"/>
            <a:r>
              <a:rPr lang="en-GB" sz="1800" b="0" i="0" u="none" strike="noStrike" baseline="0" dirty="0">
                <a:latin typeface="TimesNewRomanPSMT"/>
              </a:rPr>
              <a:t>● </a:t>
            </a:r>
            <a:r>
              <a:rPr lang="en-GB" sz="1800" b="0" i="0" u="none" strike="noStrike" baseline="0" dirty="0">
                <a:latin typeface="OpenSans"/>
              </a:rPr>
              <a:t>define the functional and non-functional requirements of the solution.</a:t>
            </a:r>
          </a:p>
          <a:p>
            <a:pPr algn="l"/>
            <a:r>
              <a:rPr lang="en-GB" sz="1800" b="0" i="0" u="none" strike="noStrike" baseline="0" dirty="0">
                <a:latin typeface="TimesNewRomanPSMT"/>
              </a:rPr>
              <a:t>● </a:t>
            </a:r>
            <a:r>
              <a:rPr lang="en-GB" sz="1800" b="0" i="0" u="none" strike="noStrike" baseline="0" dirty="0">
                <a:latin typeface="OpenSans"/>
              </a:rPr>
              <a:t>define the Key performance indicators (KPIs) of the solution.</a:t>
            </a:r>
          </a:p>
          <a:p>
            <a:pPr algn="l"/>
            <a:r>
              <a:rPr lang="en-GB" sz="1800" b="0" i="0" u="none" strike="noStrike" baseline="0" dirty="0">
                <a:latin typeface="TimesNewRomanPSMT"/>
              </a:rPr>
              <a:t>● </a:t>
            </a:r>
            <a:r>
              <a:rPr lang="en-GB" sz="1800" b="0" i="0" u="none" strike="noStrike" baseline="0" dirty="0">
                <a:latin typeface="OpenSans"/>
              </a:rPr>
              <a:t>identify the performance constraints in digital projects.</a:t>
            </a:r>
          </a:p>
          <a:p>
            <a:pPr algn="l"/>
            <a:r>
              <a:rPr lang="en-GB" sz="1800" b="0" i="0" u="none" strike="noStrike" baseline="0" dirty="0">
                <a:latin typeface="TimesNewRomanPSMT"/>
              </a:rPr>
              <a:t>● </a:t>
            </a:r>
            <a:r>
              <a:rPr lang="en-GB" sz="1800" b="0" i="0" u="none" strike="noStrike" baseline="0" dirty="0">
                <a:latin typeface="OpenSans"/>
              </a:rPr>
              <a:t>creation of user acceptance criteria.</a:t>
            </a:r>
          </a:p>
          <a:p>
            <a:pPr algn="l"/>
            <a:r>
              <a:rPr lang="en-GB" sz="1800" b="0" i="0" u="none" strike="noStrike" baseline="0" dirty="0">
                <a:latin typeface="TimesNewRomanPSMT"/>
              </a:rPr>
              <a:t>● </a:t>
            </a:r>
            <a:r>
              <a:rPr lang="en-GB" sz="1800" b="0" i="0" u="none" strike="noStrike" baseline="0" dirty="0">
                <a:latin typeface="OpenSans"/>
              </a:rPr>
              <a:t>schedule projects (tasks, subtasks, milestones).</a:t>
            </a:r>
          </a:p>
          <a:p>
            <a:pPr algn="l"/>
            <a:r>
              <a:rPr lang="en-GB" sz="1800" b="0" i="0" u="none" strike="noStrike" baseline="0" dirty="0">
                <a:latin typeface="TimesNewRomanPSMT"/>
              </a:rPr>
              <a:t>● </a:t>
            </a:r>
            <a:r>
              <a:rPr lang="en-GB" sz="1800" b="0" i="0" u="none" strike="noStrike" baseline="0" dirty="0">
                <a:latin typeface="OpenSans"/>
              </a:rPr>
              <a:t>allocate appropriate resources to digital projects.</a:t>
            </a:r>
          </a:p>
          <a:p>
            <a:pPr algn="l"/>
            <a:r>
              <a:rPr lang="en-GB" sz="1800" b="0" i="0" u="none" strike="noStrike" baseline="0" dirty="0">
                <a:latin typeface="TimesNewRomanPSMT"/>
              </a:rPr>
              <a:t>● </a:t>
            </a:r>
            <a:r>
              <a:rPr lang="en-GB" sz="1800" b="0" i="0" u="none" strike="noStrike" baseline="0" dirty="0">
                <a:latin typeface="OpenSans"/>
              </a:rPr>
              <a:t>estimate costs of digital projects.</a:t>
            </a:r>
          </a:p>
          <a:p>
            <a:pPr algn="l"/>
            <a:r>
              <a:rPr lang="en-GB" sz="1800" b="0" i="0" u="none" strike="noStrike" baseline="0" dirty="0">
                <a:latin typeface="TimesNewRomanPSMT"/>
              </a:rPr>
              <a:t>● </a:t>
            </a:r>
            <a:r>
              <a:rPr lang="en-GB" sz="1800" b="0" i="0" u="none" strike="noStrike" baseline="0" dirty="0">
                <a:latin typeface="OpenSans"/>
              </a:rPr>
              <a:t>choose programming language(s) for digital projects based on</a:t>
            </a:r>
          </a:p>
          <a:p>
            <a:pPr algn="l"/>
            <a:r>
              <a:rPr lang="en-GB" sz="1800" b="0" i="0" u="none" strike="noStrike" baseline="0" dirty="0">
                <a:latin typeface="OpenSans"/>
              </a:rPr>
              <a:t>key criteria.</a:t>
            </a:r>
          </a:p>
          <a:p>
            <a:pPr algn="l"/>
            <a:r>
              <a:rPr lang="en-GB" sz="1800" b="0" i="0" u="none" strike="noStrike" baseline="0" dirty="0">
                <a:latin typeface="TimesNewRomanPSMT"/>
              </a:rPr>
              <a:t>● </a:t>
            </a:r>
            <a:r>
              <a:rPr lang="en-GB" sz="1800" b="0" i="0" u="none" strike="noStrike" baseline="0" dirty="0">
                <a:latin typeface="OpenSans"/>
              </a:rPr>
              <a:t>suitability to the proposed task.</a:t>
            </a:r>
          </a:p>
          <a:p>
            <a:pPr algn="l"/>
            <a:r>
              <a:rPr lang="en-GB" sz="1800" b="0" i="0" u="none" strike="noStrike" baseline="0" dirty="0">
                <a:latin typeface="TimesNewRomanPSMT"/>
              </a:rPr>
              <a:t>● </a:t>
            </a:r>
            <a:r>
              <a:rPr lang="en-GB" sz="1800" b="0" i="0" u="none" strike="noStrike" baseline="0" dirty="0">
                <a:latin typeface="OpenSans"/>
              </a:rPr>
              <a:t>organisational policy.</a:t>
            </a:r>
          </a:p>
          <a:p>
            <a:pPr algn="l"/>
            <a:r>
              <a:rPr lang="en-GB" sz="1800" b="0" i="0" u="none" strike="noStrike" baseline="0" dirty="0">
                <a:latin typeface="TimesNewRomanPSMT"/>
              </a:rPr>
              <a:t>● </a:t>
            </a:r>
            <a:r>
              <a:rPr lang="en-GB" sz="1800" b="0" i="0" u="none" strike="noStrike" baseline="0" dirty="0">
                <a:latin typeface="OpenSans"/>
              </a:rPr>
              <a:t>scalability.</a:t>
            </a:r>
          </a:p>
          <a:p>
            <a:pPr algn="l"/>
            <a:r>
              <a:rPr lang="en-GB" sz="1800" b="0" i="0" u="none" strike="noStrike" baseline="0" dirty="0">
                <a:latin typeface="TimesNewRomanPSMT"/>
              </a:rPr>
              <a:t>● </a:t>
            </a:r>
            <a:r>
              <a:rPr lang="en-GB" sz="1800" b="0" i="0" u="none" strike="noStrike" baseline="0" dirty="0">
                <a:latin typeface="OpenSans"/>
              </a:rPr>
              <a:t>security.</a:t>
            </a:r>
          </a:p>
          <a:p>
            <a:pPr algn="l"/>
            <a:r>
              <a:rPr lang="en-GB" sz="1800" b="0" i="0" u="none" strike="noStrike" baseline="0" dirty="0">
                <a:latin typeface="TimesNewRomanPSMT"/>
              </a:rPr>
              <a:t>● </a:t>
            </a:r>
            <a:r>
              <a:rPr lang="en-GB" sz="1800" b="0" i="0" u="none" strike="noStrike" baseline="0" dirty="0">
                <a:latin typeface="OpenSans"/>
              </a:rPr>
              <a:t>availability of trained staff.</a:t>
            </a:r>
          </a:p>
          <a:p>
            <a:pPr algn="l"/>
            <a:r>
              <a:rPr lang="en-GB" sz="1800" b="0" i="0" u="none" strike="noStrike" baseline="0" dirty="0">
                <a:latin typeface="TimesNewRomanPSMT"/>
              </a:rPr>
              <a:t>● </a:t>
            </a:r>
            <a:r>
              <a:rPr lang="en-GB" sz="1800" b="0" i="0" u="none" strike="noStrike" baseline="0" dirty="0">
                <a:latin typeface="OpenSans"/>
              </a:rPr>
              <a:t>costs.</a:t>
            </a:r>
          </a:p>
          <a:p>
            <a:pPr algn="l"/>
            <a:r>
              <a:rPr lang="en-GB" sz="1800" b="0" i="0" u="none" strike="noStrike" baseline="0" dirty="0">
                <a:latin typeface="TimesNewRomanPSMT"/>
              </a:rPr>
              <a:t>● </a:t>
            </a:r>
            <a:r>
              <a:rPr lang="en-GB" sz="1800" b="0" i="0" u="none" strike="noStrike" baseline="0" dirty="0">
                <a:latin typeface="OpenSans"/>
              </a:rPr>
              <a:t>reliability.</a:t>
            </a:r>
          </a:p>
          <a:p>
            <a:pPr algn="l"/>
            <a:r>
              <a:rPr lang="en-GB" sz="1800" b="0" i="0" u="none" strike="noStrike" baseline="0" dirty="0">
                <a:latin typeface="TimesNewRomanPSMT"/>
              </a:rPr>
              <a:t>● </a:t>
            </a:r>
            <a:r>
              <a:rPr lang="en-GB" sz="1800" b="0" i="0" u="none" strike="noStrike" baseline="0" dirty="0">
                <a:latin typeface="OpenSans"/>
              </a:rPr>
              <a:t>identify risks and explore ways to mitigate these risks.</a:t>
            </a:r>
          </a:p>
          <a:p>
            <a:pPr algn="l"/>
            <a:r>
              <a:rPr lang="en-GB" sz="1800" b="0" i="0" u="none" strike="noStrike" baseline="0" dirty="0">
                <a:latin typeface="OpenSans"/>
              </a:rPr>
              <a:t>Lifecycle Stage: Performing a user analysis:</a:t>
            </a:r>
          </a:p>
          <a:p>
            <a:pPr algn="l"/>
            <a:r>
              <a:rPr lang="en-GB" sz="1800" b="0" i="0" u="none" strike="noStrike" baseline="0" dirty="0">
                <a:latin typeface="TimesNewRomanPSMT"/>
              </a:rPr>
              <a:t>● </a:t>
            </a:r>
            <a:r>
              <a:rPr lang="en-GB" sz="1800" b="0" i="0" u="none" strike="noStrike" baseline="0" dirty="0">
                <a:latin typeface="OpenSans"/>
              </a:rPr>
              <a:t>select and use business analysis models to aid problem solving:</a:t>
            </a:r>
          </a:p>
          <a:p>
            <a:pPr algn="l"/>
            <a:r>
              <a:rPr lang="en-GB" sz="1800" b="0" i="0" u="none" strike="noStrike" baseline="0" dirty="0">
                <a:latin typeface="CourierNewPSMT"/>
              </a:rPr>
              <a:t>o </a:t>
            </a:r>
            <a:r>
              <a:rPr lang="en-GB" sz="1800" b="0" i="0" u="none" strike="noStrike" baseline="0" dirty="0">
                <a:latin typeface="OpenSans"/>
              </a:rPr>
              <a:t>user stories</a:t>
            </a:r>
          </a:p>
          <a:p>
            <a:pPr algn="l"/>
            <a:r>
              <a:rPr lang="en-GB" sz="1800" b="0" i="0" u="none" strike="noStrike" baseline="0" dirty="0">
                <a:latin typeface="CourierNewPSMT"/>
              </a:rPr>
              <a:t>o </a:t>
            </a:r>
            <a:r>
              <a:rPr lang="en-GB" sz="1800" b="0" i="0" u="none" strike="noStrike" baseline="0" dirty="0">
                <a:latin typeface="OpenSans"/>
              </a:rPr>
              <a:t>activity diagrams</a:t>
            </a:r>
          </a:p>
          <a:p>
            <a:pPr algn="l"/>
            <a:r>
              <a:rPr lang="en-GB" sz="1800" b="0" i="0" u="none" strike="noStrike" baseline="0" dirty="0">
                <a:latin typeface="CourierNewPSMT"/>
              </a:rPr>
              <a:t>o </a:t>
            </a:r>
            <a:r>
              <a:rPr lang="en-GB" sz="1800" b="0" i="0" u="none" strike="noStrike" baseline="0" dirty="0">
                <a:latin typeface="OpenSans"/>
              </a:rPr>
              <a:t>mind maps</a:t>
            </a:r>
          </a:p>
          <a:p>
            <a:pPr algn="l"/>
            <a:r>
              <a:rPr lang="en-GB" sz="1800" b="0" i="0" u="none" strike="noStrike" baseline="0" dirty="0">
                <a:latin typeface="CourierNewPSMT"/>
              </a:rPr>
              <a:t>o </a:t>
            </a:r>
            <a:r>
              <a:rPr lang="en-GB" sz="1800" b="0" i="0" u="none" strike="noStrike" baseline="0" dirty="0">
                <a:latin typeface="OpenSans"/>
              </a:rPr>
              <a:t>product road maps</a:t>
            </a:r>
          </a:p>
          <a:p>
            <a:pPr algn="l"/>
            <a:r>
              <a:rPr lang="en-GB" sz="1800" b="0" i="0" u="none" strike="noStrike" baseline="0" dirty="0">
                <a:latin typeface="CourierNewPSMT"/>
              </a:rPr>
              <a:t>o </a:t>
            </a:r>
            <a:r>
              <a:rPr lang="en-GB" sz="1800" b="0" i="0" u="none" strike="noStrike" baseline="0" dirty="0">
                <a:latin typeface="OpenSans"/>
              </a:rPr>
              <a:t>process diagrams</a:t>
            </a:r>
          </a:p>
          <a:p>
            <a:pPr algn="l"/>
            <a:r>
              <a:rPr lang="en-GB" sz="1800" b="0" i="0" u="none" strike="noStrike" baseline="0" dirty="0">
                <a:latin typeface="CourierNewPSMT"/>
              </a:rPr>
              <a:t>o </a:t>
            </a:r>
            <a:r>
              <a:rPr lang="en-GB" sz="1800" b="0" i="0" u="none" strike="noStrike" baseline="0" dirty="0">
                <a:latin typeface="OpenSans"/>
              </a:rPr>
              <a:t>entity relationship diagrams.</a:t>
            </a:r>
          </a:p>
          <a:p>
            <a:pPr algn="l"/>
            <a:r>
              <a:rPr lang="en-GB" sz="1800" b="0" i="0" u="none" strike="noStrike" baseline="0" dirty="0">
                <a:latin typeface="OpenSans"/>
              </a:rPr>
              <a:t>Lifecycle Stage: Designing the product</a:t>
            </a:r>
          </a:p>
          <a:p>
            <a:pPr algn="l"/>
            <a:r>
              <a:rPr lang="en-GB" sz="1800" b="0" i="0" u="none" strike="noStrike" baseline="0" dirty="0">
                <a:latin typeface="TimesNewRomanPSMT"/>
              </a:rPr>
              <a:t>● </a:t>
            </a:r>
            <a:r>
              <a:rPr lang="en-GB" sz="1800" b="0" i="0" u="none" strike="noStrike" baseline="0" dirty="0">
                <a:latin typeface="OpenSans"/>
              </a:rPr>
              <a:t>create interface designs.</a:t>
            </a:r>
          </a:p>
          <a:p>
            <a:pPr algn="l"/>
            <a:r>
              <a:rPr lang="en-GB" sz="1800" b="0" i="0" u="none" strike="noStrike" baseline="0" dirty="0">
                <a:latin typeface="TimesNewRomanPSMT"/>
              </a:rPr>
              <a:t>● </a:t>
            </a:r>
            <a:r>
              <a:rPr lang="en-GB" sz="1800" b="0" i="0" u="none" strike="noStrike" baseline="0" dirty="0">
                <a:latin typeface="OpenSans"/>
              </a:rPr>
              <a:t>plan how to solve key problems (design algorithms).</a:t>
            </a:r>
          </a:p>
          <a:p>
            <a:pPr algn="l"/>
            <a:r>
              <a:rPr lang="en-GB" sz="1800" b="0" i="0" u="none" strike="noStrike" baseline="0" dirty="0">
                <a:latin typeface="TimesNewRomanPSMT"/>
              </a:rPr>
              <a:t>● </a:t>
            </a:r>
            <a:r>
              <a:rPr lang="en-GB" sz="1800" b="0" i="0" u="none" strike="noStrike" baseline="0" dirty="0">
                <a:latin typeface="OpenSans"/>
              </a:rPr>
              <a:t>create data requirements designs.</a:t>
            </a:r>
          </a:p>
          <a:p>
            <a:pPr algn="l"/>
            <a:r>
              <a:rPr lang="en-GB" sz="1800" b="0" i="0" u="none" strike="noStrike" baseline="0" dirty="0">
                <a:latin typeface="TimesNewRomanPSMT"/>
              </a:rPr>
              <a:t>● </a:t>
            </a:r>
            <a:r>
              <a:rPr lang="en-GB" sz="1800" b="0" i="0" u="none" strike="noStrike" baseline="0" dirty="0">
                <a:latin typeface="OpenSans"/>
              </a:rPr>
              <a:t>create a proof of concept.</a:t>
            </a:r>
          </a:p>
          <a:p>
            <a:pPr algn="l"/>
            <a:r>
              <a:rPr lang="en-GB" sz="1800" b="0" i="0" u="none" strike="noStrike" baseline="0" dirty="0">
                <a:latin typeface="TimesNewRomanPSMT"/>
              </a:rPr>
              <a:t>● </a:t>
            </a:r>
            <a:r>
              <a:rPr lang="en-GB" sz="1800" b="0" i="0" u="none" strike="noStrike" baseline="0" dirty="0">
                <a:latin typeface="OpenSans"/>
              </a:rPr>
              <a:t>produce initial testing schedule.</a:t>
            </a:r>
          </a:p>
          <a:p>
            <a:pPr algn="l"/>
            <a:r>
              <a:rPr lang="en-GB" sz="1800" b="0" i="0" u="none" strike="noStrike" baseline="0" dirty="0">
                <a:latin typeface="OpenSans"/>
              </a:rPr>
              <a:t>Lifecycle Stage: Developing and testing the product</a:t>
            </a:r>
          </a:p>
          <a:p>
            <a:pPr algn="l"/>
            <a:r>
              <a:rPr lang="en-GB" sz="1800" b="0" i="0" u="none" strike="noStrike" baseline="0" dirty="0">
                <a:latin typeface="TimesNewRomanPSMT"/>
              </a:rPr>
              <a:t>● </a:t>
            </a:r>
            <a:r>
              <a:rPr lang="en-GB" sz="1800" b="0" i="0" u="none" strike="noStrike" baseline="0" dirty="0">
                <a:latin typeface="OpenSans"/>
              </a:rPr>
              <a:t>create a prototype.</a:t>
            </a:r>
          </a:p>
          <a:p>
            <a:pPr algn="l"/>
            <a:r>
              <a:rPr lang="en-GB" sz="1800" b="0" i="0" u="none" strike="noStrike" baseline="0" dirty="0">
                <a:latin typeface="TimesNewRomanPSMT"/>
              </a:rPr>
              <a:t>● </a:t>
            </a:r>
            <a:r>
              <a:rPr lang="en-GB" sz="1800" b="0" i="0" u="none" strike="noStrike" baseline="0" dirty="0">
                <a:latin typeface="OpenSans"/>
              </a:rPr>
              <a:t>plan and implement appropriate testing including:</a:t>
            </a:r>
          </a:p>
          <a:p>
            <a:pPr algn="l"/>
            <a:r>
              <a:rPr lang="en-GB" sz="1800" b="0" i="0" u="none" strike="noStrike" baseline="0" dirty="0">
                <a:latin typeface="CourierNewPSMT"/>
              </a:rPr>
              <a:t>o </a:t>
            </a:r>
            <a:r>
              <a:rPr lang="en-GB" sz="1800" b="0" i="0" u="none" strike="noStrike" baseline="0" dirty="0">
                <a:latin typeface="OpenSans"/>
              </a:rPr>
              <a:t>module testing</a:t>
            </a:r>
          </a:p>
          <a:p>
            <a:pPr algn="l"/>
            <a:r>
              <a:rPr lang="en-GB" sz="1800" b="0" i="0" u="none" strike="noStrike" baseline="0" dirty="0">
                <a:latin typeface="CourierNewPSMT"/>
              </a:rPr>
              <a:t>o </a:t>
            </a:r>
            <a:r>
              <a:rPr lang="en-GB" sz="1800" b="0" i="0" u="none" strike="noStrike" baseline="0" dirty="0">
                <a:latin typeface="OpenSans"/>
              </a:rPr>
              <a:t>system integration testing</a:t>
            </a:r>
          </a:p>
          <a:p>
            <a:pPr algn="l"/>
            <a:r>
              <a:rPr lang="en-GB" sz="1800" b="0" i="0" u="none" strike="noStrike" baseline="0" dirty="0">
                <a:latin typeface="CourierNewPSMT"/>
              </a:rPr>
              <a:t>o </a:t>
            </a:r>
            <a:r>
              <a:rPr lang="en-GB" sz="1800" b="0" i="0" u="none" strike="noStrike" baseline="0" dirty="0">
                <a:latin typeface="OpenSans"/>
              </a:rPr>
              <a:t>automated testing</a:t>
            </a:r>
          </a:p>
          <a:p>
            <a:pPr algn="l"/>
            <a:r>
              <a:rPr lang="en-GB" sz="1800" b="0" i="0" u="none" strike="noStrike" baseline="0" dirty="0">
                <a:latin typeface="CourierNewPSMT"/>
              </a:rPr>
              <a:t>o </a:t>
            </a:r>
            <a:r>
              <a:rPr lang="en-GB" sz="1800" b="0" i="0" u="none" strike="noStrike" baseline="0" dirty="0">
                <a:latin typeface="OpenSans"/>
              </a:rPr>
              <a:t>user testing and feedback.</a:t>
            </a:r>
          </a:p>
          <a:p>
            <a:pPr algn="l"/>
            <a:r>
              <a:rPr lang="en-GB" sz="1800" b="0" i="0" u="none" strike="noStrike" baseline="0" dirty="0">
                <a:latin typeface="OpenSans"/>
              </a:rPr>
              <a:t>Lifecycle Stage: Deploying/implementing the product:</a:t>
            </a:r>
          </a:p>
          <a:p>
            <a:pPr algn="l"/>
            <a:r>
              <a:rPr lang="en-GB" sz="1800" b="0" i="0" u="none" strike="noStrike" baseline="0" dirty="0">
                <a:latin typeface="TimesNewRomanPSMT"/>
              </a:rPr>
              <a:t>● </a:t>
            </a:r>
            <a:r>
              <a:rPr lang="en-GB" sz="1800" b="0" i="0" u="none" strike="noStrike" baseline="0" dirty="0">
                <a:latin typeface="OpenSans"/>
              </a:rPr>
              <a:t>install &amp; configure the product.</a:t>
            </a:r>
          </a:p>
          <a:p>
            <a:pPr algn="l"/>
            <a:r>
              <a:rPr lang="en-GB" sz="1800" b="0" i="0" u="none" strike="noStrike" baseline="0" dirty="0">
                <a:latin typeface="TimesNewRomanPSMT"/>
              </a:rPr>
              <a:t>● </a:t>
            </a:r>
            <a:r>
              <a:rPr lang="en-GB" sz="1800" b="0" i="0" u="none" strike="noStrike" baseline="0" dirty="0">
                <a:latin typeface="OpenSans"/>
              </a:rPr>
              <a:t>update the product.</a:t>
            </a:r>
          </a:p>
          <a:p>
            <a:pPr algn="l"/>
            <a:r>
              <a:rPr lang="en-GB" sz="1800" b="0" i="0" u="none" strike="noStrike" baseline="0" dirty="0">
                <a:latin typeface="OpenSans"/>
              </a:rPr>
              <a:t>Lifecycle Stage: Maintenance:</a:t>
            </a:r>
          </a:p>
          <a:p>
            <a:pPr algn="l"/>
            <a:r>
              <a:rPr lang="en-GB" sz="1800" b="0" i="0" u="none" strike="noStrike" baseline="0" dirty="0">
                <a:latin typeface="TimesNewRomanPSMT"/>
              </a:rPr>
              <a:t>● </a:t>
            </a:r>
            <a:r>
              <a:rPr lang="en-GB" sz="1800" b="0" i="0" u="none" strike="noStrike" baseline="0" dirty="0">
                <a:latin typeface="OpenSans"/>
              </a:rPr>
              <a:t>provide system support.</a:t>
            </a:r>
          </a:p>
          <a:p>
            <a:pPr algn="l"/>
            <a:r>
              <a:rPr lang="en-GB" sz="1800" b="0" i="0" u="none" strike="noStrike" baseline="0" dirty="0">
                <a:latin typeface="TimesNewRomanPSMT"/>
              </a:rPr>
              <a:t>● </a:t>
            </a:r>
            <a:r>
              <a:rPr lang="en-GB" sz="1800" b="0" i="0" u="none" strike="noStrike" baseline="0" dirty="0">
                <a:latin typeface="OpenSans"/>
              </a:rPr>
              <a:t>provide user support.</a:t>
            </a:r>
          </a:p>
          <a:p>
            <a:pPr algn="l"/>
            <a:r>
              <a:rPr lang="en-GB" sz="1800" b="0" i="0" u="none" strike="noStrike" baseline="0" dirty="0">
                <a:latin typeface="TimesNewRomanPSMT"/>
              </a:rPr>
              <a:t>● </a:t>
            </a:r>
            <a:r>
              <a:rPr lang="en-GB" sz="1800" b="0" i="0" u="none" strike="noStrike" baseline="0" dirty="0">
                <a:latin typeface="OpenSans"/>
              </a:rPr>
              <a:t>carry out bug fixing.</a:t>
            </a:r>
          </a:p>
          <a:p>
            <a:pPr algn="l"/>
            <a:r>
              <a:rPr lang="en-GB" sz="1800" b="0" i="0" u="none" strike="noStrike" baseline="0" dirty="0">
                <a:latin typeface="TimesNewRomanPSMT"/>
              </a:rPr>
              <a:t>● </a:t>
            </a:r>
            <a:r>
              <a:rPr lang="en-GB" sz="1800" b="0" i="0" u="none" strike="noStrike" baseline="0" dirty="0">
                <a:latin typeface="OpenSans"/>
              </a:rPr>
              <a:t>arrange/carry out user training.</a:t>
            </a:r>
          </a:p>
          <a:p>
            <a:pPr algn="l"/>
            <a:r>
              <a:rPr lang="en-GB" sz="1800" b="0" i="0" u="none" strike="noStrike" baseline="0" dirty="0">
                <a:latin typeface="TimesNewRomanPSMT"/>
              </a:rPr>
              <a:t>● </a:t>
            </a:r>
            <a:r>
              <a:rPr lang="en-GB" sz="1800" b="0" i="0" u="none" strike="noStrike" baseline="0" dirty="0">
                <a:latin typeface="OpenSans"/>
              </a:rPr>
              <a:t>release updates to enhance the product.</a:t>
            </a:r>
          </a:p>
          <a:p>
            <a:pPr algn="l"/>
            <a:r>
              <a:rPr lang="en-GB" sz="1800" b="0" i="0" u="none" strike="noStrike" baseline="0" dirty="0">
                <a:latin typeface="OpenSans"/>
              </a:rPr>
              <a:t>Understand the value to the organisation of the digital product and the</a:t>
            </a:r>
          </a:p>
          <a:p>
            <a:pPr algn="l"/>
            <a:r>
              <a:rPr lang="en-GB" sz="1800" b="0" i="0" u="none" strike="noStrike" baseline="0" dirty="0">
                <a:latin typeface="OpenSans"/>
              </a:rPr>
              <a:t>role the software development lifecycle plays.</a:t>
            </a:r>
            <a:endParaRPr lang="en-US" altLang="en-US" dirty="0"/>
          </a:p>
        </p:txBody>
      </p:sp>
      <p:sp>
        <p:nvSpPr>
          <p:cNvPr id="22532" name="Slide Number Placeholder 3">
            <a:extLst>
              <a:ext uri="{FF2B5EF4-FFF2-40B4-BE49-F238E27FC236}">
                <a16:creationId xmlns:a16="http://schemas.microsoft.com/office/drawing/2014/main" id="{0A8FF87A-17F0-495B-84DC-BE01DFCA672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C2B727B-AC5C-4821-A9E5-7D1C4DB9A03D}" type="slidenum">
              <a:rPr lang="en-GB" altLang="en-US" smtClean="0"/>
              <a:pPr>
                <a:spcBef>
                  <a:spcPct val="0"/>
                </a:spcBef>
              </a:pPr>
              <a:t>5</a:t>
            </a:fld>
            <a:endParaRPr lang="en-GB" altLang="en-US"/>
          </a:p>
        </p:txBody>
      </p:sp>
    </p:spTree>
    <p:extLst>
      <p:ext uri="{BB962C8B-B14F-4D97-AF65-F5344CB8AC3E}">
        <p14:creationId xmlns:p14="http://schemas.microsoft.com/office/powerpoint/2010/main" val="13147544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25CB5C41-EE88-4B52-9D7C-A0C1F3D05574}"/>
              </a:ext>
            </a:extLst>
          </p:cNvPr>
          <p:cNvSpPr>
            <a:spLocks noGrp="1" noRot="1" noChangeAspect="1" noChangeArrowheads="1" noTextEdit="1"/>
          </p:cNvSpPr>
          <p:nvPr>
            <p:ph type="sldImg"/>
          </p:nvPr>
        </p:nvSpPr>
        <p:spPr>
          <a:ln/>
        </p:spPr>
      </p:sp>
      <p:sp>
        <p:nvSpPr>
          <p:cNvPr id="22531" name="Notes Placeholder 2">
            <a:extLst>
              <a:ext uri="{FF2B5EF4-FFF2-40B4-BE49-F238E27FC236}">
                <a16:creationId xmlns:a16="http://schemas.microsoft.com/office/drawing/2014/main" id="{ACF0E361-681D-4879-80E8-FC51D379A20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GB" dirty="0"/>
              <a:t>● Product owner/client – sets and communicates the requirements of the product. </a:t>
            </a:r>
          </a:p>
          <a:p>
            <a:pPr algn="l"/>
            <a:r>
              <a:rPr lang="en-GB" dirty="0"/>
              <a:t>● Scrum Master – facilitates the team to maintain team cohesion, ensuring the team has access to resources they require. </a:t>
            </a:r>
          </a:p>
          <a:p>
            <a:pPr algn="l"/>
            <a:r>
              <a:rPr lang="en-GB" dirty="0"/>
              <a:t>● Technical Lead – provide the technical guidance and support for the project team. </a:t>
            </a:r>
          </a:p>
          <a:p>
            <a:pPr algn="l"/>
            <a:r>
              <a:rPr lang="en-GB" dirty="0"/>
              <a:t>● Project Manager – responsible for planning, organizing, managing (budget, scope, schedule, risk and quality) on all phases of a project. </a:t>
            </a:r>
          </a:p>
          <a:p>
            <a:pPr algn="l"/>
            <a:r>
              <a:rPr lang="en-GB" dirty="0"/>
              <a:t>● Software Development Team </a:t>
            </a:r>
          </a:p>
          <a:p>
            <a:pPr algn="l"/>
            <a:r>
              <a:rPr lang="en-GB" dirty="0"/>
              <a:t>o Systems Analyst  – analyses the current system and provides the requirements for the new system – uses the requirements to design the new software solution. </a:t>
            </a:r>
          </a:p>
          <a:p>
            <a:pPr algn="l"/>
            <a:r>
              <a:rPr lang="en-GB" dirty="0"/>
              <a:t>o UX/UI Designer – interviews users, researches market data and gather findings to design the user interface. </a:t>
            </a:r>
          </a:p>
          <a:p>
            <a:pPr algn="l"/>
            <a:r>
              <a:rPr lang="en-GB" dirty="0"/>
              <a:t>o Software Developer/Engineer – uses the designs to create and maintain a working solution that is usable, secure and stable. o Operations Engineer – ensures the stability of the product. o Security Engineer – ensures the security of the product . </a:t>
            </a:r>
          </a:p>
          <a:p>
            <a:pPr algn="l"/>
            <a:r>
              <a:rPr lang="en-GB" dirty="0"/>
              <a:t>● Software testers – responsible for the quality assurance of the software and development.</a:t>
            </a:r>
            <a:endParaRPr lang="en-US" altLang="en-US" dirty="0"/>
          </a:p>
        </p:txBody>
      </p:sp>
      <p:sp>
        <p:nvSpPr>
          <p:cNvPr id="22532" name="Slide Number Placeholder 3">
            <a:extLst>
              <a:ext uri="{FF2B5EF4-FFF2-40B4-BE49-F238E27FC236}">
                <a16:creationId xmlns:a16="http://schemas.microsoft.com/office/drawing/2014/main" id="{0A8FF87A-17F0-495B-84DC-BE01DFCA672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C2B727B-AC5C-4821-A9E5-7D1C4DB9A03D}" type="slidenum">
              <a:rPr lang="en-GB" altLang="en-US" smtClean="0"/>
              <a:pPr>
                <a:spcBef>
                  <a:spcPct val="0"/>
                </a:spcBef>
              </a:pPr>
              <a:t>6</a:t>
            </a:fld>
            <a:endParaRPr lang="en-GB" altLang="en-US"/>
          </a:p>
        </p:txBody>
      </p:sp>
    </p:spTree>
    <p:extLst>
      <p:ext uri="{BB962C8B-B14F-4D97-AF65-F5344CB8AC3E}">
        <p14:creationId xmlns:p14="http://schemas.microsoft.com/office/powerpoint/2010/main" val="3896974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25CB5C41-EE88-4B52-9D7C-A0C1F3D05574}"/>
              </a:ext>
            </a:extLst>
          </p:cNvPr>
          <p:cNvSpPr>
            <a:spLocks noGrp="1" noRot="1" noChangeAspect="1" noChangeArrowheads="1" noTextEdit="1"/>
          </p:cNvSpPr>
          <p:nvPr>
            <p:ph type="sldImg"/>
          </p:nvPr>
        </p:nvSpPr>
        <p:spPr>
          <a:ln/>
        </p:spPr>
      </p:sp>
      <p:sp>
        <p:nvSpPr>
          <p:cNvPr id="22531" name="Notes Placeholder 2">
            <a:extLst>
              <a:ext uri="{FF2B5EF4-FFF2-40B4-BE49-F238E27FC236}">
                <a16:creationId xmlns:a16="http://schemas.microsoft.com/office/drawing/2014/main" id="{ACF0E361-681D-4879-80E8-FC51D379A20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GB" sz="1800" b="1" i="0" u="none" strike="noStrike" baseline="0" dirty="0">
                <a:latin typeface="OpenSans-Bold"/>
              </a:rPr>
              <a:t>Key features of Agile:</a:t>
            </a:r>
          </a:p>
          <a:p>
            <a:pPr algn="l"/>
            <a:r>
              <a:rPr lang="en-GB" sz="1800" b="0" i="0" u="none" strike="noStrike" baseline="0" dirty="0">
                <a:latin typeface="TimesNewRomanPSMT"/>
              </a:rPr>
              <a:t>● </a:t>
            </a:r>
            <a:r>
              <a:rPr lang="en-GB" sz="1800" b="0" i="0" u="none" strike="noStrike" baseline="0" dirty="0">
                <a:latin typeface="OpenSans"/>
              </a:rPr>
              <a:t>incremental delivery models:</a:t>
            </a:r>
          </a:p>
          <a:p>
            <a:pPr algn="l"/>
            <a:r>
              <a:rPr lang="en-GB" sz="1800" b="0" i="0" u="none" strike="noStrike" baseline="0" dirty="0">
                <a:latin typeface="CourierNewPSMT"/>
              </a:rPr>
              <a:t>o </a:t>
            </a:r>
            <a:r>
              <a:rPr lang="en-GB" sz="1800" b="0" i="0" u="none" strike="noStrike" baseline="0" dirty="0">
                <a:latin typeface="OpenSans"/>
              </a:rPr>
              <a:t>sprint</a:t>
            </a:r>
          </a:p>
          <a:p>
            <a:pPr algn="l"/>
            <a:r>
              <a:rPr lang="en-GB" sz="1800" b="0" i="0" u="none" strike="noStrike" baseline="0" dirty="0">
                <a:latin typeface="CourierNewPSMT"/>
              </a:rPr>
              <a:t>o </a:t>
            </a:r>
            <a:r>
              <a:rPr lang="en-GB" sz="1800" b="0" i="0" u="none" strike="noStrike" baseline="0" dirty="0">
                <a:latin typeface="OpenSans"/>
              </a:rPr>
              <a:t>epic</a:t>
            </a:r>
          </a:p>
          <a:p>
            <a:pPr algn="l"/>
            <a:r>
              <a:rPr lang="en-GB" sz="1800" b="0" i="0" u="none" strike="noStrike" baseline="0" dirty="0">
                <a:latin typeface="CourierNewPSMT"/>
              </a:rPr>
              <a:t>o </a:t>
            </a:r>
            <a:r>
              <a:rPr lang="en-GB" sz="1800" b="0" i="0" u="none" strike="noStrike" baseline="0" dirty="0">
                <a:latin typeface="OpenSans"/>
              </a:rPr>
              <a:t>story</a:t>
            </a:r>
          </a:p>
          <a:p>
            <a:pPr algn="l"/>
            <a:r>
              <a:rPr lang="en-GB" sz="1800" b="0" i="0" u="none" strike="noStrike" baseline="0" dirty="0">
                <a:latin typeface="CourierNewPSMT"/>
              </a:rPr>
              <a:t>o </a:t>
            </a:r>
            <a:r>
              <a:rPr lang="en-GB" sz="1800" b="0" i="0" u="none" strike="noStrike" baseline="0" dirty="0">
                <a:latin typeface="OpenSans"/>
              </a:rPr>
              <a:t>spikes.</a:t>
            </a:r>
          </a:p>
          <a:p>
            <a:pPr algn="l"/>
            <a:r>
              <a:rPr lang="en-GB" sz="1800" b="0" i="0" u="none" strike="noStrike" baseline="0" dirty="0">
                <a:latin typeface="TimesNewRomanPSMT"/>
              </a:rPr>
              <a:t>● </a:t>
            </a:r>
            <a:r>
              <a:rPr lang="en-GB" sz="1800" b="0" i="0" u="none" strike="noStrike" baseline="0" dirty="0">
                <a:latin typeface="OpenSans"/>
              </a:rPr>
              <a:t>emphasis on producing high-quality producing products with initially</a:t>
            </a:r>
          </a:p>
          <a:p>
            <a:pPr algn="l"/>
            <a:r>
              <a:rPr lang="en-GB" sz="1800" b="0" i="0" u="none" strike="noStrike" baseline="0" dirty="0">
                <a:latin typeface="OpenSans"/>
              </a:rPr>
              <a:t>limited functionality.</a:t>
            </a:r>
          </a:p>
          <a:p>
            <a:pPr algn="l"/>
            <a:r>
              <a:rPr lang="en-GB" sz="1800" b="0" i="0" u="none" strike="noStrike" baseline="0" dirty="0">
                <a:latin typeface="TimesNewRomanPSMT"/>
              </a:rPr>
              <a:t>● </a:t>
            </a:r>
            <a:r>
              <a:rPr lang="en-GB" sz="1800" b="0" i="0" u="none" strike="noStrike" baseline="0" dirty="0">
                <a:latin typeface="OpenSans"/>
              </a:rPr>
              <a:t>each increment delivers additional functionality.</a:t>
            </a:r>
          </a:p>
          <a:p>
            <a:pPr algn="l"/>
            <a:r>
              <a:rPr lang="en-GB" sz="1800" b="0" i="0" u="none" strike="noStrike" baseline="0" dirty="0">
                <a:latin typeface="TimesNewRomanPSMT"/>
              </a:rPr>
              <a:t>● </a:t>
            </a:r>
            <a:r>
              <a:rPr lang="en-GB" sz="1800" b="0" i="0" u="none" strike="noStrike" baseline="0" dirty="0">
                <a:latin typeface="OpenSans"/>
              </a:rPr>
              <a:t>requirements can be continually altered throughout the project.</a:t>
            </a:r>
          </a:p>
          <a:p>
            <a:pPr algn="l"/>
            <a:r>
              <a:rPr lang="en-GB" sz="1800" b="0" i="0" u="none" strike="noStrike" baseline="0" dirty="0">
                <a:latin typeface="TimesNewRomanPSMT"/>
              </a:rPr>
              <a:t>● </a:t>
            </a:r>
            <a:r>
              <a:rPr lang="en-GB" sz="1800" b="0" i="0" u="none" strike="noStrike" baseline="0" dirty="0">
                <a:latin typeface="OpenSans"/>
              </a:rPr>
              <a:t>can lack formal documentation.</a:t>
            </a:r>
          </a:p>
          <a:p>
            <a:pPr algn="l"/>
            <a:r>
              <a:rPr lang="en-GB" sz="1800" b="0" i="0" u="none" strike="noStrike" baseline="0" dirty="0">
                <a:latin typeface="TimesNewRomanPSMT"/>
              </a:rPr>
              <a:t>● </a:t>
            </a:r>
            <a:r>
              <a:rPr lang="en-GB" sz="1800" b="0" i="0" u="none" strike="noStrike" baseline="0" dirty="0">
                <a:latin typeface="OpenSans"/>
              </a:rPr>
              <a:t>users/clients see working products at each iteration.</a:t>
            </a:r>
          </a:p>
          <a:p>
            <a:pPr algn="l"/>
            <a:r>
              <a:rPr lang="en-GB" sz="1800" b="0" i="0" u="none" strike="noStrike" baseline="0" dirty="0">
                <a:latin typeface="TimesNewRomanPSMT"/>
              </a:rPr>
              <a:t>● </a:t>
            </a:r>
            <a:r>
              <a:rPr lang="en-GB" sz="1800" b="0" i="0" u="none" strike="noStrike" baseline="0" dirty="0">
                <a:latin typeface="OpenSans"/>
              </a:rPr>
              <a:t>cost effective method to get an initial product to market.</a:t>
            </a:r>
          </a:p>
          <a:p>
            <a:pPr algn="l"/>
            <a:r>
              <a:rPr lang="en-GB" sz="1800" b="0" i="0" u="none" strike="noStrike" baseline="0" dirty="0">
                <a:latin typeface="TimesNewRomanPSMT"/>
              </a:rPr>
              <a:t>● </a:t>
            </a:r>
            <a:r>
              <a:rPr lang="en-GB" sz="1800" b="0" i="0" u="none" strike="noStrike" baseline="0" dirty="0">
                <a:latin typeface="OpenSans"/>
              </a:rPr>
              <a:t>cancelled/partially completed projects will have still resulted in some</a:t>
            </a:r>
          </a:p>
          <a:p>
            <a:pPr algn="l"/>
            <a:r>
              <a:rPr lang="en-GB" sz="1800" b="0" i="0" u="none" strike="noStrike" baseline="0" dirty="0">
                <a:latin typeface="OpenSans"/>
              </a:rPr>
              <a:t>useable code/product(s).</a:t>
            </a:r>
            <a:endParaRPr lang="en-GB" altLang="en-US" sz="1800" b="0" i="0" u="none" strike="noStrike" baseline="0" dirty="0">
              <a:latin typeface="OpenSans"/>
            </a:endParaRPr>
          </a:p>
          <a:p>
            <a:pPr algn="l"/>
            <a:r>
              <a:rPr lang="en-GB" sz="1800" b="0" i="0" u="none" strike="noStrike" baseline="0" dirty="0">
                <a:latin typeface="OpenSans"/>
              </a:rPr>
              <a:t>altered throughout the project.</a:t>
            </a:r>
          </a:p>
          <a:p>
            <a:pPr algn="l"/>
            <a:r>
              <a:rPr lang="en-GB" sz="1800" b="0" i="0" u="none" strike="noStrike" baseline="0" dirty="0">
                <a:latin typeface="TimesNewRomanPSMT"/>
              </a:rPr>
              <a:t>● </a:t>
            </a:r>
            <a:r>
              <a:rPr lang="en-GB" sz="1800" b="0" i="0" u="none" strike="noStrike" baseline="0" dirty="0">
                <a:latin typeface="OpenSans"/>
              </a:rPr>
              <a:t>provides cohesive reporting.</a:t>
            </a:r>
          </a:p>
          <a:p>
            <a:pPr algn="l"/>
            <a:r>
              <a:rPr lang="en-GB" sz="1800" b="0" i="0" u="none" strike="noStrike" baseline="0" dirty="0">
                <a:latin typeface="TimesNewRomanPSMT"/>
              </a:rPr>
              <a:t>● </a:t>
            </a:r>
            <a:r>
              <a:rPr lang="en-GB" sz="1800" b="0" i="0" u="none" strike="noStrike" baseline="0" dirty="0">
                <a:latin typeface="OpenSans"/>
              </a:rPr>
              <a:t>users/clients see working products at each iteration.</a:t>
            </a:r>
          </a:p>
          <a:p>
            <a:pPr algn="l"/>
            <a:r>
              <a:rPr lang="en-GB" sz="1800" b="0" i="0" u="none" strike="noStrike" baseline="0" dirty="0">
                <a:latin typeface="TimesNewRomanPSMT"/>
              </a:rPr>
              <a:t>● </a:t>
            </a:r>
            <a:r>
              <a:rPr lang="en-GB" sz="1800" b="0" i="0" u="none" strike="noStrike" baseline="0" dirty="0">
                <a:latin typeface="OpenSans"/>
              </a:rPr>
              <a:t>cost effective method to get an initial product to market.</a:t>
            </a:r>
          </a:p>
          <a:p>
            <a:pPr algn="l"/>
            <a:r>
              <a:rPr lang="en-GB" sz="1800" b="0" i="0" u="none" strike="noStrike" baseline="0" dirty="0">
                <a:latin typeface="TimesNewRomanPSMT"/>
              </a:rPr>
              <a:t>● </a:t>
            </a:r>
            <a:r>
              <a:rPr lang="en-GB" sz="1800" b="0" i="0" u="none" strike="noStrike" baseline="0" dirty="0">
                <a:latin typeface="OpenSans"/>
              </a:rPr>
              <a:t>cancelled/partially completed projects will have still resulted in some</a:t>
            </a:r>
          </a:p>
          <a:p>
            <a:pPr algn="l"/>
            <a:r>
              <a:rPr lang="en-GB" sz="1800" b="0" i="0" u="none" strike="noStrike" baseline="0" dirty="0">
                <a:latin typeface="OpenSans"/>
              </a:rPr>
              <a:t>useable code/product(s).</a:t>
            </a:r>
          </a:p>
          <a:p>
            <a:pPr algn="l"/>
            <a:r>
              <a:rPr lang="en-GB" sz="1800" b="0" i="0" u="none" strike="noStrike" baseline="0" dirty="0">
                <a:latin typeface="TimesNewRomanPSMT"/>
              </a:rPr>
              <a:t>● </a:t>
            </a:r>
            <a:r>
              <a:rPr lang="en-GB" sz="1800" b="0" i="0" u="none" strike="noStrike" baseline="0" dirty="0">
                <a:latin typeface="OpenSans"/>
              </a:rPr>
              <a:t>final iteration focuses on stability.</a:t>
            </a:r>
          </a:p>
          <a:p>
            <a:pPr algn="l"/>
            <a:r>
              <a:rPr lang="en-GB" sz="1800" b="1" i="0" u="none" strike="noStrike" baseline="0" dirty="0">
                <a:latin typeface="OpenSans-Bold"/>
              </a:rPr>
              <a:t>Key features of waterfall:</a:t>
            </a:r>
          </a:p>
          <a:p>
            <a:pPr algn="l"/>
            <a:r>
              <a:rPr lang="en-GB" sz="1800" b="0" i="0" u="none" strike="noStrike" baseline="0" dirty="0">
                <a:latin typeface="TimesNewRomanPSMT"/>
              </a:rPr>
              <a:t>● </a:t>
            </a:r>
            <a:r>
              <a:rPr lang="en-GB" sz="1800" b="0" i="0" u="none" strike="noStrike" baseline="0" dirty="0">
                <a:latin typeface="OpenSans"/>
              </a:rPr>
              <a:t>rigidly structured with systematic steps.</a:t>
            </a:r>
          </a:p>
          <a:p>
            <a:pPr algn="l"/>
            <a:r>
              <a:rPr lang="en-GB" sz="1800" b="0" i="0" u="none" strike="noStrike" baseline="0" dirty="0">
                <a:latin typeface="TimesNewRomanPSMT"/>
              </a:rPr>
              <a:t>● </a:t>
            </a:r>
            <a:r>
              <a:rPr lang="en-GB" sz="1800" b="0" i="0" u="none" strike="noStrike" baseline="0" dirty="0">
                <a:latin typeface="OpenSans"/>
              </a:rPr>
              <a:t>progress measured through the number of artefacts completed.</a:t>
            </a:r>
          </a:p>
          <a:p>
            <a:pPr algn="l"/>
            <a:r>
              <a:rPr lang="en-GB" sz="1800" b="0" i="0" u="none" strike="noStrike" baseline="0" dirty="0">
                <a:latin typeface="TimesNewRomanPSMT"/>
              </a:rPr>
              <a:t>● </a:t>
            </a:r>
            <a:r>
              <a:rPr lang="en-GB" sz="1800" b="0" i="0" u="none" strike="noStrike" baseline="0" dirty="0">
                <a:latin typeface="OpenSans"/>
              </a:rPr>
              <a:t>high initial costs with slower return on investment.</a:t>
            </a:r>
          </a:p>
          <a:p>
            <a:pPr algn="l"/>
            <a:r>
              <a:rPr lang="en-GB" sz="1800" b="0" i="0" u="none" strike="noStrike" baseline="0" dirty="0">
                <a:latin typeface="TimesNewRomanPSMT"/>
              </a:rPr>
              <a:t>● </a:t>
            </a:r>
            <a:r>
              <a:rPr lang="en-GB" sz="1800" b="0" i="0" u="none" strike="noStrike" baseline="0" dirty="0">
                <a:latin typeface="OpenSans"/>
              </a:rPr>
              <a:t>products cancelled during early stages may result in no useable</a:t>
            </a:r>
          </a:p>
          <a:p>
            <a:pPr algn="l"/>
            <a:r>
              <a:rPr lang="en-GB" sz="1800" b="0" i="0" u="none" strike="noStrike" baseline="0" dirty="0">
                <a:latin typeface="OpenSans"/>
              </a:rPr>
              <a:t>code/product(s).</a:t>
            </a:r>
          </a:p>
          <a:p>
            <a:pPr algn="l"/>
            <a:r>
              <a:rPr lang="en-GB" sz="1800" b="0" i="0" u="none" strike="noStrike" baseline="0" dirty="0">
                <a:latin typeface="TimesNewRomanPSMT"/>
              </a:rPr>
              <a:t>● </a:t>
            </a:r>
            <a:r>
              <a:rPr lang="en-GB" sz="1800" b="0" i="0" u="none" strike="noStrike" baseline="0" dirty="0">
                <a:latin typeface="OpenSans"/>
              </a:rPr>
              <a:t>limited user/client interaction.</a:t>
            </a:r>
          </a:p>
          <a:p>
            <a:pPr algn="l"/>
            <a:r>
              <a:rPr lang="en-GB" sz="1800" b="0" i="0" u="none" strike="noStrike" baseline="0" dirty="0">
                <a:latin typeface="TimesNewRomanPSMT"/>
              </a:rPr>
              <a:t>● </a:t>
            </a:r>
            <a:r>
              <a:rPr lang="en-GB" sz="1800" b="0" i="0" u="none" strike="noStrike" baseline="0" dirty="0">
                <a:latin typeface="OpenSans"/>
              </a:rPr>
              <a:t>high importance placed on documentation.</a:t>
            </a:r>
          </a:p>
          <a:p>
            <a:pPr algn="l"/>
            <a:r>
              <a:rPr lang="en-GB" sz="1800" b="1" i="0" u="none" strike="noStrike" baseline="0" dirty="0">
                <a:latin typeface="OpenSans-Bold"/>
              </a:rPr>
              <a:t>Key features of Rapid Application Development (RAD):</a:t>
            </a:r>
          </a:p>
          <a:p>
            <a:pPr algn="l"/>
            <a:r>
              <a:rPr lang="en-GB" sz="1800" b="0" i="0" u="none" strike="noStrike" baseline="0" dirty="0">
                <a:latin typeface="TimesNewRomanPSMT"/>
              </a:rPr>
              <a:t>● </a:t>
            </a:r>
            <a:r>
              <a:rPr lang="en-GB" sz="1800" b="0" i="0" u="none" strike="noStrike" baseline="0" dirty="0">
                <a:latin typeface="OpenSans"/>
              </a:rPr>
              <a:t>focus on quick creation of prototypes which are systematically improved</a:t>
            </a:r>
          </a:p>
          <a:p>
            <a:pPr algn="l"/>
            <a:r>
              <a:rPr lang="en-GB" sz="1800" b="0" i="0" u="none" strike="noStrike" baseline="0" dirty="0">
                <a:latin typeface="TimesNewRomanPSMT"/>
              </a:rPr>
              <a:t>● </a:t>
            </a:r>
            <a:r>
              <a:rPr lang="en-GB" sz="1800" b="0" i="0" u="none" strike="noStrike" baseline="0" dirty="0">
                <a:latin typeface="OpenSans"/>
              </a:rPr>
              <a:t>emphasis on developing all features first and quality second</a:t>
            </a:r>
          </a:p>
          <a:p>
            <a:pPr algn="l"/>
            <a:r>
              <a:rPr lang="en-GB" sz="1800" b="0" i="0" u="none" strike="noStrike" baseline="0" dirty="0">
                <a:latin typeface="TimesNewRomanPSMT"/>
              </a:rPr>
              <a:t>● </a:t>
            </a:r>
            <a:r>
              <a:rPr lang="en-GB" sz="1800" b="0" i="0" u="none" strike="noStrike" baseline="0" dirty="0">
                <a:latin typeface="OpenSans"/>
              </a:rPr>
              <a:t>users/clients may see only partially working products or </a:t>
            </a:r>
            <a:r>
              <a:rPr lang="en-GB" sz="1800" b="0" i="0" u="none" strike="noStrike" baseline="0" dirty="0" err="1">
                <a:latin typeface="OpenSans"/>
              </a:rPr>
              <a:t>mockups</a:t>
            </a:r>
            <a:r>
              <a:rPr lang="en-GB" sz="1800" b="0" i="0" u="none" strike="noStrike" baseline="0" dirty="0">
                <a:latin typeface="OpenSans"/>
              </a:rPr>
              <a:t> during</a:t>
            </a:r>
          </a:p>
          <a:p>
            <a:pPr algn="l"/>
            <a:r>
              <a:rPr lang="en-GB" sz="1800" b="0" i="0" u="none" strike="noStrike" baseline="0" dirty="0">
                <a:latin typeface="OpenSans"/>
              </a:rPr>
              <a:t>early iterations</a:t>
            </a:r>
          </a:p>
          <a:p>
            <a:pPr algn="l"/>
            <a:r>
              <a:rPr lang="en-GB" sz="1800" b="0" i="0" u="none" strike="noStrike" baseline="0" dirty="0">
                <a:latin typeface="TimesNewRomanPSMT"/>
              </a:rPr>
              <a:t>● </a:t>
            </a:r>
            <a:r>
              <a:rPr lang="en-GB" sz="1800" b="0" i="0" u="none" strike="noStrike" baseline="0" dirty="0">
                <a:latin typeface="OpenSans"/>
              </a:rPr>
              <a:t>relies heavily on reuse of previously developed code</a:t>
            </a:r>
          </a:p>
          <a:p>
            <a:pPr algn="l"/>
            <a:r>
              <a:rPr lang="en-GB" sz="1800" b="0" i="0" u="none" strike="noStrike" baseline="0" dirty="0">
                <a:latin typeface="TimesNewRomanPSMT"/>
              </a:rPr>
              <a:t>● </a:t>
            </a:r>
            <a:r>
              <a:rPr lang="en-GB" sz="1800" b="0" i="0" u="none" strike="noStrike" baseline="0" dirty="0">
                <a:latin typeface="OpenSans"/>
              </a:rPr>
              <a:t>suitable for small to medium scale projects</a:t>
            </a:r>
          </a:p>
          <a:p>
            <a:pPr algn="l"/>
            <a:endParaRPr lang="en-GB" altLang="en-US" sz="1800" b="0" i="0" u="none" strike="noStrike" baseline="0" dirty="0">
              <a:latin typeface="OpenSans"/>
            </a:endParaRPr>
          </a:p>
          <a:p>
            <a:pPr algn="l"/>
            <a:r>
              <a:rPr lang="en-GB" sz="1800" b="1" i="0" u="none" strike="noStrike" baseline="0" dirty="0">
                <a:latin typeface="OpenSans-Bold"/>
              </a:rPr>
              <a:t>Key Features of LEAN:</a:t>
            </a:r>
          </a:p>
          <a:p>
            <a:pPr algn="l"/>
            <a:r>
              <a:rPr lang="en-GB" sz="1800" b="0" i="0" u="none" strike="noStrike" baseline="0" dirty="0">
                <a:latin typeface="TimesNewRomanPSMT"/>
              </a:rPr>
              <a:t>● </a:t>
            </a:r>
            <a:r>
              <a:rPr lang="en-GB" sz="1800" b="0" i="0" u="none" strike="noStrike" baseline="0" dirty="0">
                <a:latin typeface="OpenSans"/>
              </a:rPr>
              <a:t>emphasis on reducing ‘waste’ in software (and projects) which may</a:t>
            </a:r>
          </a:p>
          <a:p>
            <a:pPr algn="l"/>
            <a:r>
              <a:rPr lang="en-GB" sz="1800" b="0" i="0" u="none" strike="noStrike" baseline="0" dirty="0">
                <a:latin typeface="OpenSans"/>
              </a:rPr>
              <a:t>include:</a:t>
            </a:r>
          </a:p>
          <a:p>
            <a:pPr algn="l"/>
            <a:r>
              <a:rPr lang="en-GB" sz="1800" b="0" i="0" u="none" strike="noStrike" baseline="0" dirty="0">
                <a:latin typeface="CourierNewPSMT"/>
              </a:rPr>
              <a:t>o </a:t>
            </a:r>
            <a:r>
              <a:rPr lang="en-GB" sz="1800" b="0" i="0" u="none" strike="noStrike" baseline="0" dirty="0">
                <a:latin typeface="OpenSans"/>
              </a:rPr>
              <a:t>unnecessary or incorrect features</a:t>
            </a:r>
          </a:p>
          <a:p>
            <a:pPr algn="l"/>
            <a:r>
              <a:rPr lang="en-GB" sz="1800" b="0" i="0" u="none" strike="noStrike" baseline="0" dirty="0">
                <a:latin typeface="CourierNewPSMT"/>
              </a:rPr>
              <a:t>o </a:t>
            </a:r>
            <a:r>
              <a:rPr lang="en-GB" sz="1800" b="0" i="0" u="none" strike="noStrike" baseline="0" dirty="0">
                <a:latin typeface="OpenSans"/>
              </a:rPr>
              <a:t>repeated tasks</a:t>
            </a:r>
          </a:p>
          <a:p>
            <a:pPr algn="l"/>
            <a:r>
              <a:rPr lang="en-GB" sz="1800" b="0" i="0" u="none" strike="noStrike" baseline="0" dirty="0">
                <a:latin typeface="CourierNewPSMT"/>
              </a:rPr>
              <a:t>o </a:t>
            </a:r>
            <a:r>
              <a:rPr lang="en-GB" sz="1800" b="0" i="0" u="none" strike="noStrike" baseline="0" dirty="0">
                <a:latin typeface="OpenSans"/>
              </a:rPr>
              <a:t>unnecessarily complex solutions</a:t>
            </a:r>
          </a:p>
          <a:p>
            <a:pPr algn="l"/>
            <a:r>
              <a:rPr lang="en-GB" sz="1800" b="0" i="0" u="none" strike="noStrike" baseline="0" dirty="0">
                <a:latin typeface="CourierNewPSMT"/>
              </a:rPr>
              <a:t>o </a:t>
            </a:r>
            <a:r>
              <a:rPr lang="en-GB" sz="1800" b="0" i="0" u="none" strike="noStrike" baseline="0" dirty="0">
                <a:latin typeface="OpenSans"/>
              </a:rPr>
              <a:t>ineffective communication</a:t>
            </a:r>
          </a:p>
          <a:p>
            <a:pPr algn="l"/>
            <a:r>
              <a:rPr lang="en-GB" sz="1800" b="0" i="0" u="none" strike="noStrike" baseline="0" dirty="0">
                <a:latin typeface="CourierNewPSMT"/>
              </a:rPr>
              <a:t>o </a:t>
            </a:r>
            <a:r>
              <a:rPr lang="en-GB" sz="1800" b="0" i="0" u="none" strike="noStrike" baseline="0" dirty="0">
                <a:latin typeface="OpenSans"/>
              </a:rPr>
              <a:t>unnecessary changes.</a:t>
            </a:r>
          </a:p>
          <a:p>
            <a:pPr algn="l"/>
            <a:r>
              <a:rPr lang="en-GB" sz="1800" b="0" i="0" u="none" strike="noStrike" baseline="0" dirty="0">
                <a:latin typeface="TimesNewRomanPSMT"/>
              </a:rPr>
              <a:t>● </a:t>
            </a:r>
            <a:r>
              <a:rPr lang="en-GB" sz="1800" b="0" i="0" u="none" strike="noStrike" baseline="0" dirty="0">
                <a:latin typeface="OpenSans"/>
              </a:rPr>
              <a:t>decisions are made last minute to reduce chance of waste.</a:t>
            </a:r>
          </a:p>
          <a:p>
            <a:pPr algn="l"/>
            <a:r>
              <a:rPr lang="en-GB" sz="1800" b="0" i="0" u="none" strike="noStrike" baseline="0" dirty="0">
                <a:latin typeface="TimesNewRomanPSMT"/>
              </a:rPr>
              <a:t>● </a:t>
            </a:r>
            <a:r>
              <a:rPr lang="en-GB" sz="1800" b="0" i="0" u="none" strike="noStrike" baseline="0" dirty="0">
                <a:latin typeface="OpenSans"/>
              </a:rPr>
              <a:t>short iteration cycles with fast delivery of working versions.</a:t>
            </a:r>
          </a:p>
          <a:p>
            <a:pPr algn="l"/>
            <a:r>
              <a:rPr lang="en-GB" sz="1800" b="0" i="0" u="none" strike="noStrike" baseline="0" dirty="0">
                <a:latin typeface="TimesNewRomanPSMT"/>
              </a:rPr>
              <a:t>● </a:t>
            </a:r>
            <a:r>
              <a:rPr lang="en-GB" sz="1800" b="0" i="0" u="none" strike="noStrike" baseline="0" dirty="0">
                <a:latin typeface="OpenSans"/>
              </a:rPr>
              <a:t>emphasis placed on producing iterations that are fit for use and not</a:t>
            </a:r>
          </a:p>
          <a:p>
            <a:pPr algn="l"/>
            <a:r>
              <a:rPr lang="en-GB" sz="1800" b="0" i="0" u="none" strike="noStrike" baseline="0" dirty="0">
                <a:latin typeface="OpenSans"/>
              </a:rPr>
              <a:t>specifically in delivering all features or requirements.</a:t>
            </a:r>
          </a:p>
          <a:p>
            <a:pPr algn="l"/>
            <a:r>
              <a:rPr lang="en-GB" sz="1800" b="0" i="0" u="none" strike="noStrike" baseline="0" dirty="0">
                <a:latin typeface="TimesNewRomanPSMT"/>
              </a:rPr>
              <a:t>● </a:t>
            </a:r>
            <a:r>
              <a:rPr lang="en-GB" sz="1800" b="0" i="0" u="none" strike="noStrike" baseline="0" dirty="0">
                <a:latin typeface="OpenSans"/>
              </a:rPr>
              <a:t>suitable for projects with small teams and when resources are limited.</a:t>
            </a:r>
          </a:p>
          <a:p>
            <a:pPr algn="l"/>
            <a:r>
              <a:rPr lang="en-GB" sz="1800" b="0" i="0" u="none" strike="noStrike" baseline="0" dirty="0">
                <a:latin typeface="TimesNewRomanPSMT"/>
              </a:rPr>
              <a:t>● </a:t>
            </a:r>
            <a:r>
              <a:rPr lang="en-GB" sz="1800" b="0" i="0" u="none" strike="noStrike" baseline="0" dirty="0">
                <a:latin typeface="OpenSans"/>
              </a:rPr>
              <a:t>understand features and approaches of User </a:t>
            </a:r>
            <a:r>
              <a:rPr lang="en-GB" sz="1800" b="0" i="0" u="none" strike="noStrike" baseline="0" dirty="0" err="1">
                <a:latin typeface="OpenSans"/>
              </a:rPr>
              <a:t>Centered</a:t>
            </a:r>
            <a:r>
              <a:rPr lang="en-GB" sz="1800" b="0" i="0" u="none" strike="noStrike" baseline="0" dirty="0">
                <a:latin typeface="OpenSans"/>
              </a:rPr>
              <a:t> Design (UCD)</a:t>
            </a:r>
          </a:p>
          <a:p>
            <a:pPr algn="l"/>
            <a:r>
              <a:rPr lang="en-GB" sz="1800" b="0" i="0" u="none" strike="noStrike" baseline="0" dirty="0">
                <a:latin typeface="OpenSans"/>
              </a:rPr>
              <a:t>and how it is used within a software development lifecycle:</a:t>
            </a:r>
          </a:p>
          <a:p>
            <a:pPr algn="l"/>
            <a:r>
              <a:rPr lang="en-GB" sz="1800" b="0" i="0" u="none" strike="noStrike" baseline="0" dirty="0">
                <a:latin typeface="CourierNewPSMT"/>
              </a:rPr>
              <a:t>o </a:t>
            </a:r>
            <a:r>
              <a:rPr lang="en-GB" sz="1800" b="0" i="0" u="none" strike="noStrike" baseline="0" dirty="0">
                <a:latin typeface="OpenSans"/>
              </a:rPr>
              <a:t>considerations for UCD:</a:t>
            </a:r>
          </a:p>
          <a:p>
            <a:pPr algn="l"/>
            <a:r>
              <a:rPr lang="en-GB" sz="1800" b="0" i="0" u="none" strike="noStrike" baseline="0" dirty="0">
                <a:latin typeface="OpenSans"/>
              </a:rPr>
              <a:t>– Who is the user?</a:t>
            </a:r>
          </a:p>
          <a:p>
            <a:pPr algn="l"/>
            <a:r>
              <a:rPr lang="en-GB" sz="1800" b="0" i="0" u="none" strike="noStrike" baseline="0" dirty="0">
                <a:latin typeface="OpenSans"/>
              </a:rPr>
              <a:t>– What does the user want to achieve by using the product?</a:t>
            </a:r>
          </a:p>
          <a:p>
            <a:pPr algn="l"/>
            <a:r>
              <a:rPr lang="en-GB" sz="1800" b="0" i="0" u="none" strike="noStrike" baseline="0" dirty="0">
                <a:latin typeface="OpenSans"/>
              </a:rPr>
              <a:t>– How does the user interact with the product?</a:t>
            </a:r>
          </a:p>
          <a:p>
            <a:pPr algn="l"/>
            <a:r>
              <a:rPr lang="en-GB" sz="1800" b="0" i="0" u="none" strike="noStrike" baseline="0" dirty="0">
                <a:latin typeface="OpenSans"/>
              </a:rPr>
              <a:t>– When does the user interact with the product?</a:t>
            </a:r>
          </a:p>
          <a:p>
            <a:pPr algn="l"/>
            <a:r>
              <a:rPr lang="en-GB" sz="1800" b="0" i="0" u="none" strike="noStrike" baseline="0" dirty="0">
                <a:latin typeface="OpenSans"/>
              </a:rPr>
              <a:t>– Why is the product being used?</a:t>
            </a:r>
          </a:p>
          <a:p>
            <a:pPr algn="l"/>
            <a:r>
              <a:rPr lang="en-GB" sz="1800" b="0" i="0" u="none" strike="noStrike" baseline="0" dirty="0">
                <a:latin typeface="OpenSans"/>
              </a:rPr>
              <a:t>– What is the user experience?</a:t>
            </a:r>
          </a:p>
          <a:p>
            <a:pPr algn="l"/>
            <a:r>
              <a:rPr lang="en-GB" sz="1800" b="0" i="0" u="none" strike="noStrike" baseline="0" dirty="0">
                <a:latin typeface="CourierNewPSMT"/>
              </a:rPr>
              <a:t>o </a:t>
            </a:r>
            <a:r>
              <a:rPr lang="en-GB" sz="1800" b="0" i="0" u="none" strike="noStrike" baseline="0" dirty="0">
                <a:latin typeface="OpenSans"/>
              </a:rPr>
              <a:t>Characteristics of UCD (empathetic, iterative, interdisciplinary)</a:t>
            </a:r>
          </a:p>
          <a:p>
            <a:pPr algn="l"/>
            <a:r>
              <a:rPr lang="en-GB" sz="1800" b="0" i="0" u="none" strike="noStrike" baseline="0" dirty="0">
                <a:latin typeface="CourierNewPSMT"/>
              </a:rPr>
              <a:t>o </a:t>
            </a:r>
            <a:r>
              <a:rPr lang="en-GB" sz="1800" b="0" i="0" u="none" strike="noStrike" baseline="0" dirty="0">
                <a:latin typeface="OpenSans"/>
              </a:rPr>
              <a:t>Stages of the UCD iterative approach:</a:t>
            </a:r>
          </a:p>
          <a:p>
            <a:pPr algn="l"/>
            <a:r>
              <a:rPr lang="en-GB" sz="1800" b="0" i="0" u="none" strike="noStrike" baseline="0" dirty="0">
                <a:latin typeface="OpenSans"/>
              </a:rPr>
              <a:t>– understand the use context</a:t>
            </a:r>
          </a:p>
          <a:p>
            <a:pPr algn="l"/>
            <a:r>
              <a:rPr lang="en-GB" sz="1800" b="0" i="0" u="none" strike="noStrike" baseline="0" dirty="0">
                <a:latin typeface="OpenSans"/>
              </a:rPr>
              <a:t>– specify the user requirements</a:t>
            </a:r>
          </a:p>
          <a:p>
            <a:pPr algn="l"/>
            <a:r>
              <a:rPr lang="en-GB" sz="1800" b="0" i="0" u="none" strike="noStrike" baseline="0" dirty="0">
                <a:latin typeface="OpenSans"/>
              </a:rPr>
              <a:t>– design the solution</a:t>
            </a:r>
          </a:p>
          <a:p>
            <a:pPr algn="l"/>
            <a:r>
              <a:rPr lang="en-GB" sz="1800" b="0" i="0" u="none" strike="noStrike" baseline="0" dirty="0">
                <a:latin typeface="OpenSans"/>
              </a:rPr>
              <a:t>– assess against requirements.</a:t>
            </a:r>
            <a:endParaRPr lang="en-US" altLang="en-US" dirty="0"/>
          </a:p>
        </p:txBody>
      </p:sp>
      <p:sp>
        <p:nvSpPr>
          <p:cNvPr id="22532" name="Slide Number Placeholder 3">
            <a:extLst>
              <a:ext uri="{FF2B5EF4-FFF2-40B4-BE49-F238E27FC236}">
                <a16:creationId xmlns:a16="http://schemas.microsoft.com/office/drawing/2014/main" id="{0A8FF87A-17F0-495B-84DC-BE01DFCA672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C2B727B-AC5C-4821-A9E5-7D1C4DB9A03D}" type="slidenum">
              <a:rPr lang="en-GB" altLang="en-US" smtClean="0"/>
              <a:pPr>
                <a:spcBef>
                  <a:spcPct val="0"/>
                </a:spcBef>
              </a:pPr>
              <a:t>7</a:t>
            </a:fld>
            <a:endParaRPr lang="en-GB" altLang="en-US"/>
          </a:p>
        </p:txBody>
      </p:sp>
    </p:spTree>
    <p:extLst>
      <p:ext uri="{BB962C8B-B14F-4D97-AF65-F5344CB8AC3E}">
        <p14:creationId xmlns:p14="http://schemas.microsoft.com/office/powerpoint/2010/main" val="39553518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25CB5C41-EE88-4B52-9D7C-A0C1F3D05574}"/>
              </a:ext>
            </a:extLst>
          </p:cNvPr>
          <p:cNvSpPr>
            <a:spLocks noGrp="1" noRot="1" noChangeAspect="1" noChangeArrowheads="1" noTextEdit="1"/>
          </p:cNvSpPr>
          <p:nvPr>
            <p:ph type="sldImg"/>
          </p:nvPr>
        </p:nvSpPr>
        <p:spPr>
          <a:ln/>
        </p:spPr>
      </p:sp>
      <p:sp>
        <p:nvSpPr>
          <p:cNvPr id="22531" name="Notes Placeholder 2">
            <a:extLst>
              <a:ext uri="{FF2B5EF4-FFF2-40B4-BE49-F238E27FC236}">
                <a16:creationId xmlns:a16="http://schemas.microsoft.com/office/drawing/2014/main" id="{ACF0E361-681D-4879-80E8-FC51D379A20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GB" dirty="0"/>
              <a:t>An understanding of the concept of ‘secure by design’ and how this influences the decisions made regarding functional and non-functional requirements. </a:t>
            </a:r>
          </a:p>
          <a:p>
            <a:pPr algn="l"/>
            <a:r>
              <a:rPr lang="en-GB" dirty="0"/>
              <a:t>An understanding of and ability to define functional requirements of a software solution: </a:t>
            </a:r>
          </a:p>
          <a:p>
            <a:pPr algn="l"/>
            <a:r>
              <a:rPr lang="en-GB" dirty="0"/>
              <a:t>● the inputs required </a:t>
            </a:r>
          </a:p>
          <a:p>
            <a:pPr algn="l"/>
            <a:r>
              <a:rPr lang="en-GB" dirty="0"/>
              <a:t>● the data needed </a:t>
            </a:r>
          </a:p>
          <a:p>
            <a:pPr algn="l"/>
            <a:r>
              <a:rPr lang="en-GB" dirty="0"/>
              <a:t>● the data processing that must take place </a:t>
            </a:r>
          </a:p>
          <a:p>
            <a:pPr algn="l"/>
            <a:r>
              <a:rPr lang="en-GB" dirty="0"/>
              <a:t>● the logic of the system </a:t>
            </a:r>
          </a:p>
          <a:p>
            <a:pPr algn="l"/>
            <a:r>
              <a:rPr lang="en-GB" dirty="0"/>
              <a:t>● the deployment and usage platforms for the software. </a:t>
            </a:r>
          </a:p>
          <a:p>
            <a:pPr algn="l"/>
            <a:endParaRPr lang="en-GB" dirty="0"/>
          </a:p>
          <a:p>
            <a:pPr algn="l"/>
            <a:r>
              <a:rPr lang="en-GB" dirty="0"/>
              <a:t>An understanding of and ability to define non-functional requirements of a software solution in terms of: </a:t>
            </a:r>
          </a:p>
          <a:p>
            <a:pPr algn="l"/>
            <a:r>
              <a:rPr lang="en-GB" dirty="0"/>
              <a:t>● security considerations </a:t>
            </a:r>
          </a:p>
          <a:p>
            <a:pPr algn="l"/>
            <a:r>
              <a:rPr lang="en-GB" dirty="0"/>
              <a:t>● required accessibility features </a:t>
            </a:r>
          </a:p>
          <a:p>
            <a:pPr algn="l"/>
            <a:r>
              <a:rPr lang="en-GB" dirty="0"/>
              <a:t>● scalability requirements </a:t>
            </a:r>
          </a:p>
          <a:p>
            <a:pPr algn="l"/>
            <a:r>
              <a:rPr lang="en-GB" dirty="0"/>
              <a:t>● key performance indicators and metrics in relation to: </a:t>
            </a:r>
          </a:p>
          <a:p>
            <a:pPr algn="l"/>
            <a:r>
              <a:rPr lang="en-GB" dirty="0"/>
              <a:t>o responsiveness </a:t>
            </a:r>
          </a:p>
          <a:p>
            <a:pPr algn="l"/>
            <a:r>
              <a:rPr lang="en-GB" dirty="0"/>
              <a:t>o load handling </a:t>
            </a:r>
          </a:p>
          <a:p>
            <a:pPr algn="l"/>
            <a:r>
              <a:rPr lang="en-GB" dirty="0"/>
              <a:t>o reliability </a:t>
            </a:r>
          </a:p>
          <a:p>
            <a:pPr algn="l"/>
            <a:r>
              <a:rPr lang="en-GB"/>
              <a:t>● </a:t>
            </a:r>
            <a:r>
              <a:rPr lang="en-GB" dirty="0"/>
              <a:t>user acceptance criteria</a:t>
            </a:r>
            <a:r>
              <a:rPr lang="en-GB"/>
              <a:t>. </a:t>
            </a:r>
          </a:p>
          <a:p>
            <a:pPr algn="l"/>
            <a:r>
              <a:rPr lang="en-GB"/>
              <a:t>Understand </a:t>
            </a:r>
            <a:r>
              <a:rPr lang="en-GB" dirty="0"/>
              <a:t>the use of ‘spike testing’ as an early product-testing method to establish requirements and determine the extent of the problem and the required scope of a software solution. </a:t>
            </a:r>
            <a:endParaRPr lang="en-US" altLang="en-US" dirty="0"/>
          </a:p>
        </p:txBody>
      </p:sp>
      <p:sp>
        <p:nvSpPr>
          <p:cNvPr id="22532" name="Slide Number Placeholder 3">
            <a:extLst>
              <a:ext uri="{FF2B5EF4-FFF2-40B4-BE49-F238E27FC236}">
                <a16:creationId xmlns:a16="http://schemas.microsoft.com/office/drawing/2014/main" id="{0A8FF87A-17F0-495B-84DC-BE01DFCA672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C2B727B-AC5C-4821-A9E5-7D1C4DB9A03D}" type="slidenum">
              <a:rPr lang="en-GB" altLang="en-US" smtClean="0"/>
              <a:pPr>
                <a:spcBef>
                  <a:spcPct val="0"/>
                </a:spcBef>
              </a:pPr>
              <a:t>8</a:t>
            </a:fld>
            <a:endParaRPr lang="en-GB" altLang="en-US"/>
          </a:p>
        </p:txBody>
      </p:sp>
    </p:spTree>
    <p:extLst>
      <p:ext uri="{BB962C8B-B14F-4D97-AF65-F5344CB8AC3E}">
        <p14:creationId xmlns:p14="http://schemas.microsoft.com/office/powerpoint/2010/main" val="29579088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25CB5C41-EE88-4B52-9D7C-A0C1F3D05574}"/>
              </a:ext>
            </a:extLst>
          </p:cNvPr>
          <p:cNvSpPr>
            <a:spLocks noGrp="1" noRot="1" noChangeAspect="1" noChangeArrowheads="1" noTextEdit="1"/>
          </p:cNvSpPr>
          <p:nvPr>
            <p:ph type="sldImg"/>
          </p:nvPr>
        </p:nvSpPr>
        <p:spPr>
          <a:ln/>
        </p:spPr>
      </p:sp>
      <p:sp>
        <p:nvSpPr>
          <p:cNvPr id="22531" name="Notes Placeholder 2">
            <a:extLst>
              <a:ext uri="{FF2B5EF4-FFF2-40B4-BE49-F238E27FC236}">
                <a16:creationId xmlns:a16="http://schemas.microsoft.com/office/drawing/2014/main" id="{ACF0E361-681D-4879-80E8-FC51D379A20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GB" dirty="0"/>
              <a:t>Investigate impact on software development of emerging technologies such as: </a:t>
            </a:r>
          </a:p>
          <a:p>
            <a:pPr algn="l"/>
            <a:r>
              <a:rPr lang="en-GB" dirty="0"/>
              <a:t>● operational technology (OT) </a:t>
            </a:r>
          </a:p>
          <a:p>
            <a:pPr algn="l"/>
            <a:r>
              <a:rPr lang="en-GB" dirty="0"/>
              <a:t>● artificial Intelligence (AI) and Virtual Intelligence (VI) </a:t>
            </a:r>
          </a:p>
          <a:p>
            <a:pPr algn="l"/>
            <a:r>
              <a:rPr lang="en-GB" dirty="0"/>
              <a:t>● conversational AI </a:t>
            </a:r>
          </a:p>
          <a:p>
            <a:pPr algn="l"/>
            <a:r>
              <a:rPr lang="en-GB" dirty="0"/>
              <a:t>● the Internet of Things (IoT) </a:t>
            </a:r>
          </a:p>
          <a:p>
            <a:pPr algn="l"/>
            <a:r>
              <a:rPr lang="en-GB" dirty="0"/>
              <a:t>● machine Learning </a:t>
            </a:r>
          </a:p>
          <a:p>
            <a:pPr algn="l"/>
            <a:r>
              <a:rPr lang="en-GB" dirty="0"/>
              <a:t>● object recognition </a:t>
            </a:r>
          </a:p>
          <a:p>
            <a:pPr algn="l"/>
            <a:r>
              <a:rPr lang="en-GB" dirty="0"/>
              <a:t>● biometrics </a:t>
            </a:r>
          </a:p>
          <a:p>
            <a:pPr algn="l"/>
            <a:r>
              <a:rPr lang="en-GB" dirty="0"/>
              <a:t>● computer vision </a:t>
            </a:r>
          </a:p>
          <a:p>
            <a:pPr algn="l"/>
            <a:r>
              <a:rPr lang="en-GB" dirty="0"/>
              <a:t>● robotics </a:t>
            </a:r>
          </a:p>
          <a:p>
            <a:pPr algn="l"/>
            <a:r>
              <a:rPr lang="en-GB" dirty="0"/>
              <a:t>● cloud services and platforms </a:t>
            </a:r>
          </a:p>
          <a:p>
            <a:pPr algn="l"/>
            <a:r>
              <a:rPr lang="en-GB" dirty="0"/>
              <a:t>● blockchain </a:t>
            </a:r>
          </a:p>
          <a:p>
            <a:pPr algn="l"/>
            <a:r>
              <a:rPr lang="en-GB" dirty="0"/>
              <a:t>● data lakes and data warehousing </a:t>
            </a:r>
          </a:p>
          <a:p>
            <a:pPr algn="l"/>
            <a:r>
              <a:rPr lang="en-GB" dirty="0"/>
              <a:t>● drones </a:t>
            </a:r>
          </a:p>
          <a:p>
            <a:pPr algn="l"/>
            <a:r>
              <a:rPr lang="en-GB" dirty="0"/>
              <a:t>● 3D printing </a:t>
            </a:r>
          </a:p>
          <a:p>
            <a:pPr algn="l"/>
            <a:r>
              <a:rPr lang="en-GB" dirty="0"/>
              <a:t>● 5G networks</a:t>
            </a:r>
            <a:endParaRPr lang="en-US" altLang="en-US" dirty="0"/>
          </a:p>
        </p:txBody>
      </p:sp>
      <p:sp>
        <p:nvSpPr>
          <p:cNvPr id="22532" name="Slide Number Placeholder 3">
            <a:extLst>
              <a:ext uri="{FF2B5EF4-FFF2-40B4-BE49-F238E27FC236}">
                <a16:creationId xmlns:a16="http://schemas.microsoft.com/office/drawing/2014/main" id="{0A8FF87A-17F0-495B-84DC-BE01DFCA672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C2B727B-AC5C-4821-A9E5-7D1C4DB9A03D}" type="slidenum">
              <a:rPr lang="en-GB" altLang="en-US" smtClean="0"/>
              <a:pPr>
                <a:spcBef>
                  <a:spcPct val="0"/>
                </a:spcBef>
              </a:pPr>
              <a:t>9</a:t>
            </a:fld>
            <a:endParaRPr lang="en-GB" altLang="en-US"/>
          </a:p>
        </p:txBody>
      </p:sp>
    </p:spTree>
    <p:extLst>
      <p:ext uri="{BB962C8B-B14F-4D97-AF65-F5344CB8AC3E}">
        <p14:creationId xmlns:p14="http://schemas.microsoft.com/office/powerpoint/2010/main" val="41741731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25CB5C41-EE88-4B52-9D7C-A0C1F3D05574}"/>
              </a:ext>
            </a:extLst>
          </p:cNvPr>
          <p:cNvSpPr>
            <a:spLocks noGrp="1" noRot="1" noChangeAspect="1" noChangeArrowheads="1" noTextEdit="1"/>
          </p:cNvSpPr>
          <p:nvPr>
            <p:ph type="sldImg"/>
          </p:nvPr>
        </p:nvSpPr>
        <p:spPr>
          <a:ln/>
        </p:spPr>
      </p:sp>
      <p:sp>
        <p:nvSpPr>
          <p:cNvPr id="22531" name="Notes Placeholder 2">
            <a:extLst>
              <a:ext uri="{FF2B5EF4-FFF2-40B4-BE49-F238E27FC236}">
                <a16:creationId xmlns:a16="http://schemas.microsoft.com/office/drawing/2014/main" id="{ACF0E361-681D-4879-80E8-FC51D379A20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GB" dirty="0"/>
              <a:t>Considerations to ensure the software developer is able to complete the required solution: </a:t>
            </a:r>
          </a:p>
          <a:p>
            <a:pPr algn="l"/>
            <a:r>
              <a:rPr lang="en-GB" dirty="0"/>
              <a:t>● identify what further knowledge is needed.</a:t>
            </a:r>
          </a:p>
          <a:p>
            <a:pPr algn="l"/>
            <a:r>
              <a:rPr lang="en-GB" dirty="0"/>
              <a:t>● identify what new skills are needed. </a:t>
            </a:r>
          </a:p>
          <a:p>
            <a:pPr algn="l"/>
            <a:r>
              <a:rPr lang="en-GB" dirty="0"/>
              <a:t>● determine if software developer has the ability needed to complete the required solution. </a:t>
            </a:r>
          </a:p>
          <a:p>
            <a:pPr algn="l"/>
            <a:endParaRPr lang="en-GB" dirty="0"/>
          </a:p>
          <a:p>
            <a:pPr algn="l"/>
            <a:r>
              <a:rPr lang="en-GB" dirty="0"/>
              <a:t>Use different methods to address personal training needs required to enable completion of project: </a:t>
            </a:r>
          </a:p>
          <a:p>
            <a:pPr algn="l"/>
            <a:r>
              <a:rPr lang="en-GB" dirty="0"/>
              <a:t>● undertake coaching from a professional or peer. </a:t>
            </a:r>
          </a:p>
          <a:p>
            <a:pPr algn="l"/>
            <a:r>
              <a:rPr lang="en-GB" dirty="0"/>
              <a:t>● learn new skills on the job. </a:t>
            </a:r>
          </a:p>
          <a:p>
            <a:pPr algn="l"/>
            <a:r>
              <a:rPr lang="en-GB" dirty="0"/>
              <a:t>● carry out self-study. </a:t>
            </a:r>
          </a:p>
          <a:p>
            <a:pPr algn="l"/>
            <a:r>
              <a:rPr lang="en-GB" dirty="0"/>
              <a:t>● use online professional forums. </a:t>
            </a:r>
          </a:p>
          <a:p>
            <a:pPr algn="l"/>
            <a:r>
              <a:rPr lang="en-GB" dirty="0"/>
              <a:t>● sign up to internet workshops for additional training</a:t>
            </a:r>
            <a:endParaRPr lang="en-US" altLang="en-US" dirty="0"/>
          </a:p>
        </p:txBody>
      </p:sp>
      <p:sp>
        <p:nvSpPr>
          <p:cNvPr id="22532" name="Slide Number Placeholder 3">
            <a:extLst>
              <a:ext uri="{FF2B5EF4-FFF2-40B4-BE49-F238E27FC236}">
                <a16:creationId xmlns:a16="http://schemas.microsoft.com/office/drawing/2014/main" id="{0A8FF87A-17F0-495B-84DC-BE01DFCA672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C2B727B-AC5C-4821-A9E5-7D1C4DB9A03D}" type="slidenum">
              <a:rPr lang="en-GB" altLang="en-US" smtClean="0"/>
              <a:pPr>
                <a:spcBef>
                  <a:spcPct val="0"/>
                </a:spcBef>
              </a:pPr>
              <a:t>10</a:t>
            </a:fld>
            <a:endParaRPr lang="en-GB" altLang="en-US"/>
          </a:p>
        </p:txBody>
      </p:sp>
    </p:spTree>
    <p:extLst>
      <p:ext uri="{BB962C8B-B14F-4D97-AF65-F5344CB8AC3E}">
        <p14:creationId xmlns:p14="http://schemas.microsoft.com/office/powerpoint/2010/main" val="1003525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96CE5594-48DC-45B7-A88D-4F7DEF1842A7}"/>
              </a:ext>
            </a:extLst>
          </p:cNvPr>
          <p:cNvGrpSpPr>
            <a:grpSpLocks/>
          </p:cNvGrpSpPr>
          <p:nvPr/>
        </p:nvGrpSpPr>
        <p:grpSpPr bwMode="auto">
          <a:xfrm>
            <a:off x="0" y="2438400"/>
            <a:ext cx="9009063" cy="1052513"/>
            <a:chOff x="0" y="1536"/>
            <a:chExt cx="5675" cy="663"/>
          </a:xfrm>
        </p:grpSpPr>
        <p:grpSp>
          <p:nvGrpSpPr>
            <p:cNvPr id="5" name="Group 3">
              <a:extLst>
                <a:ext uri="{FF2B5EF4-FFF2-40B4-BE49-F238E27FC236}">
                  <a16:creationId xmlns:a16="http://schemas.microsoft.com/office/drawing/2014/main" id="{BFB81880-29F5-4C4D-89A9-401FEDC6841F}"/>
                </a:ext>
              </a:extLst>
            </p:cNvPr>
            <p:cNvGrpSpPr>
              <a:grpSpLocks/>
            </p:cNvGrpSpPr>
            <p:nvPr/>
          </p:nvGrpSpPr>
          <p:grpSpPr bwMode="auto">
            <a:xfrm>
              <a:off x="183" y="1604"/>
              <a:ext cx="448" cy="299"/>
              <a:chOff x="720" y="336"/>
              <a:chExt cx="624" cy="432"/>
            </a:xfrm>
          </p:grpSpPr>
          <p:sp>
            <p:nvSpPr>
              <p:cNvPr id="12" name="Rectangle 4">
                <a:extLst>
                  <a:ext uri="{FF2B5EF4-FFF2-40B4-BE49-F238E27FC236}">
                    <a16:creationId xmlns:a16="http://schemas.microsoft.com/office/drawing/2014/main" id="{8E33E0C4-1613-4900-8E11-9055DCCCE59C}"/>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3" name="Rectangle 5">
                <a:extLst>
                  <a:ext uri="{FF2B5EF4-FFF2-40B4-BE49-F238E27FC236}">
                    <a16:creationId xmlns:a16="http://schemas.microsoft.com/office/drawing/2014/main" id="{F7EBB658-D305-4175-9B76-5405B180DF06}"/>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grpSp>
          <p:nvGrpSpPr>
            <p:cNvPr id="6" name="Group 6">
              <a:extLst>
                <a:ext uri="{FF2B5EF4-FFF2-40B4-BE49-F238E27FC236}">
                  <a16:creationId xmlns:a16="http://schemas.microsoft.com/office/drawing/2014/main" id="{B6BE3314-AA97-4AF2-8EC4-848C95D362BD}"/>
                </a:ext>
              </a:extLst>
            </p:cNvPr>
            <p:cNvGrpSpPr>
              <a:grpSpLocks/>
            </p:cNvGrpSpPr>
            <p:nvPr/>
          </p:nvGrpSpPr>
          <p:grpSpPr bwMode="auto">
            <a:xfrm>
              <a:off x="261" y="1870"/>
              <a:ext cx="465" cy="299"/>
              <a:chOff x="912" y="2640"/>
              <a:chExt cx="672" cy="432"/>
            </a:xfrm>
          </p:grpSpPr>
          <p:sp>
            <p:nvSpPr>
              <p:cNvPr id="10" name="Rectangle 7">
                <a:extLst>
                  <a:ext uri="{FF2B5EF4-FFF2-40B4-BE49-F238E27FC236}">
                    <a16:creationId xmlns:a16="http://schemas.microsoft.com/office/drawing/2014/main" id="{6C7F4189-F42D-4D7D-A322-EB89F904A89C}"/>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1" name="Rectangle 8">
                <a:extLst>
                  <a:ext uri="{FF2B5EF4-FFF2-40B4-BE49-F238E27FC236}">
                    <a16:creationId xmlns:a16="http://schemas.microsoft.com/office/drawing/2014/main" id="{C39C83AA-B127-4AE6-B21C-BE5DCADFD96C}"/>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7" name="Rectangle 9">
              <a:extLst>
                <a:ext uri="{FF2B5EF4-FFF2-40B4-BE49-F238E27FC236}">
                  <a16:creationId xmlns:a16="http://schemas.microsoft.com/office/drawing/2014/main" id="{FF34FE4B-8458-4C63-92C4-72419E1FE37E}"/>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8" name="Rectangle 10">
              <a:extLst>
                <a:ext uri="{FF2B5EF4-FFF2-40B4-BE49-F238E27FC236}">
                  <a16:creationId xmlns:a16="http://schemas.microsoft.com/office/drawing/2014/main" id="{15E18C60-3A79-4103-A238-8C529312B762}"/>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9" name="Rectangle 11">
              <a:extLst>
                <a:ext uri="{FF2B5EF4-FFF2-40B4-BE49-F238E27FC236}">
                  <a16:creationId xmlns:a16="http://schemas.microsoft.com/office/drawing/2014/main" id="{7F1F5193-AC79-4D57-93F5-C839EB8018CC}"/>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14" name="TextBox 17">
            <a:extLst>
              <a:ext uri="{FF2B5EF4-FFF2-40B4-BE49-F238E27FC236}">
                <a16:creationId xmlns:a16="http://schemas.microsoft.com/office/drawing/2014/main" id="{3341A0FC-67D6-4FC7-9AFA-D9E204F44D61}"/>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
        <p:nvSpPr>
          <p:cNvPr id="25612"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5" name="Date Placeholder 14">
            <a:extLst>
              <a:ext uri="{FF2B5EF4-FFF2-40B4-BE49-F238E27FC236}">
                <a16:creationId xmlns:a16="http://schemas.microsoft.com/office/drawing/2014/main" id="{F93FFE49-4CBD-4A08-8C86-C5047F172FA2}"/>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p>
        </p:txBody>
      </p:sp>
      <p:sp>
        <p:nvSpPr>
          <p:cNvPr id="16" name="Footer Placeholder 15">
            <a:extLst>
              <a:ext uri="{FF2B5EF4-FFF2-40B4-BE49-F238E27FC236}">
                <a16:creationId xmlns:a16="http://schemas.microsoft.com/office/drawing/2014/main" id="{DDC64452-3127-4E45-83BF-08500AD377CB}"/>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p>
        </p:txBody>
      </p:sp>
    </p:spTree>
    <p:extLst>
      <p:ext uri="{BB962C8B-B14F-4D97-AF65-F5344CB8AC3E}">
        <p14:creationId xmlns:p14="http://schemas.microsoft.com/office/powerpoint/2010/main" val="871777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2AC72EC4-05DC-4353-8C11-FD09585BA91B}"/>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9E78C1C7-499F-4D5F-BA48-ACB60E52424E}"/>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30C813A2-AD6A-4AEF-9A93-3D650867FB07}"/>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22F8A468-B2BB-4967-837D-7D8C83C09A48}" type="slidenum">
              <a:rPr lang="en-US" altLang="en-US"/>
              <a:pPr>
                <a:defRPr/>
              </a:pPr>
              <a:t>‹#›</a:t>
            </a:fld>
            <a:endParaRPr lang="en-US" altLang="en-US"/>
          </a:p>
        </p:txBody>
      </p:sp>
    </p:spTree>
    <p:extLst>
      <p:ext uri="{BB962C8B-B14F-4D97-AF65-F5344CB8AC3E}">
        <p14:creationId xmlns:p14="http://schemas.microsoft.com/office/powerpoint/2010/main" val="2326389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F916C416-A095-4CBB-9FF3-BFB673DEA5FE}"/>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DD7A0633-3D0E-4703-8D7B-E1DA30F35DBE}"/>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3C613920-5899-48FF-9438-6298BDEB904F}"/>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A9B60E1E-804A-46A3-A2D7-10317F8E3A54}" type="slidenum">
              <a:rPr lang="en-US" altLang="en-US"/>
              <a:pPr>
                <a:defRPr/>
              </a:pPr>
              <a:t>‹#›</a:t>
            </a:fld>
            <a:endParaRPr lang="en-US" altLang="en-US"/>
          </a:p>
        </p:txBody>
      </p:sp>
    </p:spTree>
    <p:extLst>
      <p:ext uri="{BB962C8B-B14F-4D97-AF65-F5344CB8AC3E}">
        <p14:creationId xmlns:p14="http://schemas.microsoft.com/office/powerpoint/2010/main" val="18760810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E89EB659-C2C9-46EB-8C2B-E1F76DB15E1B}"/>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FE1C49DE-842C-41B2-B1AC-D48711FEB344}"/>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0BD4FAF4-37DE-46EA-84A9-17DCF953A6A5}"/>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147EE280-46E6-48DE-8C0D-B2A7EC806A0C}" type="slidenum">
              <a:rPr lang="en-US" altLang="en-US"/>
              <a:pPr>
                <a:defRPr/>
              </a:pPr>
              <a:t>‹#›</a:t>
            </a:fld>
            <a:endParaRPr lang="en-US" altLang="en-US"/>
          </a:p>
        </p:txBody>
      </p:sp>
    </p:spTree>
    <p:extLst>
      <p:ext uri="{BB962C8B-B14F-4D97-AF65-F5344CB8AC3E}">
        <p14:creationId xmlns:p14="http://schemas.microsoft.com/office/powerpoint/2010/main" val="3350154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a:extLst>
              <a:ext uri="{FF2B5EF4-FFF2-40B4-BE49-F238E27FC236}">
                <a16:creationId xmlns:a16="http://schemas.microsoft.com/office/drawing/2014/main" id="{6F3810F0-F635-4683-AD41-F83BA50E7E69}"/>
              </a:ext>
            </a:extLst>
          </p:cNvPr>
          <p:cNvSpPr>
            <a:spLocks noGrp="1" noChangeArrowheads="1"/>
          </p:cNvSpPr>
          <p:nvPr>
            <p:ph type="dt" sz="half" idx="10"/>
          </p:nvPr>
        </p:nvSpPr>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528FD012-4D1B-4336-83B5-4AC69628FA5C}"/>
              </a:ext>
            </a:extLst>
          </p:cNvPr>
          <p:cNvSpPr>
            <a:spLocks noGrp="1" noChangeArrowheads="1"/>
          </p:cNvSpPr>
          <p:nvPr>
            <p:ph type="ftr" sz="quarter" idx="11"/>
          </p:nvPr>
        </p:nvSpPr>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7EF6A06D-FA60-44FE-A968-0AB4823BD960}"/>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F20BAD44-3B89-495C-899A-B2793C695D9E}" type="slidenum">
              <a:rPr lang="en-US" altLang="en-US"/>
              <a:pPr>
                <a:defRPr/>
              </a:pPr>
              <a:t>‹#›</a:t>
            </a:fld>
            <a:endParaRPr lang="en-US" altLang="en-US"/>
          </a:p>
        </p:txBody>
      </p:sp>
    </p:spTree>
    <p:extLst>
      <p:ext uri="{BB962C8B-B14F-4D97-AF65-F5344CB8AC3E}">
        <p14:creationId xmlns:p14="http://schemas.microsoft.com/office/powerpoint/2010/main" val="2812308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a:extLst>
              <a:ext uri="{FF2B5EF4-FFF2-40B4-BE49-F238E27FC236}">
                <a16:creationId xmlns:a16="http://schemas.microsoft.com/office/drawing/2014/main" id="{6A591F7D-7AE9-4B5E-99F8-070366D15CD1}"/>
              </a:ext>
            </a:extLst>
          </p:cNvPr>
          <p:cNvSpPr>
            <a:spLocks noGrp="1" noChangeArrowheads="1"/>
          </p:cNvSpPr>
          <p:nvPr>
            <p:ph type="dt" sz="half" idx="10"/>
          </p:nvPr>
        </p:nvSpPr>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B44EE704-78C7-4A46-9221-78A6587B9A74}"/>
              </a:ext>
            </a:extLst>
          </p:cNvPr>
          <p:cNvSpPr>
            <a:spLocks noGrp="1" noChangeArrowheads="1"/>
          </p:cNvSpPr>
          <p:nvPr>
            <p:ph type="ftr" sz="quarter" idx="11"/>
          </p:nvPr>
        </p:nvSpPr>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B7280801-DF3A-43CE-8874-F0AB11134446}"/>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87DBBB3C-3540-4284-9C03-58446440D93A}" type="slidenum">
              <a:rPr lang="en-US" altLang="en-US"/>
              <a:pPr>
                <a:defRPr/>
              </a:pPr>
              <a:t>‹#›</a:t>
            </a:fld>
            <a:endParaRPr lang="en-US" altLang="en-US"/>
          </a:p>
        </p:txBody>
      </p:sp>
    </p:spTree>
    <p:extLst>
      <p:ext uri="{BB962C8B-B14F-4D97-AF65-F5344CB8AC3E}">
        <p14:creationId xmlns:p14="http://schemas.microsoft.com/office/powerpoint/2010/main" val="1304138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DCDE1AA5-71C4-486D-9292-33738F568199}"/>
              </a:ext>
            </a:extLst>
          </p:cNvPr>
          <p:cNvSpPr>
            <a:spLocks noGrp="1" noChangeArrowheads="1"/>
          </p:cNvSpPr>
          <p:nvPr>
            <p:ph type="dt" sz="half" idx="10"/>
          </p:nvPr>
        </p:nvSpPr>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F29ABBC3-2E41-40B7-9E30-F563D997A8C1}"/>
              </a:ext>
            </a:extLst>
          </p:cNvPr>
          <p:cNvSpPr>
            <a:spLocks noGrp="1" noChangeArrowheads="1"/>
          </p:cNvSpPr>
          <p:nvPr>
            <p:ph type="ftr" sz="quarter" idx="11"/>
          </p:nvPr>
        </p:nvSpPr>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384AEB07-060A-4A75-A08C-ACC84E385E70}"/>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D831D421-0C6C-4F24-846A-381F156B39AE}" type="slidenum">
              <a:rPr lang="en-US" altLang="en-US"/>
              <a:pPr>
                <a:defRPr/>
              </a:pPr>
              <a:t>‹#›</a:t>
            </a:fld>
            <a:endParaRPr lang="en-US" altLang="en-US"/>
          </a:p>
        </p:txBody>
      </p:sp>
    </p:spTree>
    <p:extLst>
      <p:ext uri="{BB962C8B-B14F-4D97-AF65-F5344CB8AC3E}">
        <p14:creationId xmlns:p14="http://schemas.microsoft.com/office/powerpoint/2010/main" val="1284077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FECDC640-CBFD-4F1B-80EB-92D9CCA5DCC5}"/>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85D7A32D-14CE-4AA3-A501-937046090DED}"/>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663B5697-0C07-4F25-A46F-F8AEEB9C710A}"/>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B677A9C4-3410-4575-8C5C-731EF398E123}" type="slidenum">
              <a:rPr lang="en-US" altLang="en-US"/>
              <a:pPr>
                <a:defRPr/>
              </a:pPr>
              <a:t>‹#›</a:t>
            </a:fld>
            <a:endParaRPr lang="en-US" altLang="en-US"/>
          </a:p>
        </p:txBody>
      </p:sp>
    </p:spTree>
    <p:extLst>
      <p:ext uri="{BB962C8B-B14F-4D97-AF65-F5344CB8AC3E}">
        <p14:creationId xmlns:p14="http://schemas.microsoft.com/office/powerpoint/2010/main" val="3019218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1AD5A3F4-B4CD-4B72-9E83-5CB58A4E9B37}"/>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2F253D63-BAA8-486D-8F09-F44FEBDAA817}"/>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FD307129-F176-4335-986F-26D796E925C5}"/>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487A71C7-F88E-4A4C-BD6F-10813CDFD9D1}" type="slidenum">
              <a:rPr lang="en-US" altLang="en-US"/>
              <a:pPr>
                <a:defRPr/>
              </a:pPr>
              <a:t>‹#›</a:t>
            </a:fld>
            <a:endParaRPr lang="en-US" altLang="en-US"/>
          </a:p>
        </p:txBody>
      </p:sp>
    </p:spTree>
    <p:extLst>
      <p:ext uri="{BB962C8B-B14F-4D97-AF65-F5344CB8AC3E}">
        <p14:creationId xmlns:p14="http://schemas.microsoft.com/office/powerpoint/2010/main" val="2614989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5FD8443A-8B17-46B9-AC6F-BF907CE50763}"/>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D061DFDC-ED12-4952-9BB1-147757706524}"/>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F95D47F1-BF53-4A14-A4CF-B91CF5137E2D}"/>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0B7BC7EB-7EB0-4434-9563-E7ECAF095E6B}" type="slidenum">
              <a:rPr lang="en-US" altLang="en-US"/>
              <a:pPr>
                <a:defRPr/>
              </a:pPr>
              <a:t>‹#›</a:t>
            </a:fld>
            <a:endParaRPr lang="en-US" altLang="en-US"/>
          </a:p>
        </p:txBody>
      </p:sp>
    </p:spTree>
    <p:extLst>
      <p:ext uri="{BB962C8B-B14F-4D97-AF65-F5344CB8AC3E}">
        <p14:creationId xmlns:p14="http://schemas.microsoft.com/office/powerpoint/2010/main" val="1412748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279ED983-B700-45D8-9AF6-54814619806B}"/>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196ABF31-FB1D-45A5-A0CB-6D0CDF78B2B8}"/>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3D4988FE-28EF-496A-9A1D-781730540B97}"/>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6CBD0EF1-8588-40FB-8943-0D4B18A81BD5}" type="slidenum">
              <a:rPr lang="en-US" altLang="en-US"/>
              <a:pPr>
                <a:defRPr/>
              </a:pPr>
              <a:t>‹#›</a:t>
            </a:fld>
            <a:endParaRPr lang="en-US" altLang="en-US"/>
          </a:p>
        </p:txBody>
      </p:sp>
    </p:spTree>
    <p:extLst>
      <p:ext uri="{BB962C8B-B14F-4D97-AF65-F5344CB8AC3E}">
        <p14:creationId xmlns:p14="http://schemas.microsoft.com/office/powerpoint/2010/main" val="23136936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4CE40BBD-6427-47C8-BECF-B2375DACA6E6}"/>
              </a:ext>
            </a:extLst>
          </p:cNvPr>
          <p:cNvGrpSpPr>
            <a:grpSpLocks/>
          </p:cNvGrpSpPr>
          <p:nvPr/>
        </p:nvGrpSpPr>
        <p:grpSpPr bwMode="auto">
          <a:xfrm>
            <a:off x="0" y="2438400"/>
            <a:ext cx="9009063" cy="1052513"/>
            <a:chOff x="0" y="1536"/>
            <a:chExt cx="5675" cy="663"/>
          </a:xfrm>
        </p:grpSpPr>
        <p:grpSp>
          <p:nvGrpSpPr>
            <p:cNvPr id="5" name="Group 3">
              <a:extLst>
                <a:ext uri="{FF2B5EF4-FFF2-40B4-BE49-F238E27FC236}">
                  <a16:creationId xmlns:a16="http://schemas.microsoft.com/office/drawing/2014/main" id="{C2B5BE5A-7BA5-43B1-9184-3478346ADB76}"/>
                </a:ext>
              </a:extLst>
            </p:cNvPr>
            <p:cNvGrpSpPr>
              <a:grpSpLocks/>
            </p:cNvGrpSpPr>
            <p:nvPr/>
          </p:nvGrpSpPr>
          <p:grpSpPr bwMode="auto">
            <a:xfrm>
              <a:off x="183" y="1604"/>
              <a:ext cx="448" cy="299"/>
              <a:chOff x="720" y="336"/>
              <a:chExt cx="624" cy="432"/>
            </a:xfrm>
          </p:grpSpPr>
          <p:sp>
            <p:nvSpPr>
              <p:cNvPr id="12" name="Rectangle 4">
                <a:extLst>
                  <a:ext uri="{FF2B5EF4-FFF2-40B4-BE49-F238E27FC236}">
                    <a16:creationId xmlns:a16="http://schemas.microsoft.com/office/drawing/2014/main" id="{50DEFDB4-06F6-4D71-92E2-5740FBCC1CE7}"/>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13" name="Rectangle 5">
                <a:extLst>
                  <a:ext uri="{FF2B5EF4-FFF2-40B4-BE49-F238E27FC236}">
                    <a16:creationId xmlns:a16="http://schemas.microsoft.com/office/drawing/2014/main" id="{7C0481A1-C4D1-431D-B45B-FEBD293E3E56}"/>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grpSp>
          <p:nvGrpSpPr>
            <p:cNvPr id="6" name="Group 6">
              <a:extLst>
                <a:ext uri="{FF2B5EF4-FFF2-40B4-BE49-F238E27FC236}">
                  <a16:creationId xmlns:a16="http://schemas.microsoft.com/office/drawing/2014/main" id="{4DFC3424-9B91-4D68-82CA-65C78E220535}"/>
                </a:ext>
              </a:extLst>
            </p:cNvPr>
            <p:cNvGrpSpPr>
              <a:grpSpLocks/>
            </p:cNvGrpSpPr>
            <p:nvPr/>
          </p:nvGrpSpPr>
          <p:grpSpPr bwMode="auto">
            <a:xfrm>
              <a:off x="261" y="1870"/>
              <a:ext cx="465" cy="299"/>
              <a:chOff x="912" y="2640"/>
              <a:chExt cx="672" cy="432"/>
            </a:xfrm>
          </p:grpSpPr>
          <p:sp>
            <p:nvSpPr>
              <p:cNvPr id="10" name="Rectangle 7">
                <a:extLst>
                  <a:ext uri="{FF2B5EF4-FFF2-40B4-BE49-F238E27FC236}">
                    <a16:creationId xmlns:a16="http://schemas.microsoft.com/office/drawing/2014/main" id="{2F581F19-BB3F-4F9E-BD16-97A8E0E20EB8}"/>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11" name="Rectangle 8">
                <a:extLst>
                  <a:ext uri="{FF2B5EF4-FFF2-40B4-BE49-F238E27FC236}">
                    <a16:creationId xmlns:a16="http://schemas.microsoft.com/office/drawing/2014/main" id="{930A6698-C9E1-4541-BB01-67C78D0289B0}"/>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7" name="Rectangle 9">
              <a:extLst>
                <a:ext uri="{FF2B5EF4-FFF2-40B4-BE49-F238E27FC236}">
                  <a16:creationId xmlns:a16="http://schemas.microsoft.com/office/drawing/2014/main" id="{031286AF-EFFD-4E49-8819-E560776E7294}"/>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8" name="Rectangle 10">
              <a:extLst>
                <a:ext uri="{FF2B5EF4-FFF2-40B4-BE49-F238E27FC236}">
                  <a16:creationId xmlns:a16="http://schemas.microsoft.com/office/drawing/2014/main" id="{880A6E02-62B8-444B-BA02-38209C2BDAB5}"/>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9" name="Rectangle 11">
              <a:extLst>
                <a:ext uri="{FF2B5EF4-FFF2-40B4-BE49-F238E27FC236}">
                  <a16:creationId xmlns:a16="http://schemas.microsoft.com/office/drawing/2014/main" id="{8EC79549-41EA-4B9C-AAB2-CF61499E6B40}"/>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25612" name="Rectangle 12"/>
          <p:cNvSpPr>
            <a:spLocks noGrp="1" noChangeArrowheads="1"/>
          </p:cNvSpPr>
          <p:nvPr>
            <p:ph type="ctrTitle"/>
          </p:nvPr>
        </p:nvSpPr>
        <p:spPr>
          <a:xfrm>
            <a:off x="990600" y="1828800"/>
            <a:ext cx="7772400" cy="1143000"/>
          </a:xfrm>
        </p:spPr>
        <p:txBody>
          <a:bodyPr/>
          <a:lstStyle>
            <a:lvl1pPr>
              <a:defRPr/>
            </a:lvl1pPr>
          </a:lstStyle>
          <a:p>
            <a:pPr lvl="0"/>
            <a:r>
              <a:rPr lang="en-US" noProof="0"/>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en-US" noProof="0"/>
              <a:t>Click to edit Master subtitle style</a:t>
            </a:r>
          </a:p>
        </p:txBody>
      </p:sp>
      <p:sp>
        <p:nvSpPr>
          <p:cNvPr id="14" name="Rectangle 14">
            <a:extLst>
              <a:ext uri="{FF2B5EF4-FFF2-40B4-BE49-F238E27FC236}">
                <a16:creationId xmlns:a16="http://schemas.microsoft.com/office/drawing/2014/main" id="{4B9491C9-63E2-4DBE-AF93-69FC03ED3534}"/>
              </a:ext>
            </a:extLst>
          </p:cNvPr>
          <p:cNvSpPr>
            <a:spLocks noGrp="1" noChangeArrowheads="1"/>
          </p:cNvSpPr>
          <p:nvPr>
            <p:ph type="dt" sz="half" idx="10"/>
          </p:nvPr>
        </p:nvSpPr>
        <p:spPr>
          <a:xfrm>
            <a:off x="990600" y="6248400"/>
            <a:ext cx="1905000" cy="457200"/>
          </a:xfrm>
        </p:spPr>
        <p:txBody>
          <a:bodyPr/>
          <a:lstStyle>
            <a:lvl1pPr>
              <a:defRPr>
                <a:solidFill>
                  <a:srgbClr val="1C1C1C"/>
                </a:solidFill>
              </a:defRPr>
            </a:lvl1pPr>
          </a:lstStyle>
          <a:p>
            <a:pPr>
              <a:defRPr/>
            </a:pPr>
            <a:endParaRPr lang="en-US"/>
          </a:p>
        </p:txBody>
      </p:sp>
      <p:sp>
        <p:nvSpPr>
          <p:cNvPr id="15" name="Rectangle 15">
            <a:extLst>
              <a:ext uri="{FF2B5EF4-FFF2-40B4-BE49-F238E27FC236}">
                <a16:creationId xmlns:a16="http://schemas.microsoft.com/office/drawing/2014/main" id="{F9529577-9090-4121-9DA4-31D377E4153C}"/>
              </a:ext>
            </a:extLst>
          </p:cNvPr>
          <p:cNvSpPr>
            <a:spLocks noGrp="1" noChangeArrowheads="1"/>
          </p:cNvSpPr>
          <p:nvPr>
            <p:ph type="ftr" sz="quarter" idx="11"/>
          </p:nvPr>
        </p:nvSpPr>
        <p:spPr>
          <a:xfrm>
            <a:off x="3429000" y="6248400"/>
            <a:ext cx="2895600" cy="457200"/>
          </a:xfrm>
        </p:spPr>
        <p:txBody>
          <a:bodyPr/>
          <a:lstStyle>
            <a:lvl1pPr>
              <a:defRPr>
                <a:solidFill>
                  <a:srgbClr val="1C1C1C"/>
                </a:solidFill>
              </a:defRPr>
            </a:lvl1pPr>
          </a:lstStyle>
          <a:p>
            <a:pPr>
              <a:defRPr/>
            </a:pPr>
            <a:endParaRPr lang="en-US"/>
          </a:p>
        </p:txBody>
      </p:sp>
      <p:sp>
        <p:nvSpPr>
          <p:cNvPr id="16" name="Rectangle 16">
            <a:extLst>
              <a:ext uri="{FF2B5EF4-FFF2-40B4-BE49-F238E27FC236}">
                <a16:creationId xmlns:a16="http://schemas.microsoft.com/office/drawing/2014/main" id="{AD0B52B9-542C-4662-9838-DD322C676A91}"/>
              </a:ext>
            </a:extLst>
          </p:cNvPr>
          <p:cNvSpPr>
            <a:spLocks noGrp="1" noChangeArrowheads="1"/>
          </p:cNvSpPr>
          <p:nvPr>
            <p:ph type="sldNum" sz="quarter" idx="12"/>
          </p:nvPr>
        </p:nvSpPr>
        <p:spPr>
          <a:xfrm>
            <a:off x="6858000" y="6248400"/>
            <a:ext cx="1905000" cy="457200"/>
          </a:xfrm>
        </p:spPr>
        <p:txBody>
          <a:bodyPr/>
          <a:lstStyle>
            <a:lvl1pPr>
              <a:defRPr>
                <a:solidFill>
                  <a:srgbClr val="1C1C1C"/>
                </a:solidFill>
              </a:defRPr>
            </a:lvl1pPr>
          </a:lstStyle>
          <a:p>
            <a:pPr>
              <a:defRPr/>
            </a:pPr>
            <a:fld id="{6AB9B022-1F12-4492-BBCF-5F5DAAD86C1B}" type="slidenum">
              <a:rPr lang="en-US" altLang="en-US"/>
              <a:pPr>
                <a:defRPr/>
              </a:pPr>
              <a:t>‹#›</a:t>
            </a:fld>
            <a:endParaRPr lang="en-US" altLang="en-US"/>
          </a:p>
        </p:txBody>
      </p:sp>
    </p:spTree>
    <p:extLst>
      <p:ext uri="{BB962C8B-B14F-4D97-AF65-F5344CB8AC3E}">
        <p14:creationId xmlns:p14="http://schemas.microsoft.com/office/powerpoint/2010/main" val="699632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470336B7-7818-4574-B4E3-58D111CBD2A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F88CF639-B3B0-440E-8771-B356B6A4B7B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556C3919-3AF1-453A-B17F-9D815B341393}"/>
              </a:ext>
            </a:extLst>
          </p:cNvPr>
          <p:cNvSpPr>
            <a:spLocks noGrp="1" noChangeArrowheads="1"/>
          </p:cNvSpPr>
          <p:nvPr>
            <p:ph type="sldNum" sz="quarter" idx="12"/>
          </p:nvPr>
        </p:nvSpPr>
        <p:spPr>
          <a:ln/>
        </p:spPr>
        <p:txBody>
          <a:bodyPr/>
          <a:lstStyle>
            <a:lvl1pPr>
              <a:defRPr/>
            </a:lvl1pPr>
          </a:lstStyle>
          <a:p>
            <a:pPr>
              <a:defRPr/>
            </a:pPr>
            <a:fld id="{A5DF2E5D-AAEE-4B27-9965-0FD61E7DA928}" type="slidenum">
              <a:rPr lang="en-US" altLang="en-US"/>
              <a:pPr>
                <a:defRPr/>
              </a:pPr>
              <a:t>‹#›</a:t>
            </a:fld>
            <a:endParaRPr lang="en-US" altLang="en-US"/>
          </a:p>
        </p:txBody>
      </p:sp>
    </p:spTree>
    <p:extLst>
      <p:ext uri="{BB962C8B-B14F-4D97-AF65-F5344CB8AC3E}">
        <p14:creationId xmlns:p14="http://schemas.microsoft.com/office/powerpoint/2010/main" val="1381853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0DB5B7EA-A501-4947-BD3E-13C2BD0BBFF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E08C5AFA-D340-40CE-A27E-9434E5E11A6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766F38A9-0B7F-411E-9B5F-A5AB1F4914C1}"/>
              </a:ext>
            </a:extLst>
          </p:cNvPr>
          <p:cNvSpPr>
            <a:spLocks noGrp="1" noChangeArrowheads="1"/>
          </p:cNvSpPr>
          <p:nvPr>
            <p:ph type="sldNum" sz="quarter" idx="12"/>
          </p:nvPr>
        </p:nvSpPr>
        <p:spPr>
          <a:ln/>
        </p:spPr>
        <p:txBody>
          <a:bodyPr/>
          <a:lstStyle>
            <a:lvl1pPr>
              <a:defRPr/>
            </a:lvl1pPr>
          </a:lstStyle>
          <a:p>
            <a:pPr>
              <a:defRPr/>
            </a:pPr>
            <a:fld id="{E5A222FF-3865-4A28-A7D0-2D8F6AB1E947}" type="slidenum">
              <a:rPr lang="en-US" altLang="en-US"/>
              <a:pPr>
                <a:defRPr/>
              </a:pPr>
              <a:t>‹#›</a:t>
            </a:fld>
            <a:endParaRPr lang="en-US" altLang="en-US"/>
          </a:p>
        </p:txBody>
      </p:sp>
    </p:spTree>
    <p:extLst>
      <p:ext uri="{BB962C8B-B14F-4D97-AF65-F5344CB8AC3E}">
        <p14:creationId xmlns:p14="http://schemas.microsoft.com/office/powerpoint/2010/main" val="1975284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1">
            <a:extLst>
              <a:ext uri="{FF2B5EF4-FFF2-40B4-BE49-F238E27FC236}">
                <a16:creationId xmlns:a16="http://schemas.microsoft.com/office/drawing/2014/main" id="{68464C2B-C30A-4F2E-9092-F6DAE35A041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88E35A69-9E7C-4E65-A087-26F031BCDAD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C9948DC6-C07C-41F1-A959-CF8FDAFD83B1}"/>
              </a:ext>
            </a:extLst>
          </p:cNvPr>
          <p:cNvSpPr>
            <a:spLocks noGrp="1" noChangeArrowheads="1"/>
          </p:cNvSpPr>
          <p:nvPr>
            <p:ph type="sldNum" sz="quarter" idx="12"/>
          </p:nvPr>
        </p:nvSpPr>
        <p:spPr>
          <a:ln/>
        </p:spPr>
        <p:txBody>
          <a:bodyPr/>
          <a:lstStyle>
            <a:lvl1pPr>
              <a:defRPr/>
            </a:lvl1pPr>
          </a:lstStyle>
          <a:p>
            <a:pPr>
              <a:defRPr/>
            </a:pPr>
            <a:fld id="{687C70DF-26E3-4344-B855-8F13A39D196C}" type="slidenum">
              <a:rPr lang="en-US" altLang="en-US"/>
              <a:pPr>
                <a:defRPr/>
              </a:pPr>
              <a:t>‹#›</a:t>
            </a:fld>
            <a:endParaRPr lang="en-US" altLang="en-US"/>
          </a:p>
        </p:txBody>
      </p:sp>
    </p:spTree>
    <p:extLst>
      <p:ext uri="{BB962C8B-B14F-4D97-AF65-F5344CB8AC3E}">
        <p14:creationId xmlns:p14="http://schemas.microsoft.com/office/powerpoint/2010/main" val="14861124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11">
            <a:extLst>
              <a:ext uri="{FF2B5EF4-FFF2-40B4-BE49-F238E27FC236}">
                <a16:creationId xmlns:a16="http://schemas.microsoft.com/office/drawing/2014/main" id="{E9869A8A-E22E-4CB3-9E5A-356D75CE884C}"/>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DB3779CD-02DD-471D-B84E-B6A19183B1D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B3B952ED-F41F-4245-8296-CF239D8D17CA}"/>
              </a:ext>
            </a:extLst>
          </p:cNvPr>
          <p:cNvSpPr>
            <a:spLocks noGrp="1" noChangeArrowheads="1"/>
          </p:cNvSpPr>
          <p:nvPr>
            <p:ph type="sldNum" sz="quarter" idx="12"/>
          </p:nvPr>
        </p:nvSpPr>
        <p:spPr>
          <a:ln/>
        </p:spPr>
        <p:txBody>
          <a:bodyPr/>
          <a:lstStyle>
            <a:lvl1pPr>
              <a:defRPr/>
            </a:lvl1pPr>
          </a:lstStyle>
          <a:p>
            <a:pPr>
              <a:defRPr/>
            </a:pPr>
            <a:fld id="{DE55DE4D-2E87-41AB-B139-7834F5AF6FAA}" type="slidenum">
              <a:rPr lang="en-US" altLang="en-US"/>
              <a:pPr>
                <a:defRPr/>
              </a:pPr>
              <a:t>‹#›</a:t>
            </a:fld>
            <a:endParaRPr lang="en-US" altLang="en-US"/>
          </a:p>
        </p:txBody>
      </p:sp>
    </p:spTree>
    <p:extLst>
      <p:ext uri="{BB962C8B-B14F-4D97-AF65-F5344CB8AC3E}">
        <p14:creationId xmlns:p14="http://schemas.microsoft.com/office/powerpoint/2010/main" val="4135761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11">
            <a:extLst>
              <a:ext uri="{FF2B5EF4-FFF2-40B4-BE49-F238E27FC236}">
                <a16:creationId xmlns:a16="http://schemas.microsoft.com/office/drawing/2014/main" id="{B2BCABF2-C502-4FC5-9D40-040BC56C8048}"/>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1B6384BA-E865-4CA6-8FEE-082383CC92C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11265EA0-1FD1-44D7-A8E5-6242F2F34415}"/>
              </a:ext>
            </a:extLst>
          </p:cNvPr>
          <p:cNvSpPr>
            <a:spLocks noGrp="1" noChangeArrowheads="1"/>
          </p:cNvSpPr>
          <p:nvPr>
            <p:ph type="sldNum" sz="quarter" idx="12"/>
          </p:nvPr>
        </p:nvSpPr>
        <p:spPr>
          <a:ln/>
        </p:spPr>
        <p:txBody>
          <a:bodyPr/>
          <a:lstStyle>
            <a:lvl1pPr>
              <a:defRPr/>
            </a:lvl1pPr>
          </a:lstStyle>
          <a:p>
            <a:pPr>
              <a:defRPr/>
            </a:pPr>
            <a:fld id="{A6EBAE0D-FC6F-491B-AABF-097F619DBF6F}" type="slidenum">
              <a:rPr lang="en-US" altLang="en-US"/>
              <a:pPr>
                <a:defRPr/>
              </a:pPr>
              <a:t>‹#›</a:t>
            </a:fld>
            <a:endParaRPr lang="en-US" altLang="en-US"/>
          </a:p>
        </p:txBody>
      </p:sp>
    </p:spTree>
    <p:extLst>
      <p:ext uri="{BB962C8B-B14F-4D97-AF65-F5344CB8AC3E}">
        <p14:creationId xmlns:p14="http://schemas.microsoft.com/office/powerpoint/2010/main" val="12914902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A8A23D2B-6FFC-40FF-9ADD-FB408990FAA9}"/>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D4FE1632-53A6-4721-95D7-B4CAD999FAF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B7215BDD-9EFA-4243-A844-0FEEB9A9BF4F}"/>
              </a:ext>
            </a:extLst>
          </p:cNvPr>
          <p:cNvSpPr>
            <a:spLocks noGrp="1" noChangeArrowheads="1"/>
          </p:cNvSpPr>
          <p:nvPr>
            <p:ph type="sldNum" sz="quarter" idx="12"/>
          </p:nvPr>
        </p:nvSpPr>
        <p:spPr>
          <a:ln/>
        </p:spPr>
        <p:txBody>
          <a:bodyPr/>
          <a:lstStyle>
            <a:lvl1pPr>
              <a:defRPr/>
            </a:lvl1pPr>
          </a:lstStyle>
          <a:p>
            <a:pPr>
              <a:defRPr/>
            </a:pPr>
            <a:fld id="{9C4FEBBC-B91E-4A97-89F1-3524B3BD4F86}" type="slidenum">
              <a:rPr lang="en-US" altLang="en-US"/>
              <a:pPr>
                <a:defRPr/>
              </a:pPr>
              <a:t>‹#›</a:t>
            </a:fld>
            <a:endParaRPr lang="en-US" altLang="en-US"/>
          </a:p>
        </p:txBody>
      </p:sp>
    </p:spTree>
    <p:extLst>
      <p:ext uri="{BB962C8B-B14F-4D97-AF65-F5344CB8AC3E}">
        <p14:creationId xmlns:p14="http://schemas.microsoft.com/office/powerpoint/2010/main" val="1988220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1253AD25-6DE2-4AEF-916D-C4848052B5C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1F1CB958-2E97-4958-B419-543DA2FB043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8B4576D3-44A9-4A51-B972-B5BD0C6B96EB}"/>
              </a:ext>
            </a:extLst>
          </p:cNvPr>
          <p:cNvSpPr>
            <a:spLocks noGrp="1" noChangeArrowheads="1"/>
          </p:cNvSpPr>
          <p:nvPr>
            <p:ph type="sldNum" sz="quarter" idx="12"/>
          </p:nvPr>
        </p:nvSpPr>
        <p:spPr>
          <a:ln/>
        </p:spPr>
        <p:txBody>
          <a:bodyPr/>
          <a:lstStyle>
            <a:lvl1pPr>
              <a:defRPr/>
            </a:lvl1pPr>
          </a:lstStyle>
          <a:p>
            <a:pPr>
              <a:defRPr/>
            </a:pPr>
            <a:fld id="{88EF491C-4B18-47D4-A59B-BB3D9353BC61}" type="slidenum">
              <a:rPr lang="en-US" altLang="en-US"/>
              <a:pPr>
                <a:defRPr/>
              </a:pPr>
              <a:t>‹#›</a:t>
            </a:fld>
            <a:endParaRPr lang="en-US" altLang="en-US"/>
          </a:p>
        </p:txBody>
      </p:sp>
    </p:spTree>
    <p:extLst>
      <p:ext uri="{BB962C8B-B14F-4D97-AF65-F5344CB8AC3E}">
        <p14:creationId xmlns:p14="http://schemas.microsoft.com/office/powerpoint/2010/main" val="24259109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AEA0DE70-78E9-4A57-B44F-DAD62236659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2D03C440-FBB3-48F9-A2CC-F22F4B7B9C0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3DCF29F2-B35A-4230-8942-25A4BBDB0CD6}"/>
              </a:ext>
            </a:extLst>
          </p:cNvPr>
          <p:cNvSpPr>
            <a:spLocks noGrp="1" noChangeArrowheads="1"/>
          </p:cNvSpPr>
          <p:nvPr>
            <p:ph type="sldNum" sz="quarter" idx="12"/>
          </p:nvPr>
        </p:nvSpPr>
        <p:spPr>
          <a:ln/>
        </p:spPr>
        <p:txBody>
          <a:bodyPr/>
          <a:lstStyle>
            <a:lvl1pPr>
              <a:defRPr/>
            </a:lvl1pPr>
          </a:lstStyle>
          <a:p>
            <a:pPr>
              <a:defRPr/>
            </a:pPr>
            <a:fld id="{093A0FCE-36C2-4FCE-A90D-68B5D004A932}" type="slidenum">
              <a:rPr lang="en-US" altLang="en-US"/>
              <a:pPr>
                <a:defRPr/>
              </a:pPr>
              <a:t>‹#›</a:t>
            </a:fld>
            <a:endParaRPr lang="en-US" altLang="en-US"/>
          </a:p>
        </p:txBody>
      </p:sp>
    </p:spTree>
    <p:extLst>
      <p:ext uri="{BB962C8B-B14F-4D97-AF65-F5344CB8AC3E}">
        <p14:creationId xmlns:p14="http://schemas.microsoft.com/office/powerpoint/2010/main" val="36075330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012C21D6-09FD-4EFD-A401-98199644D22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072BD382-9D00-4F02-A553-1A9E0A22110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DDF162B4-FC81-4FA2-8127-05A302688CCD}"/>
              </a:ext>
            </a:extLst>
          </p:cNvPr>
          <p:cNvSpPr>
            <a:spLocks noGrp="1" noChangeArrowheads="1"/>
          </p:cNvSpPr>
          <p:nvPr>
            <p:ph type="sldNum" sz="quarter" idx="12"/>
          </p:nvPr>
        </p:nvSpPr>
        <p:spPr>
          <a:ln/>
        </p:spPr>
        <p:txBody>
          <a:bodyPr/>
          <a:lstStyle>
            <a:lvl1pPr>
              <a:defRPr/>
            </a:lvl1pPr>
          </a:lstStyle>
          <a:p>
            <a:pPr>
              <a:defRPr/>
            </a:pPr>
            <a:fld id="{3D32E707-2359-457B-8FF8-8B1FFB60E5C2}" type="slidenum">
              <a:rPr lang="en-US" altLang="en-US"/>
              <a:pPr>
                <a:defRPr/>
              </a:pPr>
              <a:t>‹#›</a:t>
            </a:fld>
            <a:endParaRPr lang="en-US" altLang="en-US"/>
          </a:p>
        </p:txBody>
      </p:sp>
    </p:spTree>
    <p:extLst>
      <p:ext uri="{BB962C8B-B14F-4D97-AF65-F5344CB8AC3E}">
        <p14:creationId xmlns:p14="http://schemas.microsoft.com/office/powerpoint/2010/main" val="2602817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B940FAA0-0C12-4C96-A1D4-B26CBD8B0B0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23B14F8B-C345-4899-8446-CBE9026A019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2F896202-CB74-4D26-8506-288BA55A62A1}"/>
              </a:ext>
            </a:extLst>
          </p:cNvPr>
          <p:cNvSpPr>
            <a:spLocks noGrp="1" noChangeArrowheads="1"/>
          </p:cNvSpPr>
          <p:nvPr>
            <p:ph type="sldNum" sz="quarter" idx="12"/>
          </p:nvPr>
        </p:nvSpPr>
        <p:spPr>
          <a:ln/>
        </p:spPr>
        <p:txBody>
          <a:bodyPr/>
          <a:lstStyle>
            <a:lvl1pPr>
              <a:defRPr/>
            </a:lvl1pPr>
          </a:lstStyle>
          <a:p>
            <a:pPr>
              <a:defRPr/>
            </a:pPr>
            <a:fld id="{03934D74-1372-4E00-AA6A-4BC9003B19FC}" type="slidenum">
              <a:rPr lang="en-US" altLang="en-US"/>
              <a:pPr>
                <a:defRPr/>
              </a:pPr>
              <a:t>‹#›</a:t>
            </a:fld>
            <a:endParaRPr lang="en-US" altLang="en-US"/>
          </a:p>
        </p:txBody>
      </p:sp>
    </p:spTree>
    <p:extLst>
      <p:ext uri="{BB962C8B-B14F-4D97-AF65-F5344CB8AC3E}">
        <p14:creationId xmlns:p14="http://schemas.microsoft.com/office/powerpoint/2010/main" val="2297371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909EF3AC-6403-4665-8AE8-252DD5FEA345}"/>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7" name="Rectangle 3">
            <a:extLst>
              <a:ext uri="{FF2B5EF4-FFF2-40B4-BE49-F238E27FC236}">
                <a16:creationId xmlns:a16="http://schemas.microsoft.com/office/drawing/2014/main" id="{CA4C9C56-EC7F-4D2B-8310-3592A019E559}"/>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8" name="Rectangle 4">
            <a:extLst>
              <a:ext uri="{FF2B5EF4-FFF2-40B4-BE49-F238E27FC236}">
                <a16:creationId xmlns:a16="http://schemas.microsoft.com/office/drawing/2014/main" id="{169E3AB6-B49F-442B-AD50-BA47FCE25B9A}"/>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9" name="Rectangle 5">
            <a:extLst>
              <a:ext uri="{FF2B5EF4-FFF2-40B4-BE49-F238E27FC236}">
                <a16:creationId xmlns:a16="http://schemas.microsoft.com/office/drawing/2014/main" id="{088C46D7-A73B-42EE-B3E1-FCD17B2B963D}"/>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0" name="Rectangle 6">
            <a:extLst>
              <a:ext uri="{FF2B5EF4-FFF2-40B4-BE49-F238E27FC236}">
                <a16:creationId xmlns:a16="http://schemas.microsoft.com/office/drawing/2014/main" id="{997AE8C0-8B19-42BD-B474-667B72EC34DD}"/>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1" name="Rectangle 7">
            <a:extLst>
              <a:ext uri="{FF2B5EF4-FFF2-40B4-BE49-F238E27FC236}">
                <a16:creationId xmlns:a16="http://schemas.microsoft.com/office/drawing/2014/main" id="{CEA58EAA-94D0-4F3A-8D65-B99682DB8405}"/>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2" name="Rectangle 8">
            <a:extLst>
              <a:ext uri="{FF2B5EF4-FFF2-40B4-BE49-F238E27FC236}">
                <a16:creationId xmlns:a16="http://schemas.microsoft.com/office/drawing/2014/main" id="{E58D7B56-198C-44A0-A254-484367CFC16F}"/>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3" name="Rectangle 9">
            <a:extLst>
              <a:ext uri="{FF2B5EF4-FFF2-40B4-BE49-F238E27FC236}">
                <a16:creationId xmlns:a16="http://schemas.microsoft.com/office/drawing/2014/main" id="{68AE4BE9-E0E2-4F1E-8EE3-0297D549990E}"/>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4" name="Rectangle 10">
            <a:extLst>
              <a:ext uri="{FF2B5EF4-FFF2-40B4-BE49-F238E27FC236}">
                <a16:creationId xmlns:a16="http://schemas.microsoft.com/office/drawing/2014/main" id="{198F58C7-8709-464C-B4A9-A447F607030B}"/>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603F942A-C61F-4C61-99AA-1DAC3F0331F7}"/>
              </a:ext>
            </a:extLst>
          </p:cNvPr>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latin typeface="+mn-lt"/>
                <a:cs typeface="Arial" pitchFamily="34" charset="0"/>
              </a:defRPr>
            </a:lvl1pPr>
          </a:lstStyle>
          <a:p>
            <a:pPr>
              <a:defRPr/>
            </a:pPr>
            <a:endParaRPr lang="en-US"/>
          </a:p>
        </p:txBody>
      </p:sp>
      <p:sp>
        <p:nvSpPr>
          <p:cNvPr id="24588" name="Rectangle 12">
            <a:extLst>
              <a:ext uri="{FF2B5EF4-FFF2-40B4-BE49-F238E27FC236}">
                <a16:creationId xmlns:a16="http://schemas.microsoft.com/office/drawing/2014/main" id="{C942909B-94AB-4C63-8F2A-1F124A39F3D1}"/>
              </a:ext>
            </a:extLst>
          </p:cNvPr>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mn-lt"/>
                <a:cs typeface="Arial" pitchFamily="34" charset="0"/>
              </a:defRPr>
            </a:lvl1pPr>
          </a:lstStyle>
          <a:p>
            <a:pPr>
              <a:defRPr/>
            </a:pPr>
            <a:endParaRPr lang="en-US"/>
          </a:p>
        </p:txBody>
      </p:sp>
      <p:sp>
        <p:nvSpPr>
          <p:cNvPr id="14" name="TextBox 17">
            <a:extLst>
              <a:ext uri="{FF2B5EF4-FFF2-40B4-BE49-F238E27FC236}">
                <a16:creationId xmlns:a16="http://schemas.microsoft.com/office/drawing/2014/main" id="{5117D5C4-8F52-4AB4-89E1-0A62DA4CE5D5}"/>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Tree>
  </p:cSld>
  <p:clrMap bg1="lt1" tx1="dk1" bg2="lt2" tx2="dk2" accent1="accent1" accent2="accent2" accent3="accent3" accent4="accent4" accent5="accent5" accent6="accent6" hlink="hlink" folHlink="folHlink"/>
  <p:sldLayoutIdLst>
    <p:sldLayoutId id="2147484694" r:id="rId1"/>
    <p:sldLayoutId id="2147484695" r:id="rId2"/>
    <p:sldLayoutId id="2147484696" r:id="rId3"/>
    <p:sldLayoutId id="2147484697" r:id="rId4"/>
    <p:sldLayoutId id="2147484698" r:id="rId5"/>
    <p:sldLayoutId id="2147484699" r:id="rId6"/>
    <p:sldLayoutId id="2147484700" r:id="rId7"/>
    <p:sldLayoutId id="2147484701" r:id="rId8"/>
    <p:sldLayoutId id="2147484702" r:id="rId9"/>
    <p:sldLayoutId id="2147484703" r:id="rId10"/>
    <p:sldLayoutId id="2147484704"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pitchFamily="34" charset="0"/>
        </a:defRPr>
      </a:lvl2pPr>
      <a:lvl3pPr algn="l" rtl="0" eaLnBrk="0" fontAlgn="base" hangingPunct="0">
        <a:spcBef>
          <a:spcPct val="0"/>
        </a:spcBef>
        <a:spcAft>
          <a:spcPct val="0"/>
        </a:spcAft>
        <a:defRPr sz="4400">
          <a:solidFill>
            <a:schemeClr val="tx2"/>
          </a:solidFill>
          <a:latin typeface="Tahoma" pitchFamily="34" charset="0"/>
          <a:cs typeface="Arial" pitchFamily="34" charset="0"/>
        </a:defRPr>
      </a:lvl3pPr>
      <a:lvl4pPr algn="l" rtl="0" eaLnBrk="0" fontAlgn="base" hangingPunct="0">
        <a:spcBef>
          <a:spcPct val="0"/>
        </a:spcBef>
        <a:spcAft>
          <a:spcPct val="0"/>
        </a:spcAft>
        <a:defRPr sz="4400">
          <a:solidFill>
            <a:schemeClr val="tx2"/>
          </a:solidFill>
          <a:latin typeface="Tahoma" pitchFamily="34" charset="0"/>
          <a:cs typeface="Arial" pitchFamily="34" charset="0"/>
        </a:defRPr>
      </a:lvl4pPr>
      <a:lvl5pPr algn="l" rtl="0" eaLnBrk="0" fontAlgn="base" hangingPunct="0">
        <a:spcBef>
          <a:spcPct val="0"/>
        </a:spcBef>
        <a:spcAft>
          <a:spcPct val="0"/>
        </a:spcAft>
        <a:defRPr sz="4400">
          <a:solidFill>
            <a:schemeClr val="tx2"/>
          </a:solidFill>
          <a:latin typeface="Tahoma" pitchFamily="34" charset="0"/>
          <a:cs typeface="Arial" pitchFamily="34" charset="0"/>
        </a:defRPr>
      </a:lvl5pPr>
      <a:lvl6pPr marL="457200" algn="l" rtl="0" fontAlgn="base">
        <a:spcBef>
          <a:spcPct val="0"/>
        </a:spcBef>
        <a:spcAft>
          <a:spcPct val="0"/>
        </a:spcAft>
        <a:defRPr sz="4400">
          <a:solidFill>
            <a:schemeClr val="tx2"/>
          </a:solidFill>
          <a:latin typeface="Tahoma" pitchFamily="34" charset="0"/>
          <a:cs typeface="Arial" pitchFamily="34" charset="0"/>
        </a:defRPr>
      </a:lvl6pPr>
      <a:lvl7pPr marL="914400" algn="l" rtl="0" fontAlgn="base">
        <a:spcBef>
          <a:spcPct val="0"/>
        </a:spcBef>
        <a:spcAft>
          <a:spcPct val="0"/>
        </a:spcAft>
        <a:defRPr sz="4400">
          <a:solidFill>
            <a:schemeClr val="tx2"/>
          </a:solidFill>
          <a:latin typeface="Tahoma" pitchFamily="34" charset="0"/>
          <a:cs typeface="Arial" pitchFamily="34" charset="0"/>
        </a:defRPr>
      </a:lvl7pPr>
      <a:lvl8pPr marL="1371600" algn="l" rtl="0" fontAlgn="base">
        <a:spcBef>
          <a:spcPct val="0"/>
        </a:spcBef>
        <a:spcAft>
          <a:spcPct val="0"/>
        </a:spcAft>
        <a:defRPr sz="4400">
          <a:solidFill>
            <a:schemeClr val="tx2"/>
          </a:solidFill>
          <a:latin typeface="Tahoma" pitchFamily="34" charset="0"/>
          <a:cs typeface="Arial" pitchFamily="34" charset="0"/>
        </a:defRPr>
      </a:lvl8pPr>
      <a:lvl9pPr marL="1828800" algn="l" rtl="0" fontAlgn="base">
        <a:spcBef>
          <a:spcPct val="0"/>
        </a:spcBef>
        <a:spcAft>
          <a:spcPct val="0"/>
        </a:spcAft>
        <a:defRPr sz="4400">
          <a:solidFill>
            <a:schemeClr val="tx2"/>
          </a:solidFill>
          <a:latin typeface="Tahoma" pitchFamily="34" charset="0"/>
          <a:cs typeface="Arial"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DDA145C-392C-4739-9214-884DD6CAFF8A}"/>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1" name="Rectangle 3">
            <a:extLst>
              <a:ext uri="{FF2B5EF4-FFF2-40B4-BE49-F238E27FC236}">
                <a16:creationId xmlns:a16="http://schemas.microsoft.com/office/drawing/2014/main" id="{D42909FF-9555-4D88-B3C1-500F1F17E778}"/>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2" name="Rectangle 4">
            <a:extLst>
              <a:ext uri="{FF2B5EF4-FFF2-40B4-BE49-F238E27FC236}">
                <a16:creationId xmlns:a16="http://schemas.microsoft.com/office/drawing/2014/main" id="{CED1CBC7-0E73-4D51-BFF4-141D24EE42F9}"/>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3" name="Rectangle 5">
            <a:extLst>
              <a:ext uri="{FF2B5EF4-FFF2-40B4-BE49-F238E27FC236}">
                <a16:creationId xmlns:a16="http://schemas.microsoft.com/office/drawing/2014/main" id="{232841DF-E042-4420-8F56-261659AA878B}"/>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4" name="Rectangle 6">
            <a:extLst>
              <a:ext uri="{FF2B5EF4-FFF2-40B4-BE49-F238E27FC236}">
                <a16:creationId xmlns:a16="http://schemas.microsoft.com/office/drawing/2014/main" id="{17B8B4C4-B908-4A17-892A-31C4A5974207}"/>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5" name="Rectangle 7">
            <a:extLst>
              <a:ext uri="{FF2B5EF4-FFF2-40B4-BE49-F238E27FC236}">
                <a16:creationId xmlns:a16="http://schemas.microsoft.com/office/drawing/2014/main" id="{0F54A57C-5168-40DD-A20B-2D73EBEB65FF}"/>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6" name="Rectangle 8">
            <a:extLst>
              <a:ext uri="{FF2B5EF4-FFF2-40B4-BE49-F238E27FC236}">
                <a16:creationId xmlns:a16="http://schemas.microsoft.com/office/drawing/2014/main" id="{11A32EE3-4892-4DF4-989A-989F18005B32}"/>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7" name="Rectangle 9">
            <a:extLst>
              <a:ext uri="{FF2B5EF4-FFF2-40B4-BE49-F238E27FC236}">
                <a16:creationId xmlns:a16="http://schemas.microsoft.com/office/drawing/2014/main" id="{7DF34177-40F0-452F-871F-8F10A67A133B}"/>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8" name="Rectangle 10">
            <a:extLst>
              <a:ext uri="{FF2B5EF4-FFF2-40B4-BE49-F238E27FC236}">
                <a16:creationId xmlns:a16="http://schemas.microsoft.com/office/drawing/2014/main" id="{AD690E2F-DBF5-49BB-A925-0341A8FE73C4}"/>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D6CFD7FB-31C8-4BF4-989D-10B53F986DE2}"/>
              </a:ext>
            </a:extLst>
          </p:cNvPr>
          <p:cNvSpPr>
            <a:spLocks noGrp="1" noChangeArrowheads="1"/>
          </p:cNvSpPr>
          <p:nvPr>
            <p:ph type="dt" sz="half" idx="2"/>
          </p:nvPr>
        </p:nvSpPr>
        <p:spPr bwMode="auto">
          <a:xfrm>
            <a:off x="9144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400">
                <a:solidFill>
                  <a:srgbClr val="000000"/>
                </a:solidFill>
                <a:latin typeface="+mn-lt"/>
                <a:cs typeface="Arial" charset="0"/>
              </a:defRPr>
            </a:lvl1pPr>
          </a:lstStyle>
          <a:p>
            <a:pPr>
              <a:defRPr/>
            </a:pPr>
            <a:endParaRPr lang="en-US"/>
          </a:p>
        </p:txBody>
      </p:sp>
      <p:sp>
        <p:nvSpPr>
          <p:cNvPr id="24588" name="Rectangle 12">
            <a:extLst>
              <a:ext uri="{FF2B5EF4-FFF2-40B4-BE49-F238E27FC236}">
                <a16:creationId xmlns:a16="http://schemas.microsoft.com/office/drawing/2014/main" id="{28576282-EB60-4129-9DB2-9802317413AD}"/>
              </a:ext>
            </a:extLst>
          </p:cNvPr>
          <p:cNvSpPr>
            <a:spLocks noGrp="1" noChangeArrowheads="1"/>
          </p:cNvSpPr>
          <p:nvPr>
            <p:ph type="ftr" sz="quarter" idx="3"/>
          </p:nvPr>
        </p:nvSpPr>
        <p:spPr bwMode="auto">
          <a:xfrm>
            <a:off x="3352800" y="6324600"/>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sz="1400">
                <a:solidFill>
                  <a:srgbClr val="000000"/>
                </a:solidFill>
                <a:latin typeface="+mn-lt"/>
                <a:cs typeface="Arial" charset="0"/>
              </a:defRPr>
            </a:lvl1pPr>
          </a:lstStyle>
          <a:p>
            <a:pPr>
              <a:defRPr/>
            </a:pPr>
            <a:endParaRPr lang="en-US"/>
          </a:p>
        </p:txBody>
      </p:sp>
      <p:sp>
        <p:nvSpPr>
          <p:cNvPr id="24589" name="Rectangle 13">
            <a:extLst>
              <a:ext uri="{FF2B5EF4-FFF2-40B4-BE49-F238E27FC236}">
                <a16:creationId xmlns:a16="http://schemas.microsoft.com/office/drawing/2014/main" id="{18AB5DA0-7B63-4C1F-AA8E-2DD08F4A2289}"/>
              </a:ext>
            </a:extLst>
          </p:cNvPr>
          <p:cNvSpPr>
            <a:spLocks noGrp="1" noChangeArrowheads="1"/>
          </p:cNvSpPr>
          <p:nvPr>
            <p:ph type="sldNum" sz="quarter" idx="4"/>
          </p:nvPr>
        </p:nvSpPr>
        <p:spPr bwMode="auto">
          <a:xfrm>
            <a:off x="67818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400">
                <a:solidFill>
                  <a:srgbClr val="000000"/>
                </a:solidFill>
                <a:latin typeface="Tahoma" panose="020B0604030504040204" pitchFamily="34" charset="0"/>
              </a:defRPr>
            </a:lvl1pPr>
          </a:lstStyle>
          <a:p>
            <a:pPr>
              <a:defRPr/>
            </a:pPr>
            <a:fld id="{9C442451-9A92-4C5C-AE90-DD8125861C79}"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705" r:id="rId1"/>
    <p:sldLayoutId id="2147484684" r:id="rId2"/>
    <p:sldLayoutId id="2147484685" r:id="rId3"/>
    <p:sldLayoutId id="2147484686" r:id="rId4"/>
    <p:sldLayoutId id="2147484687" r:id="rId5"/>
    <p:sldLayoutId id="2147484688" r:id="rId6"/>
    <p:sldLayoutId id="2147484689" r:id="rId7"/>
    <p:sldLayoutId id="2147484690" r:id="rId8"/>
    <p:sldLayoutId id="2147484691" r:id="rId9"/>
    <p:sldLayoutId id="2147484692" r:id="rId10"/>
    <p:sldLayoutId id="2147484693"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charset="0"/>
        </a:defRPr>
      </a:lvl2pPr>
      <a:lvl3pPr algn="l" rtl="0" eaLnBrk="0" fontAlgn="base" hangingPunct="0">
        <a:spcBef>
          <a:spcPct val="0"/>
        </a:spcBef>
        <a:spcAft>
          <a:spcPct val="0"/>
        </a:spcAft>
        <a:defRPr sz="4400">
          <a:solidFill>
            <a:schemeClr val="tx2"/>
          </a:solidFill>
          <a:latin typeface="Tahoma" pitchFamily="34" charset="0"/>
          <a:cs typeface="Arial" charset="0"/>
        </a:defRPr>
      </a:lvl3pPr>
      <a:lvl4pPr algn="l" rtl="0" eaLnBrk="0" fontAlgn="base" hangingPunct="0">
        <a:spcBef>
          <a:spcPct val="0"/>
        </a:spcBef>
        <a:spcAft>
          <a:spcPct val="0"/>
        </a:spcAft>
        <a:defRPr sz="4400">
          <a:solidFill>
            <a:schemeClr val="tx2"/>
          </a:solidFill>
          <a:latin typeface="Tahoma" pitchFamily="34" charset="0"/>
          <a:cs typeface="Arial" charset="0"/>
        </a:defRPr>
      </a:lvl4pPr>
      <a:lvl5pPr algn="l" rtl="0" eaLnBrk="0" fontAlgn="base" hangingPunct="0">
        <a:spcBef>
          <a:spcPct val="0"/>
        </a:spcBef>
        <a:spcAft>
          <a:spcPct val="0"/>
        </a:spcAft>
        <a:defRPr sz="4400">
          <a:solidFill>
            <a:schemeClr val="tx2"/>
          </a:solidFill>
          <a:latin typeface="Tahoma" pitchFamily="34" charset="0"/>
          <a:cs typeface="Arial" charset="0"/>
        </a:defRPr>
      </a:lvl5pPr>
      <a:lvl6pPr marL="457200" algn="l" rtl="0" fontAlgn="base">
        <a:spcBef>
          <a:spcPct val="0"/>
        </a:spcBef>
        <a:spcAft>
          <a:spcPct val="0"/>
        </a:spcAft>
        <a:defRPr sz="4400">
          <a:solidFill>
            <a:schemeClr val="tx2"/>
          </a:solidFill>
          <a:latin typeface="Tahoma" pitchFamily="34" charset="0"/>
          <a:cs typeface="Arial" charset="0"/>
        </a:defRPr>
      </a:lvl6pPr>
      <a:lvl7pPr marL="914400" algn="l" rtl="0" fontAlgn="base">
        <a:spcBef>
          <a:spcPct val="0"/>
        </a:spcBef>
        <a:spcAft>
          <a:spcPct val="0"/>
        </a:spcAft>
        <a:defRPr sz="4400">
          <a:solidFill>
            <a:schemeClr val="tx2"/>
          </a:solidFill>
          <a:latin typeface="Tahoma" pitchFamily="34" charset="0"/>
          <a:cs typeface="Arial" charset="0"/>
        </a:defRPr>
      </a:lvl7pPr>
      <a:lvl8pPr marL="1371600" algn="l" rtl="0" fontAlgn="base">
        <a:spcBef>
          <a:spcPct val="0"/>
        </a:spcBef>
        <a:spcAft>
          <a:spcPct val="0"/>
        </a:spcAft>
        <a:defRPr sz="4400">
          <a:solidFill>
            <a:schemeClr val="tx2"/>
          </a:solidFill>
          <a:latin typeface="Tahoma" pitchFamily="34" charset="0"/>
          <a:cs typeface="Arial" charset="0"/>
        </a:defRPr>
      </a:lvl8pPr>
      <a:lvl9pPr marL="1828800" algn="l" rtl="0" fontAlgn="base">
        <a:spcBef>
          <a:spcPct val="0"/>
        </a:spcBef>
        <a:spcAft>
          <a:spcPct val="0"/>
        </a:spcAft>
        <a:defRPr sz="4400">
          <a:solidFill>
            <a:schemeClr val="tx2"/>
          </a:solidFill>
          <a:latin typeface="Tahoma" pitchFamily="34" charset="0"/>
          <a:cs typeface="Arial"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84A0FF4B-A473-4A6D-917B-731EF3101A28}"/>
              </a:ext>
            </a:extLst>
          </p:cNvPr>
          <p:cNvSpPr>
            <a:spLocks noGrp="1" noChangeArrowheads="1"/>
          </p:cNvSpPr>
          <p:nvPr>
            <p:ph type="ctrTitle"/>
          </p:nvPr>
        </p:nvSpPr>
        <p:spPr>
          <a:xfrm>
            <a:off x="990600" y="1828800"/>
            <a:ext cx="7541840" cy="1143000"/>
          </a:xfrm>
        </p:spPr>
        <p:txBody>
          <a:bodyPr/>
          <a:lstStyle/>
          <a:p>
            <a:pPr algn="l"/>
            <a:r>
              <a:rPr lang="en-GB" sz="2800" b="1" i="0" u="none" strike="noStrike" baseline="0" dirty="0">
                <a:solidFill>
                  <a:srgbClr val="0070C0"/>
                </a:solidFill>
              </a:rPr>
              <a:t>Occupational Specialist Component Content: Digital Production, Design  and Development</a:t>
            </a:r>
            <a:endParaRPr lang="en-GB" altLang="en-US" sz="2800" b="1" dirty="0">
              <a:solidFill>
                <a:srgbClr val="0070C0"/>
              </a:solidFill>
            </a:endParaRPr>
          </a:p>
        </p:txBody>
      </p:sp>
      <p:sp>
        <p:nvSpPr>
          <p:cNvPr id="15363" name="TextBox 4">
            <a:extLst>
              <a:ext uri="{FF2B5EF4-FFF2-40B4-BE49-F238E27FC236}">
                <a16:creationId xmlns:a16="http://schemas.microsoft.com/office/drawing/2014/main" id="{A6B8EB1F-0C6E-404F-B5DE-EE88FE151636}"/>
              </a:ext>
            </a:extLst>
          </p:cNvPr>
          <p:cNvSpPr txBox="1">
            <a:spLocks noChangeArrowheads="1"/>
          </p:cNvSpPr>
          <p:nvPr/>
        </p:nvSpPr>
        <p:spPr bwMode="auto">
          <a:xfrm>
            <a:off x="323528" y="3717032"/>
            <a:ext cx="8613911" cy="2952328"/>
          </a:xfrm>
          <a:prstGeom prst="rect">
            <a:avLst/>
          </a:prstGeom>
          <a:noFill/>
          <a:ln>
            <a:noFill/>
          </a:ln>
        </p:spPr>
        <p:txBody>
          <a:bodyPr/>
          <a:lstStyle>
            <a:lvl1pPr marL="171450" indent="-171450"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GB" sz="1400" b="0" i="0" u="none" strike="noStrike" baseline="0" dirty="0">
                <a:solidFill>
                  <a:srgbClr val="000000"/>
                </a:solidFill>
                <a:latin typeface="+mn-lt"/>
              </a:rPr>
              <a:t>The T Level T Level Technical Qualification in Digital: Digital Production, Design and Development includes a single Occupational Specialist Component. Therefore, there is a single synoptic assessment for the Occupational Specialist Component, which is an extended ‘design, development and implementation’ project. The synoptic element of the project is important in order to ensure that students are able to demonstrate threshold competence: this is the principal reason why the Occupational Specialism is assessed via a single extended project assessment to ensure that students are able to evidence all the skills required by the Performance Outcomes. </a:t>
            </a:r>
          </a:p>
          <a:p>
            <a:r>
              <a:rPr lang="en-GB" sz="1400" b="0" i="0" u="none" strike="noStrike" baseline="0" dirty="0">
                <a:solidFill>
                  <a:srgbClr val="000000"/>
                </a:solidFill>
                <a:latin typeface="+mn-lt"/>
              </a:rPr>
              <a:t>The T Level Technical Qualification in Digital: Digital Production, Design and Development Occupational Specialist Component consists of several activities grouped into four substantive tasks. </a:t>
            </a:r>
          </a:p>
          <a:p>
            <a:r>
              <a:rPr lang="en-GB" sz="1400" b="0" i="0" u="none" strike="noStrike" baseline="0" dirty="0">
                <a:solidFill>
                  <a:srgbClr val="000000"/>
                </a:solidFill>
                <a:latin typeface="+mn-lt"/>
              </a:rPr>
              <a:t>Each task will be completed during a window set by Pearson during which you will schedule supervised assessment sessions. In some cases, tasks will also involve opportunities for unsupervised activities where the requirements of the skills being assessed make this necessary.</a:t>
            </a:r>
            <a:endParaRPr lang="en-GB" altLang="en-US" sz="1400"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2285CEB2-10D1-4631-9F2F-31DF9A52EEBC}"/>
              </a:ext>
            </a:extLst>
          </p:cNvPr>
          <p:cNvSpPr>
            <a:spLocks noGrp="1" noChangeArrowheads="1"/>
          </p:cNvSpPr>
          <p:nvPr>
            <p:ph type="title"/>
          </p:nvPr>
        </p:nvSpPr>
        <p:spPr>
          <a:xfrm>
            <a:off x="1411288" y="404813"/>
            <a:ext cx="7497762" cy="939800"/>
          </a:xfrm>
        </p:spPr>
        <p:txBody>
          <a:bodyPr/>
          <a:lstStyle/>
          <a:p>
            <a:r>
              <a:rPr lang="en-GB" altLang="en-US" sz="3600" b="1">
                <a:solidFill>
                  <a:srgbClr val="0070C0"/>
                </a:solidFill>
              </a:rPr>
              <a:t>Learning expectations </a:t>
            </a:r>
          </a:p>
        </p:txBody>
      </p:sp>
      <p:sp>
        <p:nvSpPr>
          <p:cNvPr id="18435" name="Content Placeholder 2">
            <a:extLst>
              <a:ext uri="{FF2B5EF4-FFF2-40B4-BE49-F238E27FC236}">
                <a16:creationId xmlns:a16="http://schemas.microsoft.com/office/drawing/2014/main" id="{82411620-1056-48A1-A0DF-D2E672B1D3A4}"/>
              </a:ext>
            </a:extLst>
          </p:cNvPr>
          <p:cNvSpPr>
            <a:spLocks noGrp="1" noChangeArrowheads="1"/>
          </p:cNvSpPr>
          <p:nvPr>
            <p:ph idx="1"/>
          </p:nvPr>
        </p:nvSpPr>
        <p:spPr>
          <a:xfrm>
            <a:off x="1187450" y="1773238"/>
            <a:ext cx="7497763" cy="4800600"/>
          </a:xfrm>
        </p:spPr>
        <p:txBody>
          <a:bodyPr/>
          <a:lstStyle/>
          <a:p>
            <a:r>
              <a:rPr lang="en-GB" altLang="en-US" sz="1800">
                <a:solidFill>
                  <a:srgbClr val="FF0000"/>
                </a:solidFill>
                <a:latin typeface="Arial" panose="020B0604020202020204" pitchFamily="34" charset="0"/>
              </a:rPr>
              <a:t>Attendance and punctuality</a:t>
            </a:r>
            <a:r>
              <a:rPr lang="en-GB" altLang="en-US" sz="1800">
                <a:latin typeface="Arial" panose="020B0604020202020204" pitchFamily="34" charset="0"/>
              </a:rPr>
              <a:t>: Extremely important you will leave college with a reference from us for either employment or university.</a:t>
            </a:r>
          </a:p>
          <a:p>
            <a:endParaRPr lang="en-GB" altLang="en-US" sz="1800">
              <a:latin typeface="Arial" panose="020B0604020202020204" pitchFamily="34" charset="0"/>
            </a:endParaRPr>
          </a:p>
          <a:p>
            <a:r>
              <a:rPr lang="en-GB" altLang="en-US" sz="1800">
                <a:solidFill>
                  <a:srgbClr val="FF0000"/>
                </a:solidFill>
                <a:latin typeface="Arial" panose="020B0604020202020204" pitchFamily="34" charset="0"/>
              </a:rPr>
              <a:t>Positive behaviour and attitude</a:t>
            </a:r>
            <a:r>
              <a:rPr lang="en-GB" altLang="en-US" sz="1800">
                <a:latin typeface="Arial" panose="020B0604020202020204" pitchFamily="34" charset="0"/>
              </a:rPr>
              <a:t>: you will get further in life and in class. </a:t>
            </a:r>
          </a:p>
          <a:p>
            <a:endParaRPr lang="en-GB" altLang="en-US" sz="1800">
              <a:latin typeface="Arial" panose="020B0604020202020204" pitchFamily="34" charset="0"/>
            </a:endParaRPr>
          </a:p>
          <a:p>
            <a:r>
              <a:rPr lang="en-GB" altLang="en-US" sz="1800">
                <a:solidFill>
                  <a:srgbClr val="FF0000"/>
                </a:solidFill>
                <a:latin typeface="Arial" panose="020B0604020202020204" pitchFamily="34" charset="0"/>
              </a:rPr>
              <a:t>Achieve the best you can</a:t>
            </a:r>
            <a:r>
              <a:rPr lang="en-GB" altLang="en-US" sz="1800">
                <a:latin typeface="Arial" panose="020B0604020202020204" pitchFamily="34" charset="0"/>
              </a:rPr>
              <a:t>: Aim high don’t just go for a pass. </a:t>
            </a:r>
          </a:p>
          <a:p>
            <a:endParaRPr lang="en-GB" altLang="en-US" sz="1800">
              <a:latin typeface="Arial" panose="020B0604020202020204" pitchFamily="34" charset="0"/>
            </a:endParaRPr>
          </a:p>
          <a:p>
            <a:r>
              <a:rPr lang="en-GB" altLang="en-US" sz="1800">
                <a:solidFill>
                  <a:srgbClr val="FF0000"/>
                </a:solidFill>
                <a:latin typeface="Arial" panose="020B0604020202020204" pitchFamily="34" charset="0"/>
              </a:rPr>
              <a:t>Submit assignments on time</a:t>
            </a:r>
            <a:r>
              <a:rPr lang="en-GB" altLang="en-US" sz="1800">
                <a:latin typeface="Arial" panose="020B0604020202020204" pitchFamily="34" charset="0"/>
              </a:rPr>
              <a:t>: Follow your deadline dates at all times. ( unless special circumstances) </a:t>
            </a:r>
          </a:p>
          <a:p>
            <a:endParaRPr lang="en-GB" altLang="en-US" sz="1800">
              <a:latin typeface="Arial" panose="020B0604020202020204" pitchFamily="34" charset="0"/>
            </a:endParaRPr>
          </a:p>
          <a:p>
            <a:r>
              <a:rPr lang="en-GB" altLang="en-US" sz="1800">
                <a:solidFill>
                  <a:srgbClr val="FF0000"/>
                </a:solidFill>
                <a:latin typeface="Arial" panose="020B0604020202020204" pitchFamily="34" charset="0"/>
              </a:rPr>
              <a:t>Work Independently: </a:t>
            </a:r>
            <a:r>
              <a:rPr lang="en-GB" altLang="en-US" sz="1800">
                <a:latin typeface="Arial" panose="020B0604020202020204" pitchFamily="34" charset="0"/>
              </a:rPr>
              <a:t>All work must be your own no copies/ plagiarism from websites/others work. </a:t>
            </a:r>
          </a:p>
          <a:p>
            <a:endParaRPr lang="en-GB" altLang="en-US" sz="1800">
              <a:latin typeface="Arial" panose="020B0604020202020204" pitchFamily="34" charset="0"/>
            </a:endParaRPr>
          </a:p>
          <a:p>
            <a:r>
              <a:rPr lang="en-GB" altLang="en-US" sz="1800">
                <a:solidFill>
                  <a:srgbClr val="FF0000"/>
                </a:solidFill>
                <a:latin typeface="Arial" panose="020B0604020202020204" pitchFamily="34" charset="0"/>
              </a:rPr>
              <a:t>No mobile phones/ earphones whilst lecturer delivering.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58B29101-E458-4999-AB1F-0DDCEE6400B5}"/>
              </a:ext>
            </a:extLst>
          </p:cNvPr>
          <p:cNvSpPr>
            <a:spLocks noGrp="1" noChangeArrowheads="1"/>
          </p:cNvSpPr>
          <p:nvPr>
            <p:ph type="title"/>
          </p:nvPr>
        </p:nvSpPr>
        <p:spPr>
          <a:xfrm>
            <a:off x="1403350" y="404813"/>
            <a:ext cx="7505700" cy="939800"/>
          </a:xfrm>
        </p:spPr>
        <p:txBody>
          <a:bodyPr/>
          <a:lstStyle/>
          <a:p>
            <a:pPr eaLnBrk="1" hangingPunct="1">
              <a:defRPr/>
            </a:pPr>
            <a:r>
              <a:rPr lang="en-GB" altLang="en-US" sz="3600" b="1" dirty="0">
                <a:solidFill>
                  <a:srgbClr val="0070C0"/>
                </a:solidFill>
                <a:latin typeface="+mn-lt"/>
              </a:rPr>
              <a:t>Learning Objective</a:t>
            </a:r>
            <a:r>
              <a:rPr lang="en-GB" altLang="en-US" sz="3600" b="1" dirty="0">
                <a:solidFill>
                  <a:srgbClr val="0070C0"/>
                </a:solidFill>
              </a:rPr>
              <a:t>s</a:t>
            </a:r>
          </a:p>
        </p:txBody>
      </p:sp>
      <p:sp>
        <p:nvSpPr>
          <p:cNvPr id="4099" name="Rectangle 3">
            <a:extLst>
              <a:ext uri="{FF2B5EF4-FFF2-40B4-BE49-F238E27FC236}">
                <a16:creationId xmlns:a16="http://schemas.microsoft.com/office/drawing/2014/main" id="{7DB3D3F9-BEED-428F-A8CE-878CE2C540AD}"/>
              </a:ext>
            </a:extLst>
          </p:cNvPr>
          <p:cNvSpPr>
            <a:spLocks noGrp="1" noChangeArrowheads="1"/>
          </p:cNvSpPr>
          <p:nvPr>
            <p:ph type="body" idx="1"/>
          </p:nvPr>
        </p:nvSpPr>
        <p:spPr>
          <a:xfrm>
            <a:off x="900113" y="2239963"/>
            <a:ext cx="7772400" cy="2376487"/>
          </a:xfrm>
        </p:spPr>
        <p:txBody>
          <a:bodyPr/>
          <a:lstStyle/>
          <a:p>
            <a:pPr eaLnBrk="1" hangingPunct="1">
              <a:defRPr/>
            </a:pPr>
            <a:r>
              <a:rPr lang="en-GB" sz="2000" b="1" dirty="0">
                <a:latin typeface="Arial" pitchFamily="34" charset="0"/>
              </a:rPr>
              <a:t>Aims:</a:t>
            </a:r>
          </a:p>
          <a:p>
            <a:pPr lvl="1" eaLnBrk="1" hangingPunct="1">
              <a:defRPr/>
            </a:pPr>
            <a:r>
              <a:rPr lang="en-GB" sz="2000" dirty="0"/>
              <a:t>Introduce the unit and the learning outcomes</a:t>
            </a:r>
          </a:p>
          <a:p>
            <a:pPr marL="457200" lvl="1" indent="0" eaLnBrk="1" hangingPunct="1">
              <a:buFont typeface="Wingdings" panose="05000000000000000000" pitchFamily="2" charset="2"/>
              <a:buNone/>
              <a:defRPr/>
            </a:pPr>
            <a:endParaRPr lang="en-GB" sz="2000" dirty="0">
              <a:latin typeface="Arial" pitchFamily="34" charset="0"/>
            </a:endParaRPr>
          </a:p>
          <a:p>
            <a:pPr eaLnBrk="1" hangingPunct="1">
              <a:defRPr/>
            </a:pPr>
            <a:r>
              <a:rPr lang="en-GB" sz="2000" b="1" dirty="0">
                <a:latin typeface="Arial" pitchFamily="34" charset="0"/>
              </a:rPr>
              <a:t>Objectives</a:t>
            </a:r>
            <a:r>
              <a:rPr lang="en-US" sz="2000" b="1" dirty="0">
                <a:latin typeface="Arial" pitchFamily="34" charset="0"/>
              </a:rPr>
              <a:t>:</a:t>
            </a:r>
          </a:p>
          <a:p>
            <a:pPr lvl="1" eaLnBrk="1" hangingPunct="1">
              <a:defRPr/>
            </a:pPr>
            <a:r>
              <a:rPr lang="en-US" sz="2000" dirty="0">
                <a:latin typeface="Arial" pitchFamily="34" charset="0"/>
              </a:rPr>
              <a:t>To understand the learning expectations</a:t>
            </a:r>
          </a:p>
          <a:p>
            <a:pPr eaLnBrk="1" hangingPunct="1">
              <a:defRPr/>
            </a:pPr>
            <a:endParaRPr lang="en-US" sz="2000" b="1" dirty="0">
              <a:latin typeface="Arial" pitchFamily="34" charset="0"/>
            </a:endParaRPr>
          </a:p>
          <a:p>
            <a:pPr lvl="1" eaLnBrk="1" hangingPunct="1">
              <a:defRPr/>
            </a:pPr>
            <a:endParaRPr lang="en-GB" sz="2000" dirty="0"/>
          </a:p>
          <a:p>
            <a:pPr lvl="1" eaLnBrk="1" hangingPunct="1">
              <a:defRPr/>
            </a:pPr>
            <a:endParaRPr lang="en-GB" sz="2000" dirty="0"/>
          </a:p>
          <a:p>
            <a:pPr marL="457200" lvl="1" indent="0" eaLnBrk="1" hangingPunct="1">
              <a:buFont typeface="Wingdings" panose="05000000000000000000" pitchFamily="2" charset="2"/>
              <a:buNone/>
              <a:defRPr/>
            </a:pPr>
            <a:endParaRPr lang="en-GB"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1F8C23E0-A09D-48FD-AA34-ED9B877977BC}"/>
              </a:ext>
            </a:extLst>
          </p:cNvPr>
          <p:cNvSpPr>
            <a:spLocks noGrp="1" noChangeArrowheads="1"/>
          </p:cNvSpPr>
          <p:nvPr>
            <p:ph type="title"/>
          </p:nvPr>
        </p:nvSpPr>
        <p:spPr>
          <a:xfrm>
            <a:off x="1258888" y="404813"/>
            <a:ext cx="7650162" cy="939800"/>
          </a:xfrm>
        </p:spPr>
        <p:txBody>
          <a:bodyPr/>
          <a:lstStyle/>
          <a:p>
            <a:r>
              <a:rPr lang="en-GB" altLang="en-US" sz="3600" b="1">
                <a:solidFill>
                  <a:srgbClr val="0070C0"/>
                </a:solidFill>
              </a:rPr>
              <a:t>The unit outcomes</a:t>
            </a:r>
            <a:endParaRPr lang="en-US" altLang="en-US" sz="3600" b="1">
              <a:solidFill>
                <a:srgbClr val="0070C0"/>
              </a:solidFill>
            </a:endParaRPr>
          </a:p>
        </p:txBody>
      </p:sp>
      <p:sp>
        <p:nvSpPr>
          <p:cNvPr id="21507" name="Content Placeholder 2">
            <a:extLst>
              <a:ext uri="{FF2B5EF4-FFF2-40B4-BE49-F238E27FC236}">
                <a16:creationId xmlns:a16="http://schemas.microsoft.com/office/drawing/2014/main" id="{410D7DA5-7585-4B84-942A-E699A30C7337}"/>
              </a:ext>
            </a:extLst>
          </p:cNvPr>
          <p:cNvSpPr>
            <a:spLocks noGrp="1" noChangeArrowheads="1"/>
          </p:cNvSpPr>
          <p:nvPr>
            <p:ph idx="1"/>
          </p:nvPr>
        </p:nvSpPr>
        <p:spPr>
          <a:xfrm>
            <a:off x="251520" y="1988840"/>
            <a:ext cx="8351837" cy="4338948"/>
          </a:xfrm>
        </p:spPr>
        <p:txBody>
          <a:bodyPr/>
          <a:lstStyle/>
          <a:p>
            <a:pPr algn="l">
              <a:buSzPct val="100000"/>
              <a:buFont typeface="+mj-lt"/>
              <a:buAutoNum type="arabicPeriod"/>
            </a:pPr>
            <a:r>
              <a:rPr lang="en-GB" sz="1600" b="1" i="0" u="none" strike="noStrike" baseline="0" dirty="0"/>
              <a:t>Be able to analyse a problem to define requirements and acceptance criteria aligned to user needs</a:t>
            </a:r>
          </a:p>
          <a:p>
            <a:pPr algn="l"/>
            <a:endParaRPr lang="en-GB" sz="1600" b="1" i="0" u="none" strike="noStrike" baseline="0" dirty="0"/>
          </a:p>
          <a:p>
            <a:pPr lvl="1"/>
            <a:r>
              <a:rPr lang="en-GB" sz="1600" b="1" i="0" u="none" strike="noStrike" baseline="0" dirty="0"/>
              <a:t>1.1 </a:t>
            </a:r>
            <a:r>
              <a:rPr lang="en-GB" sz="1600" i="0" u="none" strike="noStrike" baseline="0" dirty="0"/>
              <a:t>Students will understand the stages of the software development lifecycle and be able to apply them to digital projects</a:t>
            </a:r>
          </a:p>
          <a:p>
            <a:pPr lvl="1"/>
            <a:r>
              <a:rPr lang="en-GB" sz="1600" b="1" i="0" u="none" strike="noStrike" baseline="0" dirty="0"/>
              <a:t>1.2 </a:t>
            </a:r>
            <a:r>
              <a:rPr lang="en-GB" sz="1600" i="0" u="none" strike="noStrike" baseline="0" dirty="0"/>
              <a:t>Understand the roles and responsibilities of the digital team within the software development lifecycle</a:t>
            </a:r>
          </a:p>
          <a:p>
            <a:pPr lvl="1"/>
            <a:r>
              <a:rPr lang="en-GB" sz="1600" b="1" i="0" u="none" strike="noStrike" baseline="0" dirty="0"/>
              <a:t>1.3 </a:t>
            </a:r>
            <a:r>
              <a:rPr lang="en-GB" sz="1600" i="0" u="none" strike="noStrike" baseline="0" dirty="0"/>
              <a:t>Understand the key features of, and be able to select, appropriate project methodologies when developing a software solution</a:t>
            </a:r>
          </a:p>
          <a:p>
            <a:pPr lvl="1"/>
            <a:r>
              <a:rPr lang="en-GB" sz="1600" b="1" i="0" u="none" strike="noStrike" baseline="0" dirty="0"/>
              <a:t>1.4 </a:t>
            </a:r>
            <a:r>
              <a:rPr lang="en-GB" sz="1600" i="0" u="none" strike="noStrike" baseline="0" dirty="0"/>
              <a:t>Understand and define the functional and non-functional requirements of a software solution</a:t>
            </a:r>
          </a:p>
          <a:p>
            <a:pPr lvl="1"/>
            <a:r>
              <a:rPr lang="en-GB" sz="1600" b="1" i="0" u="none" strike="noStrike" baseline="0" dirty="0"/>
              <a:t>1.5 </a:t>
            </a:r>
            <a:r>
              <a:rPr lang="en-GB" sz="1600" i="0" u="none" strike="noStrike" baseline="0" dirty="0"/>
              <a:t>Investigate the current and potential uses of emerging technologies and how they impact on industries</a:t>
            </a:r>
          </a:p>
          <a:p>
            <a:pPr lvl="1"/>
            <a:r>
              <a:rPr lang="en-GB" sz="1600" b="1" i="0" u="none" strike="noStrike" baseline="0" dirty="0"/>
              <a:t>1.6 </a:t>
            </a:r>
            <a:r>
              <a:rPr lang="en-GB" sz="1600" i="0" u="none" strike="noStrike" baseline="0" dirty="0"/>
              <a:t>Understand how to identify and be able to address personal training needs that can boost job performance during the software development process.</a:t>
            </a:r>
            <a:endParaRPr lang="en-GB" alt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1F8C23E0-A09D-48FD-AA34-ED9B877977BC}"/>
              </a:ext>
            </a:extLst>
          </p:cNvPr>
          <p:cNvSpPr>
            <a:spLocks noGrp="1" noChangeArrowheads="1"/>
          </p:cNvSpPr>
          <p:nvPr>
            <p:ph type="title"/>
          </p:nvPr>
        </p:nvSpPr>
        <p:spPr>
          <a:xfrm>
            <a:off x="1258888" y="404813"/>
            <a:ext cx="7650162" cy="939800"/>
          </a:xfrm>
        </p:spPr>
        <p:txBody>
          <a:bodyPr/>
          <a:lstStyle/>
          <a:p>
            <a:r>
              <a:rPr lang="en-GB" altLang="en-US" sz="3600" b="1">
                <a:solidFill>
                  <a:srgbClr val="0070C0"/>
                </a:solidFill>
              </a:rPr>
              <a:t>The unit outcomes</a:t>
            </a:r>
            <a:endParaRPr lang="en-US" altLang="en-US" sz="3600" b="1">
              <a:solidFill>
                <a:srgbClr val="0070C0"/>
              </a:solidFill>
            </a:endParaRPr>
          </a:p>
        </p:txBody>
      </p:sp>
      <p:sp>
        <p:nvSpPr>
          <p:cNvPr id="21507" name="Content Placeholder 2">
            <a:extLst>
              <a:ext uri="{FF2B5EF4-FFF2-40B4-BE49-F238E27FC236}">
                <a16:creationId xmlns:a16="http://schemas.microsoft.com/office/drawing/2014/main" id="{410D7DA5-7585-4B84-942A-E699A30C7337}"/>
              </a:ext>
            </a:extLst>
          </p:cNvPr>
          <p:cNvSpPr>
            <a:spLocks noGrp="1" noChangeArrowheads="1"/>
          </p:cNvSpPr>
          <p:nvPr>
            <p:ph idx="1"/>
          </p:nvPr>
        </p:nvSpPr>
        <p:spPr>
          <a:xfrm>
            <a:off x="251520" y="1988840"/>
            <a:ext cx="8351837" cy="4248472"/>
          </a:xfrm>
        </p:spPr>
        <p:txBody>
          <a:bodyPr/>
          <a:lstStyle/>
          <a:p>
            <a:r>
              <a:rPr lang="en-GB" sz="1800" b="1" i="0" u="none" strike="noStrike" baseline="0" dirty="0"/>
              <a:t>1.1 </a:t>
            </a:r>
            <a:r>
              <a:rPr lang="en-GB" sz="1800" i="0" u="none" strike="noStrike" baseline="0" dirty="0"/>
              <a:t>Students will understand the stages of the software development lifecycle and be able to apply them to digital projects</a:t>
            </a:r>
          </a:p>
          <a:p>
            <a:endParaRPr lang="en-GB" sz="1800" b="1" i="0" u="none" strike="noStrike" baseline="0" dirty="0"/>
          </a:p>
          <a:p>
            <a:pPr lvl="1"/>
            <a:r>
              <a:rPr lang="en-GB" sz="1800" b="0" i="0" u="none" strike="noStrike" baseline="0" dirty="0"/>
              <a:t>Research and familiarization</a:t>
            </a:r>
          </a:p>
          <a:p>
            <a:pPr lvl="1"/>
            <a:r>
              <a:rPr lang="en-GB" sz="1800" b="0" i="0" u="none" strike="noStrike" baseline="0" dirty="0"/>
              <a:t>Planning and requirement analysis</a:t>
            </a:r>
          </a:p>
          <a:p>
            <a:pPr lvl="1"/>
            <a:r>
              <a:rPr lang="en-GB" sz="1800" b="0" i="0" u="none" strike="noStrike" baseline="0" dirty="0"/>
              <a:t>Performing a user analysis</a:t>
            </a:r>
          </a:p>
          <a:p>
            <a:pPr lvl="1"/>
            <a:r>
              <a:rPr lang="en-GB" sz="1800" b="0" i="0" u="none" strike="noStrike" baseline="0" dirty="0"/>
              <a:t>Designing the product</a:t>
            </a:r>
            <a:endParaRPr lang="en-GB" sz="1800" dirty="0"/>
          </a:p>
          <a:p>
            <a:pPr lvl="1"/>
            <a:r>
              <a:rPr lang="en-GB" sz="1800" b="0" i="0" u="none" strike="noStrike" baseline="0" dirty="0"/>
              <a:t>Developing and testing the product</a:t>
            </a:r>
          </a:p>
          <a:p>
            <a:pPr lvl="1"/>
            <a:r>
              <a:rPr lang="en-GB" sz="1800" b="0" i="0" u="none" strike="noStrike" baseline="0" dirty="0"/>
              <a:t>Deploying/implementing the product</a:t>
            </a:r>
            <a:endParaRPr lang="en-GB" sz="1800" dirty="0"/>
          </a:p>
          <a:p>
            <a:pPr lvl="1"/>
            <a:r>
              <a:rPr lang="en-GB" sz="1800" b="0" i="0" u="none" strike="noStrike" baseline="0"/>
              <a:t>Maintenance</a:t>
            </a:r>
            <a:endParaRPr lang="en-GB" sz="1800" b="1" i="0" u="none" strike="noStrike" baseline="0" dirty="0"/>
          </a:p>
        </p:txBody>
      </p:sp>
    </p:spTree>
    <p:extLst>
      <p:ext uri="{BB962C8B-B14F-4D97-AF65-F5344CB8AC3E}">
        <p14:creationId xmlns:p14="http://schemas.microsoft.com/office/powerpoint/2010/main" val="1891336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1F8C23E0-A09D-48FD-AA34-ED9B877977BC}"/>
              </a:ext>
            </a:extLst>
          </p:cNvPr>
          <p:cNvSpPr>
            <a:spLocks noGrp="1" noChangeArrowheads="1"/>
          </p:cNvSpPr>
          <p:nvPr>
            <p:ph type="title"/>
          </p:nvPr>
        </p:nvSpPr>
        <p:spPr>
          <a:xfrm>
            <a:off x="1258888" y="404813"/>
            <a:ext cx="7650162" cy="939800"/>
          </a:xfrm>
        </p:spPr>
        <p:txBody>
          <a:bodyPr/>
          <a:lstStyle/>
          <a:p>
            <a:r>
              <a:rPr lang="en-GB" altLang="en-US" sz="3600" b="1">
                <a:solidFill>
                  <a:srgbClr val="0070C0"/>
                </a:solidFill>
              </a:rPr>
              <a:t>The unit outcomes</a:t>
            </a:r>
            <a:endParaRPr lang="en-US" altLang="en-US" sz="3600" b="1">
              <a:solidFill>
                <a:srgbClr val="0070C0"/>
              </a:solidFill>
            </a:endParaRPr>
          </a:p>
        </p:txBody>
      </p:sp>
      <p:sp>
        <p:nvSpPr>
          <p:cNvPr id="21507" name="Content Placeholder 2">
            <a:extLst>
              <a:ext uri="{FF2B5EF4-FFF2-40B4-BE49-F238E27FC236}">
                <a16:creationId xmlns:a16="http://schemas.microsoft.com/office/drawing/2014/main" id="{410D7DA5-7585-4B84-942A-E699A30C7337}"/>
              </a:ext>
            </a:extLst>
          </p:cNvPr>
          <p:cNvSpPr>
            <a:spLocks noGrp="1" noChangeArrowheads="1"/>
          </p:cNvSpPr>
          <p:nvPr>
            <p:ph idx="1"/>
          </p:nvPr>
        </p:nvSpPr>
        <p:spPr>
          <a:xfrm>
            <a:off x="179512" y="1772816"/>
            <a:ext cx="8729538" cy="4338948"/>
          </a:xfrm>
        </p:spPr>
        <p:txBody>
          <a:bodyPr/>
          <a:lstStyle/>
          <a:p>
            <a:pPr algn="l"/>
            <a:r>
              <a:rPr lang="en-GB" sz="1800" b="1" i="0" u="none" strike="noStrike" baseline="0" dirty="0"/>
              <a:t>1.2 </a:t>
            </a:r>
            <a:r>
              <a:rPr lang="en-GB" sz="1800" i="0" u="none" strike="noStrike" baseline="0" dirty="0"/>
              <a:t>Understand the roles and responsibilities of the digital team within the software development lifecycle</a:t>
            </a:r>
          </a:p>
          <a:p>
            <a:pPr algn="l"/>
            <a:endParaRPr lang="en-GB" sz="1600" b="1" i="0" u="none" strike="noStrike" baseline="0" dirty="0"/>
          </a:p>
          <a:p>
            <a:pPr lvl="1"/>
            <a:r>
              <a:rPr lang="en-GB" sz="1400" b="1" i="0" u="none" strike="noStrike" baseline="0" dirty="0"/>
              <a:t>Product owner/client </a:t>
            </a:r>
            <a:r>
              <a:rPr lang="en-GB" sz="1400" b="0" i="0" u="none" strike="noStrike" baseline="0" dirty="0"/>
              <a:t>– sets and communicates the requirements of the product.</a:t>
            </a:r>
          </a:p>
          <a:p>
            <a:pPr lvl="1"/>
            <a:r>
              <a:rPr lang="en-GB" sz="1400" b="1" i="0" u="none" strike="noStrike" baseline="0" dirty="0"/>
              <a:t>Scrum Master </a:t>
            </a:r>
            <a:r>
              <a:rPr lang="en-GB" sz="1400" b="0" i="0" u="none" strike="noStrike" baseline="0" dirty="0"/>
              <a:t>– facilitates the team to maintain team cohesion, ensuring the team has access to resources they require.</a:t>
            </a:r>
          </a:p>
          <a:p>
            <a:pPr lvl="1"/>
            <a:r>
              <a:rPr lang="en-GB" sz="1400" b="1" i="0" u="none" strike="noStrike" baseline="0" dirty="0"/>
              <a:t>Technical Lead </a:t>
            </a:r>
            <a:r>
              <a:rPr lang="en-GB" sz="1400" b="0" i="0" u="none" strike="noStrike" baseline="0" dirty="0"/>
              <a:t>– provide the technical guidance and support for the project team.</a:t>
            </a:r>
          </a:p>
          <a:p>
            <a:pPr lvl="1"/>
            <a:r>
              <a:rPr lang="en-GB" sz="1400" b="1" i="0" u="none" strike="noStrike" baseline="0" dirty="0"/>
              <a:t>Project Manager </a:t>
            </a:r>
            <a:r>
              <a:rPr lang="en-GB" sz="1400" b="0" i="0" u="none" strike="noStrike" baseline="0" dirty="0"/>
              <a:t>– responsible for planning, organizing, managing (budget, scope, schedule, risk and quality) on all phases of a project.</a:t>
            </a:r>
          </a:p>
          <a:p>
            <a:pPr lvl="1"/>
            <a:r>
              <a:rPr lang="en-GB" sz="1400" b="1" i="0" u="none" strike="noStrike" baseline="0" dirty="0"/>
              <a:t>Software Development Team</a:t>
            </a:r>
          </a:p>
          <a:p>
            <a:pPr lvl="2"/>
            <a:r>
              <a:rPr lang="en-GB" sz="1400" b="0" i="0" u="none" strike="noStrike" baseline="0" dirty="0"/>
              <a:t>Systems Analyst – analyses the current system and provides the requirements for the new system – uses the requirements to design the new software solution.</a:t>
            </a:r>
          </a:p>
          <a:p>
            <a:pPr lvl="2"/>
            <a:r>
              <a:rPr lang="en-GB" sz="1400" b="0" i="0" u="none" strike="noStrike" baseline="0" dirty="0"/>
              <a:t>UX/UI Designer – interviews users, researches market data and gather findings to design the user interface.</a:t>
            </a:r>
          </a:p>
          <a:p>
            <a:pPr lvl="2"/>
            <a:r>
              <a:rPr lang="en-GB" sz="1400" b="0" i="0" u="none" strike="noStrike" baseline="0" dirty="0"/>
              <a:t>Software Developer/Engineer – uses the designs to create and maintain a working solution that is usable, secure and stable.</a:t>
            </a:r>
          </a:p>
          <a:p>
            <a:pPr lvl="2"/>
            <a:r>
              <a:rPr lang="en-GB" sz="1400" b="0" i="0" u="none" strike="noStrike" baseline="0" dirty="0"/>
              <a:t>Operations Engineer – ensures the stability of the product.</a:t>
            </a:r>
          </a:p>
          <a:p>
            <a:pPr lvl="2"/>
            <a:r>
              <a:rPr lang="en-GB" sz="1400" b="0" i="0" u="none" strike="noStrike" baseline="0" dirty="0"/>
              <a:t>Security Engineer – ensures the security of the product .</a:t>
            </a:r>
          </a:p>
          <a:p>
            <a:pPr lvl="1"/>
            <a:r>
              <a:rPr lang="en-GB" sz="1400" b="1" i="0" u="none" strike="noStrike" baseline="0" dirty="0"/>
              <a:t>Software testers </a:t>
            </a:r>
            <a:r>
              <a:rPr lang="en-GB" sz="1400" b="0" i="0" u="none" strike="noStrike" baseline="0" dirty="0"/>
              <a:t>– responsible for the quality assurance of the software and development.</a:t>
            </a:r>
            <a:endParaRPr lang="en-GB" altLang="en-US" sz="1400" b="1" dirty="0"/>
          </a:p>
        </p:txBody>
      </p:sp>
    </p:spTree>
    <p:extLst>
      <p:ext uri="{BB962C8B-B14F-4D97-AF65-F5344CB8AC3E}">
        <p14:creationId xmlns:p14="http://schemas.microsoft.com/office/powerpoint/2010/main" val="2212141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1F8C23E0-A09D-48FD-AA34-ED9B877977BC}"/>
              </a:ext>
            </a:extLst>
          </p:cNvPr>
          <p:cNvSpPr>
            <a:spLocks noGrp="1" noChangeArrowheads="1"/>
          </p:cNvSpPr>
          <p:nvPr>
            <p:ph type="title"/>
          </p:nvPr>
        </p:nvSpPr>
        <p:spPr>
          <a:xfrm>
            <a:off x="1258888" y="404813"/>
            <a:ext cx="7650162" cy="939800"/>
          </a:xfrm>
        </p:spPr>
        <p:txBody>
          <a:bodyPr/>
          <a:lstStyle/>
          <a:p>
            <a:r>
              <a:rPr lang="en-GB" altLang="en-US" sz="3600" b="1">
                <a:solidFill>
                  <a:srgbClr val="0070C0"/>
                </a:solidFill>
              </a:rPr>
              <a:t>The unit outcomes</a:t>
            </a:r>
            <a:endParaRPr lang="en-US" altLang="en-US" sz="3600" b="1">
              <a:solidFill>
                <a:srgbClr val="0070C0"/>
              </a:solidFill>
            </a:endParaRPr>
          </a:p>
        </p:txBody>
      </p:sp>
      <p:sp>
        <p:nvSpPr>
          <p:cNvPr id="21507" name="Content Placeholder 2">
            <a:extLst>
              <a:ext uri="{FF2B5EF4-FFF2-40B4-BE49-F238E27FC236}">
                <a16:creationId xmlns:a16="http://schemas.microsoft.com/office/drawing/2014/main" id="{410D7DA5-7585-4B84-942A-E699A30C7337}"/>
              </a:ext>
            </a:extLst>
          </p:cNvPr>
          <p:cNvSpPr>
            <a:spLocks noGrp="1" noChangeArrowheads="1"/>
          </p:cNvSpPr>
          <p:nvPr>
            <p:ph idx="1"/>
          </p:nvPr>
        </p:nvSpPr>
        <p:spPr>
          <a:xfrm>
            <a:off x="323528" y="1916832"/>
            <a:ext cx="8208912" cy="4338948"/>
          </a:xfrm>
        </p:spPr>
        <p:txBody>
          <a:bodyPr/>
          <a:lstStyle/>
          <a:p>
            <a:pPr algn="l"/>
            <a:r>
              <a:rPr lang="en-GB" sz="1800" b="1" i="0" u="none" strike="noStrike" baseline="0" dirty="0"/>
              <a:t>1.3 </a:t>
            </a:r>
            <a:r>
              <a:rPr lang="en-GB" sz="1800" i="0" u="none" strike="noStrike" baseline="0" dirty="0"/>
              <a:t>Understand the key features of, and be able to select, appropriate project methodologies when developing a software solution</a:t>
            </a:r>
          </a:p>
          <a:p>
            <a:pPr marL="457200" lvl="1" indent="0">
              <a:buNone/>
            </a:pPr>
            <a:endParaRPr lang="en-GB" sz="1400" b="0" i="0" u="none" strike="noStrike" baseline="0" dirty="0"/>
          </a:p>
          <a:p>
            <a:pPr lvl="1"/>
            <a:r>
              <a:rPr lang="en-GB" sz="1800" i="0" u="none" strike="noStrike" baseline="0" dirty="0"/>
              <a:t>Key features of Agile</a:t>
            </a:r>
          </a:p>
          <a:p>
            <a:pPr lvl="1"/>
            <a:r>
              <a:rPr lang="en-GB" sz="1800" i="0" u="none" strike="noStrike" baseline="0" dirty="0"/>
              <a:t>Key features of Scaled Agile</a:t>
            </a:r>
          </a:p>
          <a:p>
            <a:pPr lvl="1"/>
            <a:r>
              <a:rPr lang="en-GB" sz="1800" i="0" u="none" strike="noStrike" baseline="0" dirty="0"/>
              <a:t>Key features of waterfall</a:t>
            </a:r>
          </a:p>
          <a:p>
            <a:pPr lvl="1"/>
            <a:r>
              <a:rPr lang="en-GB" sz="1800" i="0" u="none" strike="noStrike" baseline="0" dirty="0"/>
              <a:t>Key features of Rapid Application Development (RAD)</a:t>
            </a:r>
          </a:p>
          <a:p>
            <a:pPr lvl="1"/>
            <a:r>
              <a:rPr lang="en-GB" sz="1800" i="0" u="none" strike="noStrike" baseline="0" dirty="0"/>
              <a:t>Key Features of LEAN</a:t>
            </a:r>
            <a:endParaRPr lang="en-GB" sz="1400" i="0" u="none" strike="noStrike" baseline="0" dirty="0"/>
          </a:p>
        </p:txBody>
      </p:sp>
    </p:spTree>
    <p:extLst>
      <p:ext uri="{BB962C8B-B14F-4D97-AF65-F5344CB8AC3E}">
        <p14:creationId xmlns:p14="http://schemas.microsoft.com/office/powerpoint/2010/main" val="930188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1F8C23E0-A09D-48FD-AA34-ED9B877977BC}"/>
              </a:ext>
            </a:extLst>
          </p:cNvPr>
          <p:cNvSpPr>
            <a:spLocks noGrp="1" noChangeArrowheads="1"/>
          </p:cNvSpPr>
          <p:nvPr>
            <p:ph type="title"/>
          </p:nvPr>
        </p:nvSpPr>
        <p:spPr>
          <a:xfrm>
            <a:off x="1258888" y="404813"/>
            <a:ext cx="7650162" cy="939800"/>
          </a:xfrm>
        </p:spPr>
        <p:txBody>
          <a:bodyPr/>
          <a:lstStyle/>
          <a:p>
            <a:r>
              <a:rPr lang="en-GB" altLang="en-US" sz="3600" b="1">
                <a:solidFill>
                  <a:srgbClr val="0070C0"/>
                </a:solidFill>
              </a:rPr>
              <a:t>The unit outcomes</a:t>
            </a:r>
            <a:endParaRPr lang="en-US" altLang="en-US" sz="3600" b="1">
              <a:solidFill>
                <a:srgbClr val="0070C0"/>
              </a:solidFill>
            </a:endParaRPr>
          </a:p>
        </p:txBody>
      </p:sp>
      <p:sp>
        <p:nvSpPr>
          <p:cNvPr id="21507" name="Content Placeholder 2">
            <a:extLst>
              <a:ext uri="{FF2B5EF4-FFF2-40B4-BE49-F238E27FC236}">
                <a16:creationId xmlns:a16="http://schemas.microsoft.com/office/drawing/2014/main" id="{410D7DA5-7585-4B84-942A-E699A30C7337}"/>
              </a:ext>
            </a:extLst>
          </p:cNvPr>
          <p:cNvSpPr>
            <a:spLocks noGrp="1" noChangeArrowheads="1"/>
          </p:cNvSpPr>
          <p:nvPr>
            <p:ph idx="1"/>
          </p:nvPr>
        </p:nvSpPr>
        <p:spPr>
          <a:xfrm>
            <a:off x="323528" y="1916832"/>
            <a:ext cx="8208912" cy="4338948"/>
          </a:xfrm>
        </p:spPr>
        <p:txBody>
          <a:bodyPr/>
          <a:lstStyle/>
          <a:p>
            <a:pPr algn="l"/>
            <a:r>
              <a:rPr lang="en-GB" sz="1800" b="1" i="0" u="none" strike="noStrike" baseline="0" dirty="0"/>
              <a:t>1.4 </a:t>
            </a:r>
            <a:r>
              <a:rPr lang="en-GB" sz="1800" i="0" u="none" strike="noStrike" baseline="0" dirty="0"/>
              <a:t>Understand and define the functional and non-functional requirements of a software solution</a:t>
            </a:r>
          </a:p>
          <a:p>
            <a:pPr algn="l"/>
            <a:endParaRPr lang="en-GB" sz="1800" b="0" i="0" u="none" strike="noStrike" baseline="0" dirty="0"/>
          </a:p>
          <a:p>
            <a:pPr lvl="1"/>
            <a:r>
              <a:rPr lang="en-GB" sz="1800" b="0" i="0" u="none" strike="noStrike" baseline="0" dirty="0"/>
              <a:t>An understanding of the concept of ‘secure by design’ and how this influences the decisions made regarding functional and non-functional requirements.</a:t>
            </a:r>
          </a:p>
          <a:p>
            <a:pPr lvl="1"/>
            <a:r>
              <a:rPr lang="en-GB" sz="1800" b="0" i="0" u="none" strike="noStrike" baseline="0" dirty="0"/>
              <a:t>An understanding of and ability to define functional requirements of a software solution</a:t>
            </a:r>
          </a:p>
          <a:p>
            <a:pPr lvl="1"/>
            <a:r>
              <a:rPr lang="en-GB" sz="1800" b="0" i="0" u="none" strike="noStrike" baseline="0" dirty="0"/>
              <a:t>An understanding of and ability to define non-functional requirements of a software solution.</a:t>
            </a:r>
            <a:endParaRPr lang="en-GB" sz="1800" b="0" dirty="0"/>
          </a:p>
          <a:p>
            <a:pPr lvl="1"/>
            <a:r>
              <a:rPr lang="en-GB" sz="1800" b="0" i="0" u="none" strike="noStrike" baseline="0" dirty="0"/>
              <a:t>Understand the use of ‘spike testing’ as an early product-testing method to establish requirements and determine the extent of the problem and the required scope of a software solution.</a:t>
            </a:r>
          </a:p>
        </p:txBody>
      </p:sp>
    </p:spTree>
    <p:extLst>
      <p:ext uri="{BB962C8B-B14F-4D97-AF65-F5344CB8AC3E}">
        <p14:creationId xmlns:p14="http://schemas.microsoft.com/office/powerpoint/2010/main" val="2290723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1F8C23E0-A09D-48FD-AA34-ED9B877977BC}"/>
              </a:ext>
            </a:extLst>
          </p:cNvPr>
          <p:cNvSpPr>
            <a:spLocks noGrp="1" noChangeArrowheads="1"/>
          </p:cNvSpPr>
          <p:nvPr>
            <p:ph type="title"/>
          </p:nvPr>
        </p:nvSpPr>
        <p:spPr>
          <a:xfrm>
            <a:off x="1258888" y="404813"/>
            <a:ext cx="7650162" cy="939800"/>
          </a:xfrm>
        </p:spPr>
        <p:txBody>
          <a:bodyPr/>
          <a:lstStyle/>
          <a:p>
            <a:r>
              <a:rPr lang="en-GB" altLang="en-US" sz="3600" b="1">
                <a:solidFill>
                  <a:srgbClr val="0070C0"/>
                </a:solidFill>
              </a:rPr>
              <a:t>The unit outcomes</a:t>
            </a:r>
            <a:endParaRPr lang="en-US" altLang="en-US" sz="3600" b="1">
              <a:solidFill>
                <a:srgbClr val="0070C0"/>
              </a:solidFill>
            </a:endParaRPr>
          </a:p>
        </p:txBody>
      </p:sp>
      <p:sp>
        <p:nvSpPr>
          <p:cNvPr id="21507" name="Content Placeholder 2">
            <a:extLst>
              <a:ext uri="{FF2B5EF4-FFF2-40B4-BE49-F238E27FC236}">
                <a16:creationId xmlns:a16="http://schemas.microsoft.com/office/drawing/2014/main" id="{410D7DA5-7585-4B84-942A-E699A30C7337}"/>
              </a:ext>
            </a:extLst>
          </p:cNvPr>
          <p:cNvSpPr>
            <a:spLocks noGrp="1" noChangeArrowheads="1"/>
          </p:cNvSpPr>
          <p:nvPr>
            <p:ph idx="1"/>
          </p:nvPr>
        </p:nvSpPr>
        <p:spPr>
          <a:xfrm>
            <a:off x="279239" y="1772816"/>
            <a:ext cx="8585522" cy="1296144"/>
          </a:xfrm>
        </p:spPr>
        <p:txBody>
          <a:bodyPr/>
          <a:lstStyle/>
          <a:p>
            <a:pPr algn="l"/>
            <a:r>
              <a:rPr lang="en-GB" sz="1800" b="1" i="0" u="none" strike="noStrike" baseline="0" dirty="0"/>
              <a:t>1.5 </a:t>
            </a:r>
            <a:r>
              <a:rPr lang="en-GB" sz="1800" i="0" u="none" strike="noStrike" baseline="0" dirty="0"/>
              <a:t>Investigate the current and potential uses of emerging technologies and how they impact on industries</a:t>
            </a:r>
          </a:p>
          <a:p>
            <a:pPr algn="l"/>
            <a:endParaRPr lang="en-GB" sz="1800" b="0" i="0" u="none" strike="noStrike" baseline="0" dirty="0"/>
          </a:p>
          <a:p>
            <a:pPr lvl="1"/>
            <a:r>
              <a:rPr lang="en-GB" sz="1800" b="0" i="0" u="none" strike="noStrike" baseline="0" dirty="0"/>
              <a:t>Investigate impact on software development of emerging technologies such as:</a:t>
            </a:r>
          </a:p>
          <a:p>
            <a:pPr lvl="2"/>
            <a:endParaRPr lang="en-GB" sz="1400" b="0" i="0" u="none" strike="noStrike" baseline="0" dirty="0"/>
          </a:p>
        </p:txBody>
      </p:sp>
      <p:sp>
        <p:nvSpPr>
          <p:cNvPr id="4" name="Content Placeholder 2">
            <a:extLst>
              <a:ext uri="{FF2B5EF4-FFF2-40B4-BE49-F238E27FC236}">
                <a16:creationId xmlns:a16="http://schemas.microsoft.com/office/drawing/2014/main" id="{7D289320-688D-4D63-B58D-A00F3BE37187}"/>
              </a:ext>
            </a:extLst>
          </p:cNvPr>
          <p:cNvSpPr txBox="1">
            <a:spLocks noChangeArrowheads="1"/>
          </p:cNvSpPr>
          <p:nvPr/>
        </p:nvSpPr>
        <p:spPr bwMode="auto">
          <a:xfrm>
            <a:off x="4469508" y="3512132"/>
            <a:ext cx="4439542" cy="2376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2"/>
            <a:r>
              <a:rPr lang="en-GB" sz="1800" kern="0" dirty="0"/>
              <a:t>computer vision</a:t>
            </a:r>
          </a:p>
          <a:p>
            <a:pPr lvl="2"/>
            <a:r>
              <a:rPr lang="en-GB" sz="1800" kern="0" dirty="0"/>
              <a:t>robotics</a:t>
            </a:r>
          </a:p>
          <a:p>
            <a:pPr lvl="2"/>
            <a:r>
              <a:rPr lang="en-GB" sz="1800" kern="0" dirty="0"/>
              <a:t>cloud services and platforms</a:t>
            </a:r>
          </a:p>
          <a:p>
            <a:pPr lvl="2"/>
            <a:r>
              <a:rPr lang="en-GB" sz="1800" kern="0" dirty="0"/>
              <a:t>blockchain</a:t>
            </a:r>
          </a:p>
          <a:p>
            <a:pPr lvl="2"/>
            <a:r>
              <a:rPr lang="en-GB" sz="1800" kern="0" dirty="0"/>
              <a:t>data lakes and data warehousing</a:t>
            </a:r>
          </a:p>
          <a:p>
            <a:pPr lvl="2"/>
            <a:r>
              <a:rPr lang="en-GB" sz="1800" kern="0" dirty="0"/>
              <a:t>drones</a:t>
            </a:r>
          </a:p>
          <a:p>
            <a:pPr lvl="2"/>
            <a:r>
              <a:rPr lang="en-GB" sz="1800" kern="0" dirty="0"/>
              <a:t>3D printing</a:t>
            </a:r>
          </a:p>
          <a:p>
            <a:pPr lvl="2"/>
            <a:r>
              <a:rPr lang="en-GB" sz="1800" kern="0" dirty="0"/>
              <a:t>5G networks</a:t>
            </a:r>
          </a:p>
        </p:txBody>
      </p:sp>
      <p:sp>
        <p:nvSpPr>
          <p:cNvPr id="5" name="Content Placeholder 2">
            <a:extLst>
              <a:ext uri="{FF2B5EF4-FFF2-40B4-BE49-F238E27FC236}">
                <a16:creationId xmlns:a16="http://schemas.microsoft.com/office/drawing/2014/main" id="{9F253A73-F3A1-48E9-908D-06BAC45A4579}"/>
              </a:ext>
            </a:extLst>
          </p:cNvPr>
          <p:cNvSpPr txBox="1">
            <a:spLocks noChangeArrowheads="1"/>
          </p:cNvSpPr>
          <p:nvPr/>
        </p:nvSpPr>
        <p:spPr bwMode="auto">
          <a:xfrm>
            <a:off x="0" y="3630706"/>
            <a:ext cx="4608512" cy="225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2"/>
            <a:r>
              <a:rPr lang="en-GB" sz="1800" kern="0" dirty="0"/>
              <a:t>operational technology (OT)</a:t>
            </a:r>
          </a:p>
          <a:p>
            <a:pPr lvl="2"/>
            <a:r>
              <a:rPr lang="en-GB" sz="1800" kern="0" dirty="0"/>
              <a:t>artificial Intelligence (AI) and Virtual Intelligence (VI)</a:t>
            </a:r>
          </a:p>
          <a:p>
            <a:pPr lvl="2"/>
            <a:r>
              <a:rPr lang="en-GB" sz="1800" kern="0" dirty="0"/>
              <a:t>conversational AI</a:t>
            </a:r>
          </a:p>
          <a:p>
            <a:pPr lvl="2"/>
            <a:r>
              <a:rPr lang="en-GB" sz="1800" kern="0" dirty="0"/>
              <a:t>the Internet of Things (IoT)</a:t>
            </a:r>
          </a:p>
          <a:p>
            <a:pPr lvl="2"/>
            <a:r>
              <a:rPr lang="en-GB" sz="1800" kern="0" dirty="0"/>
              <a:t>machine Learning</a:t>
            </a:r>
          </a:p>
          <a:p>
            <a:pPr lvl="2"/>
            <a:r>
              <a:rPr lang="en-GB" sz="1800" kern="0" dirty="0"/>
              <a:t>object recognition</a:t>
            </a:r>
          </a:p>
          <a:p>
            <a:pPr lvl="2"/>
            <a:r>
              <a:rPr lang="en-GB" sz="1800" kern="0" dirty="0"/>
              <a:t>biometrics</a:t>
            </a:r>
          </a:p>
          <a:p>
            <a:pPr lvl="2"/>
            <a:endParaRPr lang="en-GB" sz="1400" kern="0" dirty="0"/>
          </a:p>
        </p:txBody>
      </p:sp>
    </p:spTree>
    <p:extLst>
      <p:ext uri="{BB962C8B-B14F-4D97-AF65-F5344CB8AC3E}">
        <p14:creationId xmlns:p14="http://schemas.microsoft.com/office/powerpoint/2010/main" val="2517179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1F8C23E0-A09D-48FD-AA34-ED9B877977BC}"/>
              </a:ext>
            </a:extLst>
          </p:cNvPr>
          <p:cNvSpPr>
            <a:spLocks noGrp="1" noChangeArrowheads="1"/>
          </p:cNvSpPr>
          <p:nvPr>
            <p:ph type="title"/>
          </p:nvPr>
        </p:nvSpPr>
        <p:spPr>
          <a:xfrm>
            <a:off x="1258888" y="404813"/>
            <a:ext cx="7650162" cy="939800"/>
          </a:xfrm>
        </p:spPr>
        <p:txBody>
          <a:bodyPr/>
          <a:lstStyle/>
          <a:p>
            <a:r>
              <a:rPr lang="en-GB" altLang="en-US" sz="3600" b="1">
                <a:solidFill>
                  <a:srgbClr val="0070C0"/>
                </a:solidFill>
              </a:rPr>
              <a:t>The unit outcomes</a:t>
            </a:r>
            <a:endParaRPr lang="en-US" altLang="en-US" sz="3600" b="1">
              <a:solidFill>
                <a:srgbClr val="0070C0"/>
              </a:solidFill>
            </a:endParaRPr>
          </a:p>
        </p:txBody>
      </p:sp>
      <p:sp>
        <p:nvSpPr>
          <p:cNvPr id="21507" name="Content Placeholder 2">
            <a:extLst>
              <a:ext uri="{FF2B5EF4-FFF2-40B4-BE49-F238E27FC236}">
                <a16:creationId xmlns:a16="http://schemas.microsoft.com/office/drawing/2014/main" id="{410D7DA5-7585-4B84-942A-E699A30C7337}"/>
              </a:ext>
            </a:extLst>
          </p:cNvPr>
          <p:cNvSpPr>
            <a:spLocks noGrp="1" noChangeArrowheads="1"/>
          </p:cNvSpPr>
          <p:nvPr>
            <p:ph idx="1"/>
          </p:nvPr>
        </p:nvSpPr>
        <p:spPr>
          <a:xfrm>
            <a:off x="323528" y="1844824"/>
            <a:ext cx="8585522" cy="4338948"/>
          </a:xfrm>
        </p:spPr>
        <p:txBody>
          <a:bodyPr/>
          <a:lstStyle/>
          <a:p>
            <a:pPr algn="l"/>
            <a:r>
              <a:rPr lang="en-GB" sz="1800" b="1" i="0" u="none" strike="noStrike" baseline="0" dirty="0"/>
              <a:t>1.6 </a:t>
            </a:r>
            <a:r>
              <a:rPr lang="en-GB" sz="1800" i="0" u="none" strike="noStrike" baseline="0" dirty="0"/>
              <a:t>Understand how to identify and be able to address personal training needs that can boost job performance during the software development process.</a:t>
            </a:r>
          </a:p>
          <a:p>
            <a:pPr algn="l"/>
            <a:endParaRPr lang="en-GB" sz="1800" b="0" i="0" u="none" strike="noStrike" baseline="0" dirty="0"/>
          </a:p>
          <a:p>
            <a:pPr lvl="1"/>
            <a:r>
              <a:rPr lang="en-GB" sz="1600" b="0" i="0" u="none" strike="noStrike" baseline="0" dirty="0"/>
              <a:t>Considerations to ensure the software developer is able to complete the required solution:</a:t>
            </a:r>
          </a:p>
          <a:p>
            <a:pPr lvl="2"/>
            <a:r>
              <a:rPr lang="en-GB" sz="1600" b="0" i="0" u="none" strike="noStrike" baseline="0" dirty="0"/>
              <a:t>identify what further knowledge is needed.</a:t>
            </a:r>
          </a:p>
          <a:p>
            <a:pPr lvl="2"/>
            <a:r>
              <a:rPr lang="en-GB" sz="1600" b="0" i="0" u="none" strike="noStrike" baseline="0" dirty="0"/>
              <a:t>identify what new skills are needed.</a:t>
            </a:r>
          </a:p>
          <a:p>
            <a:pPr lvl="2"/>
            <a:r>
              <a:rPr lang="en-GB" sz="1600" b="0" i="0" u="none" strike="noStrike" baseline="0" dirty="0"/>
              <a:t>determine if software developer has the ability needed to complete the required solution.</a:t>
            </a:r>
          </a:p>
          <a:p>
            <a:pPr lvl="1"/>
            <a:r>
              <a:rPr lang="en-GB" sz="1600" b="0" i="0" u="none" strike="noStrike" baseline="0" dirty="0"/>
              <a:t>Use different methods to address personal training needs required to enable completion of project:</a:t>
            </a:r>
          </a:p>
          <a:p>
            <a:pPr lvl="2"/>
            <a:r>
              <a:rPr lang="en-GB" sz="1600" b="0" i="0" u="none" strike="noStrike" baseline="0" dirty="0"/>
              <a:t>undertake coaching from a professional or peer.</a:t>
            </a:r>
          </a:p>
          <a:p>
            <a:pPr lvl="2"/>
            <a:r>
              <a:rPr lang="en-GB" sz="1600" b="0" i="0" u="none" strike="noStrike" baseline="0" dirty="0"/>
              <a:t>learn new skills on the job.</a:t>
            </a:r>
          </a:p>
          <a:p>
            <a:pPr lvl="2"/>
            <a:r>
              <a:rPr lang="en-GB" sz="1600" b="0" i="0" u="none" strike="noStrike" baseline="0" dirty="0"/>
              <a:t>carry out self-study.</a:t>
            </a:r>
          </a:p>
          <a:p>
            <a:pPr lvl="2"/>
            <a:r>
              <a:rPr lang="en-GB" sz="1600" b="0" i="0" u="none" strike="noStrike" baseline="0" dirty="0"/>
              <a:t>use online professional forums.</a:t>
            </a:r>
          </a:p>
          <a:p>
            <a:pPr lvl="2"/>
            <a:r>
              <a:rPr lang="en-GB" sz="1600" b="0" i="0" u="none" strike="noStrike" baseline="0" dirty="0"/>
              <a:t>sign up to internet workshops for additional training.</a:t>
            </a:r>
          </a:p>
        </p:txBody>
      </p:sp>
    </p:spTree>
    <p:extLst>
      <p:ext uri="{BB962C8B-B14F-4D97-AF65-F5344CB8AC3E}">
        <p14:creationId xmlns:p14="http://schemas.microsoft.com/office/powerpoint/2010/main" val="1151189287"/>
      </p:ext>
    </p:extLst>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C646F5E18B7F644AA5B880758D99BE0" ma:contentTypeVersion="0" ma:contentTypeDescription="Create a new document." ma:contentTypeScope="" ma:versionID="5dd15dd6ca134e1876e3a61e71abe859">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E8E5CE6-D7F5-42EE-84FD-FB9E223C1F1D}"/>
</file>

<file path=customXml/itemProps2.xml><?xml version="1.0" encoding="utf-8"?>
<ds:datastoreItem xmlns:ds="http://schemas.openxmlformats.org/officeDocument/2006/customXml" ds:itemID="{DF5C8BE4-7F76-4035-B9EF-DADBCD1BABBE}"/>
</file>

<file path=customXml/itemProps3.xml><?xml version="1.0" encoding="utf-8"?>
<ds:datastoreItem xmlns:ds="http://schemas.openxmlformats.org/officeDocument/2006/customXml" ds:itemID="{B4F88E8F-D60E-46BE-B3C8-7BE2524CA874}"/>
</file>

<file path=docProps/app.xml><?xml version="1.0" encoding="utf-8"?>
<Properties xmlns="http://schemas.openxmlformats.org/officeDocument/2006/extended-properties" xmlns:vt="http://schemas.openxmlformats.org/officeDocument/2006/docPropsVTypes">
  <Template/>
  <TotalTime>2238</TotalTime>
  <Words>2983</Words>
  <Application>Microsoft Office PowerPoint</Application>
  <PresentationFormat>On-screen Show (4:3)</PresentationFormat>
  <Paragraphs>373</Paragraphs>
  <Slides>10</Slides>
  <Notes>9</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10</vt:i4>
      </vt:variant>
    </vt:vector>
  </HeadingPairs>
  <TitlesOfParts>
    <vt:vector size="19" baseType="lpstr">
      <vt:lpstr>Arial</vt:lpstr>
      <vt:lpstr>CourierNewPSMT</vt:lpstr>
      <vt:lpstr>OpenSans</vt:lpstr>
      <vt:lpstr>OpenSans-Bold</vt:lpstr>
      <vt:lpstr>Tahoma</vt:lpstr>
      <vt:lpstr>TimesNewRomanPSMT</vt:lpstr>
      <vt:lpstr>Wingdings</vt:lpstr>
      <vt:lpstr>Blends</vt:lpstr>
      <vt:lpstr>1_Blends</vt:lpstr>
      <vt:lpstr>Occupational Specialist Component Content: Digital Production, Design  and Development</vt:lpstr>
      <vt:lpstr>Learning expectations </vt:lpstr>
      <vt:lpstr>Learning Objectives</vt:lpstr>
      <vt:lpstr>The unit outcomes</vt:lpstr>
      <vt:lpstr>The unit outcomes</vt:lpstr>
      <vt:lpstr>The unit outcomes</vt:lpstr>
      <vt:lpstr>The unit outcomes</vt:lpstr>
      <vt:lpstr>The unit outcomes</vt:lpstr>
      <vt:lpstr>The unit outcomes</vt:lpstr>
      <vt:lpstr>The unit outcomes</vt:lpstr>
    </vt:vector>
  </TitlesOfParts>
  <Company>dabs.com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Programming and Visual Basic</dc:title>
  <dc:creator>Hamish</dc:creator>
  <cp:lastModifiedBy>Hamish Spencer</cp:lastModifiedBy>
  <cp:revision>356</cp:revision>
  <dcterms:created xsi:type="dcterms:W3CDTF">2010-11-28T12:04:27Z</dcterms:created>
  <dcterms:modified xsi:type="dcterms:W3CDTF">2025-07-29T13:27:08Z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0x0101001C646F5E18B7F644AA5B880758D99BE0</vt:lpwstr>
  </property>
</Properties>
</file>