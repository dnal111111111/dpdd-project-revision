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8.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29.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841" r:id="rId2"/>
  </p:sldMasterIdLst>
  <p:notesMasterIdLst>
    <p:notesMasterId r:id="rId42"/>
  </p:notesMasterIdLst>
  <p:sldIdLst>
    <p:sldId id="360" r:id="rId3"/>
    <p:sldId id="363" r:id="rId4"/>
    <p:sldId id="257" r:id="rId5"/>
    <p:sldId id="321" r:id="rId6"/>
    <p:sldId id="322" r:id="rId7"/>
    <p:sldId id="323" r:id="rId8"/>
    <p:sldId id="361" r:id="rId9"/>
    <p:sldId id="324" r:id="rId10"/>
    <p:sldId id="326" r:id="rId11"/>
    <p:sldId id="327" r:id="rId12"/>
    <p:sldId id="328" r:id="rId13"/>
    <p:sldId id="329" r:id="rId14"/>
    <p:sldId id="331" r:id="rId15"/>
    <p:sldId id="333" r:id="rId16"/>
    <p:sldId id="334" r:id="rId17"/>
    <p:sldId id="335" r:id="rId18"/>
    <p:sldId id="337" r:id="rId19"/>
    <p:sldId id="338" r:id="rId20"/>
    <p:sldId id="339" r:id="rId21"/>
    <p:sldId id="340" r:id="rId22"/>
    <p:sldId id="341" r:id="rId23"/>
    <p:sldId id="342" r:id="rId24"/>
    <p:sldId id="344" r:id="rId25"/>
    <p:sldId id="345" r:id="rId26"/>
    <p:sldId id="351" r:id="rId27"/>
    <p:sldId id="352" r:id="rId28"/>
    <p:sldId id="347" r:id="rId29"/>
    <p:sldId id="348" r:id="rId30"/>
    <p:sldId id="349" r:id="rId31"/>
    <p:sldId id="350" r:id="rId32"/>
    <p:sldId id="353" r:id="rId33"/>
    <p:sldId id="359" r:id="rId34"/>
    <p:sldId id="354" r:id="rId35"/>
    <p:sldId id="355" r:id="rId36"/>
    <p:sldId id="356" r:id="rId37"/>
    <p:sldId id="358" r:id="rId38"/>
    <p:sldId id="365" r:id="rId39"/>
    <p:sldId id="366" r:id="rId40"/>
    <p:sldId id="364" r:id="rId41"/>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34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F00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57" autoAdjust="0"/>
    <p:restoredTop sz="73209" autoAdjust="0"/>
  </p:normalViewPr>
  <p:slideViewPr>
    <p:cSldViewPr>
      <p:cViewPr varScale="1">
        <p:scale>
          <a:sx n="77" d="100"/>
          <a:sy n="77" d="100"/>
        </p:scale>
        <p:origin x="1638" y="84"/>
      </p:cViewPr>
      <p:guideLst>
        <p:guide orient="horz" pos="2341"/>
        <p:guide pos="2880"/>
      </p:guideLst>
    </p:cSldViewPr>
  </p:slideViewPr>
  <p:notesTextViewPr>
    <p:cViewPr>
      <p:scale>
        <a:sx n="100" d="100"/>
        <a:sy n="100" d="100"/>
      </p:scale>
      <p:origin x="0" y="0"/>
    </p:cViewPr>
  </p:notesTextViewPr>
  <p:notesViewPr>
    <p:cSldViewPr>
      <p:cViewPr>
        <p:scale>
          <a:sx n="75" d="100"/>
          <a:sy n="75" d="100"/>
        </p:scale>
        <p:origin x="-1536" y="283"/>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customXml" Target="../customXml/item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customXml" Target="../customXml/item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48" Type="http://schemas.openxmlformats.org/officeDocument/2006/relationships/customXml" Target="../customXml/item2.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0130A4A0-077C-E9C2-5B39-2868CA556DE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47" name="Rectangle 3">
            <a:extLst>
              <a:ext uri="{FF2B5EF4-FFF2-40B4-BE49-F238E27FC236}">
                <a16:creationId xmlns:a16="http://schemas.microsoft.com/office/drawing/2014/main" id="{ED921781-F8E2-B59C-B4A0-BF86A4A86173}"/>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cs typeface="Arial" pitchFamily="34" charset="0"/>
              </a:defRPr>
            </a:lvl1pPr>
          </a:lstStyle>
          <a:p>
            <a:pPr>
              <a:defRPr/>
            </a:pPr>
            <a:endParaRPr lang="en-GB"/>
          </a:p>
        </p:txBody>
      </p:sp>
      <p:sp>
        <p:nvSpPr>
          <p:cNvPr id="15364" name="Rectangle 4">
            <a:extLst>
              <a:ext uri="{FF2B5EF4-FFF2-40B4-BE49-F238E27FC236}">
                <a16:creationId xmlns:a16="http://schemas.microsoft.com/office/drawing/2014/main" id="{2656F89D-E389-ACD3-D0E0-C0ADCD0B08D6}"/>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a:extLst>
              <a:ext uri="{FF2B5EF4-FFF2-40B4-BE49-F238E27FC236}">
                <a16:creationId xmlns:a16="http://schemas.microsoft.com/office/drawing/2014/main" id="{FDCA696A-C796-E564-4A4A-FFDDDDFAB61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1750" name="Rectangle 6">
            <a:extLst>
              <a:ext uri="{FF2B5EF4-FFF2-40B4-BE49-F238E27FC236}">
                <a16:creationId xmlns:a16="http://schemas.microsoft.com/office/drawing/2014/main" id="{798A222F-B40F-654E-93D0-614ED5C21474}"/>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51" name="Rectangle 7">
            <a:extLst>
              <a:ext uri="{FF2B5EF4-FFF2-40B4-BE49-F238E27FC236}">
                <a16:creationId xmlns:a16="http://schemas.microsoft.com/office/drawing/2014/main" id="{0491BC41-95E1-057E-1F09-706A04CAC430}"/>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0D71A8F0-A96B-4A50-BB3B-1C268249EB13}"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731E6B2B-8D10-953B-2952-2965EBB190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450CD5F-E156-4DEC-83F6-BC3AF58F8416}" type="slidenum">
              <a:rPr lang="en-GB" altLang="en-US" smtClean="0"/>
              <a:pPr>
                <a:spcBef>
                  <a:spcPct val="0"/>
                </a:spcBef>
              </a:pPr>
              <a:t>1</a:t>
            </a:fld>
            <a:endParaRPr lang="en-GB" altLang="en-US"/>
          </a:p>
        </p:txBody>
      </p:sp>
      <p:sp>
        <p:nvSpPr>
          <p:cNvPr id="17411" name="Rectangle 2">
            <a:extLst>
              <a:ext uri="{FF2B5EF4-FFF2-40B4-BE49-F238E27FC236}">
                <a16:creationId xmlns:a16="http://schemas.microsoft.com/office/drawing/2014/main" id="{DCFFC586-7E5A-37B5-E134-344C8FB77F4F}"/>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A1562767-0211-9FB0-A0B4-E0E57DA0F7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00766275-1EFE-6016-DF20-3B9FE0B93F2E}"/>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2FC012D8-D00D-3EE6-590C-01324B30889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9460" name="Slide Number Placeholder 3">
            <a:extLst>
              <a:ext uri="{FF2B5EF4-FFF2-40B4-BE49-F238E27FC236}">
                <a16:creationId xmlns:a16="http://schemas.microsoft.com/office/drawing/2014/main" id="{62923EBB-3EE9-4D41-174E-3DDA49CC826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881E120-B09A-490F-AADF-2F29A068D43D}" type="slidenum">
              <a:rPr lang="en-GB" altLang="en-US" smtClean="0"/>
              <a:pPr>
                <a:spcBef>
                  <a:spcPct val="0"/>
                </a:spcBef>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549AA3CA-99CA-49B6-74AA-348A4A033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DD6EA6C-51F4-4BF9-949C-77E752FC86B8}" type="slidenum">
              <a:rPr lang="en-GB" altLang="en-US" smtClean="0"/>
              <a:pPr>
                <a:spcBef>
                  <a:spcPct val="0"/>
                </a:spcBef>
              </a:pPr>
              <a:t>3</a:t>
            </a:fld>
            <a:endParaRPr lang="en-GB" altLang="en-US"/>
          </a:p>
        </p:txBody>
      </p:sp>
      <p:sp>
        <p:nvSpPr>
          <p:cNvPr id="21507" name="Rectangle 2">
            <a:extLst>
              <a:ext uri="{FF2B5EF4-FFF2-40B4-BE49-F238E27FC236}">
                <a16:creationId xmlns:a16="http://schemas.microsoft.com/office/drawing/2014/main" id="{91588F92-70F8-403E-FB7E-9FD43A8166F8}"/>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95CEBC3E-D01B-1634-9F5C-6224C8694E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A4A76840-3AF9-EF72-C221-3A6A2ACD0E99}"/>
              </a:ext>
            </a:extLst>
          </p:cNvPr>
          <p:cNvSpPr>
            <a:spLocks noGrp="1" noRot="1" noChangeAspect="1" noChangeArrowheads="1" noTextEdit="1"/>
          </p:cNvSpPr>
          <p:nvPr>
            <p:ph type="sldImg"/>
          </p:nvPr>
        </p:nvSpPr>
        <p:spPr>
          <a:ln/>
        </p:spPr>
      </p:sp>
      <p:sp>
        <p:nvSpPr>
          <p:cNvPr id="23555" name="Notes Placeholder 2">
            <a:extLst>
              <a:ext uri="{FF2B5EF4-FFF2-40B4-BE49-F238E27FC236}">
                <a16:creationId xmlns:a16="http://schemas.microsoft.com/office/drawing/2014/main" id="{EFF5779D-C699-2747-B3C8-857F27A32E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3556" name="Slide Number Placeholder 3">
            <a:extLst>
              <a:ext uri="{FF2B5EF4-FFF2-40B4-BE49-F238E27FC236}">
                <a16:creationId xmlns:a16="http://schemas.microsoft.com/office/drawing/2014/main" id="{F0EEE064-FADD-FA4F-EF78-7140FA3345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F478801-1842-4753-A513-15FE19FA82FA}" type="slidenum">
              <a:rPr lang="en-GB" altLang="en-US" smtClean="0"/>
              <a:pPr/>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157C274B-0458-DA6B-570B-0477E2136E7C}"/>
              </a:ext>
            </a:extLst>
          </p:cNvPr>
          <p:cNvSpPr>
            <a:spLocks noGrp="1" noRot="1" noChangeAspect="1" noChangeArrowheads="1" noTextEdit="1"/>
          </p:cNvSpPr>
          <p:nvPr>
            <p:ph type="sldImg"/>
          </p:nvPr>
        </p:nvSpPr>
        <p:spPr>
          <a:ln/>
        </p:spPr>
      </p:sp>
      <p:sp>
        <p:nvSpPr>
          <p:cNvPr id="26627" name="Notes Placeholder 2">
            <a:extLst>
              <a:ext uri="{FF2B5EF4-FFF2-40B4-BE49-F238E27FC236}">
                <a16:creationId xmlns:a16="http://schemas.microsoft.com/office/drawing/2014/main" id="{411434A7-A99E-7BB8-0192-48BE973163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6628" name="Slide Number Placeholder 3">
            <a:extLst>
              <a:ext uri="{FF2B5EF4-FFF2-40B4-BE49-F238E27FC236}">
                <a16:creationId xmlns:a16="http://schemas.microsoft.com/office/drawing/2014/main" id="{EA5617A7-8BED-434A-CA5B-6165202829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3B0FC66-E756-425A-A32C-62EF049FBC4F}" type="slidenum">
              <a:rPr lang="en-GB" altLang="en-US" smtClean="0"/>
              <a:pPr/>
              <a:t>6</a:t>
            </a:fld>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497873BE-77F8-081E-8AB8-7C669DB88336}"/>
              </a:ext>
            </a:extLst>
          </p:cNvPr>
          <p:cNvSpPr>
            <a:spLocks noGrp="1" noRot="1" noChangeAspect="1" noChangeArrowheads="1" noTextEdit="1"/>
          </p:cNvSpPr>
          <p:nvPr>
            <p:ph type="sldImg"/>
          </p:nvPr>
        </p:nvSpPr>
        <p:spPr>
          <a:ln/>
        </p:spPr>
      </p:sp>
      <p:sp>
        <p:nvSpPr>
          <p:cNvPr id="29699" name="Notes Placeholder 2">
            <a:extLst>
              <a:ext uri="{FF2B5EF4-FFF2-40B4-BE49-F238E27FC236}">
                <a16:creationId xmlns:a16="http://schemas.microsoft.com/office/drawing/2014/main" id="{5E55DAA5-E59E-9111-61AF-093601A68A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https://www.bytestart.co.uk/how-5g-will-benefit-businesses</a:t>
            </a:r>
          </a:p>
          <a:p>
            <a:r>
              <a:rPr lang="en-GB" altLang="en-US"/>
              <a:t>https://www.telegraph.co.uk/business/5g-in-sport/what-does-5g-mean-for-businesses/</a:t>
            </a:r>
          </a:p>
        </p:txBody>
      </p:sp>
      <p:sp>
        <p:nvSpPr>
          <p:cNvPr id="29700" name="Slide Number Placeholder 3">
            <a:extLst>
              <a:ext uri="{FF2B5EF4-FFF2-40B4-BE49-F238E27FC236}">
                <a16:creationId xmlns:a16="http://schemas.microsoft.com/office/drawing/2014/main" id="{4C8B3318-5399-6F49-4AC7-2098A3E17D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EC24778-F1E6-4EBA-8562-488AEC9CB782}" type="slidenum">
              <a:rPr lang="en-GB" altLang="en-US" smtClean="0"/>
              <a:pPr/>
              <a:t>7</a:t>
            </a:fld>
            <a:endParaRPr lang="en-GB"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88F3C769-8525-5CFA-6DE1-021F1FB82385}"/>
              </a:ext>
            </a:extLst>
          </p:cNvPr>
          <p:cNvSpPr>
            <a:spLocks noGrp="1" noRot="1" noChangeAspect="1" noChangeArrowheads="1" noTextEdit="1"/>
          </p:cNvSpPr>
          <p:nvPr>
            <p:ph type="sldImg"/>
          </p:nvPr>
        </p:nvSpPr>
        <p:spPr>
          <a:ln/>
        </p:spPr>
      </p:sp>
      <p:sp>
        <p:nvSpPr>
          <p:cNvPr id="33795" name="Notes Placeholder 2">
            <a:extLst>
              <a:ext uri="{FF2B5EF4-FFF2-40B4-BE49-F238E27FC236}">
                <a16:creationId xmlns:a16="http://schemas.microsoft.com/office/drawing/2014/main" id="{3001A5E6-9C4F-75BC-8424-129C1A3777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a:p>
            <a:endParaRPr lang="en-GB" altLang="en-US"/>
          </a:p>
        </p:txBody>
      </p:sp>
      <p:sp>
        <p:nvSpPr>
          <p:cNvPr id="33796" name="Slide Number Placeholder 3">
            <a:extLst>
              <a:ext uri="{FF2B5EF4-FFF2-40B4-BE49-F238E27FC236}">
                <a16:creationId xmlns:a16="http://schemas.microsoft.com/office/drawing/2014/main" id="{822BC3BE-102C-C0AF-E571-0B9F850385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5FD5C20-4685-417F-B208-242C479C414A}" type="slidenum">
              <a:rPr lang="en-GB" altLang="en-US" smtClean="0"/>
              <a:pPr/>
              <a:t>8</a:t>
            </a:fld>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A57214DE-A52A-2A76-ABC4-3B67F79A367D}"/>
              </a:ext>
            </a:extLst>
          </p:cNvPr>
          <p:cNvSpPr>
            <a:spLocks noGrp="1" noRot="1" noChangeAspect="1" noChangeArrowheads="1" noTextEdit="1"/>
          </p:cNvSpPr>
          <p:nvPr>
            <p:ph type="sldImg"/>
          </p:nvPr>
        </p:nvSpPr>
        <p:spPr>
          <a:ln/>
        </p:spPr>
      </p:sp>
      <p:sp>
        <p:nvSpPr>
          <p:cNvPr id="35843" name="Notes Placeholder 2">
            <a:extLst>
              <a:ext uri="{FF2B5EF4-FFF2-40B4-BE49-F238E27FC236}">
                <a16:creationId xmlns:a16="http://schemas.microsoft.com/office/drawing/2014/main" id="{6CB73528-8529-2F03-A844-3B3AA78B7C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Networking and Cybersecurity </a:t>
            </a:r>
          </a:p>
          <a:p>
            <a:r>
              <a:rPr lang="en-US" altLang="en-US"/>
              <a:t>In a networking and cybersecurity role, you will often be among the first IT specialists to see and use emerging technologies, as this is where many of the innovations will occur; for example, new cabling and wireless technologies to make connectivity faster and more responsive. You will connect new devices and new technologies to existing systems and you may even build whole new systems. </a:t>
            </a:r>
            <a:endParaRPr lang="en-GB" altLang="en-US"/>
          </a:p>
        </p:txBody>
      </p:sp>
      <p:sp>
        <p:nvSpPr>
          <p:cNvPr id="35844" name="Slide Number Placeholder 3">
            <a:extLst>
              <a:ext uri="{FF2B5EF4-FFF2-40B4-BE49-F238E27FC236}">
                <a16:creationId xmlns:a16="http://schemas.microsoft.com/office/drawing/2014/main" id="{E6A4CAF3-C68E-0E64-CAD5-B60A64AA93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A0705A6-7324-4E91-8289-8A7C0F9DB329}" type="slidenum">
              <a:rPr lang="en-GB" altLang="en-US" smtClean="0"/>
              <a:pPr/>
              <a:t>9</a:t>
            </a:fld>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9E161C82-F90E-8E7D-66E0-518EA2C9CD1E}"/>
              </a:ext>
            </a:extLst>
          </p:cNvPr>
          <p:cNvSpPr>
            <a:spLocks noGrp="1" noRot="1" noChangeAspect="1" noChangeArrowheads="1" noTextEdit="1"/>
          </p:cNvSpPr>
          <p:nvPr>
            <p:ph type="sldImg"/>
          </p:nvPr>
        </p:nvSpPr>
        <p:spPr>
          <a:ln/>
        </p:spPr>
      </p:sp>
      <p:sp>
        <p:nvSpPr>
          <p:cNvPr id="37891" name="Notes Placeholder 2">
            <a:extLst>
              <a:ext uri="{FF2B5EF4-FFF2-40B4-BE49-F238E27FC236}">
                <a16:creationId xmlns:a16="http://schemas.microsoft.com/office/drawing/2014/main" id="{D85373E1-1D66-6862-1C3E-5C54CF0C09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7892" name="Slide Number Placeholder 3">
            <a:extLst>
              <a:ext uri="{FF2B5EF4-FFF2-40B4-BE49-F238E27FC236}">
                <a16:creationId xmlns:a16="http://schemas.microsoft.com/office/drawing/2014/main" id="{F7995AE1-70AD-DD70-7E27-DADF13BC3F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551C6A-B200-4ED8-90D1-1EBC97C38BDB}" type="slidenum">
              <a:rPr lang="en-GB" altLang="en-US" smtClean="0"/>
              <a:pPr/>
              <a:t>10</a:t>
            </a:fld>
            <a:endParaRPr lang="en-GB"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9B5C1406-5D2E-CC1A-8829-838FA08CDC7B}"/>
              </a:ext>
            </a:extLst>
          </p:cNvPr>
          <p:cNvSpPr>
            <a:spLocks noGrp="1" noRot="1" noChangeAspect="1" noChangeArrowheads="1" noTextEdit="1"/>
          </p:cNvSpPr>
          <p:nvPr>
            <p:ph type="sldImg"/>
          </p:nvPr>
        </p:nvSpPr>
        <p:spPr>
          <a:ln/>
        </p:spPr>
      </p:sp>
      <p:sp>
        <p:nvSpPr>
          <p:cNvPr id="39939" name="Notes Placeholder 2">
            <a:extLst>
              <a:ext uri="{FF2B5EF4-FFF2-40B4-BE49-F238E27FC236}">
                <a16:creationId xmlns:a16="http://schemas.microsoft.com/office/drawing/2014/main" id="{B5998F50-8ED4-41A5-27E7-239EC2F1D0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i="1"/>
          </a:p>
        </p:txBody>
      </p:sp>
      <p:sp>
        <p:nvSpPr>
          <p:cNvPr id="39940" name="Slide Number Placeholder 3">
            <a:extLst>
              <a:ext uri="{FF2B5EF4-FFF2-40B4-BE49-F238E27FC236}">
                <a16:creationId xmlns:a16="http://schemas.microsoft.com/office/drawing/2014/main" id="{0F50170D-3C4B-0209-A2FA-7B6795EE89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640C496-0737-412D-9D57-C02294DBC913}" type="slidenum">
              <a:rPr lang="en-GB" altLang="en-US" smtClean="0"/>
              <a:pPr/>
              <a:t>11</a:t>
            </a:fld>
            <a:endParaRPr lang="en-GB"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27BCF25C-48D5-F8AC-0999-B57C00C8A3CE}"/>
              </a:ext>
            </a:extLst>
          </p:cNvPr>
          <p:cNvSpPr>
            <a:spLocks noGrp="1" noRot="1" noChangeAspect="1" noChangeArrowheads="1" noTextEdit="1"/>
          </p:cNvSpPr>
          <p:nvPr>
            <p:ph type="sldImg"/>
          </p:nvPr>
        </p:nvSpPr>
        <p:spPr>
          <a:ln/>
        </p:spPr>
      </p:sp>
      <p:sp>
        <p:nvSpPr>
          <p:cNvPr id="41987" name="Notes Placeholder 2">
            <a:extLst>
              <a:ext uri="{FF2B5EF4-FFF2-40B4-BE49-F238E27FC236}">
                <a16:creationId xmlns:a16="http://schemas.microsoft.com/office/drawing/2014/main" id="{F1A68318-1DE2-4B8A-14A5-BF2E502C5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1988" name="Slide Number Placeholder 3">
            <a:extLst>
              <a:ext uri="{FF2B5EF4-FFF2-40B4-BE49-F238E27FC236}">
                <a16:creationId xmlns:a16="http://schemas.microsoft.com/office/drawing/2014/main" id="{D3A8FC58-BAC2-B293-A835-3084874476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19B69CD-F2CD-4C39-9628-E245E6DB1F2A}" type="slidenum">
              <a:rPr lang="en-GB" altLang="en-US" smtClean="0"/>
              <a:pPr/>
              <a:t>12</a:t>
            </a:fld>
            <a:endParaRPr lang="en-GB"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13739CEE-8F6D-FAD2-F219-7595ACC06ECC}"/>
              </a:ext>
            </a:extLst>
          </p:cNvPr>
          <p:cNvSpPr>
            <a:spLocks noGrp="1" noRot="1" noChangeAspect="1" noChangeArrowheads="1" noTextEdit="1"/>
          </p:cNvSpPr>
          <p:nvPr>
            <p:ph type="sldImg"/>
          </p:nvPr>
        </p:nvSpPr>
        <p:spPr>
          <a:ln/>
        </p:spPr>
      </p:sp>
      <p:sp>
        <p:nvSpPr>
          <p:cNvPr id="46083" name="Notes Placeholder 2">
            <a:extLst>
              <a:ext uri="{FF2B5EF4-FFF2-40B4-BE49-F238E27FC236}">
                <a16:creationId xmlns:a16="http://schemas.microsoft.com/office/drawing/2014/main" id="{DF97F1D7-F573-D62B-22CB-53F1A73D96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6084" name="Slide Number Placeholder 3">
            <a:extLst>
              <a:ext uri="{FF2B5EF4-FFF2-40B4-BE49-F238E27FC236}">
                <a16:creationId xmlns:a16="http://schemas.microsoft.com/office/drawing/2014/main" id="{EA6B786E-BF87-F9F3-1433-527BB356A6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E669031-3049-47C2-B8E0-31D7A4D5FEE3}" type="slidenum">
              <a:rPr lang="en-GB" altLang="en-US" smtClean="0"/>
              <a:pPr/>
              <a:t>13</a:t>
            </a:fld>
            <a:endParaRPr lang="en-GB"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787AA165-AA2E-9A53-644F-F98B55A3F763}"/>
              </a:ext>
            </a:extLst>
          </p:cNvPr>
          <p:cNvSpPr>
            <a:spLocks noGrp="1" noRot="1" noChangeAspect="1" noChangeArrowheads="1" noTextEdit="1"/>
          </p:cNvSpPr>
          <p:nvPr>
            <p:ph type="sldImg"/>
          </p:nvPr>
        </p:nvSpPr>
        <p:spPr>
          <a:ln/>
        </p:spPr>
      </p:sp>
      <p:sp>
        <p:nvSpPr>
          <p:cNvPr id="50179" name="Notes Placeholder 2">
            <a:extLst>
              <a:ext uri="{FF2B5EF4-FFF2-40B4-BE49-F238E27FC236}">
                <a16:creationId xmlns:a16="http://schemas.microsoft.com/office/drawing/2014/main" id="{0D6ABA90-73C1-CA4D-9320-7B25CF969A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0180" name="Slide Number Placeholder 3">
            <a:extLst>
              <a:ext uri="{FF2B5EF4-FFF2-40B4-BE49-F238E27FC236}">
                <a16:creationId xmlns:a16="http://schemas.microsoft.com/office/drawing/2014/main" id="{298CE07E-1596-B79B-5AEA-15F4E22F6A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E37DABF-817B-4706-BF4F-C2781602228E}" type="slidenum">
              <a:rPr lang="en-GB" altLang="en-US" smtClean="0"/>
              <a:pPr/>
              <a:t>14</a:t>
            </a:fld>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28DB410E-7C7E-E2E4-190C-259FFE2AAF4E}"/>
              </a:ext>
            </a:extLst>
          </p:cNvPr>
          <p:cNvSpPr>
            <a:spLocks noGrp="1" noRot="1" noChangeAspect="1" noChangeArrowheads="1" noTextEdit="1"/>
          </p:cNvSpPr>
          <p:nvPr>
            <p:ph type="sldImg"/>
          </p:nvPr>
        </p:nvSpPr>
        <p:spPr>
          <a:ln/>
        </p:spPr>
      </p:sp>
      <p:sp>
        <p:nvSpPr>
          <p:cNvPr id="52227" name="Notes Placeholder 2">
            <a:extLst>
              <a:ext uri="{FF2B5EF4-FFF2-40B4-BE49-F238E27FC236}">
                <a16:creationId xmlns:a16="http://schemas.microsoft.com/office/drawing/2014/main" id="{216A29AF-32E2-EE09-8C53-7CE7B91121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a:p>
            <a:endParaRPr lang="en-US" altLang="en-US"/>
          </a:p>
        </p:txBody>
      </p:sp>
      <p:sp>
        <p:nvSpPr>
          <p:cNvPr id="52228" name="Slide Number Placeholder 3">
            <a:extLst>
              <a:ext uri="{FF2B5EF4-FFF2-40B4-BE49-F238E27FC236}">
                <a16:creationId xmlns:a16="http://schemas.microsoft.com/office/drawing/2014/main" id="{0CDED4E9-3199-2A20-9163-FA5BCD8C3A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E6CE39A-33AE-497A-BE5F-D4A643A383C4}" type="slidenum">
              <a:rPr lang="en-GB" altLang="en-US" smtClean="0"/>
              <a:pPr/>
              <a:t>15</a:t>
            </a:fld>
            <a:endParaRPr lang="en-GB"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D08931D5-17DD-97A2-0DE0-7DE86DA9BC75}"/>
              </a:ext>
            </a:extLst>
          </p:cNvPr>
          <p:cNvSpPr>
            <a:spLocks noGrp="1" noRot="1" noChangeAspect="1" noChangeArrowheads="1" noTextEdit="1"/>
          </p:cNvSpPr>
          <p:nvPr>
            <p:ph type="sldImg"/>
          </p:nvPr>
        </p:nvSpPr>
        <p:spPr>
          <a:ln/>
        </p:spPr>
      </p:sp>
      <p:sp>
        <p:nvSpPr>
          <p:cNvPr id="56323" name="Notes Placeholder 2">
            <a:extLst>
              <a:ext uri="{FF2B5EF4-FFF2-40B4-BE49-F238E27FC236}">
                <a16:creationId xmlns:a16="http://schemas.microsoft.com/office/drawing/2014/main" id="{DD1703CB-D313-FA47-78EC-295118FE88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6324" name="Slide Number Placeholder 3">
            <a:extLst>
              <a:ext uri="{FF2B5EF4-FFF2-40B4-BE49-F238E27FC236}">
                <a16:creationId xmlns:a16="http://schemas.microsoft.com/office/drawing/2014/main" id="{2989CDEC-034B-DDFC-78E5-4B73E76058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1D19CAA-0F6B-487A-89CF-4C00A7F8C166}" type="slidenum">
              <a:rPr lang="en-GB" altLang="en-US" smtClean="0"/>
              <a:pPr/>
              <a:t>16</a:t>
            </a:fld>
            <a:endParaRPr lang="en-GB"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id="{643D5E9D-CEB0-1281-0B95-CACD019B175E}"/>
              </a:ext>
            </a:extLst>
          </p:cNvPr>
          <p:cNvSpPr>
            <a:spLocks noGrp="1" noRot="1" noChangeAspect="1" noChangeArrowheads="1" noTextEdit="1"/>
          </p:cNvSpPr>
          <p:nvPr>
            <p:ph type="sldImg"/>
          </p:nvPr>
        </p:nvSpPr>
        <p:spPr>
          <a:ln/>
        </p:spPr>
      </p:sp>
      <p:sp>
        <p:nvSpPr>
          <p:cNvPr id="58371" name="Notes Placeholder 2">
            <a:extLst>
              <a:ext uri="{FF2B5EF4-FFF2-40B4-BE49-F238E27FC236}">
                <a16:creationId xmlns:a16="http://schemas.microsoft.com/office/drawing/2014/main" id="{181415C3-71D6-2428-ADED-CCB3130C26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8372" name="Slide Number Placeholder 3">
            <a:extLst>
              <a:ext uri="{FF2B5EF4-FFF2-40B4-BE49-F238E27FC236}">
                <a16:creationId xmlns:a16="http://schemas.microsoft.com/office/drawing/2014/main" id="{17A6952A-150B-2218-8E46-BD439AF3F8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47E2954-718F-46CE-8960-DE881FB95F36}" type="slidenum">
              <a:rPr lang="en-GB" altLang="en-US" smtClean="0"/>
              <a:pPr/>
              <a:t>17</a:t>
            </a:fld>
            <a:endParaRPr lang="en-GB"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id="{4AAD0FFD-91D4-0D18-B854-D87AE5F9FA1F}"/>
              </a:ext>
            </a:extLst>
          </p:cNvPr>
          <p:cNvSpPr>
            <a:spLocks noGrp="1" noRot="1" noChangeAspect="1" noChangeArrowheads="1" noTextEdit="1"/>
          </p:cNvSpPr>
          <p:nvPr>
            <p:ph type="sldImg"/>
          </p:nvPr>
        </p:nvSpPr>
        <p:spPr>
          <a:ln/>
        </p:spPr>
      </p:sp>
      <p:sp>
        <p:nvSpPr>
          <p:cNvPr id="60419" name="Notes Placeholder 2">
            <a:extLst>
              <a:ext uri="{FF2B5EF4-FFF2-40B4-BE49-F238E27FC236}">
                <a16:creationId xmlns:a16="http://schemas.microsoft.com/office/drawing/2014/main" id="{D9A09936-BE50-EE9B-6CBF-C75900A060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0420" name="Slide Number Placeholder 3">
            <a:extLst>
              <a:ext uri="{FF2B5EF4-FFF2-40B4-BE49-F238E27FC236}">
                <a16:creationId xmlns:a16="http://schemas.microsoft.com/office/drawing/2014/main" id="{205716AA-896D-8196-B522-5128DD95D4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C87D2EA-9A53-4ADE-B237-ED56387F228E}" type="slidenum">
              <a:rPr lang="en-GB" altLang="en-US" smtClean="0"/>
              <a:pPr/>
              <a:t>18</a:t>
            </a:fld>
            <a:endParaRPr lang="en-GB"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F0480E29-E11E-FBE7-D9FC-B75FCD1654C7}"/>
              </a:ext>
            </a:extLst>
          </p:cNvPr>
          <p:cNvSpPr>
            <a:spLocks noGrp="1" noRot="1" noChangeAspect="1" noChangeArrowheads="1" noTextEdit="1"/>
          </p:cNvSpPr>
          <p:nvPr>
            <p:ph type="sldImg"/>
          </p:nvPr>
        </p:nvSpPr>
        <p:spPr>
          <a:ln/>
        </p:spPr>
      </p:sp>
      <p:sp>
        <p:nvSpPr>
          <p:cNvPr id="62467" name="Notes Placeholder 2">
            <a:extLst>
              <a:ext uri="{FF2B5EF4-FFF2-40B4-BE49-F238E27FC236}">
                <a16:creationId xmlns:a16="http://schemas.microsoft.com/office/drawing/2014/main" id="{D5781580-AB0A-375F-80E2-D75417CE0B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2468" name="Slide Number Placeholder 3">
            <a:extLst>
              <a:ext uri="{FF2B5EF4-FFF2-40B4-BE49-F238E27FC236}">
                <a16:creationId xmlns:a16="http://schemas.microsoft.com/office/drawing/2014/main" id="{0C46A61D-3CE9-3DC6-542A-B8A830C6B7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030D960-453B-4D7A-9F0E-ACAAB7C5F47E}" type="slidenum">
              <a:rPr lang="en-GB" altLang="en-US" smtClean="0"/>
              <a:pPr/>
              <a:t>19</a:t>
            </a:fld>
            <a:endParaRPr lang="en-GB"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066B3773-B84B-ABC6-E4E7-F3C07E204105}"/>
              </a:ext>
            </a:extLst>
          </p:cNvPr>
          <p:cNvSpPr>
            <a:spLocks noGrp="1" noRot="1" noChangeAspect="1" noChangeArrowheads="1" noTextEdit="1"/>
          </p:cNvSpPr>
          <p:nvPr>
            <p:ph type="sldImg"/>
          </p:nvPr>
        </p:nvSpPr>
        <p:spPr>
          <a:ln/>
        </p:spPr>
      </p:sp>
      <p:sp>
        <p:nvSpPr>
          <p:cNvPr id="64515" name="Notes Placeholder 2">
            <a:extLst>
              <a:ext uri="{FF2B5EF4-FFF2-40B4-BE49-F238E27FC236}">
                <a16:creationId xmlns:a16="http://schemas.microsoft.com/office/drawing/2014/main" id="{66EF9422-CE4B-2845-6FBB-1E2646F5C9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Augmented reality (AR) </a:t>
            </a:r>
          </a:p>
          <a:p>
            <a:r>
              <a:rPr lang="en-US" altLang="en-US"/>
              <a:t>AUGMENTED REALITY (AR) is a technology that is used to overlay an image that has been generated by a computer onto what the user can see in the real world, providing a merged view. </a:t>
            </a:r>
          </a:p>
          <a:p>
            <a:endParaRPr lang="en-US" altLang="en-US"/>
          </a:p>
          <a:p>
            <a:r>
              <a:rPr lang="en-US" altLang="en-US"/>
              <a:t>Image - An app being used in conjunction with a real view</a:t>
            </a:r>
          </a:p>
          <a:p>
            <a:endParaRPr lang="en-US" altLang="en-US"/>
          </a:p>
          <a:p>
            <a:r>
              <a:rPr lang="en-US" altLang="en-US"/>
              <a:t>Table 2.3 gives other examples of how organisations might use augmented reality. </a:t>
            </a:r>
          </a:p>
          <a:p>
            <a:endParaRPr lang="en-US" altLang="en-US"/>
          </a:p>
          <a:p>
            <a:r>
              <a:rPr lang="en-US" altLang="en-US"/>
              <a:t>Overlaying diagrams of car parts on to a captured image of an engine can help to teach basic car maintenance </a:t>
            </a:r>
            <a:endParaRPr lang="en-GB" altLang="en-US"/>
          </a:p>
        </p:txBody>
      </p:sp>
      <p:sp>
        <p:nvSpPr>
          <p:cNvPr id="64516" name="Slide Number Placeholder 3">
            <a:extLst>
              <a:ext uri="{FF2B5EF4-FFF2-40B4-BE49-F238E27FC236}">
                <a16:creationId xmlns:a16="http://schemas.microsoft.com/office/drawing/2014/main" id="{570551B5-3FB3-E02C-9591-05415A967B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FCF9E0A-34D4-4E55-A277-2F9A129E21BA}" type="slidenum">
              <a:rPr lang="en-GB" altLang="en-US" smtClean="0"/>
              <a:pPr/>
              <a:t>20</a:t>
            </a:fld>
            <a:endParaRPr lang="en-GB"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E0813F8C-1BC9-0EB0-AA7C-A88F060E9595}"/>
              </a:ext>
            </a:extLst>
          </p:cNvPr>
          <p:cNvSpPr>
            <a:spLocks noGrp="1" noRot="1" noChangeAspect="1" noChangeArrowheads="1" noTextEdit="1"/>
          </p:cNvSpPr>
          <p:nvPr>
            <p:ph type="sldImg"/>
          </p:nvPr>
        </p:nvSpPr>
        <p:spPr>
          <a:ln/>
        </p:spPr>
      </p:sp>
      <p:sp>
        <p:nvSpPr>
          <p:cNvPr id="66563" name="Notes Placeholder 2">
            <a:extLst>
              <a:ext uri="{FF2B5EF4-FFF2-40B4-BE49-F238E27FC236}">
                <a16:creationId xmlns:a16="http://schemas.microsoft.com/office/drawing/2014/main" id="{548E821B-7DC5-7244-576E-2AC605FE85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6564" name="Slide Number Placeholder 3">
            <a:extLst>
              <a:ext uri="{FF2B5EF4-FFF2-40B4-BE49-F238E27FC236}">
                <a16:creationId xmlns:a16="http://schemas.microsoft.com/office/drawing/2014/main" id="{DD2B2CD7-CBD1-0139-51B4-3A37349289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B5BC0AA-9676-4E46-9C87-3DB535FCB556}" type="slidenum">
              <a:rPr lang="en-GB" altLang="en-US" smtClean="0"/>
              <a:pPr/>
              <a:t>21</a:t>
            </a:fld>
            <a:endParaRPr lang="en-GB"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087523E3-FAF8-DBD8-7F81-2E6D809FA409}"/>
              </a:ext>
            </a:extLst>
          </p:cNvPr>
          <p:cNvSpPr>
            <a:spLocks noGrp="1" noRot="1" noChangeAspect="1" noChangeArrowheads="1" noTextEdit="1"/>
          </p:cNvSpPr>
          <p:nvPr>
            <p:ph type="sldImg"/>
          </p:nvPr>
        </p:nvSpPr>
        <p:spPr>
          <a:ln/>
        </p:spPr>
      </p:sp>
      <p:sp>
        <p:nvSpPr>
          <p:cNvPr id="68611" name="Notes Placeholder 2">
            <a:extLst>
              <a:ext uri="{FF2B5EF4-FFF2-40B4-BE49-F238E27FC236}">
                <a16:creationId xmlns:a16="http://schemas.microsoft.com/office/drawing/2014/main" id="{5585F177-F5F5-8520-25E0-E862822CB9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8612" name="Slide Number Placeholder 3">
            <a:extLst>
              <a:ext uri="{FF2B5EF4-FFF2-40B4-BE49-F238E27FC236}">
                <a16:creationId xmlns:a16="http://schemas.microsoft.com/office/drawing/2014/main" id="{0DA078FA-4C95-4344-E33E-50AE293FF4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0886BB6-B678-481D-B2AD-1583B09A8E8B}" type="slidenum">
              <a:rPr lang="en-GB" altLang="en-US" smtClean="0"/>
              <a:pPr/>
              <a:t>22</a:t>
            </a:fld>
            <a:endParaRPr lang="en-GB"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a:extLst>
              <a:ext uri="{FF2B5EF4-FFF2-40B4-BE49-F238E27FC236}">
                <a16:creationId xmlns:a16="http://schemas.microsoft.com/office/drawing/2014/main" id="{FA0065BD-977D-FAAF-AB7B-A80F72FF0283}"/>
              </a:ext>
            </a:extLst>
          </p:cNvPr>
          <p:cNvSpPr>
            <a:spLocks noGrp="1" noRot="1" noChangeAspect="1" noChangeArrowheads="1" noTextEdit="1"/>
          </p:cNvSpPr>
          <p:nvPr>
            <p:ph type="sldImg"/>
          </p:nvPr>
        </p:nvSpPr>
        <p:spPr>
          <a:ln/>
        </p:spPr>
      </p:sp>
      <p:sp>
        <p:nvSpPr>
          <p:cNvPr id="70659" name="Notes Placeholder 2">
            <a:extLst>
              <a:ext uri="{FF2B5EF4-FFF2-40B4-BE49-F238E27FC236}">
                <a16:creationId xmlns:a16="http://schemas.microsoft.com/office/drawing/2014/main" id="{E1FDBA7F-4BCF-088F-A1C6-D896F4850C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0660" name="Slide Number Placeholder 3">
            <a:extLst>
              <a:ext uri="{FF2B5EF4-FFF2-40B4-BE49-F238E27FC236}">
                <a16:creationId xmlns:a16="http://schemas.microsoft.com/office/drawing/2014/main" id="{FCAFC297-6898-DB5A-3F36-2B97290C37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92639F3-F543-4F9B-BF1B-DF73882A3F56}" type="slidenum">
              <a:rPr lang="en-GB" altLang="en-US" smtClean="0"/>
              <a:pPr/>
              <a:t>23</a:t>
            </a:fld>
            <a:endParaRPr lang="en-GB"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5C54F56E-6BE6-A459-71C6-3C32AEA7307C}"/>
              </a:ext>
            </a:extLst>
          </p:cNvPr>
          <p:cNvSpPr>
            <a:spLocks noGrp="1" noRot="1" noChangeAspect="1" noChangeArrowheads="1" noTextEdit="1"/>
          </p:cNvSpPr>
          <p:nvPr>
            <p:ph type="sldImg"/>
          </p:nvPr>
        </p:nvSpPr>
        <p:spPr>
          <a:ln/>
        </p:spPr>
      </p:sp>
      <p:sp>
        <p:nvSpPr>
          <p:cNvPr id="74755" name="Notes Placeholder 2">
            <a:extLst>
              <a:ext uri="{FF2B5EF4-FFF2-40B4-BE49-F238E27FC236}">
                <a16:creationId xmlns:a16="http://schemas.microsoft.com/office/drawing/2014/main" id="{F3FB1826-4434-985A-1E7A-B51D56EA8F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4756" name="Slide Number Placeholder 3">
            <a:extLst>
              <a:ext uri="{FF2B5EF4-FFF2-40B4-BE49-F238E27FC236}">
                <a16:creationId xmlns:a16="http://schemas.microsoft.com/office/drawing/2014/main" id="{AD57F06B-4584-E519-DA56-47106EB5BB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5951CFE-5B11-4AC1-9EE2-A023FE57EC05}" type="slidenum">
              <a:rPr lang="en-GB" altLang="en-US" smtClean="0"/>
              <a:pPr/>
              <a:t>24</a:t>
            </a:fld>
            <a:endParaRPr lang="en-GB"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a:extLst>
              <a:ext uri="{FF2B5EF4-FFF2-40B4-BE49-F238E27FC236}">
                <a16:creationId xmlns:a16="http://schemas.microsoft.com/office/drawing/2014/main" id="{A8EC108F-82D0-D766-FC73-B50161BA6C60}"/>
              </a:ext>
            </a:extLst>
          </p:cNvPr>
          <p:cNvSpPr>
            <a:spLocks noGrp="1" noRot="1" noChangeAspect="1" noChangeArrowheads="1" noTextEdit="1"/>
          </p:cNvSpPr>
          <p:nvPr>
            <p:ph type="sldImg"/>
          </p:nvPr>
        </p:nvSpPr>
        <p:spPr>
          <a:ln/>
        </p:spPr>
      </p:sp>
      <p:sp>
        <p:nvSpPr>
          <p:cNvPr id="76803" name="Notes Placeholder 2">
            <a:extLst>
              <a:ext uri="{FF2B5EF4-FFF2-40B4-BE49-F238E27FC236}">
                <a16:creationId xmlns:a16="http://schemas.microsoft.com/office/drawing/2014/main" id="{364CDF06-3BB3-DA33-6E65-526B98379F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6804" name="Slide Number Placeholder 3">
            <a:extLst>
              <a:ext uri="{FF2B5EF4-FFF2-40B4-BE49-F238E27FC236}">
                <a16:creationId xmlns:a16="http://schemas.microsoft.com/office/drawing/2014/main" id="{51D9EC8F-2EEC-E4ED-A382-158B37E2B7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23C22DD-EFC5-407C-A45A-70CF8111472A}" type="slidenum">
              <a:rPr lang="en-GB" altLang="en-US" smtClean="0"/>
              <a:pPr/>
              <a:t>25</a:t>
            </a:fld>
            <a:endParaRPr lang="en-GB"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139B2692-D64A-6816-464E-DF71C7569F13}"/>
              </a:ext>
            </a:extLst>
          </p:cNvPr>
          <p:cNvSpPr>
            <a:spLocks noGrp="1" noRot="1" noChangeAspect="1" noChangeArrowheads="1" noTextEdit="1"/>
          </p:cNvSpPr>
          <p:nvPr>
            <p:ph type="sldImg"/>
          </p:nvPr>
        </p:nvSpPr>
        <p:spPr>
          <a:ln/>
        </p:spPr>
      </p:sp>
      <p:sp>
        <p:nvSpPr>
          <p:cNvPr id="78851" name="Notes Placeholder 2">
            <a:extLst>
              <a:ext uri="{FF2B5EF4-FFF2-40B4-BE49-F238E27FC236}">
                <a16:creationId xmlns:a16="http://schemas.microsoft.com/office/drawing/2014/main" id="{47C7E73F-17D2-7A77-7A59-D378FBD7CD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a:p>
            <a:endParaRPr lang="en-GB" altLang="en-US"/>
          </a:p>
        </p:txBody>
      </p:sp>
      <p:sp>
        <p:nvSpPr>
          <p:cNvPr id="78852" name="Slide Number Placeholder 3">
            <a:extLst>
              <a:ext uri="{FF2B5EF4-FFF2-40B4-BE49-F238E27FC236}">
                <a16:creationId xmlns:a16="http://schemas.microsoft.com/office/drawing/2014/main" id="{ECBC7C46-4F44-09B9-3251-5EAFBFDFA8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61F8E98-FCC2-4733-8CBC-221EA41FE409}" type="slidenum">
              <a:rPr lang="en-GB" altLang="en-US" smtClean="0"/>
              <a:pPr/>
              <a:t>26</a:t>
            </a:fld>
            <a:endParaRPr lang="en-GB"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a:extLst>
              <a:ext uri="{FF2B5EF4-FFF2-40B4-BE49-F238E27FC236}">
                <a16:creationId xmlns:a16="http://schemas.microsoft.com/office/drawing/2014/main" id="{3DACD3DC-6401-5FA5-9DFA-9D979C82511D}"/>
              </a:ext>
            </a:extLst>
          </p:cNvPr>
          <p:cNvSpPr>
            <a:spLocks noGrp="1" noRot="1" noChangeAspect="1" noChangeArrowheads="1" noTextEdit="1"/>
          </p:cNvSpPr>
          <p:nvPr>
            <p:ph type="sldImg"/>
          </p:nvPr>
        </p:nvSpPr>
        <p:spPr>
          <a:ln/>
        </p:spPr>
      </p:sp>
      <p:sp>
        <p:nvSpPr>
          <p:cNvPr id="82947" name="Notes Placeholder 2">
            <a:extLst>
              <a:ext uri="{FF2B5EF4-FFF2-40B4-BE49-F238E27FC236}">
                <a16:creationId xmlns:a16="http://schemas.microsoft.com/office/drawing/2014/main" id="{B1B843F2-5414-92C2-22E7-6C1EF11103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2948" name="Slide Number Placeholder 3">
            <a:extLst>
              <a:ext uri="{FF2B5EF4-FFF2-40B4-BE49-F238E27FC236}">
                <a16:creationId xmlns:a16="http://schemas.microsoft.com/office/drawing/2014/main" id="{1E3FDB26-9C56-8113-8692-DD3B3D1243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FF4B35C-169B-4ADB-A288-C05D4E8CCB88}" type="slidenum">
              <a:rPr lang="en-GB" altLang="en-US" smtClean="0"/>
              <a:pPr/>
              <a:t>27</a:t>
            </a:fld>
            <a:endParaRPr lang="en-GB"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a:extLst>
              <a:ext uri="{FF2B5EF4-FFF2-40B4-BE49-F238E27FC236}">
                <a16:creationId xmlns:a16="http://schemas.microsoft.com/office/drawing/2014/main" id="{BAAAE473-59F4-042E-12D1-C212E4B4ABD1}"/>
              </a:ext>
            </a:extLst>
          </p:cNvPr>
          <p:cNvSpPr>
            <a:spLocks noGrp="1" noRot="1" noChangeAspect="1" noChangeArrowheads="1" noTextEdit="1"/>
          </p:cNvSpPr>
          <p:nvPr>
            <p:ph type="sldImg"/>
          </p:nvPr>
        </p:nvSpPr>
        <p:spPr>
          <a:ln/>
        </p:spPr>
      </p:sp>
      <p:sp>
        <p:nvSpPr>
          <p:cNvPr id="84995" name="Notes Placeholder 2">
            <a:extLst>
              <a:ext uri="{FF2B5EF4-FFF2-40B4-BE49-F238E27FC236}">
                <a16:creationId xmlns:a16="http://schemas.microsoft.com/office/drawing/2014/main" id="{CE54C2C7-2645-ECB9-2342-F33AA040A2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4996" name="Slide Number Placeholder 3">
            <a:extLst>
              <a:ext uri="{FF2B5EF4-FFF2-40B4-BE49-F238E27FC236}">
                <a16:creationId xmlns:a16="http://schemas.microsoft.com/office/drawing/2014/main" id="{99BD2DEF-9937-978D-D23A-5A54BACEC8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A7D9031-6F21-4543-AA0F-1B773F548047}" type="slidenum">
              <a:rPr lang="en-GB" altLang="en-US" smtClean="0"/>
              <a:pPr/>
              <a:t>28</a:t>
            </a:fld>
            <a:endParaRPr lang="en-GB"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a:extLst>
              <a:ext uri="{FF2B5EF4-FFF2-40B4-BE49-F238E27FC236}">
                <a16:creationId xmlns:a16="http://schemas.microsoft.com/office/drawing/2014/main" id="{A3C28328-E89F-9575-3970-9FFE3C86F571}"/>
              </a:ext>
            </a:extLst>
          </p:cNvPr>
          <p:cNvSpPr>
            <a:spLocks noGrp="1" noRot="1" noChangeAspect="1" noChangeArrowheads="1" noTextEdit="1"/>
          </p:cNvSpPr>
          <p:nvPr>
            <p:ph type="sldImg"/>
          </p:nvPr>
        </p:nvSpPr>
        <p:spPr>
          <a:ln/>
        </p:spPr>
      </p:sp>
      <p:sp>
        <p:nvSpPr>
          <p:cNvPr id="87043" name="Notes Placeholder 2">
            <a:extLst>
              <a:ext uri="{FF2B5EF4-FFF2-40B4-BE49-F238E27FC236}">
                <a16:creationId xmlns:a16="http://schemas.microsoft.com/office/drawing/2014/main" id="{154F7575-5DDC-CF1A-6744-9FE330DD01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7044" name="Slide Number Placeholder 3">
            <a:extLst>
              <a:ext uri="{FF2B5EF4-FFF2-40B4-BE49-F238E27FC236}">
                <a16:creationId xmlns:a16="http://schemas.microsoft.com/office/drawing/2014/main" id="{87588C2D-5DA1-AC93-00E9-020E432D37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9925D08-4DB9-4451-AFE9-AD16515AB117}" type="slidenum">
              <a:rPr lang="en-GB" altLang="en-US" smtClean="0"/>
              <a:pPr/>
              <a:t>29</a:t>
            </a:fld>
            <a:endParaRPr lang="en-GB"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a:extLst>
              <a:ext uri="{FF2B5EF4-FFF2-40B4-BE49-F238E27FC236}">
                <a16:creationId xmlns:a16="http://schemas.microsoft.com/office/drawing/2014/main" id="{3E602D27-5B41-0519-ECA6-D6217B505E92}"/>
              </a:ext>
            </a:extLst>
          </p:cNvPr>
          <p:cNvSpPr>
            <a:spLocks noGrp="1" noRot="1" noChangeAspect="1" noChangeArrowheads="1" noTextEdit="1"/>
          </p:cNvSpPr>
          <p:nvPr>
            <p:ph type="sldImg"/>
          </p:nvPr>
        </p:nvSpPr>
        <p:spPr>
          <a:ln/>
        </p:spPr>
      </p:sp>
      <p:sp>
        <p:nvSpPr>
          <p:cNvPr id="89091" name="Notes Placeholder 2">
            <a:extLst>
              <a:ext uri="{FF2B5EF4-FFF2-40B4-BE49-F238E27FC236}">
                <a16:creationId xmlns:a16="http://schemas.microsoft.com/office/drawing/2014/main" id="{F43CE9AE-C728-2ACE-494A-900E6074C6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9092" name="Slide Number Placeholder 3">
            <a:extLst>
              <a:ext uri="{FF2B5EF4-FFF2-40B4-BE49-F238E27FC236}">
                <a16:creationId xmlns:a16="http://schemas.microsoft.com/office/drawing/2014/main" id="{90DD876C-41EB-8A0E-489F-FB6979449F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70CC509-4C99-4814-A35D-0C0CAD2DC48C}" type="slidenum">
              <a:rPr lang="en-GB" altLang="en-US" smtClean="0"/>
              <a:pPr/>
              <a:t>30</a:t>
            </a:fld>
            <a:endParaRPr lang="en-GB"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id="{C0F3826C-C704-9A89-23E0-FCBDE95E5EAC}"/>
              </a:ext>
            </a:extLst>
          </p:cNvPr>
          <p:cNvSpPr>
            <a:spLocks noGrp="1" noRot="1" noChangeAspect="1" noChangeArrowheads="1" noTextEdit="1"/>
          </p:cNvSpPr>
          <p:nvPr>
            <p:ph type="sldImg"/>
          </p:nvPr>
        </p:nvSpPr>
        <p:spPr>
          <a:ln/>
        </p:spPr>
      </p:sp>
      <p:sp>
        <p:nvSpPr>
          <p:cNvPr id="91139" name="Notes Placeholder 2">
            <a:extLst>
              <a:ext uri="{FF2B5EF4-FFF2-40B4-BE49-F238E27FC236}">
                <a16:creationId xmlns:a16="http://schemas.microsoft.com/office/drawing/2014/main" id="{3F9235B5-14F5-569E-A5A5-B7515FE17E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1140" name="Slide Number Placeholder 3">
            <a:extLst>
              <a:ext uri="{FF2B5EF4-FFF2-40B4-BE49-F238E27FC236}">
                <a16:creationId xmlns:a16="http://schemas.microsoft.com/office/drawing/2014/main" id="{6916F9F9-0251-E729-496B-90453B9721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54ED589-A58C-4C67-AE85-178ABD9990D5}" type="slidenum">
              <a:rPr lang="en-GB" altLang="en-US" smtClean="0"/>
              <a:pPr/>
              <a:t>31</a:t>
            </a:fld>
            <a:endParaRPr lang="en-GB"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AE170CE4-6FAD-37DC-EB20-0A890EFF79E5}"/>
              </a:ext>
            </a:extLst>
          </p:cNvPr>
          <p:cNvSpPr>
            <a:spLocks noGrp="1" noRot="1" noChangeAspect="1" noChangeArrowheads="1" noTextEdit="1"/>
          </p:cNvSpPr>
          <p:nvPr>
            <p:ph type="sldImg"/>
          </p:nvPr>
        </p:nvSpPr>
        <p:spPr>
          <a:ln/>
        </p:spPr>
      </p:sp>
      <p:sp>
        <p:nvSpPr>
          <p:cNvPr id="93187" name="Notes Placeholder 2">
            <a:extLst>
              <a:ext uri="{FF2B5EF4-FFF2-40B4-BE49-F238E27FC236}">
                <a16:creationId xmlns:a16="http://schemas.microsoft.com/office/drawing/2014/main" id="{67A7AF37-B67B-9CDD-5A7A-0692BD0CB5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3188" name="Slide Number Placeholder 3">
            <a:extLst>
              <a:ext uri="{FF2B5EF4-FFF2-40B4-BE49-F238E27FC236}">
                <a16:creationId xmlns:a16="http://schemas.microsoft.com/office/drawing/2014/main" id="{E7C90F0B-B048-1765-A5BC-BD815C2710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7540A50-A45E-4FA2-9ED7-ECE93F906831}" type="slidenum">
              <a:rPr lang="en-GB" altLang="en-US" smtClean="0"/>
              <a:pPr/>
              <a:t>32</a:t>
            </a:fld>
            <a:endParaRPr lang="en-GB"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a:extLst>
              <a:ext uri="{FF2B5EF4-FFF2-40B4-BE49-F238E27FC236}">
                <a16:creationId xmlns:a16="http://schemas.microsoft.com/office/drawing/2014/main" id="{38373EDA-0970-2524-8072-651EC8A86C47}"/>
              </a:ext>
            </a:extLst>
          </p:cNvPr>
          <p:cNvSpPr>
            <a:spLocks noGrp="1" noRot="1" noChangeAspect="1" noChangeArrowheads="1" noTextEdit="1"/>
          </p:cNvSpPr>
          <p:nvPr>
            <p:ph type="sldImg"/>
          </p:nvPr>
        </p:nvSpPr>
        <p:spPr>
          <a:ln/>
        </p:spPr>
      </p:sp>
      <p:sp>
        <p:nvSpPr>
          <p:cNvPr id="95235" name="Notes Placeholder 2">
            <a:extLst>
              <a:ext uri="{FF2B5EF4-FFF2-40B4-BE49-F238E27FC236}">
                <a16:creationId xmlns:a16="http://schemas.microsoft.com/office/drawing/2014/main" id="{2A3FAB3A-6299-8628-4652-43BF18F68D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5236" name="Slide Number Placeholder 3">
            <a:extLst>
              <a:ext uri="{FF2B5EF4-FFF2-40B4-BE49-F238E27FC236}">
                <a16:creationId xmlns:a16="http://schemas.microsoft.com/office/drawing/2014/main" id="{23F9B644-0533-853B-CE97-00D816D738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8BFC4D3-4A66-4910-BCB5-3F8086827659}" type="slidenum">
              <a:rPr lang="en-GB" altLang="en-US" smtClean="0"/>
              <a:pPr/>
              <a:t>33</a:t>
            </a:fld>
            <a:endParaRPr lang="en-GB"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DD6A7AE6-E100-3396-4EF9-8115ED93506A}"/>
              </a:ext>
            </a:extLst>
          </p:cNvPr>
          <p:cNvSpPr>
            <a:spLocks noGrp="1" noRot="1" noChangeAspect="1" noChangeArrowheads="1" noTextEdit="1"/>
          </p:cNvSpPr>
          <p:nvPr>
            <p:ph type="sldImg"/>
          </p:nvPr>
        </p:nvSpPr>
        <p:spPr>
          <a:ln/>
        </p:spPr>
      </p:sp>
      <p:sp>
        <p:nvSpPr>
          <p:cNvPr id="97283" name="Notes Placeholder 2">
            <a:extLst>
              <a:ext uri="{FF2B5EF4-FFF2-40B4-BE49-F238E27FC236}">
                <a16:creationId xmlns:a16="http://schemas.microsoft.com/office/drawing/2014/main" id="{1454B2E7-DB3C-340F-7BCA-E646D6BC5D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7284" name="Slide Number Placeholder 3">
            <a:extLst>
              <a:ext uri="{FF2B5EF4-FFF2-40B4-BE49-F238E27FC236}">
                <a16:creationId xmlns:a16="http://schemas.microsoft.com/office/drawing/2014/main" id="{DD1BF0C7-805C-5729-97B2-C8451A3A0D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66264BD-CC16-4549-8032-7B4AC2B5CD4D}" type="slidenum">
              <a:rPr lang="en-GB" altLang="en-US" smtClean="0"/>
              <a:pPr/>
              <a:t>34</a:t>
            </a:fld>
            <a:endParaRPr lang="en-GB"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a:extLst>
              <a:ext uri="{FF2B5EF4-FFF2-40B4-BE49-F238E27FC236}">
                <a16:creationId xmlns:a16="http://schemas.microsoft.com/office/drawing/2014/main" id="{9D55686E-0B26-56F4-F1AD-EEB1FBFD993C}"/>
              </a:ext>
            </a:extLst>
          </p:cNvPr>
          <p:cNvSpPr>
            <a:spLocks noGrp="1" noRot="1" noChangeAspect="1" noChangeArrowheads="1" noTextEdit="1"/>
          </p:cNvSpPr>
          <p:nvPr>
            <p:ph type="sldImg"/>
          </p:nvPr>
        </p:nvSpPr>
        <p:spPr>
          <a:ln/>
        </p:spPr>
      </p:sp>
      <p:sp>
        <p:nvSpPr>
          <p:cNvPr id="99331" name="Notes Placeholder 2">
            <a:extLst>
              <a:ext uri="{FF2B5EF4-FFF2-40B4-BE49-F238E27FC236}">
                <a16:creationId xmlns:a16="http://schemas.microsoft.com/office/drawing/2014/main" id="{3A75446F-160A-9D48-04E6-8A2AE7FE3C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9332" name="Slide Number Placeholder 3">
            <a:extLst>
              <a:ext uri="{FF2B5EF4-FFF2-40B4-BE49-F238E27FC236}">
                <a16:creationId xmlns:a16="http://schemas.microsoft.com/office/drawing/2014/main" id="{E06144A1-971C-E968-98BD-E83267F625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8EBDA73-5BA4-4E15-8FF0-5ACEEDAAB77B}" type="slidenum">
              <a:rPr lang="en-GB" altLang="en-US" smtClean="0"/>
              <a:pPr/>
              <a:t>35</a:t>
            </a:fld>
            <a:endParaRPr lang="en-GB"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a:extLst>
              <a:ext uri="{FF2B5EF4-FFF2-40B4-BE49-F238E27FC236}">
                <a16:creationId xmlns:a16="http://schemas.microsoft.com/office/drawing/2014/main" id="{8DE9AE78-7C16-0D88-A079-A1E201A9876D}"/>
              </a:ext>
            </a:extLst>
          </p:cNvPr>
          <p:cNvSpPr>
            <a:spLocks noGrp="1" noRot="1" noChangeAspect="1" noChangeArrowheads="1" noTextEdit="1"/>
          </p:cNvSpPr>
          <p:nvPr>
            <p:ph type="sldImg"/>
          </p:nvPr>
        </p:nvSpPr>
        <p:spPr>
          <a:ln/>
        </p:spPr>
      </p:sp>
      <p:sp>
        <p:nvSpPr>
          <p:cNvPr id="101379" name="Notes Placeholder 2">
            <a:extLst>
              <a:ext uri="{FF2B5EF4-FFF2-40B4-BE49-F238E27FC236}">
                <a16:creationId xmlns:a16="http://schemas.microsoft.com/office/drawing/2014/main" id="{A9FA7E37-10AB-36FE-06CE-4CA95B3840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01380" name="Slide Number Placeholder 3">
            <a:extLst>
              <a:ext uri="{FF2B5EF4-FFF2-40B4-BE49-F238E27FC236}">
                <a16:creationId xmlns:a16="http://schemas.microsoft.com/office/drawing/2014/main" id="{57EBBD97-A47D-E74C-CFAB-3539A5D13E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66F4D20-21B8-40CC-9FF7-C8023578C5F4}" type="slidenum">
              <a:rPr lang="en-GB" altLang="en-US" smtClean="0"/>
              <a:pPr/>
              <a:t>36</a:t>
            </a:fld>
            <a:endParaRPr lang="en-GB"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0D71A8F0-A96B-4A50-BB3B-1C268249EB13}" type="slidenum">
              <a:rPr lang="en-GB" altLang="en-US" smtClean="0"/>
              <a:pPr>
                <a:defRPr/>
              </a:pPr>
              <a:t>37</a:t>
            </a:fld>
            <a:endParaRPr lang="en-GB" altLang="en-US"/>
          </a:p>
        </p:txBody>
      </p:sp>
    </p:spTree>
    <p:extLst>
      <p:ext uri="{BB962C8B-B14F-4D97-AF65-F5344CB8AC3E}">
        <p14:creationId xmlns:p14="http://schemas.microsoft.com/office/powerpoint/2010/main" val="12098395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EFD1B-0C8F-051E-6F57-8E3DE1B3CA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195863-2C72-8C9C-13FA-E97FFBAF47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45AA5E-AF74-5D4F-B935-15428595DBB0}"/>
              </a:ext>
            </a:extLst>
          </p:cNvPr>
          <p:cNvSpPr>
            <a:spLocks noGrp="1"/>
          </p:cNvSpPr>
          <p:nvPr>
            <p:ph type="body" idx="1"/>
          </p:nvPr>
        </p:nvSpPr>
        <p:spPr/>
        <p:txBody>
          <a:bodyPr/>
          <a:lstStyle/>
          <a:p>
            <a:r>
              <a:rPr lang="en-GB" dirty="0"/>
              <a:t>https://www.linkedin.com/pulse/ai-adoption-lifecycle-lawrence-ip-lql8c</a:t>
            </a:r>
          </a:p>
          <a:p>
            <a:r>
              <a:rPr lang="en-GB" dirty="0"/>
              <a:t>https://www.gartner.com/en/articles/hype-cycle-for-artificial-intelligence</a:t>
            </a:r>
          </a:p>
        </p:txBody>
      </p:sp>
      <p:sp>
        <p:nvSpPr>
          <p:cNvPr id="4" name="Slide Number Placeholder 3">
            <a:extLst>
              <a:ext uri="{FF2B5EF4-FFF2-40B4-BE49-F238E27FC236}">
                <a16:creationId xmlns:a16="http://schemas.microsoft.com/office/drawing/2014/main" id="{0E4AC7E3-5482-D983-81DB-7CAD12522659}"/>
              </a:ext>
            </a:extLst>
          </p:cNvPr>
          <p:cNvSpPr>
            <a:spLocks noGrp="1"/>
          </p:cNvSpPr>
          <p:nvPr>
            <p:ph type="sldNum" sz="quarter" idx="5"/>
          </p:nvPr>
        </p:nvSpPr>
        <p:spPr/>
        <p:txBody>
          <a:bodyPr/>
          <a:lstStyle/>
          <a:p>
            <a:pPr>
              <a:defRPr/>
            </a:pPr>
            <a:fld id="{0D71A8F0-A96B-4A50-BB3B-1C268249EB13}" type="slidenum">
              <a:rPr lang="en-GB" altLang="en-US" smtClean="0"/>
              <a:pPr>
                <a:defRPr/>
              </a:pPr>
              <a:t>38</a:t>
            </a:fld>
            <a:endParaRPr lang="en-GB" altLang="en-US"/>
          </a:p>
        </p:txBody>
      </p:sp>
    </p:spTree>
    <p:extLst>
      <p:ext uri="{BB962C8B-B14F-4D97-AF65-F5344CB8AC3E}">
        <p14:creationId xmlns:p14="http://schemas.microsoft.com/office/powerpoint/2010/main" val="26186262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4E481-3E3E-A323-F18E-C8C464D8AD16}"/>
            </a:ext>
          </a:extLst>
        </p:cNvPr>
        <p:cNvGrpSpPr/>
        <p:nvPr/>
      </p:nvGrpSpPr>
      <p:grpSpPr>
        <a:xfrm>
          <a:off x="0" y="0"/>
          <a:ext cx="0" cy="0"/>
          <a:chOff x="0" y="0"/>
          <a:chExt cx="0" cy="0"/>
        </a:xfrm>
      </p:grpSpPr>
      <p:sp>
        <p:nvSpPr>
          <p:cNvPr id="103426" name="Slide Image Placeholder 1">
            <a:extLst>
              <a:ext uri="{FF2B5EF4-FFF2-40B4-BE49-F238E27FC236}">
                <a16:creationId xmlns:a16="http://schemas.microsoft.com/office/drawing/2014/main" id="{A44E091C-0F05-7467-1E09-CCB6BEE59485}"/>
              </a:ext>
            </a:extLst>
          </p:cNvPr>
          <p:cNvSpPr>
            <a:spLocks noGrp="1" noRot="1" noChangeAspect="1" noChangeArrowheads="1" noTextEdit="1"/>
          </p:cNvSpPr>
          <p:nvPr>
            <p:ph type="sldImg"/>
          </p:nvPr>
        </p:nvSpPr>
        <p:spPr>
          <a:ln/>
        </p:spPr>
      </p:sp>
      <p:sp>
        <p:nvSpPr>
          <p:cNvPr id="103427" name="Notes Placeholder 2">
            <a:extLst>
              <a:ext uri="{FF2B5EF4-FFF2-40B4-BE49-F238E27FC236}">
                <a16:creationId xmlns:a16="http://schemas.microsoft.com/office/drawing/2014/main" id="{B3614958-AD8A-A12D-E2D5-CA1807BFF7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https://www.business-reporter.co.uk/improving-business-performance/using-the-technology-adoption-lifecycle-to-overcome-blocks</a:t>
            </a:r>
          </a:p>
          <a:p>
            <a:r>
              <a:rPr lang="en-US" altLang="en-US" dirty="0"/>
              <a:t>https://www.gartner.com/en/articles/what-s-new-in-the-2022-gartner-hype-cycle-for-emerging-technologies</a:t>
            </a:r>
          </a:p>
          <a:p>
            <a:r>
              <a:rPr lang="en-US" altLang="en-US" dirty="0"/>
              <a:t>https://www.gartner.com/en/articles/top-technology-trends-2025</a:t>
            </a:r>
          </a:p>
          <a:p>
            <a:endParaRPr lang="en-US" altLang="en-US" dirty="0"/>
          </a:p>
        </p:txBody>
      </p:sp>
      <p:sp>
        <p:nvSpPr>
          <p:cNvPr id="103428" name="Slide Number Placeholder 3">
            <a:extLst>
              <a:ext uri="{FF2B5EF4-FFF2-40B4-BE49-F238E27FC236}">
                <a16:creationId xmlns:a16="http://schemas.microsoft.com/office/drawing/2014/main" id="{0F9BE0DD-BCF1-0E2E-5F21-D4FBDBDD28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9091ABE-EC64-46A6-A6B7-A9AC3779AB4A}" type="slidenum">
              <a:rPr lang="en-GB" altLang="en-US" smtClean="0"/>
              <a:pPr/>
              <a:t>39</a:t>
            </a:fld>
            <a:endParaRPr lang="en-GB" altLang="en-US"/>
          </a:p>
        </p:txBody>
      </p:sp>
    </p:spTree>
    <p:extLst>
      <p:ext uri="{BB962C8B-B14F-4D97-AF65-F5344CB8AC3E}">
        <p14:creationId xmlns:p14="http://schemas.microsoft.com/office/powerpoint/2010/main" val="56872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6284B0E0-D6B9-3609-2C31-EFA5BA42BA43}"/>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C5979E9B-BA00-2D3E-CEAD-284B81930D9F}"/>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2CAB1193-E6A4-075A-2FB3-59CDB5CE7FA3}"/>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1" name="Rectangle 5">
                <a:extLst>
                  <a:ext uri="{FF2B5EF4-FFF2-40B4-BE49-F238E27FC236}">
                    <a16:creationId xmlns:a16="http://schemas.microsoft.com/office/drawing/2014/main" id="{DC3F14AC-D2B6-D72E-AAF0-BC608B14D7D7}"/>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grpSp>
        <p:grpSp>
          <p:nvGrpSpPr>
            <p:cNvPr id="4" name="Group 6">
              <a:extLst>
                <a:ext uri="{FF2B5EF4-FFF2-40B4-BE49-F238E27FC236}">
                  <a16:creationId xmlns:a16="http://schemas.microsoft.com/office/drawing/2014/main" id="{1355A192-5F9C-7352-6FAE-EF2FF8BA2740}"/>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B2DEE69F-325B-9D55-6613-952E2BF72901}"/>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9" name="Rectangle 8">
                <a:extLst>
                  <a:ext uri="{FF2B5EF4-FFF2-40B4-BE49-F238E27FC236}">
                    <a16:creationId xmlns:a16="http://schemas.microsoft.com/office/drawing/2014/main" id="{191F6D58-13EC-F984-0BE6-03C254FF75E6}"/>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grpSp>
        <p:sp>
          <p:nvSpPr>
            <p:cNvPr id="5" name="Rectangle 9">
              <a:extLst>
                <a:ext uri="{FF2B5EF4-FFF2-40B4-BE49-F238E27FC236}">
                  <a16:creationId xmlns:a16="http://schemas.microsoft.com/office/drawing/2014/main" id="{852FD590-FDD5-9991-B0E3-9409D1E9BABA}"/>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6" name="Rectangle 10">
              <a:extLst>
                <a:ext uri="{FF2B5EF4-FFF2-40B4-BE49-F238E27FC236}">
                  <a16:creationId xmlns:a16="http://schemas.microsoft.com/office/drawing/2014/main" id="{AB111E08-FCF4-EC9B-2C1B-4C6BFB571C50}"/>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7" name="Rectangle 11">
              <a:extLst>
                <a:ext uri="{FF2B5EF4-FFF2-40B4-BE49-F238E27FC236}">
                  <a16:creationId xmlns:a16="http://schemas.microsoft.com/office/drawing/2014/main" id="{944DDA98-C28C-4D02-C0F9-83CB4E171024}"/>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grpSp>
      <p:sp>
        <p:nvSpPr>
          <p:cNvPr id="12" name="TextBox 17">
            <a:extLst>
              <a:ext uri="{FF2B5EF4-FFF2-40B4-BE49-F238E27FC236}">
                <a16:creationId xmlns:a16="http://schemas.microsoft.com/office/drawing/2014/main" id="{752BAF29-6FE6-F34D-F3A5-2DB8421FA538}"/>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
        <p:nvSpPr>
          <p:cNvPr id="25612"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3" name="Date Placeholder 14">
            <a:extLst>
              <a:ext uri="{FF2B5EF4-FFF2-40B4-BE49-F238E27FC236}">
                <a16:creationId xmlns:a16="http://schemas.microsoft.com/office/drawing/2014/main" id="{278B1CE2-EFE0-1BD6-9711-E5805B72A0C8}"/>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4" name="Footer Placeholder 15">
            <a:extLst>
              <a:ext uri="{FF2B5EF4-FFF2-40B4-BE49-F238E27FC236}">
                <a16:creationId xmlns:a16="http://schemas.microsoft.com/office/drawing/2014/main" id="{62A1C94F-6D3E-190B-9196-15A7E62ED5E5}"/>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Tree>
    <p:extLst>
      <p:ext uri="{BB962C8B-B14F-4D97-AF65-F5344CB8AC3E}">
        <p14:creationId xmlns:p14="http://schemas.microsoft.com/office/powerpoint/2010/main" val="345429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AD998677-6F59-6401-3848-B7794E36F806}"/>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C28742D4-8EAE-C0EF-CC5F-99A5F8CB7E35}"/>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515CE2B7-D11E-D24F-D782-DCDA61920529}"/>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E2378C9-FFE3-4FCA-89BD-188A4A518524}" type="slidenum">
              <a:rPr lang="en-US" altLang="en-US"/>
              <a:pPr>
                <a:defRPr/>
              </a:pPr>
              <a:t>‹#›</a:t>
            </a:fld>
            <a:endParaRPr lang="en-US" altLang="en-US"/>
          </a:p>
        </p:txBody>
      </p:sp>
    </p:spTree>
    <p:extLst>
      <p:ext uri="{BB962C8B-B14F-4D97-AF65-F5344CB8AC3E}">
        <p14:creationId xmlns:p14="http://schemas.microsoft.com/office/powerpoint/2010/main" val="1503597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7AC53EAF-08B4-78EC-D772-7E6BEE5C6BA6}"/>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8178B7D0-FDDC-F4D9-9F51-F123E27E8ECB}"/>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461C9B6F-CCAF-608F-F63B-A0BC7108DC6C}"/>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42DBFA03-6198-44F7-958F-90834ADFAE8F}" type="slidenum">
              <a:rPr lang="en-US" altLang="en-US"/>
              <a:pPr>
                <a:defRPr/>
              </a:pPr>
              <a:t>‹#›</a:t>
            </a:fld>
            <a:endParaRPr lang="en-US" altLang="en-US"/>
          </a:p>
        </p:txBody>
      </p:sp>
    </p:spTree>
    <p:extLst>
      <p:ext uri="{BB962C8B-B14F-4D97-AF65-F5344CB8AC3E}">
        <p14:creationId xmlns:p14="http://schemas.microsoft.com/office/powerpoint/2010/main" val="830153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ACD7F715-FD1D-860B-0AAC-D08B32E0982B}"/>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019FC6B8-CE7A-5D17-398F-B3336E6AD220}"/>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94ADAB49-D584-3E87-6A6F-117146971754}"/>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A2F74D1-5044-40A3-BC92-1459ED86A7EC}" type="slidenum">
              <a:rPr lang="en-US" altLang="en-US"/>
              <a:pPr>
                <a:defRPr/>
              </a:pPr>
              <a:t>‹#›</a:t>
            </a:fld>
            <a:endParaRPr lang="en-US" altLang="en-US"/>
          </a:p>
        </p:txBody>
      </p:sp>
    </p:spTree>
    <p:extLst>
      <p:ext uri="{BB962C8B-B14F-4D97-AF65-F5344CB8AC3E}">
        <p14:creationId xmlns:p14="http://schemas.microsoft.com/office/powerpoint/2010/main" val="3346881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EAA0CBD6-1F27-3A9B-649F-4923159CA251}"/>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F50C427D-8B6A-65A8-36AD-1C031A205655}"/>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95CEE1CA-475A-61AD-29F4-7D62160C2187}"/>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4E2B6FC1-C460-4C7D-A25D-7CF3F357143C}" type="slidenum">
              <a:rPr lang="en-US" altLang="en-US"/>
              <a:pPr>
                <a:defRPr/>
              </a:pPr>
              <a:t>‹#›</a:t>
            </a:fld>
            <a:endParaRPr lang="en-US" altLang="en-US"/>
          </a:p>
        </p:txBody>
      </p:sp>
    </p:spTree>
    <p:extLst>
      <p:ext uri="{BB962C8B-B14F-4D97-AF65-F5344CB8AC3E}">
        <p14:creationId xmlns:p14="http://schemas.microsoft.com/office/powerpoint/2010/main" val="2164769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7B4AD549-CBE1-0FCD-DAA0-38BDE61DFB79}"/>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C8052E22-2A55-409E-983E-02710368A8A7}"/>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B84463E4-51BA-506A-09C8-BEC0BE89A0AB}"/>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290C785-6023-4E53-9FBD-0EA1B72BFC59}" type="slidenum">
              <a:rPr lang="en-US" altLang="en-US"/>
              <a:pPr>
                <a:defRPr/>
              </a:pPr>
              <a:t>‹#›</a:t>
            </a:fld>
            <a:endParaRPr lang="en-US" altLang="en-US"/>
          </a:p>
        </p:txBody>
      </p:sp>
    </p:spTree>
    <p:extLst>
      <p:ext uri="{BB962C8B-B14F-4D97-AF65-F5344CB8AC3E}">
        <p14:creationId xmlns:p14="http://schemas.microsoft.com/office/powerpoint/2010/main" val="239419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1BE900A0-6B74-7C9B-0E42-C1EFC93505EE}"/>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1E95EF61-B63B-A7ED-BE66-31A07E020332}"/>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BF92C817-00BF-4604-5CAF-6E89AEF2FD0B}"/>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36B8104-2123-447E-9A35-98EFAD5F30F9}" type="slidenum">
              <a:rPr lang="en-US" altLang="en-US"/>
              <a:pPr>
                <a:defRPr/>
              </a:pPr>
              <a:t>‹#›</a:t>
            </a:fld>
            <a:endParaRPr lang="en-US" altLang="en-US"/>
          </a:p>
        </p:txBody>
      </p:sp>
    </p:spTree>
    <p:extLst>
      <p:ext uri="{BB962C8B-B14F-4D97-AF65-F5344CB8AC3E}">
        <p14:creationId xmlns:p14="http://schemas.microsoft.com/office/powerpoint/2010/main" val="62131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3A291234-0868-605D-C9E7-4E65A4C25B68}"/>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1A5A41A-2617-D1A0-5BC4-74740F86B78C}"/>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1572EE17-C636-E6C0-ADA0-F30C565EC0C0}"/>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34545765-A9B9-4987-A9C8-333675CD318E}" type="slidenum">
              <a:rPr lang="en-US" altLang="en-US"/>
              <a:pPr>
                <a:defRPr/>
              </a:pPr>
              <a:t>‹#›</a:t>
            </a:fld>
            <a:endParaRPr lang="en-US" altLang="en-US"/>
          </a:p>
        </p:txBody>
      </p:sp>
    </p:spTree>
    <p:extLst>
      <p:ext uri="{BB962C8B-B14F-4D97-AF65-F5344CB8AC3E}">
        <p14:creationId xmlns:p14="http://schemas.microsoft.com/office/powerpoint/2010/main" val="583265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3B009C5F-4D67-A9D9-39A5-63607BC0FBE2}"/>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04301CB-59C5-8579-B2B4-D8CCC9879C2F}"/>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B5E984CF-415B-022C-9E30-517A497E0DB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A17AE62-F375-4D84-912D-EEA94D2F90AE}" type="slidenum">
              <a:rPr lang="en-US" altLang="en-US"/>
              <a:pPr>
                <a:defRPr/>
              </a:pPr>
              <a:t>‹#›</a:t>
            </a:fld>
            <a:endParaRPr lang="en-US" altLang="en-US"/>
          </a:p>
        </p:txBody>
      </p:sp>
    </p:spTree>
    <p:extLst>
      <p:ext uri="{BB962C8B-B14F-4D97-AF65-F5344CB8AC3E}">
        <p14:creationId xmlns:p14="http://schemas.microsoft.com/office/powerpoint/2010/main" val="1655253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50D38DB2-87E6-8FD9-5FD3-9E539BBAA0B6}"/>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CFEBF9C-33BF-1AFF-FB89-FF47A6128DE2}"/>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8E864F4F-3042-34D7-C23A-E6DEC217E2E6}"/>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04711CC-E677-44FC-AC72-52475C7986FA}" type="slidenum">
              <a:rPr lang="en-US" altLang="en-US"/>
              <a:pPr>
                <a:defRPr/>
              </a:pPr>
              <a:t>‹#›</a:t>
            </a:fld>
            <a:endParaRPr lang="en-US" altLang="en-US"/>
          </a:p>
        </p:txBody>
      </p:sp>
    </p:spTree>
    <p:extLst>
      <p:ext uri="{BB962C8B-B14F-4D97-AF65-F5344CB8AC3E}">
        <p14:creationId xmlns:p14="http://schemas.microsoft.com/office/powerpoint/2010/main" val="845970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287828D0-195F-A5A4-3D0C-6F69102862E2}"/>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06AC49FB-0F66-40AB-D994-F49459AEEED6}"/>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7F7821B6-B6CC-2400-1EA5-552F847EBE9E}"/>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DD4AABD-53D4-4F49-B83A-6FA343B8DA90}" type="slidenum">
              <a:rPr lang="en-US" altLang="en-US"/>
              <a:pPr>
                <a:defRPr/>
              </a:pPr>
              <a:t>‹#›</a:t>
            </a:fld>
            <a:endParaRPr lang="en-US" altLang="en-US"/>
          </a:p>
        </p:txBody>
      </p:sp>
    </p:spTree>
    <p:extLst>
      <p:ext uri="{BB962C8B-B14F-4D97-AF65-F5344CB8AC3E}">
        <p14:creationId xmlns:p14="http://schemas.microsoft.com/office/powerpoint/2010/main" val="39180980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7119A7CE-B8D4-7E44-D127-436DF9E6B66A}"/>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9FA68D06-0267-34D1-3ECD-05BA5A6A29C5}"/>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3596830A-91CB-C1A2-103E-69EB20129EA5}"/>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rgbClr val="000000"/>
                  </a:solidFill>
                </a:endParaRPr>
              </a:p>
            </p:txBody>
          </p:sp>
          <p:sp>
            <p:nvSpPr>
              <p:cNvPr id="11" name="Rectangle 5">
                <a:extLst>
                  <a:ext uri="{FF2B5EF4-FFF2-40B4-BE49-F238E27FC236}">
                    <a16:creationId xmlns:a16="http://schemas.microsoft.com/office/drawing/2014/main" id="{637F6C73-C9E8-7157-AD3B-A59E2160991C}"/>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rgbClr val="000000"/>
                  </a:solidFill>
                </a:endParaRPr>
              </a:p>
            </p:txBody>
          </p:sp>
        </p:grpSp>
        <p:grpSp>
          <p:nvGrpSpPr>
            <p:cNvPr id="4" name="Group 6">
              <a:extLst>
                <a:ext uri="{FF2B5EF4-FFF2-40B4-BE49-F238E27FC236}">
                  <a16:creationId xmlns:a16="http://schemas.microsoft.com/office/drawing/2014/main" id="{23E9C595-90E5-B6D0-5516-199A11484E60}"/>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211E207C-4427-2D4B-BC66-076351C81112}"/>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rgbClr val="000000"/>
                  </a:solidFill>
                </a:endParaRPr>
              </a:p>
            </p:txBody>
          </p:sp>
          <p:sp>
            <p:nvSpPr>
              <p:cNvPr id="9" name="Rectangle 8">
                <a:extLst>
                  <a:ext uri="{FF2B5EF4-FFF2-40B4-BE49-F238E27FC236}">
                    <a16:creationId xmlns:a16="http://schemas.microsoft.com/office/drawing/2014/main" id="{C2891687-3F8C-60DE-A633-04D743AF5BD0}"/>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rgbClr val="000000"/>
                  </a:solidFill>
                </a:endParaRPr>
              </a:p>
            </p:txBody>
          </p:sp>
        </p:grpSp>
        <p:sp>
          <p:nvSpPr>
            <p:cNvPr id="5" name="Rectangle 9">
              <a:extLst>
                <a:ext uri="{FF2B5EF4-FFF2-40B4-BE49-F238E27FC236}">
                  <a16:creationId xmlns:a16="http://schemas.microsoft.com/office/drawing/2014/main" id="{D92B9307-D22E-572F-594A-AA0BA74636C1}"/>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rgbClr val="000000"/>
                </a:solidFill>
              </a:endParaRPr>
            </a:p>
          </p:txBody>
        </p:sp>
        <p:sp>
          <p:nvSpPr>
            <p:cNvPr id="6" name="Rectangle 10">
              <a:extLst>
                <a:ext uri="{FF2B5EF4-FFF2-40B4-BE49-F238E27FC236}">
                  <a16:creationId xmlns:a16="http://schemas.microsoft.com/office/drawing/2014/main" id="{76863BAF-EB3D-321E-0C9F-8F0E78F03996}"/>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rgbClr val="000000"/>
                </a:solidFill>
              </a:endParaRPr>
            </a:p>
          </p:txBody>
        </p:sp>
        <p:sp>
          <p:nvSpPr>
            <p:cNvPr id="7" name="Rectangle 11">
              <a:extLst>
                <a:ext uri="{FF2B5EF4-FFF2-40B4-BE49-F238E27FC236}">
                  <a16:creationId xmlns:a16="http://schemas.microsoft.com/office/drawing/2014/main" id="{65736B94-DD0B-D8A0-E0D0-D889C89F0E61}"/>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rgbClr val="000000"/>
                </a:solidFill>
              </a:endParaRPr>
            </a:p>
          </p:txBody>
        </p:sp>
      </p:grpSp>
      <p:sp>
        <p:nvSpPr>
          <p:cNvPr id="25612"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2" name="Rectangle 14">
            <a:extLst>
              <a:ext uri="{FF2B5EF4-FFF2-40B4-BE49-F238E27FC236}">
                <a16:creationId xmlns:a16="http://schemas.microsoft.com/office/drawing/2014/main" id="{0F58E397-A59F-8B82-1126-B4D980C5297D}"/>
              </a:ext>
            </a:extLst>
          </p:cNvPr>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p>
        </p:txBody>
      </p:sp>
      <p:sp>
        <p:nvSpPr>
          <p:cNvPr id="13" name="Rectangle 15">
            <a:extLst>
              <a:ext uri="{FF2B5EF4-FFF2-40B4-BE49-F238E27FC236}">
                <a16:creationId xmlns:a16="http://schemas.microsoft.com/office/drawing/2014/main" id="{C20BD826-E083-146D-B1FB-4E74A39CEEAE}"/>
              </a:ext>
            </a:extLst>
          </p:cNvPr>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p>
        </p:txBody>
      </p:sp>
      <p:sp>
        <p:nvSpPr>
          <p:cNvPr id="14" name="Rectangle 16">
            <a:extLst>
              <a:ext uri="{FF2B5EF4-FFF2-40B4-BE49-F238E27FC236}">
                <a16:creationId xmlns:a16="http://schemas.microsoft.com/office/drawing/2014/main" id="{AE6C0945-51E3-87D8-5EC1-F895C971EEA3}"/>
              </a:ext>
            </a:extLst>
          </p:cNvPr>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6C42CA90-0569-470C-AC52-D47C444C3278}" type="slidenum">
              <a:rPr lang="en-US" altLang="en-US"/>
              <a:pPr>
                <a:defRPr/>
              </a:pPr>
              <a:t>‹#›</a:t>
            </a:fld>
            <a:endParaRPr lang="en-US" altLang="en-US"/>
          </a:p>
        </p:txBody>
      </p:sp>
    </p:spTree>
    <p:extLst>
      <p:ext uri="{BB962C8B-B14F-4D97-AF65-F5344CB8AC3E}">
        <p14:creationId xmlns:p14="http://schemas.microsoft.com/office/powerpoint/2010/main" val="30285267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F3ABC331-9B4B-39FA-8736-4C0AA7E31E6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8B443F31-21EB-2035-D726-0DD55379A88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34C2EF3B-F7B4-96F1-4C24-7040B63296DC}"/>
              </a:ext>
            </a:extLst>
          </p:cNvPr>
          <p:cNvSpPr>
            <a:spLocks noGrp="1" noChangeArrowheads="1"/>
          </p:cNvSpPr>
          <p:nvPr>
            <p:ph type="sldNum" sz="quarter" idx="12"/>
          </p:nvPr>
        </p:nvSpPr>
        <p:spPr>
          <a:ln/>
        </p:spPr>
        <p:txBody>
          <a:bodyPr/>
          <a:lstStyle>
            <a:lvl1pPr>
              <a:defRPr/>
            </a:lvl1pPr>
          </a:lstStyle>
          <a:p>
            <a:pPr>
              <a:defRPr/>
            </a:pPr>
            <a:fld id="{65C6475C-CDE1-4C95-B492-B1C2F3AF3E6B}" type="slidenum">
              <a:rPr lang="en-US" altLang="en-US"/>
              <a:pPr>
                <a:defRPr/>
              </a:pPr>
              <a:t>‹#›</a:t>
            </a:fld>
            <a:endParaRPr lang="en-US" altLang="en-US"/>
          </a:p>
        </p:txBody>
      </p:sp>
    </p:spTree>
    <p:extLst>
      <p:ext uri="{BB962C8B-B14F-4D97-AF65-F5344CB8AC3E}">
        <p14:creationId xmlns:p14="http://schemas.microsoft.com/office/powerpoint/2010/main" val="18558546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4D0E65EA-5515-0DC8-5E5F-80100886FEB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1A972EC0-A48D-3D4F-E53C-3239FB18FE7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34EF952C-D8DB-9F67-950F-12FCC7B91B34}"/>
              </a:ext>
            </a:extLst>
          </p:cNvPr>
          <p:cNvSpPr>
            <a:spLocks noGrp="1" noChangeArrowheads="1"/>
          </p:cNvSpPr>
          <p:nvPr>
            <p:ph type="sldNum" sz="quarter" idx="12"/>
          </p:nvPr>
        </p:nvSpPr>
        <p:spPr>
          <a:ln/>
        </p:spPr>
        <p:txBody>
          <a:bodyPr/>
          <a:lstStyle>
            <a:lvl1pPr>
              <a:defRPr/>
            </a:lvl1pPr>
          </a:lstStyle>
          <a:p>
            <a:pPr>
              <a:defRPr/>
            </a:pPr>
            <a:fld id="{E414D0BE-ECF6-4632-AE8C-4D9890141B24}" type="slidenum">
              <a:rPr lang="en-US" altLang="en-US"/>
              <a:pPr>
                <a:defRPr/>
              </a:pPr>
              <a:t>‹#›</a:t>
            </a:fld>
            <a:endParaRPr lang="en-US" altLang="en-US"/>
          </a:p>
        </p:txBody>
      </p:sp>
    </p:spTree>
    <p:extLst>
      <p:ext uri="{BB962C8B-B14F-4D97-AF65-F5344CB8AC3E}">
        <p14:creationId xmlns:p14="http://schemas.microsoft.com/office/powerpoint/2010/main" val="39269242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D912CDA8-DB46-675C-6645-7A94337720A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072C95B6-DAE1-1125-20CE-ABCC6AB476D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4EF29073-9286-8D0B-931C-8E8A69FF6B30}"/>
              </a:ext>
            </a:extLst>
          </p:cNvPr>
          <p:cNvSpPr>
            <a:spLocks noGrp="1" noChangeArrowheads="1"/>
          </p:cNvSpPr>
          <p:nvPr>
            <p:ph type="sldNum" sz="quarter" idx="12"/>
          </p:nvPr>
        </p:nvSpPr>
        <p:spPr>
          <a:ln/>
        </p:spPr>
        <p:txBody>
          <a:bodyPr/>
          <a:lstStyle>
            <a:lvl1pPr>
              <a:defRPr/>
            </a:lvl1pPr>
          </a:lstStyle>
          <a:p>
            <a:pPr>
              <a:defRPr/>
            </a:pPr>
            <a:fld id="{E900B416-0BE9-4B69-BC98-1D62449A9DC8}" type="slidenum">
              <a:rPr lang="en-US" altLang="en-US"/>
              <a:pPr>
                <a:defRPr/>
              </a:pPr>
              <a:t>‹#›</a:t>
            </a:fld>
            <a:endParaRPr lang="en-US" altLang="en-US"/>
          </a:p>
        </p:txBody>
      </p:sp>
    </p:spTree>
    <p:extLst>
      <p:ext uri="{BB962C8B-B14F-4D97-AF65-F5344CB8AC3E}">
        <p14:creationId xmlns:p14="http://schemas.microsoft.com/office/powerpoint/2010/main" val="8416129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4EC032D9-183E-5FF1-0DBD-C0325F381177}"/>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07B8BB84-530F-02AC-7374-B57A20DF31E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810655D2-53AE-3174-3911-22862E4C7157}"/>
              </a:ext>
            </a:extLst>
          </p:cNvPr>
          <p:cNvSpPr>
            <a:spLocks noGrp="1" noChangeArrowheads="1"/>
          </p:cNvSpPr>
          <p:nvPr>
            <p:ph type="sldNum" sz="quarter" idx="12"/>
          </p:nvPr>
        </p:nvSpPr>
        <p:spPr>
          <a:ln/>
        </p:spPr>
        <p:txBody>
          <a:bodyPr/>
          <a:lstStyle>
            <a:lvl1pPr>
              <a:defRPr/>
            </a:lvl1pPr>
          </a:lstStyle>
          <a:p>
            <a:pPr>
              <a:defRPr/>
            </a:pPr>
            <a:fld id="{4872DF4E-94AE-4918-B13F-623EF9A4EE18}" type="slidenum">
              <a:rPr lang="en-US" altLang="en-US"/>
              <a:pPr>
                <a:defRPr/>
              </a:pPr>
              <a:t>‹#›</a:t>
            </a:fld>
            <a:endParaRPr lang="en-US" altLang="en-US"/>
          </a:p>
        </p:txBody>
      </p:sp>
    </p:spTree>
    <p:extLst>
      <p:ext uri="{BB962C8B-B14F-4D97-AF65-F5344CB8AC3E}">
        <p14:creationId xmlns:p14="http://schemas.microsoft.com/office/powerpoint/2010/main" val="14799172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B9842C52-7929-79DA-9096-698712FC1D1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2045797D-6FCC-5AD6-2E41-E38B2F002B9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8588174B-0B07-710D-D998-9E75D55B7A49}"/>
              </a:ext>
            </a:extLst>
          </p:cNvPr>
          <p:cNvSpPr>
            <a:spLocks noGrp="1" noChangeArrowheads="1"/>
          </p:cNvSpPr>
          <p:nvPr>
            <p:ph type="sldNum" sz="quarter" idx="12"/>
          </p:nvPr>
        </p:nvSpPr>
        <p:spPr>
          <a:ln/>
        </p:spPr>
        <p:txBody>
          <a:bodyPr/>
          <a:lstStyle>
            <a:lvl1pPr>
              <a:defRPr/>
            </a:lvl1pPr>
          </a:lstStyle>
          <a:p>
            <a:pPr>
              <a:defRPr/>
            </a:pPr>
            <a:fld id="{5D482E7F-FD45-45D3-AFA7-D261FC689D9D}" type="slidenum">
              <a:rPr lang="en-US" altLang="en-US"/>
              <a:pPr>
                <a:defRPr/>
              </a:pPr>
              <a:t>‹#›</a:t>
            </a:fld>
            <a:endParaRPr lang="en-US" altLang="en-US"/>
          </a:p>
        </p:txBody>
      </p:sp>
    </p:spTree>
    <p:extLst>
      <p:ext uri="{BB962C8B-B14F-4D97-AF65-F5344CB8AC3E}">
        <p14:creationId xmlns:p14="http://schemas.microsoft.com/office/powerpoint/2010/main" val="39585202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7F2AD9BF-B567-3EEC-F660-E64BBE7C1492}"/>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DB3987EF-15CD-D889-D260-31275F94D02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CFA05B98-35D3-1D71-F461-F1E0B32BE38B}"/>
              </a:ext>
            </a:extLst>
          </p:cNvPr>
          <p:cNvSpPr>
            <a:spLocks noGrp="1" noChangeArrowheads="1"/>
          </p:cNvSpPr>
          <p:nvPr>
            <p:ph type="sldNum" sz="quarter" idx="12"/>
          </p:nvPr>
        </p:nvSpPr>
        <p:spPr>
          <a:ln/>
        </p:spPr>
        <p:txBody>
          <a:bodyPr/>
          <a:lstStyle>
            <a:lvl1pPr>
              <a:defRPr/>
            </a:lvl1pPr>
          </a:lstStyle>
          <a:p>
            <a:pPr>
              <a:defRPr/>
            </a:pPr>
            <a:fld id="{FAFD1565-EDC0-4813-9DEA-7DD0A4119F87}" type="slidenum">
              <a:rPr lang="en-US" altLang="en-US"/>
              <a:pPr>
                <a:defRPr/>
              </a:pPr>
              <a:t>‹#›</a:t>
            </a:fld>
            <a:endParaRPr lang="en-US" altLang="en-US"/>
          </a:p>
        </p:txBody>
      </p:sp>
    </p:spTree>
    <p:extLst>
      <p:ext uri="{BB962C8B-B14F-4D97-AF65-F5344CB8AC3E}">
        <p14:creationId xmlns:p14="http://schemas.microsoft.com/office/powerpoint/2010/main" val="20504726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00D1A479-272B-A524-9AB2-5286598E442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6670131B-ECE8-93EC-8FE5-D2F58D01385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63942CEA-9078-ABF5-D651-5C3271A79EC3}"/>
              </a:ext>
            </a:extLst>
          </p:cNvPr>
          <p:cNvSpPr>
            <a:spLocks noGrp="1" noChangeArrowheads="1"/>
          </p:cNvSpPr>
          <p:nvPr>
            <p:ph type="sldNum" sz="quarter" idx="12"/>
          </p:nvPr>
        </p:nvSpPr>
        <p:spPr>
          <a:ln/>
        </p:spPr>
        <p:txBody>
          <a:bodyPr/>
          <a:lstStyle>
            <a:lvl1pPr>
              <a:defRPr/>
            </a:lvl1pPr>
          </a:lstStyle>
          <a:p>
            <a:pPr>
              <a:defRPr/>
            </a:pPr>
            <a:fld id="{95F01BBE-2C5A-4233-974D-7779C23DF61F}" type="slidenum">
              <a:rPr lang="en-US" altLang="en-US"/>
              <a:pPr>
                <a:defRPr/>
              </a:pPr>
              <a:t>‹#›</a:t>
            </a:fld>
            <a:endParaRPr lang="en-US" altLang="en-US"/>
          </a:p>
        </p:txBody>
      </p:sp>
    </p:spTree>
    <p:extLst>
      <p:ext uri="{BB962C8B-B14F-4D97-AF65-F5344CB8AC3E}">
        <p14:creationId xmlns:p14="http://schemas.microsoft.com/office/powerpoint/2010/main" val="8724247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EFDBE478-9017-8E0C-9656-18E70BAEBBF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2E5A8B3-CC7C-3EA6-57F6-251A54DEB46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E3264B6D-7509-C965-5B5D-2EA25BEF52A0}"/>
              </a:ext>
            </a:extLst>
          </p:cNvPr>
          <p:cNvSpPr>
            <a:spLocks noGrp="1" noChangeArrowheads="1"/>
          </p:cNvSpPr>
          <p:nvPr>
            <p:ph type="sldNum" sz="quarter" idx="12"/>
          </p:nvPr>
        </p:nvSpPr>
        <p:spPr>
          <a:ln/>
        </p:spPr>
        <p:txBody>
          <a:bodyPr/>
          <a:lstStyle>
            <a:lvl1pPr>
              <a:defRPr/>
            </a:lvl1pPr>
          </a:lstStyle>
          <a:p>
            <a:pPr>
              <a:defRPr/>
            </a:pPr>
            <a:fld id="{8C165B81-8BAE-4050-86C0-6CF28EE46FD9}" type="slidenum">
              <a:rPr lang="en-US" altLang="en-US"/>
              <a:pPr>
                <a:defRPr/>
              </a:pPr>
              <a:t>‹#›</a:t>
            </a:fld>
            <a:endParaRPr lang="en-US" altLang="en-US"/>
          </a:p>
        </p:txBody>
      </p:sp>
    </p:spTree>
    <p:extLst>
      <p:ext uri="{BB962C8B-B14F-4D97-AF65-F5344CB8AC3E}">
        <p14:creationId xmlns:p14="http://schemas.microsoft.com/office/powerpoint/2010/main" val="23060272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C61F4C61-D903-67E3-5FC4-73095844804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0ED4196F-BBAD-8443-BA43-80BC5C1CBF2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304CFD48-0B4C-32DC-E3D0-2D41D2988EA0}"/>
              </a:ext>
            </a:extLst>
          </p:cNvPr>
          <p:cNvSpPr>
            <a:spLocks noGrp="1" noChangeArrowheads="1"/>
          </p:cNvSpPr>
          <p:nvPr>
            <p:ph type="sldNum" sz="quarter" idx="12"/>
          </p:nvPr>
        </p:nvSpPr>
        <p:spPr>
          <a:ln/>
        </p:spPr>
        <p:txBody>
          <a:bodyPr/>
          <a:lstStyle>
            <a:lvl1pPr>
              <a:defRPr/>
            </a:lvl1pPr>
          </a:lstStyle>
          <a:p>
            <a:pPr>
              <a:defRPr/>
            </a:pPr>
            <a:fld id="{E79DC2D2-F214-4C84-8BFD-828BC892902F}" type="slidenum">
              <a:rPr lang="en-US" altLang="en-US"/>
              <a:pPr>
                <a:defRPr/>
              </a:pPr>
              <a:t>‹#›</a:t>
            </a:fld>
            <a:endParaRPr lang="en-US" altLang="en-US"/>
          </a:p>
        </p:txBody>
      </p:sp>
    </p:spTree>
    <p:extLst>
      <p:ext uri="{BB962C8B-B14F-4D97-AF65-F5344CB8AC3E}">
        <p14:creationId xmlns:p14="http://schemas.microsoft.com/office/powerpoint/2010/main" val="12258275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DD2A27A2-92DE-1014-949D-189415F610A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A7B21B7A-C230-978E-8E53-2D6A67E7B3A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1881183E-B75E-2976-99AB-09B2B2EA97CB}"/>
              </a:ext>
            </a:extLst>
          </p:cNvPr>
          <p:cNvSpPr>
            <a:spLocks noGrp="1" noChangeArrowheads="1"/>
          </p:cNvSpPr>
          <p:nvPr>
            <p:ph type="sldNum" sz="quarter" idx="12"/>
          </p:nvPr>
        </p:nvSpPr>
        <p:spPr>
          <a:ln/>
        </p:spPr>
        <p:txBody>
          <a:bodyPr/>
          <a:lstStyle>
            <a:lvl1pPr>
              <a:defRPr/>
            </a:lvl1pPr>
          </a:lstStyle>
          <a:p>
            <a:pPr>
              <a:defRPr/>
            </a:pPr>
            <a:fld id="{7A351EB5-C104-4FF5-AE4E-27AF5CC7F635}" type="slidenum">
              <a:rPr lang="en-US" altLang="en-US"/>
              <a:pPr>
                <a:defRPr/>
              </a:pPr>
              <a:t>‹#›</a:t>
            </a:fld>
            <a:endParaRPr lang="en-US" altLang="en-US"/>
          </a:p>
        </p:txBody>
      </p:sp>
    </p:spTree>
    <p:extLst>
      <p:ext uri="{BB962C8B-B14F-4D97-AF65-F5344CB8AC3E}">
        <p14:creationId xmlns:p14="http://schemas.microsoft.com/office/powerpoint/2010/main" val="4198265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7649F1A-6E51-8289-7A6A-72D973F3F00B}"/>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latin typeface="Tahoma" panose="020B0604030504040204" pitchFamily="34" charset="0"/>
            </a:endParaRPr>
          </a:p>
        </p:txBody>
      </p:sp>
      <p:sp>
        <p:nvSpPr>
          <p:cNvPr id="1027" name="Rectangle 3">
            <a:extLst>
              <a:ext uri="{FF2B5EF4-FFF2-40B4-BE49-F238E27FC236}">
                <a16:creationId xmlns:a16="http://schemas.microsoft.com/office/drawing/2014/main" id="{B230ABE2-A1D4-CADD-0A55-2C677CFF1D36}"/>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latin typeface="Tahoma" panose="020B0604030504040204" pitchFamily="34" charset="0"/>
            </a:endParaRPr>
          </a:p>
        </p:txBody>
      </p:sp>
      <p:sp>
        <p:nvSpPr>
          <p:cNvPr id="1028" name="Rectangle 4">
            <a:extLst>
              <a:ext uri="{FF2B5EF4-FFF2-40B4-BE49-F238E27FC236}">
                <a16:creationId xmlns:a16="http://schemas.microsoft.com/office/drawing/2014/main" id="{1B39FD67-3934-C998-3232-C8D42AB7FEF5}"/>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latin typeface="Tahoma" panose="020B0604030504040204" pitchFamily="34" charset="0"/>
            </a:endParaRPr>
          </a:p>
        </p:txBody>
      </p:sp>
      <p:sp>
        <p:nvSpPr>
          <p:cNvPr id="1029" name="Rectangle 5">
            <a:extLst>
              <a:ext uri="{FF2B5EF4-FFF2-40B4-BE49-F238E27FC236}">
                <a16:creationId xmlns:a16="http://schemas.microsoft.com/office/drawing/2014/main" id="{79C1028E-3124-1A9D-BC96-7589FAAC253F}"/>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latin typeface="Tahoma" panose="020B0604030504040204" pitchFamily="34" charset="0"/>
            </a:endParaRPr>
          </a:p>
        </p:txBody>
      </p:sp>
      <p:sp>
        <p:nvSpPr>
          <p:cNvPr id="1030" name="Rectangle 6">
            <a:extLst>
              <a:ext uri="{FF2B5EF4-FFF2-40B4-BE49-F238E27FC236}">
                <a16:creationId xmlns:a16="http://schemas.microsoft.com/office/drawing/2014/main" id="{55D8A3A3-780A-57EB-9C24-5C00BE5A98F9}"/>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latin typeface="Tahoma" panose="020B0604030504040204" pitchFamily="34" charset="0"/>
            </a:endParaRPr>
          </a:p>
        </p:txBody>
      </p:sp>
      <p:sp>
        <p:nvSpPr>
          <p:cNvPr id="1031" name="Rectangle 7">
            <a:extLst>
              <a:ext uri="{FF2B5EF4-FFF2-40B4-BE49-F238E27FC236}">
                <a16:creationId xmlns:a16="http://schemas.microsoft.com/office/drawing/2014/main" id="{3F7D612D-7897-6C2B-2106-6139D57CFC12}"/>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latin typeface="Tahoma" panose="020B0604030504040204" pitchFamily="34" charset="0"/>
            </a:endParaRPr>
          </a:p>
        </p:txBody>
      </p:sp>
      <p:sp>
        <p:nvSpPr>
          <p:cNvPr id="1032" name="Rectangle 8">
            <a:extLst>
              <a:ext uri="{FF2B5EF4-FFF2-40B4-BE49-F238E27FC236}">
                <a16:creationId xmlns:a16="http://schemas.microsoft.com/office/drawing/2014/main" id="{E77DC9A6-5714-2008-80DF-0D928D118DB5}"/>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latin typeface="Tahoma" panose="020B0604030504040204" pitchFamily="34" charset="0"/>
            </a:endParaRPr>
          </a:p>
        </p:txBody>
      </p:sp>
      <p:sp>
        <p:nvSpPr>
          <p:cNvPr id="1033" name="Rectangle 9">
            <a:extLst>
              <a:ext uri="{FF2B5EF4-FFF2-40B4-BE49-F238E27FC236}">
                <a16:creationId xmlns:a16="http://schemas.microsoft.com/office/drawing/2014/main" id="{F00E5355-2BFF-07D4-9511-10C23A881440}"/>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a:extLst>
              <a:ext uri="{FF2B5EF4-FFF2-40B4-BE49-F238E27FC236}">
                <a16:creationId xmlns:a16="http://schemas.microsoft.com/office/drawing/2014/main" id="{F3B12127-D8B7-7EA3-0EE7-B5E48B949D43}"/>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74DC86E7-1D3E-B6F3-5E1A-FA346261B989}"/>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atin typeface="+mn-lt"/>
                <a:cs typeface="Arial" pitchFamily="34" charset="0"/>
              </a:defRPr>
            </a:lvl1pPr>
          </a:lstStyle>
          <a:p>
            <a:pPr>
              <a:defRPr/>
            </a:pPr>
            <a:endParaRPr lang="en-US"/>
          </a:p>
        </p:txBody>
      </p:sp>
      <p:sp>
        <p:nvSpPr>
          <p:cNvPr id="24588" name="Rectangle 12">
            <a:extLst>
              <a:ext uri="{FF2B5EF4-FFF2-40B4-BE49-F238E27FC236}">
                <a16:creationId xmlns:a16="http://schemas.microsoft.com/office/drawing/2014/main" id="{E2EC1834-212C-A82A-D4C0-99C67535B4D4}"/>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mn-lt"/>
                <a:cs typeface="Arial" pitchFamily="34" charset="0"/>
              </a:defRPr>
            </a:lvl1pPr>
          </a:lstStyle>
          <a:p>
            <a:pPr>
              <a:defRPr/>
            </a:pPr>
            <a:endParaRPr lang="en-US"/>
          </a:p>
        </p:txBody>
      </p:sp>
      <p:sp>
        <p:nvSpPr>
          <p:cNvPr id="14" name="TextBox 17">
            <a:extLst>
              <a:ext uri="{FF2B5EF4-FFF2-40B4-BE49-F238E27FC236}">
                <a16:creationId xmlns:a16="http://schemas.microsoft.com/office/drawing/2014/main" id="{53DA16F8-392A-700A-C8C4-487DB82DE27D}"/>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Tree>
  </p:cSld>
  <p:clrMap bg1="lt1" tx1="dk1" bg2="lt2" tx2="dk2" accent1="accent1" accent2="accent2" accent3="accent3" accent4="accent4" accent5="accent5" accent6="accent6" hlink="hlink" folHlink="folHlink"/>
  <p:sldLayoutIdLst>
    <p:sldLayoutId id="2147484694" r:id="rId1"/>
    <p:sldLayoutId id="2147484695" r:id="rId2"/>
    <p:sldLayoutId id="2147484696" r:id="rId3"/>
    <p:sldLayoutId id="2147484697" r:id="rId4"/>
    <p:sldLayoutId id="2147484698" r:id="rId5"/>
    <p:sldLayoutId id="2147484699" r:id="rId6"/>
    <p:sldLayoutId id="2147484700" r:id="rId7"/>
    <p:sldLayoutId id="2147484701" r:id="rId8"/>
    <p:sldLayoutId id="2147484702" r:id="rId9"/>
    <p:sldLayoutId id="2147484703" r:id="rId10"/>
    <p:sldLayoutId id="2147484704"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98D4130-A8AD-3553-25CE-B0DA7319B8DA}"/>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endParaRPr>
          </a:p>
        </p:txBody>
      </p:sp>
      <p:sp>
        <p:nvSpPr>
          <p:cNvPr id="2051" name="Rectangle 3">
            <a:extLst>
              <a:ext uri="{FF2B5EF4-FFF2-40B4-BE49-F238E27FC236}">
                <a16:creationId xmlns:a16="http://schemas.microsoft.com/office/drawing/2014/main" id="{8DCEC7D3-4AA5-8C6A-F6C5-6AF23E20494F}"/>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endParaRPr>
          </a:p>
        </p:txBody>
      </p:sp>
      <p:sp>
        <p:nvSpPr>
          <p:cNvPr id="2052" name="Rectangle 4">
            <a:extLst>
              <a:ext uri="{FF2B5EF4-FFF2-40B4-BE49-F238E27FC236}">
                <a16:creationId xmlns:a16="http://schemas.microsoft.com/office/drawing/2014/main" id="{D26D29DE-2DA7-4FE5-E25C-4AC3621D8030}"/>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endParaRPr>
          </a:p>
        </p:txBody>
      </p:sp>
      <p:sp>
        <p:nvSpPr>
          <p:cNvPr id="2053" name="Rectangle 5">
            <a:extLst>
              <a:ext uri="{FF2B5EF4-FFF2-40B4-BE49-F238E27FC236}">
                <a16:creationId xmlns:a16="http://schemas.microsoft.com/office/drawing/2014/main" id="{E4944AD6-3C5E-DC3C-5054-C14089D3CD17}"/>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endParaRPr>
          </a:p>
        </p:txBody>
      </p:sp>
      <p:sp>
        <p:nvSpPr>
          <p:cNvPr id="2054" name="Rectangle 6">
            <a:extLst>
              <a:ext uri="{FF2B5EF4-FFF2-40B4-BE49-F238E27FC236}">
                <a16:creationId xmlns:a16="http://schemas.microsoft.com/office/drawing/2014/main" id="{60A875E2-F24E-07DD-7899-6B09A077ACAE}"/>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endParaRPr>
          </a:p>
        </p:txBody>
      </p:sp>
      <p:sp>
        <p:nvSpPr>
          <p:cNvPr id="2055" name="Rectangle 7">
            <a:extLst>
              <a:ext uri="{FF2B5EF4-FFF2-40B4-BE49-F238E27FC236}">
                <a16:creationId xmlns:a16="http://schemas.microsoft.com/office/drawing/2014/main" id="{E281F966-7E61-A145-EC7A-03B43FEF7A72}"/>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endParaRPr>
          </a:p>
        </p:txBody>
      </p:sp>
      <p:sp>
        <p:nvSpPr>
          <p:cNvPr id="2056" name="Rectangle 8">
            <a:extLst>
              <a:ext uri="{FF2B5EF4-FFF2-40B4-BE49-F238E27FC236}">
                <a16:creationId xmlns:a16="http://schemas.microsoft.com/office/drawing/2014/main" id="{0B3F4A6B-6FF7-CDA2-E1CA-2FB0487CAE33}"/>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2400">
              <a:solidFill>
                <a:srgbClr val="000000"/>
              </a:solidFill>
              <a:latin typeface="Tahoma" panose="020B0604030504040204" pitchFamily="34" charset="0"/>
            </a:endParaRPr>
          </a:p>
        </p:txBody>
      </p:sp>
      <p:sp>
        <p:nvSpPr>
          <p:cNvPr id="2057" name="Rectangle 9">
            <a:extLst>
              <a:ext uri="{FF2B5EF4-FFF2-40B4-BE49-F238E27FC236}">
                <a16:creationId xmlns:a16="http://schemas.microsoft.com/office/drawing/2014/main" id="{285F758F-1AE6-9430-0447-08886A845236}"/>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12B5AD15-A77B-AC30-85BB-4567B36BA645}"/>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472158C0-7587-2AF4-CDD4-F3C33B00D790}"/>
              </a:ext>
            </a:extLst>
          </p:cNvPr>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latin typeface="+mn-lt"/>
                <a:cs typeface="Arial" charset="0"/>
              </a:defRPr>
            </a:lvl1pPr>
          </a:lstStyle>
          <a:p>
            <a:pPr>
              <a:defRPr/>
            </a:pPr>
            <a:endParaRPr lang="en-US"/>
          </a:p>
        </p:txBody>
      </p:sp>
      <p:sp>
        <p:nvSpPr>
          <p:cNvPr id="24588" name="Rectangle 12">
            <a:extLst>
              <a:ext uri="{FF2B5EF4-FFF2-40B4-BE49-F238E27FC236}">
                <a16:creationId xmlns:a16="http://schemas.microsoft.com/office/drawing/2014/main" id="{EDA1971F-30D0-B156-8082-4A61FBCF4F6E}"/>
              </a:ext>
            </a:extLst>
          </p:cNvPr>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latin typeface="+mn-lt"/>
                <a:cs typeface="Arial" charset="0"/>
              </a:defRPr>
            </a:lvl1pPr>
          </a:lstStyle>
          <a:p>
            <a:pPr>
              <a:defRPr/>
            </a:pPr>
            <a:endParaRPr lang="en-US"/>
          </a:p>
        </p:txBody>
      </p:sp>
      <p:sp>
        <p:nvSpPr>
          <p:cNvPr id="24589" name="Rectangle 13">
            <a:extLst>
              <a:ext uri="{FF2B5EF4-FFF2-40B4-BE49-F238E27FC236}">
                <a16:creationId xmlns:a16="http://schemas.microsoft.com/office/drawing/2014/main" id="{96BEE001-0A4F-8C40-CA0F-3278606E1416}"/>
              </a:ext>
            </a:extLst>
          </p:cNvPr>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latin typeface="Tahoma" panose="020B0604030504040204" pitchFamily="34" charset="0"/>
              </a:defRPr>
            </a:lvl1pPr>
          </a:lstStyle>
          <a:p>
            <a:pPr>
              <a:defRPr/>
            </a:pPr>
            <a:fld id="{3C597527-F097-404D-BAA9-2FEF93A535E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705" r:id="rId1"/>
    <p:sldLayoutId id="2147484684" r:id="rId2"/>
    <p:sldLayoutId id="2147484685" r:id="rId3"/>
    <p:sldLayoutId id="2147484686" r:id="rId4"/>
    <p:sldLayoutId id="2147484687" r:id="rId5"/>
    <p:sldLayoutId id="2147484688" r:id="rId6"/>
    <p:sldLayoutId id="2147484689" r:id="rId7"/>
    <p:sldLayoutId id="2147484690" r:id="rId8"/>
    <p:sldLayoutId id="2147484691" r:id="rId9"/>
    <p:sldLayoutId id="2147484692" r:id="rId10"/>
    <p:sldLayoutId id="2147484693"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charset="0"/>
        </a:defRPr>
      </a:lvl2pPr>
      <a:lvl3pPr algn="l" rtl="0" eaLnBrk="0" fontAlgn="base" hangingPunct="0">
        <a:spcBef>
          <a:spcPct val="0"/>
        </a:spcBef>
        <a:spcAft>
          <a:spcPct val="0"/>
        </a:spcAft>
        <a:defRPr sz="4400">
          <a:solidFill>
            <a:schemeClr val="tx2"/>
          </a:solidFill>
          <a:latin typeface="Tahoma" pitchFamily="34" charset="0"/>
          <a:cs typeface="Arial" charset="0"/>
        </a:defRPr>
      </a:lvl3pPr>
      <a:lvl4pPr algn="l" rtl="0" eaLnBrk="0" fontAlgn="base" hangingPunct="0">
        <a:spcBef>
          <a:spcPct val="0"/>
        </a:spcBef>
        <a:spcAft>
          <a:spcPct val="0"/>
        </a:spcAft>
        <a:defRPr sz="4400">
          <a:solidFill>
            <a:schemeClr val="tx2"/>
          </a:solidFill>
          <a:latin typeface="Tahoma" pitchFamily="34" charset="0"/>
          <a:cs typeface="Arial" charset="0"/>
        </a:defRPr>
      </a:lvl4pPr>
      <a:lvl5pPr algn="l" rtl="0" eaLnBrk="0" fontAlgn="base" hangingPunct="0">
        <a:spcBef>
          <a:spcPct val="0"/>
        </a:spcBef>
        <a:spcAft>
          <a:spcPct val="0"/>
        </a:spcAft>
        <a:defRPr sz="4400">
          <a:solidFill>
            <a:schemeClr val="tx2"/>
          </a:solidFill>
          <a:latin typeface="Tahoma" pitchFamily="34" charset="0"/>
          <a:cs typeface="Arial" charset="0"/>
        </a:defRPr>
      </a:lvl5pPr>
      <a:lvl6pPr marL="457200" algn="l" rtl="0" fontAlgn="base">
        <a:spcBef>
          <a:spcPct val="0"/>
        </a:spcBef>
        <a:spcAft>
          <a:spcPct val="0"/>
        </a:spcAft>
        <a:defRPr sz="4400">
          <a:solidFill>
            <a:schemeClr val="tx2"/>
          </a:solidFill>
          <a:latin typeface="Tahoma" pitchFamily="34" charset="0"/>
          <a:cs typeface="Arial" charset="0"/>
        </a:defRPr>
      </a:lvl6pPr>
      <a:lvl7pPr marL="914400" algn="l" rtl="0" fontAlgn="base">
        <a:spcBef>
          <a:spcPct val="0"/>
        </a:spcBef>
        <a:spcAft>
          <a:spcPct val="0"/>
        </a:spcAft>
        <a:defRPr sz="4400">
          <a:solidFill>
            <a:schemeClr val="tx2"/>
          </a:solidFill>
          <a:latin typeface="Tahoma" pitchFamily="34" charset="0"/>
          <a:cs typeface="Arial" charset="0"/>
        </a:defRPr>
      </a:lvl7pPr>
      <a:lvl8pPr marL="1371600" algn="l" rtl="0" fontAlgn="base">
        <a:spcBef>
          <a:spcPct val="0"/>
        </a:spcBef>
        <a:spcAft>
          <a:spcPct val="0"/>
        </a:spcAft>
        <a:defRPr sz="4400">
          <a:solidFill>
            <a:schemeClr val="tx2"/>
          </a:solidFill>
          <a:latin typeface="Tahoma" pitchFamily="34" charset="0"/>
          <a:cs typeface="Arial" charset="0"/>
        </a:defRPr>
      </a:lvl8pPr>
      <a:lvl9pPr marL="1828800" algn="l" rtl="0" fontAlgn="base">
        <a:spcBef>
          <a:spcPct val="0"/>
        </a:spcBef>
        <a:spcAft>
          <a:spcPct val="0"/>
        </a:spcAft>
        <a:defRPr sz="4400">
          <a:solidFill>
            <a:schemeClr val="tx2"/>
          </a:solidFill>
          <a:latin typeface="Tahoma" pitchFamily="34" charset="0"/>
          <a:cs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2.emf"/><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24.emf"/></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jpeg"/></Relationships>
</file>

<file path=ppt/slides/_rels/slide2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2.jpeg"/></Relationships>
</file>

<file path=ppt/slides/_rels/slide3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jpeg"/></Relationships>
</file>

<file path=ppt/slides/_rels/slide3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A6F34306-5796-B157-3DD9-280C4B9482A9}"/>
              </a:ext>
            </a:extLst>
          </p:cNvPr>
          <p:cNvSpPr>
            <a:spLocks noGrp="1" noChangeArrowheads="1"/>
          </p:cNvSpPr>
          <p:nvPr>
            <p:ph type="ctrTitle"/>
          </p:nvPr>
        </p:nvSpPr>
        <p:spPr>
          <a:xfrm>
            <a:off x="990600" y="1828800"/>
            <a:ext cx="7542213" cy="1143000"/>
          </a:xfrm>
        </p:spPr>
        <p:txBody>
          <a:bodyPr/>
          <a:lstStyle/>
          <a:p>
            <a:r>
              <a:rPr lang="en-GB" altLang="en-US" sz="2800" b="1" dirty="0">
                <a:solidFill>
                  <a:srgbClr val="0070C0"/>
                </a:solidFill>
              </a:rPr>
              <a:t>Occupational Specialist Component Content: Digital Production, Design  and Development</a:t>
            </a:r>
          </a:p>
        </p:txBody>
      </p:sp>
      <p:sp>
        <p:nvSpPr>
          <p:cNvPr id="15363" name="TextBox 4">
            <a:extLst>
              <a:ext uri="{FF2B5EF4-FFF2-40B4-BE49-F238E27FC236}">
                <a16:creationId xmlns:a16="http://schemas.microsoft.com/office/drawing/2014/main" id="{7AE00399-EC96-2882-EB26-45BD1963C5FC}"/>
              </a:ext>
            </a:extLst>
          </p:cNvPr>
          <p:cNvSpPr txBox="1">
            <a:spLocks noChangeArrowheads="1"/>
          </p:cNvSpPr>
          <p:nvPr/>
        </p:nvSpPr>
        <p:spPr bwMode="auto">
          <a:xfrm>
            <a:off x="323850" y="3716338"/>
            <a:ext cx="8613775" cy="2952750"/>
          </a:xfrm>
          <a:prstGeom prst="rect">
            <a:avLst/>
          </a:prstGeom>
          <a:noFill/>
          <a:ln>
            <a:noFill/>
          </a:ln>
        </p:spPr>
        <p:txBody>
          <a:bodyPr/>
          <a:lstStyle>
            <a:lvl1pPr marL="171450" indent="-17145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defRPr/>
            </a:pPr>
            <a:r>
              <a:rPr lang="en-GB" sz="1400" dirty="0">
                <a:solidFill>
                  <a:srgbClr val="000000"/>
                </a:solidFill>
                <a:latin typeface="+mn-lt"/>
              </a:rPr>
              <a:t>The T Level T Level Technical Qualification in Digital: Digital Production, Design and Development includes a single Occupational Specialist Component. Therefore, there is a single synoptic assessment for the Occupational Specialist Component, which is an extended ‘design, development and implementation’ project. The synoptic element of the project is important in order to ensure that students are able to demonstrate threshold competence: this is the principal reason why the Occupational Specialism is assessed via a single extended project assessment to ensure that students are able to evidence all the skills required by the Performance Outcomes. </a:t>
            </a:r>
          </a:p>
          <a:p>
            <a:pPr>
              <a:defRPr/>
            </a:pPr>
            <a:r>
              <a:rPr lang="en-GB" sz="1400" dirty="0">
                <a:solidFill>
                  <a:srgbClr val="000000"/>
                </a:solidFill>
                <a:latin typeface="+mn-lt"/>
              </a:rPr>
              <a:t>The T Level Technical Qualification in Digital: Digital Production, Design and Development Occupational Specialist Component consists of several activities grouped into four substantive tasks. </a:t>
            </a:r>
          </a:p>
          <a:p>
            <a:pPr>
              <a:defRPr/>
            </a:pPr>
            <a:r>
              <a:rPr lang="en-GB" sz="1400" dirty="0">
                <a:solidFill>
                  <a:srgbClr val="000000"/>
                </a:solidFill>
                <a:latin typeface="+mn-lt"/>
              </a:rPr>
              <a:t>Each task will be completed during a window set by Pearson during which you will schedule supervised assessment sessions. In some cases, tasks will also involve opportunities for unsupervised activities where the requirements of the skills being assessed make this necessary.</a:t>
            </a:r>
            <a:endParaRPr lang="en-GB" altLang="en-US" sz="1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B7DD3C34-4677-574E-A6D4-9C4B78B44B50}"/>
              </a:ext>
            </a:extLst>
          </p:cNvPr>
          <p:cNvSpPr>
            <a:spLocks noGrp="1" noChangeArrowheads="1"/>
          </p:cNvSpPr>
          <p:nvPr>
            <p:ph type="title"/>
          </p:nvPr>
        </p:nvSpPr>
        <p:spPr>
          <a:xfrm>
            <a:off x="1258888" y="404813"/>
            <a:ext cx="7650162" cy="939800"/>
          </a:xfrm>
        </p:spPr>
        <p:txBody>
          <a:bodyPr/>
          <a:lstStyle/>
          <a:p>
            <a:r>
              <a:rPr lang="en-GB" altLang="en-US" sz="3600" b="1">
                <a:solidFill>
                  <a:srgbClr val="0070C0"/>
                </a:solidFill>
              </a:rPr>
              <a:t>The unit outcomes</a:t>
            </a:r>
            <a:endParaRPr lang="en-US" altLang="en-US" sz="3600" b="1">
              <a:solidFill>
                <a:srgbClr val="0070C0"/>
              </a:solidFill>
            </a:endParaRPr>
          </a:p>
        </p:txBody>
      </p:sp>
      <p:sp>
        <p:nvSpPr>
          <p:cNvPr id="18435" name="Content Placeholder 2">
            <a:extLst>
              <a:ext uri="{FF2B5EF4-FFF2-40B4-BE49-F238E27FC236}">
                <a16:creationId xmlns:a16="http://schemas.microsoft.com/office/drawing/2014/main" id="{DEA02073-84C1-6AD7-EBA0-DF6C21AB1B39}"/>
              </a:ext>
            </a:extLst>
          </p:cNvPr>
          <p:cNvSpPr>
            <a:spLocks noGrp="1" noChangeArrowheads="1"/>
          </p:cNvSpPr>
          <p:nvPr>
            <p:ph idx="1"/>
          </p:nvPr>
        </p:nvSpPr>
        <p:spPr>
          <a:xfrm>
            <a:off x="279400" y="1773238"/>
            <a:ext cx="8585200" cy="1295400"/>
          </a:xfrm>
        </p:spPr>
        <p:txBody>
          <a:bodyPr/>
          <a:lstStyle/>
          <a:p>
            <a:r>
              <a:rPr lang="en-GB" altLang="en-US" sz="1800" b="1"/>
              <a:t>1.5 </a:t>
            </a:r>
            <a:r>
              <a:rPr lang="en-GB" altLang="en-US" sz="1800"/>
              <a:t>Investigate the current and potential uses of emerging technologies and how they impact on industries</a:t>
            </a:r>
          </a:p>
          <a:p>
            <a:endParaRPr lang="en-GB" altLang="en-US" sz="1800"/>
          </a:p>
          <a:p>
            <a:pPr lvl="1"/>
            <a:r>
              <a:rPr lang="en-GB" altLang="en-US" sz="1800"/>
              <a:t>Investigate impact on software development of emerging technologies such as:</a:t>
            </a:r>
          </a:p>
          <a:p>
            <a:pPr lvl="2"/>
            <a:endParaRPr lang="en-GB" altLang="en-US" sz="1400"/>
          </a:p>
        </p:txBody>
      </p:sp>
      <p:sp>
        <p:nvSpPr>
          <p:cNvPr id="4" name="Content Placeholder 2">
            <a:extLst>
              <a:ext uri="{FF2B5EF4-FFF2-40B4-BE49-F238E27FC236}">
                <a16:creationId xmlns:a16="http://schemas.microsoft.com/office/drawing/2014/main" id="{D8C3FD70-00A2-1E6C-772D-9E2106262761}"/>
              </a:ext>
            </a:extLst>
          </p:cNvPr>
          <p:cNvSpPr txBox="1">
            <a:spLocks noChangeArrowheads="1"/>
          </p:cNvSpPr>
          <p:nvPr/>
        </p:nvSpPr>
        <p:spPr bwMode="auto">
          <a:xfrm>
            <a:off x="4468813" y="3511550"/>
            <a:ext cx="4440237" cy="237648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2">
              <a:defRPr/>
            </a:pPr>
            <a:r>
              <a:rPr lang="en-GB" sz="1800" kern="0" dirty="0"/>
              <a:t>computer vision</a:t>
            </a:r>
          </a:p>
          <a:p>
            <a:pPr lvl="2">
              <a:defRPr/>
            </a:pPr>
            <a:r>
              <a:rPr lang="en-GB" sz="1800" kern="0" dirty="0"/>
              <a:t>robotics</a:t>
            </a:r>
          </a:p>
          <a:p>
            <a:pPr lvl="2">
              <a:defRPr/>
            </a:pPr>
            <a:r>
              <a:rPr lang="en-GB" sz="1800" kern="0" dirty="0"/>
              <a:t>cloud services and platforms</a:t>
            </a:r>
          </a:p>
          <a:p>
            <a:pPr lvl="2">
              <a:defRPr/>
            </a:pPr>
            <a:r>
              <a:rPr lang="en-GB" sz="1800" kern="0" dirty="0"/>
              <a:t>blockchain</a:t>
            </a:r>
          </a:p>
          <a:p>
            <a:pPr lvl="2">
              <a:defRPr/>
            </a:pPr>
            <a:r>
              <a:rPr lang="en-GB" sz="1800" kern="0" dirty="0"/>
              <a:t>data lakes and data warehousing</a:t>
            </a:r>
          </a:p>
          <a:p>
            <a:pPr lvl="2">
              <a:defRPr/>
            </a:pPr>
            <a:r>
              <a:rPr lang="en-GB" sz="1800" kern="0" dirty="0"/>
              <a:t>drones</a:t>
            </a:r>
          </a:p>
          <a:p>
            <a:pPr lvl="2">
              <a:defRPr/>
            </a:pPr>
            <a:r>
              <a:rPr lang="en-GB" sz="1800" kern="0" dirty="0"/>
              <a:t>3D printing</a:t>
            </a:r>
          </a:p>
          <a:p>
            <a:pPr lvl="2">
              <a:defRPr/>
            </a:pPr>
            <a:r>
              <a:rPr lang="en-GB" sz="1800" kern="0" dirty="0"/>
              <a:t>5G networks</a:t>
            </a:r>
          </a:p>
        </p:txBody>
      </p:sp>
      <p:sp>
        <p:nvSpPr>
          <p:cNvPr id="5" name="Content Placeholder 2">
            <a:extLst>
              <a:ext uri="{FF2B5EF4-FFF2-40B4-BE49-F238E27FC236}">
                <a16:creationId xmlns:a16="http://schemas.microsoft.com/office/drawing/2014/main" id="{C5B22A8E-8342-F6B9-5125-49190300F024}"/>
              </a:ext>
            </a:extLst>
          </p:cNvPr>
          <p:cNvSpPr txBox="1">
            <a:spLocks noChangeArrowheads="1"/>
          </p:cNvSpPr>
          <p:nvPr/>
        </p:nvSpPr>
        <p:spPr bwMode="auto">
          <a:xfrm>
            <a:off x="0" y="3630613"/>
            <a:ext cx="4608513" cy="225742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2">
              <a:defRPr/>
            </a:pPr>
            <a:r>
              <a:rPr lang="en-GB" sz="1800" kern="0" dirty="0"/>
              <a:t>operational technology (OT)</a:t>
            </a:r>
          </a:p>
          <a:p>
            <a:pPr lvl="2">
              <a:defRPr/>
            </a:pPr>
            <a:r>
              <a:rPr lang="en-GB" sz="1800" kern="0" dirty="0"/>
              <a:t>artificial Intelligence (AI) and Virtual Intelligence (VI)</a:t>
            </a:r>
          </a:p>
          <a:p>
            <a:pPr lvl="2">
              <a:defRPr/>
            </a:pPr>
            <a:r>
              <a:rPr lang="en-GB" sz="1800" kern="0" dirty="0"/>
              <a:t>conversational AI</a:t>
            </a:r>
          </a:p>
          <a:p>
            <a:pPr lvl="2">
              <a:defRPr/>
            </a:pPr>
            <a:r>
              <a:rPr lang="en-GB" sz="1800" kern="0" dirty="0"/>
              <a:t>the Internet of Things (IoT)</a:t>
            </a:r>
          </a:p>
          <a:p>
            <a:pPr lvl="2">
              <a:defRPr/>
            </a:pPr>
            <a:r>
              <a:rPr lang="en-GB" sz="1800" kern="0" dirty="0"/>
              <a:t>machine Learning</a:t>
            </a:r>
          </a:p>
          <a:p>
            <a:pPr lvl="2">
              <a:defRPr/>
            </a:pPr>
            <a:r>
              <a:rPr lang="en-GB" sz="1800" kern="0" dirty="0"/>
              <a:t>object recognition</a:t>
            </a:r>
          </a:p>
          <a:p>
            <a:pPr lvl="2">
              <a:defRPr/>
            </a:pPr>
            <a:r>
              <a:rPr lang="en-GB" sz="1800" kern="0" dirty="0"/>
              <a:t>biometrics</a:t>
            </a:r>
          </a:p>
          <a:p>
            <a:pPr lvl="2">
              <a:defRPr/>
            </a:pPr>
            <a:endParaRPr lang="en-GB" sz="1400" kern="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A8DBC154-78A8-8836-2653-BA1B496C435B}"/>
              </a:ext>
            </a:extLst>
          </p:cNvPr>
          <p:cNvSpPr>
            <a:spLocks noGrp="1" noChangeArrowheads="1"/>
          </p:cNvSpPr>
          <p:nvPr>
            <p:ph type="title"/>
          </p:nvPr>
        </p:nvSpPr>
        <p:spPr>
          <a:xfrm>
            <a:off x="1403350" y="404813"/>
            <a:ext cx="7505700" cy="939800"/>
          </a:xfrm>
        </p:spPr>
        <p:txBody>
          <a:bodyPr/>
          <a:lstStyle/>
          <a:p>
            <a:pPr eaLnBrk="1" hangingPunct="1"/>
            <a:r>
              <a:rPr lang="en-GB" altLang="en-US" sz="3600" b="1">
                <a:solidFill>
                  <a:srgbClr val="0070C0"/>
                </a:solidFill>
              </a:rPr>
              <a:t>Learning Objectives</a:t>
            </a:r>
          </a:p>
        </p:txBody>
      </p:sp>
      <p:sp>
        <p:nvSpPr>
          <p:cNvPr id="5" name="Rectangle 3">
            <a:extLst>
              <a:ext uri="{FF2B5EF4-FFF2-40B4-BE49-F238E27FC236}">
                <a16:creationId xmlns:a16="http://schemas.microsoft.com/office/drawing/2014/main" id="{5C61A829-A52B-8DFF-9AD1-70C6E601B70E}"/>
              </a:ext>
            </a:extLst>
          </p:cNvPr>
          <p:cNvSpPr txBox="1">
            <a:spLocks noChangeArrowheads="1"/>
          </p:cNvSpPr>
          <p:nvPr/>
        </p:nvSpPr>
        <p:spPr bwMode="auto">
          <a:xfrm>
            <a:off x="827584" y="2060848"/>
            <a:ext cx="7772400" cy="237648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eaLnBrk="1" hangingPunct="1">
              <a:defRPr/>
            </a:pPr>
            <a:r>
              <a:rPr lang="en-GB" sz="2000" b="1" kern="0" dirty="0">
                <a:latin typeface="Arial" pitchFamily="34" charset="0"/>
              </a:rPr>
              <a:t>Aims:</a:t>
            </a:r>
          </a:p>
          <a:p>
            <a:pPr lvl="1" eaLnBrk="1" hangingPunct="1">
              <a:defRPr/>
            </a:pPr>
            <a:r>
              <a:rPr lang="en-GB" sz="1800" kern="0" dirty="0"/>
              <a:t>To </a:t>
            </a:r>
            <a:r>
              <a:rPr lang="en-US" altLang="en-US" sz="1800" dirty="0"/>
              <a:t>explore current and emerging technologies and their purposes </a:t>
            </a:r>
            <a:endParaRPr lang="en-GB" sz="1800" kern="0" dirty="0"/>
          </a:p>
          <a:p>
            <a:pPr marL="457200" lvl="1" indent="0" eaLnBrk="1" hangingPunct="1">
              <a:buFont typeface="Wingdings" pitchFamily="2" charset="2"/>
              <a:buNone/>
              <a:defRPr/>
            </a:pPr>
            <a:endParaRPr lang="en-GB" sz="2000" kern="0" dirty="0">
              <a:latin typeface="Arial" pitchFamily="34" charset="0"/>
            </a:endParaRPr>
          </a:p>
          <a:p>
            <a:pPr eaLnBrk="1" hangingPunct="1">
              <a:defRPr/>
            </a:pPr>
            <a:r>
              <a:rPr lang="en-GB" sz="2000" b="1" kern="0" dirty="0">
                <a:latin typeface="Arial" pitchFamily="34" charset="0"/>
              </a:rPr>
              <a:t>Objectives</a:t>
            </a:r>
            <a:r>
              <a:rPr lang="en-US" sz="2000" b="1" kern="0" dirty="0">
                <a:latin typeface="Arial" pitchFamily="34" charset="0"/>
              </a:rPr>
              <a:t>:</a:t>
            </a:r>
          </a:p>
          <a:p>
            <a:pPr lvl="1" eaLnBrk="1" hangingPunct="1">
              <a:defRPr/>
            </a:pPr>
            <a:r>
              <a:rPr lang="en-US" sz="1800" kern="0" dirty="0"/>
              <a:t>To be able to define </a:t>
            </a:r>
            <a:r>
              <a:rPr lang="en-US" sz="1800" dirty="0"/>
              <a:t>emerging technologies which are being used today and determine where each technology falls within its lifecycle stage—innovation, growth, maturity, or decline.</a:t>
            </a:r>
            <a:endParaRPr lang="en-US" sz="1800" b="1" kern="0" dirty="0"/>
          </a:p>
          <a:p>
            <a:pPr lvl="1" eaLnBrk="1" hangingPunct="1">
              <a:defRPr/>
            </a:pPr>
            <a:endParaRPr lang="en-GB" sz="2000" kern="0" dirty="0"/>
          </a:p>
          <a:p>
            <a:pPr lvl="1" eaLnBrk="1" hangingPunct="1">
              <a:defRPr/>
            </a:pPr>
            <a:endParaRPr lang="en-GB" sz="2000" kern="0" dirty="0"/>
          </a:p>
          <a:p>
            <a:pPr marL="457200" lvl="1" indent="0" eaLnBrk="1" hangingPunct="1">
              <a:buFont typeface="Wingdings" pitchFamily="2" charset="2"/>
              <a:buNone/>
              <a:defRPr/>
            </a:pPr>
            <a:endParaRPr lang="en-GB" sz="2000" kern="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31B64EDB-2A48-CC83-B6A0-80C50D950ADB}"/>
              </a:ext>
            </a:extLst>
          </p:cNvPr>
          <p:cNvSpPr>
            <a:spLocks noGrp="1" noChangeArrowheads="1"/>
          </p:cNvSpPr>
          <p:nvPr>
            <p:ph type="title"/>
          </p:nvPr>
        </p:nvSpPr>
        <p:spPr>
          <a:xfrm>
            <a:off x="1331913" y="404813"/>
            <a:ext cx="7704137" cy="939800"/>
          </a:xfrm>
        </p:spPr>
        <p:txBody>
          <a:bodyPr/>
          <a:lstStyle/>
          <a:p>
            <a:r>
              <a:rPr lang="en-US" altLang="en-US" sz="2800" b="1">
                <a:solidFill>
                  <a:srgbClr val="0070C0"/>
                </a:solidFill>
              </a:rPr>
              <a:t>Mobile technology in different sectors </a:t>
            </a:r>
            <a:endParaRPr lang="en-GB" altLang="en-US" sz="2800" b="1">
              <a:solidFill>
                <a:srgbClr val="0070C0"/>
              </a:solidFill>
            </a:endParaRPr>
          </a:p>
        </p:txBody>
      </p:sp>
      <p:sp>
        <p:nvSpPr>
          <p:cNvPr id="22531" name="Content Placeholder 2">
            <a:extLst>
              <a:ext uri="{FF2B5EF4-FFF2-40B4-BE49-F238E27FC236}">
                <a16:creationId xmlns:a16="http://schemas.microsoft.com/office/drawing/2014/main" id="{3EEA71BA-E6F2-2A31-40A8-888B7DA56B1A}"/>
              </a:ext>
            </a:extLst>
          </p:cNvPr>
          <p:cNvSpPr>
            <a:spLocks noGrp="1" noChangeArrowheads="1"/>
          </p:cNvSpPr>
          <p:nvPr>
            <p:ph idx="1"/>
          </p:nvPr>
        </p:nvSpPr>
        <p:spPr>
          <a:xfrm>
            <a:off x="900113" y="1844675"/>
            <a:ext cx="7993062" cy="4503738"/>
          </a:xfrm>
        </p:spPr>
        <p:txBody>
          <a:bodyPr/>
          <a:lstStyle/>
          <a:p>
            <a:r>
              <a:rPr lang="en-US" altLang="en-US" sz="1600"/>
              <a:t>Mobile technologies have made it increasingly possible for us to connect with each other, with organisations (including employers) and with the wealth of digital information that is available online. </a:t>
            </a:r>
          </a:p>
          <a:p>
            <a:endParaRPr lang="en-US" altLang="en-US" sz="1600"/>
          </a:p>
          <a:p>
            <a:r>
              <a:rPr lang="en-US" altLang="en-US" sz="1600"/>
              <a:t>One of the fastest growing areas in technology development in recent years has been mobile technology. </a:t>
            </a:r>
          </a:p>
          <a:p>
            <a:endParaRPr lang="en-US" altLang="en-US" sz="1600"/>
          </a:p>
          <a:p>
            <a:r>
              <a:rPr lang="en-US" altLang="en-US" sz="1600"/>
              <a:t>Mobile technology is a part of everyday life and widely used in different contexts such as: </a:t>
            </a:r>
          </a:p>
          <a:p>
            <a:pPr lvl="1"/>
            <a:r>
              <a:rPr lang="en-US" altLang="en-US" sz="1600"/>
              <a:t>retail</a:t>
            </a:r>
          </a:p>
          <a:p>
            <a:pPr lvl="1"/>
            <a:r>
              <a:rPr lang="en-US" altLang="en-US" sz="1600"/>
              <a:t>banking</a:t>
            </a:r>
          </a:p>
          <a:p>
            <a:pPr lvl="1"/>
            <a:r>
              <a:rPr lang="en-US" altLang="en-US" sz="1600"/>
              <a:t>entertainment</a:t>
            </a:r>
          </a:p>
          <a:p>
            <a:pPr lvl="1"/>
            <a:r>
              <a:rPr lang="en-US" altLang="en-US" sz="1600"/>
              <a:t>social media.</a:t>
            </a:r>
          </a:p>
          <a:p>
            <a:pPr lvl="1"/>
            <a:endParaRPr lang="en-US" altLang="en-US" sz="1600"/>
          </a:p>
          <a:p>
            <a:pPr lvl="1"/>
            <a:endParaRPr lang="en-US" altLang="en-US" sz="1600"/>
          </a:p>
          <a:p>
            <a:r>
              <a:rPr lang="en-US" altLang="en-US" sz="1600"/>
              <a:t>For example, managing your bank account has never been easier, as shown here. </a:t>
            </a:r>
          </a:p>
          <a:p>
            <a:pPr lvl="1"/>
            <a:endParaRPr lang="en-US" altLang="en-US" sz="1600"/>
          </a:p>
        </p:txBody>
      </p:sp>
      <p:pic>
        <p:nvPicPr>
          <p:cNvPr id="22532" name="Picture 5" descr="A screenshot of a cell phone&#10;&#10;Description automatically generated">
            <a:extLst>
              <a:ext uri="{FF2B5EF4-FFF2-40B4-BE49-F238E27FC236}">
                <a16:creationId xmlns:a16="http://schemas.microsoft.com/office/drawing/2014/main" id="{A85B228C-4E56-314C-DD07-DF15F328DF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7613" y="4221163"/>
            <a:ext cx="1952625"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9527F3B3-F33A-C97E-B8C9-C54058D0E45B}"/>
              </a:ext>
            </a:extLst>
          </p:cNvPr>
          <p:cNvSpPr>
            <a:spLocks noGrp="1" noChangeArrowheads="1"/>
          </p:cNvSpPr>
          <p:nvPr>
            <p:ph type="title"/>
          </p:nvPr>
        </p:nvSpPr>
        <p:spPr>
          <a:xfrm>
            <a:off x="1116013" y="404813"/>
            <a:ext cx="7920037" cy="939800"/>
          </a:xfrm>
        </p:spPr>
        <p:txBody>
          <a:bodyPr/>
          <a:lstStyle/>
          <a:p>
            <a:r>
              <a:rPr lang="en-US" altLang="en-US" sz="2800" b="1">
                <a:solidFill>
                  <a:srgbClr val="0070C0"/>
                </a:solidFill>
              </a:rPr>
              <a:t>Mobile technology in different sectors </a:t>
            </a:r>
            <a:endParaRPr lang="en-GB" altLang="en-US" sz="2800">
              <a:solidFill>
                <a:srgbClr val="0070C0"/>
              </a:solidFill>
            </a:endParaRPr>
          </a:p>
        </p:txBody>
      </p:sp>
      <p:sp>
        <p:nvSpPr>
          <p:cNvPr id="24579" name="Content Placeholder 2">
            <a:extLst>
              <a:ext uri="{FF2B5EF4-FFF2-40B4-BE49-F238E27FC236}">
                <a16:creationId xmlns:a16="http://schemas.microsoft.com/office/drawing/2014/main" id="{D5E2EEBC-5A99-925E-3148-2B5E789A2F27}"/>
              </a:ext>
            </a:extLst>
          </p:cNvPr>
          <p:cNvSpPr>
            <a:spLocks noGrp="1" noChangeArrowheads="1"/>
          </p:cNvSpPr>
          <p:nvPr>
            <p:ph idx="1"/>
          </p:nvPr>
        </p:nvSpPr>
        <p:spPr>
          <a:xfrm>
            <a:off x="633413" y="1773238"/>
            <a:ext cx="8402637" cy="1943100"/>
          </a:xfrm>
        </p:spPr>
        <p:txBody>
          <a:bodyPr/>
          <a:lstStyle/>
          <a:p>
            <a:r>
              <a:rPr lang="en-US" altLang="en-US" sz="1600"/>
              <a:t>Smartphone apps such as Apple Pay® will store your card information, which can be used in shops and online to pay for goods and services. </a:t>
            </a:r>
          </a:p>
          <a:p>
            <a:r>
              <a:rPr lang="en-US" altLang="en-US" sz="1600"/>
              <a:t>For example, you can use Apple Pay to pay for travel on Transport for London (TfL) services (such as the London Underground, bus and rail services). </a:t>
            </a:r>
          </a:p>
          <a:p>
            <a:r>
              <a:rPr lang="en-US" altLang="en-US" sz="1600"/>
              <a:t>The service is activated by pressing the home button twice on an iPhone® in locked mode. </a:t>
            </a:r>
          </a:p>
          <a:p>
            <a:r>
              <a:rPr lang="en-US" altLang="en-US" sz="1600"/>
              <a:t>This automatically activates Apple Pay, and you can then simply follow the instructions. </a:t>
            </a:r>
          </a:p>
          <a:p>
            <a:endParaRPr lang="en-GB" altLang="en-US" sz="1600"/>
          </a:p>
        </p:txBody>
      </p:sp>
      <p:sp>
        <p:nvSpPr>
          <p:cNvPr id="4" name="Content Placeholder 2">
            <a:extLst>
              <a:ext uri="{FF2B5EF4-FFF2-40B4-BE49-F238E27FC236}">
                <a16:creationId xmlns:a16="http://schemas.microsoft.com/office/drawing/2014/main" id="{1BAF2B02-9F55-6445-8E96-95D3B326B293}"/>
              </a:ext>
            </a:extLst>
          </p:cNvPr>
          <p:cNvSpPr txBox="1">
            <a:spLocks/>
          </p:cNvSpPr>
          <p:nvPr/>
        </p:nvSpPr>
        <p:spPr bwMode="auto">
          <a:xfrm>
            <a:off x="635000" y="3789363"/>
            <a:ext cx="6097588" cy="266382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kern="0" dirty="0"/>
              <a:t>You can also stream media (such as music and video for entertainment) on your device. (STREAMING is when you listen to music or you watch videos on your device without downloading them.)</a:t>
            </a:r>
          </a:p>
          <a:p>
            <a:pPr>
              <a:defRPr/>
            </a:pPr>
            <a:r>
              <a:rPr lang="en-US" sz="1600" kern="0" dirty="0"/>
              <a:t>If you want to use an online streaming service, you will need an internet connection. </a:t>
            </a:r>
          </a:p>
          <a:p>
            <a:pPr>
              <a:defRPr/>
            </a:pPr>
            <a:r>
              <a:rPr lang="en-US" sz="1600" kern="0" dirty="0"/>
              <a:t>Paying a SUBSCRIPTION (paying regularly in advance for a purchase) will provide additional services, such as better quality or access to a wider range of </a:t>
            </a:r>
            <a:r>
              <a:rPr lang="en-US" sz="1600" kern="0" dirty="0" err="1"/>
              <a:t>streamable</a:t>
            </a:r>
            <a:r>
              <a:rPr lang="en-US" sz="1600" kern="0" dirty="0"/>
              <a:t> material. </a:t>
            </a:r>
          </a:p>
          <a:p>
            <a:pPr>
              <a:defRPr/>
            </a:pPr>
            <a:r>
              <a:rPr lang="en-US" sz="1600" kern="0" dirty="0"/>
              <a:t>Streaming services include Spotify®, Apple Music®, Deezer™, </a:t>
            </a:r>
            <a:r>
              <a:rPr lang="en-US" sz="1600" kern="0" dirty="0" err="1"/>
              <a:t>TidalT</a:t>
            </a:r>
            <a:r>
              <a:rPr lang="en-US" sz="1600" kern="0" dirty="0"/>
              <a:t>"' and Google Play Music™. </a:t>
            </a:r>
          </a:p>
          <a:p>
            <a:pPr>
              <a:defRPr/>
            </a:pPr>
            <a:endParaRPr lang="en-US" sz="1600" kern="0" dirty="0"/>
          </a:p>
          <a:p>
            <a:pPr>
              <a:defRPr/>
            </a:pPr>
            <a:endParaRPr lang="en-GB" sz="1600" kern="0" dirty="0"/>
          </a:p>
        </p:txBody>
      </p:sp>
      <p:pic>
        <p:nvPicPr>
          <p:cNvPr id="24581" name="Picture 5" descr="A screenshot of a cell phone&#10;&#10;Description automatically generated">
            <a:extLst>
              <a:ext uri="{FF2B5EF4-FFF2-40B4-BE49-F238E27FC236}">
                <a16:creationId xmlns:a16="http://schemas.microsoft.com/office/drawing/2014/main" id="{CB6E624B-0EE2-49E9-44CD-740DDAB80A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4838" y="3906838"/>
            <a:ext cx="1554162"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12" descr="A close up of a map&#10;&#10;Description automatically generated">
            <a:extLst>
              <a:ext uri="{FF2B5EF4-FFF2-40B4-BE49-F238E27FC236}">
                <a16:creationId xmlns:a16="http://schemas.microsoft.com/office/drawing/2014/main" id="{C7F5C70A-C642-EBFC-0E7A-0574C91050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7775" y="1890713"/>
            <a:ext cx="3624263" cy="317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Title 1">
            <a:extLst>
              <a:ext uri="{FF2B5EF4-FFF2-40B4-BE49-F238E27FC236}">
                <a16:creationId xmlns:a16="http://schemas.microsoft.com/office/drawing/2014/main" id="{42A5524F-69B0-84CB-BF82-30D4ABDA8F83}"/>
              </a:ext>
            </a:extLst>
          </p:cNvPr>
          <p:cNvSpPr>
            <a:spLocks noGrp="1" noChangeArrowheads="1"/>
          </p:cNvSpPr>
          <p:nvPr>
            <p:ph type="title"/>
          </p:nvPr>
        </p:nvSpPr>
        <p:spPr/>
        <p:txBody>
          <a:bodyPr/>
          <a:lstStyle/>
          <a:p>
            <a:r>
              <a:rPr lang="en-US" altLang="en-US" sz="2800" b="1">
                <a:solidFill>
                  <a:srgbClr val="0070C0"/>
                </a:solidFill>
              </a:rPr>
              <a:t>Development and use of smart devices/smartphone apps </a:t>
            </a:r>
            <a:endParaRPr lang="en-GB" altLang="en-US" sz="2800" b="1">
              <a:solidFill>
                <a:srgbClr val="0070C0"/>
              </a:solidFill>
            </a:endParaRPr>
          </a:p>
        </p:txBody>
      </p:sp>
      <p:sp>
        <p:nvSpPr>
          <p:cNvPr id="25604" name="Content Placeholder 2">
            <a:extLst>
              <a:ext uri="{FF2B5EF4-FFF2-40B4-BE49-F238E27FC236}">
                <a16:creationId xmlns:a16="http://schemas.microsoft.com/office/drawing/2014/main" id="{2629A166-0CC7-EF17-8A5F-5BFE257DF82F}"/>
              </a:ext>
            </a:extLst>
          </p:cNvPr>
          <p:cNvSpPr>
            <a:spLocks noGrp="1" noChangeArrowheads="1"/>
          </p:cNvSpPr>
          <p:nvPr>
            <p:ph idx="1"/>
          </p:nvPr>
        </p:nvSpPr>
        <p:spPr>
          <a:xfrm>
            <a:off x="350838" y="1773238"/>
            <a:ext cx="3354387" cy="3548062"/>
          </a:xfrm>
        </p:spPr>
        <p:txBody>
          <a:bodyPr/>
          <a:lstStyle/>
          <a:p>
            <a:r>
              <a:rPr lang="en-US" altLang="en-US" sz="1600"/>
              <a:t>What does the 'smart' in smartphone mean? </a:t>
            </a:r>
          </a:p>
          <a:p>
            <a:endParaRPr lang="en-US" altLang="en-US" sz="1600"/>
          </a:p>
          <a:p>
            <a:r>
              <a:rPr lang="en-US" altLang="en-US" sz="1600"/>
              <a:t>It means that your handheld device can now provide as much information as your PC or laptop. </a:t>
            </a:r>
          </a:p>
          <a:p>
            <a:r>
              <a:rPr lang="en-US" altLang="en-US" sz="1600"/>
              <a:t>In fact, it could be argued that handheld devices are even smarter than a PC or laptop as they have extra features such as location :services, which are not relevant to technology that is not mobile. </a:t>
            </a:r>
          </a:p>
          <a:p>
            <a:endParaRPr lang="en-US" altLang="en-US" sz="1600"/>
          </a:p>
          <a:p>
            <a:endParaRPr lang="en-GB" altLang="en-US" sz="1800"/>
          </a:p>
        </p:txBody>
      </p:sp>
      <p:sp>
        <p:nvSpPr>
          <p:cNvPr id="4" name="Content Placeholder 2">
            <a:extLst>
              <a:ext uri="{FF2B5EF4-FFF2-40B4-BE49-F238E27FC236}">
                <a16:creationId xmlns:a16="http://schemas.microsoft.com/office/drawing/2014/main" id="{B9D0D2EC-3484-5B59-9BDB-4340C8AC106B}"/>
              </a:ext>
            </a:extLst>
          </p:cNvPr>
          <p:cNvSpPr txBox="1">
            <a:spLocks/>
          </p:cNvSpPr>
          <p:nvPr/>
        </p:nvSpPr>
        <p:spPr bwMode="auto">
          <a:xfrm>
            <a:off x="368300" y="5516563"/>
            <a:ext cx="6003925" cy="120967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dirty="0"/>
              <a:t>Location services are also useful for tracking your progress, for example if you go for a jog or run. You can activate the app at the start of the run. You can still use other services while you run, such as listening to music. </a:t>
            </a:r>
            <a:endParaRPr lang="en-GB" sz="1600" dirty="0"/>
          </a:p>
          <a:p>
            <a:pPr>
              <a:defRPr/>
            </a:pPr>
            <a:endParaRPr lang="en-GB" sz="1800" kern="0" dirty="0"/>
          </a:p>
        </p:txBody>
      </p:sp>
      <p:sp>
        <p:nvSpPr>
          <p:cNvPr id="7" name="Content Placeholder 2">
            <a:extLst>
              <a:ext uri="{FF2B5EF4-FFF2-40B4-BE49-F238E27FC236}">
                <a16:creationId xmlns:a16="http://schemas.microsoft.com/office/drawing/2014/main" id="{A4A302A3-E5B6-D80B-0D07-891752F2A3E7}"/>
              </a:ext>
            </a:extLst>
          </p:cNvPr>
          <p:cNvSpPr txBox="1">
            <a:spLocks/>
          </p:cNvSpPr>
          <p:nvPr/>
        </p:nvSpPr>
        <p:spPr bwMode="auto">
          <a:xfrm>
            <a:off x="7288213" y="1908175"/>
            <a:ext cx="1873250" cy="6334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marL="0" indent="0">
              <a:buFont typeface="Wingdings" panose="05000000000000000000" pitchFamily="2" charset="2"/>
              <a:buNone/>
              <a:defRPr/>
            </a:pPr>
            <a:r>
              <a:rPr lang="en-US" sz="1200" dirty="0"/>
              <a:t>By zooming in you can see your friend </a:t>
            </a:r>
            <a:r>
              <a:rPr lang="en-US" sz="1400" dirty="0"/>
              <a:t>at street level </a:t>
            </a:r>
          </a:p>
          <a:p>
            <a:pPr>
              <a:defRPr/>
            </a:pPr>
            <a:endParaRPr lang="en-GB" sz="1800" kern="0" dirty="0"/>
          </a:p>
        </p:txBody>
      </p:sp>
      <p:sp>
        <p:nvSpPr>
          <p:cNvPr id="8" name="Content Placeholder 2">
            <a:extLst>
              <a:ext uri="{FF2B5EF4-FFF2-40B4-BE49-F238E27FC236}">
                <a16:creationId xmlns:a16="http://schemas.microsoft.com/office/drawing/2014/main" id="{C93FC158-5D09-D00F-2B45-6AB3FE739794}"/>
              </a:ext>
            </a:extLst>
          </p:cNvPr>
          <p:cNvSpPr txBox="1">
            <a:spLocks/>
          </p:cNvSpPr>
          <p:nvPr/>
        </p:nvSpPr>
        <p:spPr bwMode="auto">
          <a:xfrm>
            <a:off x="5724525" y="4006850"/>
            <a:ext cx="2259013" cy="63182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marL="0" indent="0">
              <a:buFont typeface="Wingdings" panose="05000000000000000000" pitchFamily="2" charset="2"/>
              <a:buNone/>
              <a:defRPr/>
            </a:pPr>
            <a:r>
              <a:rPr lang="en-US" sz="1200" dirty="0"/>
              <a:t>Services such as Find My Friends® display the location of each of the friends that you have added to the app </a:t>
            </a:r>
            <a:endParaRPr lang="en-GB" sz="1200" dirty="0"/>
          </a:p>
          <a:p>
            <a:pPr>
              <a:defRPr/>
            </a:pPr>
            <a:endParaRPr lang="en-GB" sz="1800" kern="0" dirty="0"/>
          </a:p>
        </p:txBody>
      </p:sp>
      <p:pic>
        <p:nvPicPr>
          <p:cNvPr id="25608" name="Picture 9" descr="A close up of a map&#10;&#10;Description automatically generated">
            <a:extLst>
              <a:ext uri="{FF2B5EF4-FFF2-40B4-BE49-F238E27FC236}">
                <a16:creationId xmlns:a16="http://schemas.microsoft.com/office/drawing/2014/main" id="{7306412D-10A0-B679-C8FD-D2594CF19B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1913" y="5321300"/>
            <a:ext cx="793750" cy="140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2">
            <a:extLst>
              <a:ext uri="{FF2B5EF4-FFF2-40B4-BE49-F238E27FC236}">
                <a16:creationId xmlns:a16="http://schemas.microsoft.com/office/drawing/2014/main" id="{4623A71A-A65D-D54E-DBAA-609B79312586}"/>
              </a:ext>
            </a:extLst>
          </p:cNvPr>
          <p:cNvSpPr txBox="1">
            <a:spLocks/>
          </p:cNvSpPr>
          <p:nvPr/>
        </p:nvSpPr>
        <p:spPr bwMode="auto">
          <a:xfrm>
            <a:off x="7412038" y="5175250"/>
            <a:ext cx="1731962" cy="127793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marL="0" indent="0">
              <a:buFont typeface="Wingdings" panose="05000000000000000000" pitchFamily="2" charset="2"/>
              <a:buNone/>
              <a:defRPr/>
            </a:pPr>
            <a:r>
              <a:rPr lang="en-US" sz="1200" dirty="0"/>
              <a:t>Using the location services, the app will calculate the distance travelled, the time taken and the number of calories burned </a:t>
            </a:r>
            <a:endParaRPr lang="en-GB" sz="1200" dirty="0"/>
          </a:p>
          <a:p>
            <a:pPr>
              <a:defRPr/>
            </a:pPr>
            <a:endParaRPr lang="en-GB" sz="1800" kern="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8FFB9F1D-FB11-8974-4E2F-3A7D0AB50CC4}"/>
              </a:ext>
            </a:extLst>
          </p:cNvPr>
          <p:cNvSpPr>
            <a:spLocks noGrp="1" noChangeArrowheads="1"/>
          </p:cNvSpPr>
          <p:nvPr>
            <p:ph type="title"/>
          </p:nvPr>
        </p:nvSpPr>
        <p:spPr>
          <a:xfrm>
            <a:off x="1258888" y="404813"/>
            <a:ext cx="7650162" cy="939800"/>
          </a:xfrm>
        </p:spPr>
        <p:txBody>
          <a:bodyPr/>
          <a:lstStyle/>
          <a:p>
            <a:r>
              <a:rPr lang="en-GB" altLang="en-US" sz="3600" b="1">
                <a:solidFill>
                  <a:srgbClr val="0070C0"/>
                </a:solidFill>
              </a:rPr>
              <a:t>5G</a:t>
            </a:r>
          </a:p>
        </p:txBody>
      </p:sp>
      <p:sp>
        <p:nvSpPr>
          <p:cNvPr id="28675" name="Content Placeholder 2">
            <a:extLst>
              <a:ext uri="{FF2B5EF4-FFF2-40B4-BE49-F238E27FC236}">
                <a16:creationId xmlns:a16="http://schemas.microsoft.com/office/drawing/2014/main" id="{F57E7EC9-AB86-3A5E-5733-1EE185440165}"/>
              </a:ext>
            </a:extLst>
          </p:cNvPr>
          <p:cNvSpPr>
            <a:spLocks noGrp="1" noChangeArrowheads="1"/>
          </p:cNvSpPr>
          <p:nvPr>
            <p:ph idx="1"/>
          </p:nvPr>
        </p:nvSpPr>
        <p:spPr>
          <a:xfrm>
            <a:off x="398463" y="1844675"/>
            <a:ext cx="8510587" cy="2089150"/>
          </a:xfrm>
        </p:spPr>
        <p:txBody>
          <a:bodyPr/>
          <a:lstStyle/>
          <a:p>
            <a:r>
              <a:rPr lang="en-GB" altLang="en-US" sz="1800"/>
              <a:t>5G is the fifth generation of mobile wireless communications technology — the upgrade to the 4G network. </a:t>
            </a:r>
          </a:p>
          <a:p>
            <a:r>
              <a:rPr lang="en-GB" altLang="en-US" sz="1800"/>
              <a:t>By using shorter, higher-frequency bands of the radio spectrum, 5G promises lower latency, faster speeds, and greater load capacity. </a:t>
            </a:r>
          </a:p>
          <a:p>
            <a:r>
              <a:rPr lang="en-GB" altLang="en-US" sz="1800"/>
              <a:t>Some researchers believe that in real-world conditions, 5G could deliver browsing and download speeds 10 to 20 times faster than the 4G network. </a:t>
            </a:r>
          </a:p>
        </p:txBody>
      </p:sp>
      <p:pic>
        <p:nvPicPr>
          <p:cNvPr id="28676" name="Picture 4" descr="Graphical user interface&#10;&#10;Description automatically generated with low confidence">
            <a:extLst>
              <a:ext uri="{FF2B5EF4-FFF2-40B4-BE49-F238E27FC236}">
                <a16:creationId xmlns:a16="http://schemas.microsoft.com/office/drawing/2014/main" id="{094AC606-FE8A-4C11-8E10-9B8E71294A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7575" y="4049713"/>
            <a:ext cx="4192588"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2">
            <a:extLst>
              <a:ext uri="{FF2B5EF4-FFF2-40B4-BE49-F238E27FC236}">
                <a16:creationId xmlns:a16="http://schemas.microsoft.com/office/drawing/2014/main" id="{9C07ADA1-FB75-9162-A3D4-5CAE38B20794}"/>
              </a:ext>
            </a:extLst>
          </p:cNvPr>
          <p:cNvSpPr txBox="1">
            <a:spLocks/>
          </p:cNvSpPr>
          <p:nvPr/>
        </p:nvSpPr>
        <p:spPr bwMode="auto">
          <a:xfrm>
            <a:off x="234950" y="3860800"/>
            <a:ext cx="4503738" cy="223202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GB" sz="1800" dirty="0">
                <a:solidFill>
                  <a:srgbClr val="333333"/>
                </a:solidFill>
              </a:rPr>
              <a:t>Ultimately, 5G promises to be a real game changer, with increased connectivity and ultra-low latency revolutionising how businesses operate. </a:t>
            </a:r>
          </a:p>
          <a:p>
            <a:pPr>
              <a:defRPr/>
            </a:pPr>
            <a:r>
              <a:rPr lang="en-GB" sz="1800" dirty="0">
                <a:solidFill>
                  <a:srgbClr val="333333"/>
                </a:solidFill>
              </a:rPr>
              <a:t>Organisations should start looking at the technology now to see how they could use it to gain a competitive advantage.</a:t>
            </a:r>
            <a:endParaRPr lang="en-GB" sz="1800" kern="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5EDA8FE4-E57D-DC22-34BB-1E0EF93BCD8F}"/>
              </a:ext>
            </a:extLst>
          </p:cNvPr>
          <p:cNvSpPr>
            <a:spLocks noGrp="1" noChangeArrowheads="1"/>
          </p:cNvSpPr>
          <p:nvPr>
            <p:ph type="title"/>
          </p:nvPr>
        </p:nvSpPr>
        <p:spPr>
          <a:xfrm>
            <a:off x="1182688" y="404813"/>
            <a:ext cx="7726362" cy="939800"/>
          </a:xfrm>
        </p:spPr>
        <p:txBody>
          <a:bodyPr/>
          <a:lstStyle/>
          <a:p>
            <a:br>
              <a:rPr lang="en-US" altLang="en-US" sz="1800"/>
            </a:br>
            <a:r>
              <a:rPr lang="en-GB" altLang="en-US" sz="2800" b="1">
                <a:solidFill>
                  <a:srgbClr val="0070C0"/>
                </a:solidFill>
              </a:rPr>
              <a:t>E</a:t>
            </a:r>
            <a:r>
              <a:rPr lang="en-US" altLang="en-US" sz="2800" b="1">
                <a:solidFill>
                  <a:srgbClr val="0070C0"/>
                </a:solidFill>
              </a:rPr>
              <a:t>merging mobile technology and its future use </a:t>
            </a:r>
            <a:endParaRPr lang="en-GB" altLang="en-US" sz="2800" b="1">
              <a:solidFill>
                <a:srgbClr val="0070C0"/>
              </a:solidFill>
            </a:endParaRPr>
          </a:p>
        </p:txBody>
      </p:sp>
      <p:sp>
        <p:nvSpPr>
          <p:cNvPr id="32771" name="Content Placeholder 2">
            <a:extLst>
              <a:ext uri="{FF2B5EF4-FFF2-40B4-BE49-F238E27FC236}">
                <a16:creationId xmlns:a16="http://schemas.microsoft.com/office/drawing/2014/main" id="{4899C4A3-3E52-35A1-039F-E8816C30A154}"/>
              </a:ext>
            </a:extLst>
          </p:cNvPr>
          <p:cNvSpPr>
            <a:spLocks noGrp="1" noChangeArrowheads="1"/>
          </p:cNvSpPr>
          <p:nvPr>
            <p:ph idx="1"/>
          </p:nvPr>
        </p:nvSpPr>
        <p:spPr>
          <a:xfrm>
            <a:off x="395288" y="3276600"/>
            <a:ext cx="4321175" cy="2736850"/>
          </a:xfrm>
        </p:spPr>
        <p:txBody>
          <a:bodyPr/>
          <a:lstStyle/>
          <a:p>
            <a:r>
              <a:rPr lang="en-US" altLang="en-US" sz="1600" b="1"/>
              <a:t>Smart home technology </a:t>
            </a:r>
          </a:p>
          <a:p>
            <a:endParaRPr lang="en-US" altLang="en-US" sz="1600" b="1"/>
          </a:p>
          <a:p>
            <a:pPr lvl="1"/>
            <a:r>
              <a:rPr lang="en-US" altLang="en-US" sz="1600"/>
              <a:t>The most rapidly growing area in mobile technology is currently smart home technology. </a:t>
            </a:r>
          </a:p>
          <a:p>
            <a:pPr lvl="1"/>
            <a:endParaRPr lang="en-US" altLang="en-US" sz="1600"/>
          </a:p>
          <a:p>
            <a:pPr lvl="1"/>
            <a:r>
              <a:rPr lang="en-US" altLang="en-US" sz="1600"/>
              <a:t>This has an infinite number of possibilities for the future, such as those shown in the image </a:t>
            </a:r>
          </a:p>
        </p:txBody>
      </p:sp>
      <p:sp>
        <p:nvSpPr>
          <p:cNvPr id="4" name="Content Placeholder 2">
            <a:extLst>
              <a:ext uri="{FF2B5EF4-FFF2-40B4-BE49-F238E27FC236}">
                <a16:creationId xmlns:a16="http://schemas.microsoft.com/office/drawing/2014/main" id="{804F76AE-2AEF-C873-F710-110BE6860C02}"/>
              </a:ext>
            </a:extLst>
          </p:cNvPr>
          <p:cNvSpPr txBox="1">
            <a:spLocks/>
          </p:cNvSpPr>
          <p:nvPr/>
        </p:nvSpPr>
        <p:spPr bwMode="auto">
          <a:xfrm>
            <a:off x="395288" y="2060575"/>
            <a:ext cx="8280400" cy="8239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kern="0" dirty="0"/>
              <a:t>We cannot possibly know yet what the future may bring in terms of mobile technology developments, but we are already seeing paperless systems, as well as home and transport automation systems, being used in everyday life. </a:t>
            </a:r>
          </a:p>
        </p:txBody>
      </p:sp>
      <p:pic>
        <p:nvPicPr>
          <p:cNvPr id="32773" name="Picture 7" descr="A screenshot of a cell phone&#10;&#10;Description automatically generated">
            <a:extLst>
              <a:ext uri="{FF2B5EF4-FFF2-40B4-BE49-F238E27FC236}">
                <a16:creationId xmlns:a16="http://schemas.microsoft.com/office/drawing/2014/main" id="{905337AD-1881-B1BF-673A-8F18EE31B1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3725" y="3484563"/>
            <a:ext cx="4508500" cy="239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5EF87E3C-41C1-7B89-8DAC-904380436B27}"/>
              </a:ext>
            </a:extLst>
          </p:cNvPr>
          <p:cNvSpPr>
            <a:spLocks noGrp="1" noChangeArrowheads="1"/>
          </p:cNvSpPr>
          <p:nvPr>
            <p:ph type="title"/>
          </p:nvPr>
        </p:nvSpPr>
        <p:spPr>
          <a:xfrm>
            <a:off x="1182688" y="404813"/>
            <a:ext cx="7726362" cy="939800"/>
          </a:xfrm>
        </p:spPr>
        <p:txBody>
          <a:bodyPr/>
          <a:lstStyle/>
          <a:p>
            <a:r>
              <a:rPr lang="en-US" altLang="en-US" sz="3600" b="1">
                <a:solidFill>
                  <a:srgbClr val="0070C0"/>
                </a:solidFill>
              </a:rPr>
              <a:t>Travel </a:t>
            </a:r>
            <a:endParaRPr lang="en-GB" altLang="en-US" sz="3600" b="1">
              <a:solidFill>
                <a:srgbClr val="0070C0"/>
              </a:solidFill>
            </a:endParaRPr>
          </a:p>
        </p:txBody>
      </p:sp>
      <p:sp>
        <p:nvSpPr>
          <p:cNvPr id="34819" name="Content Placeholder 2">
            <a:extLst>
              <a:ext uri="{FF2B5EF4-FFF2-40B4-BE49-F238E27FC236}">
                <a16:creationId xmlns:a16="http://schemas.microsoft.com/office/drawing/2014/main" id="{A2611F58-AC5E-615D-6BB9-EDF1F219ABC3}"/>
              </a:ext>
            </a:extLst>
          </p:cNvPr>
          <p:cNvSpPr>
            <a:spLocks noGrp="1" noChangeArrowheads="1"/>
          </p:cNvSpPr>
          <p:nvPr>
            <p:ph idx="1"/>
          </p:nvPr>
        </p:nvSpPr>
        <p:spPr>
          <a:xfrm>
            <a:off x="323850" y="2168525"/>
            <a:ext cx="3168650" cy="2520950"/>
          </a:xfrm>
        </p:spPr>
        <p:txBody>
          <a:bodyPr/>
          <a:lstStyle/>
          <a:p>
            <a:r>
              <a:rPr lang="en-US" altLang="en-US" sz="1800"/>
              <a:t>It is now possible to travel across the world with nothing more than your passport and your mobile phone. </a:t>
            </a:r>
          </a:p>
          <a:p>
            <a:endParaRPr lang="en-US" altLang="en-US" sz="1800"/>
          </a:p>
          <a:p>
            <a:r>
              <a:rPr lang="en-US" altLang="en-US" sz="1800"/>
              <a:t>Take a look at these images. </a:t>
            </a:r>
          </a:p>
          <a:p>
            <a:endParaRPr lang="en-GB" altLang="en-US"/>
          </a:p>
        </p:txBody>
      </p:sp>
      <p:sp>
        <p:nvSpPr>
          <p:cNvPr id="4" name="Content Placeholder 2">
            <a:extLst>
              <a:ext uri="{FF2B5EF4-FFF2-40B4-BE49-F238E27FC236}">
                <a16:creationId xmlns:a16="http://schemas.microsoft.com/office/drawing/2014/main" id="{EC914CCA-B104-CC29-E727-48045552621D}"/>
              </a:ext>
            </a:extLst>
          </p:cNvPr>
          <p:cNvSpPr txBox="1">
            <a:spLocks/>
          </p:cNvSpPr>
          <p:nvPr/>
        </p:nvSpPr>
        <p:spPr bwMode="auto">
          <a:xfrm>
            <a:off x="474663" y="5661025"/>
            <a:ext cx="8434387" cy="72072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800" kern="0" dirty="0"/>
              <a:t>This </a:t>
            </a:r>
            <a:r>
              <a:rPr lang="en-US" sz="1800" kern="0" dirty="0" err="1"/>
              <a:t>traveller</a:t>
            </a:r>
            <a:r>
              <a:rPr lang="en-US" sz="1800" kern="0" dirty="0"/>
              <a:t> was able to book both a flight and a hotel online, and could also make changes using an app or visiting the main website. </a:t>
            </a:r>
            <a:endParaRPr lang="en-GB" sz="1800" kern="0" dirty="0"/>
          </a:p>
          <a:p>
            <a:pPr>
              <a:defRPr/>
            </a:pPr>
            <a:endParaRPr lang="en-GB" kern="0" dirty="0"/>
          </a:p>
        </p:txBody>
      </p:sp>
      <p:pic>
        <p:nvPicPr>
          <p:cNvPr id="34821" name="Picture 5" descr="A screenshot of a cell phone&#10;&#10;Description automatically generated">
            <a:extLst>
              <a:ext uri="{FF2B5EF4-FFF2-40B4-BE49-F238E27FC236}">
                <a16:creationId xmlns:a16="http://schemas.microsoft.com/office/drawing/2014/main" id="{83425B6A-0463-E783-3B57-2CE8693A55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00" y="1844675"/>
            <a:ext cx="5000625" cy="362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F2529270-1674-AC09-2896-13F8082B7946}"/>
              </a:ext>
            </a:extLst>
          </p:cNvPr>
          <p:cNvSpPr>
            <a:spLocks noGrp="1" noChangeArrowheads="1"/>
          </p:cNvSpPr>
          <p:nvPr>
            <p:ph type="title"/>
          </p:nvPr>
        </p:nvSpPr>
        <p:spPr>
          <a:xfrm>
            <a:off x="1182688" y="404813"/>
            <a:ext cx="7726362" cy="939800"/>
          </a:xfrm>
        </p:spPr>
        <p:txBody>
          <a:bodyPr/>
          <a:lstStyle/>
          <a:p>
            <a:r>
              <a:rPr lang="en-US" altLang="en-US" sz="3600" b="1">
                <a:solidFill>
                  <a:srgbClr val="0070C0"/>
                </a:solidFill>
              </a:rPr>
              <a:t>Intelligent computer </a:t>
            </a:r>
            <a:endParaRPr lang="en-GB" altLang="en-US" sz="3600" b="1">
              <a:solidFill>
                <a:srgbClr val="0070C0"/>
              </a:solidFill>
            </a:endParaRPr>
          </a:p>
        </p:txBody>
      </p:sp>
      <p:sp>
        <p:nvSpPr>
          <p:cNvPr id="36867" name="Content Placeholder 2">
            <a:extLst>
              <a:ext uri="{FF2B5EF4-FFF2-40B4-BE49-F238E27FC236}">
                <a16:creationId xmlns:a16="http://schemas.microsoft.com/office/drawing/2014/main" id="{78063325-0C24-63CC-0139-355BE81E65AA}"/>
              </a:ext>
            </a:extLst>
          </p:cNvPr>
          <p:cNvSpPr>
            <a:spLocks noGrp="1" noChangeArrowheads="1"/>
          </p:cNvSpPr>
          <p:nvPr>
            <p:ph idx="1"/>
          </p:nvPr>
        </p:nvSpPr>
        <p:spPr>
          <a:xfrm>
            <a:off x="685800" y="1946275"/>
            <a:ext cx="7772400" cy="4503738"/>
          </a:xfrm>
        </p:spPr>
        <p:txBody>
          <a:bodyPr/>
          <a:lstStyle/>
          <a:p>
            <a:r>
              <a:rPr lang="en-US" altLang="en-US" sz="1800"/>
              <a:t>The development of intelligent computers is creating many exciting possibilities in our working lives, as well as in domestic and leisure contexts.</a:t>
            </a:r>
          </a:p>
          <a:p>
            <a:r>
              <a:rPr lang="en-US" altLang="en-US" sz="1800"/>
              <a:t>However there are also potential threats to our way of life as some tasks are replaced by intelligent computers. </a:t>
            </a:r>
          </a:p>
          <a:p>
            <a:r>
              <a:rPr lang="en-US" altLang="en-US" sz="1800"/>
              <a:t>An intelligent computer is one that is able to do many of the tasks that are currently carried out by people. </a:t>
            </a:r>
          </a:p>
          <a:p>
            <a:r>
              <a:rPr lang="en-US" altLang="en-US" sz="1800"/>
              <a:t>For unpleasant or dangerous tasks, this is beneficial, but society is now asking the question: </a:t>
            </a:r>
          </a:p>
          <a:p>
            <a:endParaRPr lang="en-US" altLang="en-US" sz="1800"/>
          </a:p>
          <a:p>
            <a:r>
              <a:rPr lang="en-US" altLang="en-US" sz="1800" b="1"/>
              <a:t>What will happen to our jobs if more and more tasks are carried out by a computer, device or app? </a:t>
            </a:r>
            <a:endParaRPr lang="en-GB" altLang="en-US" sz="1800" b="1"/>
          </a:p>
          <a:p>
            <a:endParaRPr lang="en-GB"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D8E819BF-47E6-1274-6187-FF6745E8A937}"/>
              </a:ext>
            </a:extLst>
          </p:cNvPr>
          <p:cNvSpPr>
            <a:spLocks noGrp="1" noChangeArrowheads="1"/>
          </p:cNvSpPr>
          <p:nvPr>
            <p:ph type="title"/>
          </p:nvPr>
        </p:nvSpPr>
        <p:spPr>
          <a:xfrm>
            <a:off x="1187450" y="404813"/>
            <a:ext cx="7721600" cy="939800"/>
          </a:xfrm>
        </p:spPr>
        <p:txBody>
          <a:bodyPr/>
          <a:lstStyle/>
          <a:p>
            <a:r>
              <a:rPr lang="en-US" altLang="en-US" sz="3600" b="1">
                <a:solidFill>
                  <a:srgbClr val="0070C0"/>
                </a:solidFill>
              </a:rPr>
              <a:t>Robotics </a:t>
            </a:r>
            <a:endParaRPr lang="en-GB" altLang="en-US" sz="3600" b="1">
              <a:solidFill>
                <a:srgbClr val="0070C0"/>
              </a:solidFill>
            </a:endParaRPr>
          </a:p>
        </p:txBody>
      </p:sp>
      <p:sp>
        <p:nvSpPr>
          <p:cNvPr id="38915" name="Content Placeholder 2">
            <a:extLst>
              <a:ext uri="{FF2B5EF4-FFF2-40B4-BE49-F238E27FC236}">
                <a16:creationId xmlns:a16="http://schemas.microsoft.com/office/drawing/2014/main" id="{9471E897-AC26-9166-BF34-9207F286C825}"/>
              </a:ext>
            </a:extLst>
          </p:cNvPr>
          <p:cNvSpPr>
            <a:spLocks noGrp="1" noChangeArrowheads="1"/>
          </p:cNvSpPr>
          <p:nvPr>
            <p:ph idx="1"/>
          </p:nvPr>
        </p:nvSpPr>
        <p:spPr>
          <a:xfrm>
            <a:off x="511175" y="3408363"/>
            <a:ext cx="8382000" cy="1062037"/>
          </a:xfrm>
        </p:spPr>
        <p:txBody>
          <a:bodyPr/>
          <a:lstStyle/>
          <a:p>
            <a:r>
              <a:rPr lang="en-US" altLang="en-US" sz="1400"/>
              <a:t>Online retail services such as Amazon® use robotic technology to pick orders.</a:t>
            </a:r>
          </a:p>
          <a:p>
            <a:r>
              <a:rPr lang="en-US" altLang="en-US" sz="1400"/>
              <a:t>This means that the device moves to the location of each product in the warehouse and adds it to a basket. </a:t>
            </a:r>
          </a:p>
          <a:p>
            <a:endParaRPr lang="en-US" altLang="en-US" sz="1600"/>
          </a:p>
          <a:p>
            <a:endParaRPr lang="en-GB" altLang="en-US" sz="1800"/>
          </a:p>
        </p:txBody>
      </p:sp>
      <p:sp>
        <p:nvSpPr>
          <p:cNvPr id="38916" name="Content Placeholder 2">
            <a:extLst>
              <a:ext uri="{FF2B5EF4-FFF2-40B4-BE49-F238E27FC236}">
                <a16:creationId xmlns:a16="http://schemas.microsoft.com/office/drawing/2014/main" id="{8CD4B62A-F418-C6D4-CDC2-213D9BB47B73}"/>
              </a:ext>
            </a:extLst>
          </p:cNvPr>
          <p:cNvSpPr txBox="1">
            <a:spLocks/>
          </p:cNvSpPr>
          <p:nvPr/>
        </p:nvSpPr>
        <p:spPr bwMode="auto">
          <a:xfrm>
            <a:off x="527050" y="4160838"/>
            <a:ext cx="5289550" cy="150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US" altLang="en-US" sz="1400"/>
              <a:t>Online retail services such as Amazon® use robotic technology to pick orders. </a:t>
            </a:r>
          </a:p>
          <a:p>
            <a:r>
              <a:rPr lang="en-US" altLang="en-US" sz="1400"/>
              <a:t>This means that the device moves to the location of each product in the warehouse and adds it to a basket. </a:t>
            </a:r>
          </a:p>
          <a:p>
            <a:r>
              <a:rPr lang="en-US" altLang="en-US" sz="1400"/>
              <a:t>Robots are also emerging in telehealth. This is the delivery of medical services remotely using telecommunications technology.</a:t>
            </a:r>
          </a:p>
        </p:txBody>
      </p:sp>
      <p:pic>
        <p:nvPicPr>
          <p:cNvPr id="38917" name="Picture 5" descr="A construction site&#10;&#10;Description automatically generated">
            <a:extLst>
              <a:ext uri="{FF2B5EF4-FFF2-40B4-BE49-F238E27FC236}">
                <a16:creationId xmlns:a16="http://schemas.microsoft.com/office/drawing/2014/main" id="{AEA07AFD-9EC2-C1A3-CF38-3854FE3577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2663" y="1727200"/>
            <a:ext cx="2554287"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8" name="Picture 7" descr="A picture containing shelf, yellow, library, book&#10;&#10;Description automatically generated">
            <a:extLst>
              <a:ext uri="{FF2B5EF4-FFF2-40B4-BE49-F238E27FC236}">
                <a16:creationId xmlns:a16="http://schemas.microsoft.com/office/drawing/2014/main" id="{AEE7439D-0054-B5BF-65C1-E7F2F24308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4413" y="4181475"/>
            <a:ext cx="2522537"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a:extLst>
              <a:ext uri="{FF2B5EF4-FFF2-40B4-BE49-F238E27FC236}">
                <a16:creationId xmlns:a16="http://schemas.microsoft.com/office/drawing/2014/main" id="{0D91E07A-A790-5D74-9BCC-29D8D40DAFCA}"/>
              </a:ext>
            </a:extLst>
          </p:cNvPr>
          <p:cNvSpPr txBox="1">
            <a:spLocks/>
          </p:cNvSpPr>
          <p:nvPr/>
        </p:nvSpPr>
        <p:spPr bwMode="auto">
          <a:xfrm>
            <a:off x="527050" y="1784350"/>
            <a:ext cx="5268913" cy="13446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400" kern="0" dirty="0"/>
              <a:t>Automating manufacturing processes using robotics is one of the first areas where using computers has been found to give real benefits. </a:t>
            </a:r>
          </a:p>
          <a:p>
            <a:pPr>
              <a:defRPr/>
            </a:pPr>
            <a:r>
              <a:rPr lang="en-US" sz="1400" kern="0" dirty="0"/>
              <a:t>Manufacturing processes are predictable, so using robotics is possible. Steps in the process can be programmed in advance and the technology can simply repeat the same processes over and over again. </a:t>
            </a:r>
          </a:p>
          <a:p>
            <a:pPr>
              <a:defRPr/>
            </a:pPr>
            <a:endParaRPr lang="en-US" sz="1600" kern="0" dirty="0"/>
          </a:p>
          <a:p>
            <a:pPr>
              <a:defRPr/>
            </a:pPr>
            <a:endParaRPr lang="en-GB" sz="1800" kern="0" dirty="0"/>
          </a:p>
        </p:txBody>
      </p:sp>
      <p:sp>
        <p:nvSpPr>
          <p:cNvPr id="10" name="Content Placeholder 2">
            <a:extLst>
              <a:ext uri="{FF2B5EF4-FFF2-40B4-BE49-F238E27FC236}">
                <a16:creationId xmlns:a16="http://schemas.microsoft.com/office/drawing/2014/main" id="{883C2A0C-9F5B-F15E-7A46-BC290FEF599A}"/>
              </a:ext>
            </a:extLst>
          </p:cNvPr>
          <p:cNvSpPr txBox="1">
            <a:spLocks/>
          </p:cNvSpPr>
          <p:nvPr/>
        </p:nvSpPr>
        <p:spPr bwMode="auto">
          <a:xfrm>
            <a:off x="492125" y="5829300"/>
            <a:ext cx="8883650" cy="95408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400" dirty="0"/>
              <a:t>An example of this is the use of a robot carrying a camera, microphone and speaker, which allows a medical specialist to interact with a patient. </a:t>
            </a:r>
          </a:p>
          <a:p>
            <a:pPr>
              <a:defRPr/>
            </a:pPr>
            <a:r>
              <a:rPr lang="en-US" sz="1400" dirty="0"/>
              <a:t>The camera enables the doctor to see the patient and ask questions and allows them to monitor the patient after an operation. </a:t>
            </a:r>
            <a:endParaRPr lang="en-GB" sz="1400" dirty="0"/>
          </a:p>
          <a:p>
            <a:pPr>
              <a:defRPr/>
            </a:pPr>
            <a:endParaRPr lang="en-US" sz="1600" dirty="0"/>
          </a:p>
          <a:p>
            <a:pPr>
              <a:defRPr/>
            </a:pPr>
            <a:endParaRPr lang="en-GB" sz="1800" kern="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896A298F-6F55-91B3-FC9D-5C2A3BD1A3F9}"/>
              </a:ext>
            </a:extLst>
          </p:cNvPr>
          <p:cNvSpPr>
            <a:spLocks noGrp="1" noChangeArrowheads="1"/>
          </p:cNvSpPr>
          <p:nvPr>
            <p:ph type="title"/>
          </p:nvPr>
        </p:nvSpPr>
        <p:spPr>
          <a:xfrm>
            <a:off x="1187450" y="404813"/>
            <a:ext cx="7721600" cy="939800"/>
          </a:xfrm>
        </p:spPr>
        <p:txBody>
          <a:bodyPr/>
          <a:lstStyle/>
          <a:p>
            <a:r>
              <a:rPr lang="en-US" altLang="en-US" sz="3600" b="1">
                <a:solidFill>
                  <a:srgbClr val="0070C0"/>
                </a:solidFill>
              </a:rPr>
              <a:t>Automation </a:t>
            </a:r>
            <a:endParaRPr lang="en-GB" altLang="en-US" sz="3600" b="1">
              <a:solidFill>
                <a:srgbClr val="0070C0"/>
              </a:solidFill>
            </a:endParaRPr>
          </a:p>
        </p:txBody>
      </p:sp>
      <p:sp>
        <p:nvSpPr>
          <p:cNvPr id="40963" name="Content Placeholder 2">
            <a:extLst>
              <a:ext uri="{FF2B5EF4-FFF2-40B4-BE49-F238E27FC236}">
                <a16:creationId xmlns:a16="http://schemas.microsoft.com/office/drawing/2014/main" id="{F6D89116-6CC9-8B9C-F74C-28F7AE54ADB7}"/>
              </a:ext>
            </a:extLst>
          </p:cNvPr>
          <p:cNvSpPr>
            <a:spLocks noGrp="1" noChangeArrowheads="1"/>
          </p:cNvSpPr>
          <p:nvPr>
            <p:ph idx="1"/>
          </p:nvPr>
        </p:nvSpPr>
        <p:spPr>
          <a:xfrm>
            <a:off x="604838" y="1919288"/>
            <a:ext cx="3454400" cy="2087562"/>
          </a:xfrm>
        </p:spPr>
        <p:txBody>
          <a:bodyPr/>
          <a:lstStyle/>
          <a:p>
            <a:r>
              <a:rPr lang="en-US" altLang="en-US" sz="1600"/>
              <a:t>Driverless cars are already being road tested. </a:t>
            </a:r>
          </a:p>
          <a:p>
            <a:endParaRPr lang="en-US" altLang="en-US" sz="1600"/>
          </a:p>
          <a:p>
            <a:r>
              <a:rPr lang="en-US" altLang="en-US" sz="1600"/>
              <a:t>These rely heavily on sensor technology such as lasers, radars and cameras that are scanning in all directions and satellite navigation systems that control the position of the vehicle. </a:t>
            </a:r>
          </a:p>
          <a:p>
            <a:endParaRPr lang="en-GB" altLang="en-US"/>
          </a:p>
        </p:txBody>
      </p:sp>
      <p:sp>
        <p:nvSpPr>
          <p:cNvPr id="4" name="Content Placeholder 2">
            <a:extLst>
              <a:ext uri="{FF2B5EF4-FFF2-40B4-BE49-F238E27FC236}">
                <a16:creationId xmlns:a16="http://schemas.microsoft.com/office/drawing/2014/main" id="{952C3F88-73CD-E87B-6867-9E0E3C167E1F}"/>
              </a:ext>
            </a:extLst>
          </p:cNvPr>
          <p:cNvSpPr txBox="1">
            <a:spLocks/>
          </p:cNvSpPr>
          <p:nvPr/>
        </p:nvSpPr>
        <p:spPr bwMode="auto">
          <a:xfrm>
            <a:off x="604838" y="4581525"/>
            <a:ext cx="8304212" cy="208756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dirty="0"/>
              <a:t>The technology for controlling driverless transport (such as cars, buses, lorries) is already well advanced where actions are predictable.</a:t>
            </a:r>
          </a:p>
          <a:p>
            <a:pPr>
              <a:defRPr/>
            </a:pPr>
            <a:r>
              <a:rPr lang="en-US" sz="1600" dirty="0"/>
              <a:t>Most of the development and testing is currently focused on creating systems that manage responses to what others do (for example, pedestrians stepping into the road, the actions of cyclists, managing poor road conditions such as snow, ice, rain, mud). </a:t>
            </a:r>
          </a:p>
          <a:p>
            <a:pPr>
              <a:defRPr/>
            </a:pPr>
            <a:r>
              <a:rPr lang="en-US" sz="1600" dirty="0"/>
              <a:t>Another consideration with driverless technology is the potential lack of privacy for users, as the location of their vehicle is always being tracked. </a:t>
            </a:r>
          </a:p>
          <a:p>
            <a:pPr>
              <a:defRPr/>
            </a:pPr>
            <a:endParaRPr lang="en-GB" kern="0" dirty="0"/>
          </a:p>
        </p:txBody>
      </p:sp>
      <p:pic>
        <p:nvPicPr>
          <p:cNvPr id="40965" name="Picture 5" descr="A car parked on a city street&#10;&#10;Description automatically generated">
            <a:extLst>
              <a:ext uri="{FF2B5EF4-FFF2-40B4-BE49-F238E27FC236}">
                <a16:creationId xmlns:a16="http://schemas.microsoft.com/office/drawing/2014/main" id="{6BB162AC-2107-AE8D-CBB3-FE6D7678BF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8300" y="2133600"/>
            <a:ext cx="29972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2">
            <a:extLst>
              <a:ext uri="{FF2B5EF4-FFF2-40B4-BE49-F238E27FC236}">
                <a16:creationId xmlns:a16="http://schemas.microsoft.com/office/drawing/2014/main" id="{AE9CEE39-58C7-40F3-B10E-036997CAA966}"/>
              </a:ext>
            </a:extLst>
          </p:cNvPr>
          <p:cNvSpPr txBox="1">
            <a:spLocks/>
          </p:cNvSpPr>
          <p:nvPr/>
        </p:nvSpPr>
        <p:spPr bwMode="auto">
          <a:xfrm>
            <a:off x="7262813" y="2101850"/>
            <a:ext cx="1871662" cy="57467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marL="0" indent="0">
              <a:buFont typeface="Wingdings" panose="05000000000000000000" pitchFamily="2" charset="2"/>
              <a:buNone/>
              <a:defRPr/>
            </a:pPr>
            <a:r>
              <a:rPr lang="en-US" sz="1000" dirty="0"/>
              <a:t>In a driverless car, the driver essentially becomes a passenger in the vehicle. These vehicles are capable of driving between destinat1ons, as well as parking - both parallel parking and bay parking</a:t>
            </a:r>
            <a:r>
              <a:rPr lang="en-US" sz="1000" kern="0" dirty="0"/>
              <a:t>. </a:t>
            </a:r>
          </a:p>
          <a:p>
            <a:pPr>
              <a:defRPr/>
            </a:pPr>
            <a:endParaRPr lang="en-GB" kern="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1EA70532-6E45-0428-3819-183589328702}"/>
              </a:ext>
            </a:extLst>
          </p:cNvPr>
          <p:cNvSpPr>
            <a:spLocks noGrp="1" noChangeArrowheads="1"/>
          </p:cNvSpPr>
          <p:nvPr>
            <p:ph type="title"/>
          </p:nvPr>
        </p:nvSpPr>
        <p:spPr>
          <a:xfrm>
            <a:off x="1182688" y="404813"/>
            <a:ext cx="7726362" cy="939800"/>
          </a:xfrm>
        </p:spPr>
        <p:txBody>
          <a:bodyPr/>
          <a:lstStyle/>
          <a:p>
            <a:r>
              <a:rPr lang="en-US" altLang="en-US" sz="3600" b="1">
                <a:solidFill>
                  <a:srgbClr val="0070C0"/>
                </a:solidFill>
              </a:rPr>
              <a:t>Global Positioning System (GPS) </a:t>
            </a:r>
            <a:endParaRPr lang="en-GB" altLang="en-US" sz="3600" b="1">
              <a:solidFill>
                <a:srgbClr val="0070C0"/>
              </a:solidFill>
            </a:endParaRPr>
          </a:p>
        </p:txBody>
      </p:sp>
      <p:sp>
        <p:nvSpPr>
          <p:cNvPr id="45059" name="Content Placeholder 2">
            <a:extLst>
              <a:ext uri="{FF2B5EF4-FFF2-40B4-BE49-F238E27FC236}">
                <a16:creationId xmlns:a16="http://schemas.microsoft.com/office/drawing/2014/main" id="{E1A834B9-1BD0-7B18-1F63-FCEDE0809D30}"/>
              </a:ext>
            </a:extLst>
          </p:cNvPr>
          <p:cNvSpPr>
            <a:spLocks noGrp="1" noChangeArrowheads="1"/>
          </p:cNvSpPr>
          <p:nvPr>
            <p:ph idx="1"/>
          </p:nvPr>
        </p:nvSpPr>
        <p:spPr>
          <a:xfrm>
            <a:off x="360363" y="1808163"/>
            <a:ext cx="2881312" cy="1404937"/>
          </a:xfrm>
        </p:spPr>
        <p:txBody>
          <a:bodyPr/>
          <a:lstStyle/>
          <a:p>
            <a:r>
              <a:rPr lang="en-US" altLang="en-US" sz="1400" b="1"/>
              <a:t>GLOBAL POSITIONING SYSTEM (GPS) </a:t>
            </a:r>
            <a:r>
              <a:rPr lang="en-US" altLang="en-US" sz="1400"/>
              <a:t>works by using the transmissions from a range of satellites to pinpoint the position of a device or object. </a:t>
            </a:r>
          </a:p>
          <a:p>
            <a:endParaRPr lang="en-US" altLang="en-US" sz="1600"/>
          </a:p>
          <a:p>
            <a:endParaRPr lang="en-GB" altLang="en-US"/>
          </a:p>
        </p:txBody>
      </p:sp>
      <p:pic>
        <p:nvPicPr>
          <p:cNvPr id="45060" name="Picture 4" descr="A close up of text on a white background&#10;&#10;Description automatically generated">
            <a:extLst>
              <a:ext uri="{FF2B5EF4-FFF2-40B4-BE49-F238E27FC236}">
                <a16:creationId xmlns:a16="http://schemas.microsoft.com/office/drawing/2014/main" id="{DC4DC83C-0CD7-F98D-4C19-4D6430BF96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3613" y="1787525"/>
            <a:ext cx="2398712" cy="142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2">
            <a:extLst>
              <a:ext uri="{FF2B5EF4-FFF2-40B4-BE49-F238E27FC236}">
                <a16:creationId xmlns:a16="http://schemas.microsoft.com/office/drawing/2014/main" id="{6B48B70D-98A0-41EA-A89C-E97ECECA0FFC}"/>
              </a:ext>
            </a:extLst>
          </p:cNvPr>
          <p:cNvSpPr txBox="1">
            <a:spLocks/>
          </p:cNvSpPr>
          <p:nvPr/>
        </p:nvSpPr>
        <p:spPr bwMode="auto">
          <a:xfrm>
            <a:off x="279400" y="3330575"/>
            <a:ext cx="8334375" cy="939800"/>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400" kern="0" dirty="0"/>
              <a:t>The receivers in the devices or objects do not send any DATA to the satellite and, in order to work, a device needs a clear line of sight to the satellite (this means it must not be blocked by a building). </a:t>
            </a:r>
          </a:p>
          <a:p>
            <a:pPr>
              <a:defRPr/>
            </a:pPr>
            <a:endParaRPr lang="en-GB" kern="0" dirty="0"/>
          </a:p>
        </p:txBody>
      </p:sp>
      <p:sp>
        <p:nvSpPr>
          <p:cNvPr id="7" name="Content Placeholder 2">
            <a:extLst>
              <a:ext uri="{FF2B5EF4-FFF2-40B4-BE49-F238E27FC236}">
                <a16:creationId xmlns:a16="http://schemas.microsoft.com/office/drawing/2014/main" id="{6B83C544-24ED-55FC-2553-ED33A1A7CC94}"/>
              </a:ext>
            </a:extLst>
          </p:cNvPr>
          <p:cNvSpPr txBox="1">
            <a:spLocks/>
          </p:cNvSpPr>
          <p:nvPr/>
        </p:nvSpPr>
        <p:spPr bwMode="auto">
          <a:xfrm>
            <a:off x="6237288" y="1820863"/>
            <a:ext cx="2681287" cy="515937"/>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marL="0" indent="0">
              <a:buFont typeface="Wingdings" panose="05000000000000000000" pitchFamily="2" charset="2"/>
              <a:buNone/>
              <a:defRPr/>
            </a:pPr>
            <a:r>
              <a:rPr lang="en-US" sz="1200" dirty="0"/>
              <a:t>The image GPS relies on a number of different satellite technologies working together reliably - typically a GPS receiver needs a minimum of four satellites to establish your position accurately </a:t>
            </a:r>
            <a:endParaRPr lang="en-GB" sz="1200" dirty="0"/>
          </a:p>
          <a:p>
            <a:pPr>
              <a:defRPr/>
            </a:pPr>
            <a:endParaRPr lang="en-GB" kern="0" dirty="0"/>
          </a:p>
        </p:txBody>
      </p:sp>
      <p:sp>
        <p:nvSpPr>
          <p:cNvPr id="8" name="Content Placeholder 2">
            <a:extLst>
              <a:ext uri="{FF2B5EF4-FFF2-40B4-BE49-F238E27FC236}">
                <a16:creationId xmlns:a16="http://schemas.microsoft.com/office/drawing/2014/main" id="{0424C216-50F6-751E-45B9-01A9E771F2E4}"/>
              </a:ext>
            </a:extLst>
          </p:cNvPr>
          <p:cNvSpPr txBox="1">
            <a:spLocks/>
          </p:cNvSpPr>
          <p:nvPr/>
        </p:nvSpPr>
        <p:spPr bwMode="auto">
          <a:xfrm>
            <a:off x="279400" y="4173538"/>
            <a:ext cx="6740525" cy="939800"/>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400" dirty="0"/>
              <a:t>Using a combination of GPS and other location services, free apps such as Plane Finder™ display interesting information about both passenger and commercial flights. Clicking on any of the airplanes will usually display information about the flight, including:</a:t>
            </a:r>
          </a:p>
          <a:p>
            <a:pPr>
              <a:defRPr/>
            </a:pPr>
            <a:endParaRPr lang="en-US" sz="1400" dirty="0"/>
          </a:p>
          <a:p>
            <a:pPr lvl="1">
              <a:defRPr/>
            </a:pPr>
            <a:r>
              <a:rPr lang="en-US" sz="1400" dirty="0"/>
              <a:t>where it flew from</a:t>
            </a:r>
          </a:p>
          <a:p>
            <a:pPr lvl="1">
              <a:defRPr/>
            </a:pPr>
            <a:r>
              <a:rPr lang="en-US" sz="1400" dirty="0"/>
              <a:t>where it is going</a:t>
            </a:r>
          </a:p>
          <a:p>
            <a:pPr lvl="1">
              <a:defRPr/>
            </a:pPr>
            <a:r>
              <a:rPr lang="en-US" sz="1400" dirty="0"/>
              <a:t>its current height</a:t>
            </a:r>
          </a:p>
          <a:p>
            <a:pPr lvl="1">
              <a:defRPr/>
            </a:pPr>
            <a:r>
              <a:rPr lang="en-US" sz="1400" dirty="0"/>
              <a:t>its current speed</a:t>
            </a:r>
          </a:p>
          <a:p>
            <a:pPr lvl="1">
              <a:defRPr/>
            </a:pPr>
            <a:r>
              <a:rPr lang="en-US" sz="1400" dirty="0"/>
              <a:t>the type of aircraft </a:t>
            </a:r>
          </a:p>
          <a:p>
            <a:pPr>
              <a:defRPr/>
            </a:pPr>
            <a:endParaRPr lang="en-GB" kern="0" dirty="0"/>
          </a:p>
        </p:txBody>
      </p:sp>
      <p:pic>
        <p:nvPicPr>
          <p:cNvPr id="45064" name="Picture 9" descr="A close up of a map&#10;&#10;Description automatically generated">
            <a:extLst>
              <a:ext uri="{FF2B5EF4-FFF2-40B4-BE49-F238E27FC236}">
                <a16:creationId xmlns:a16="http://schemas.microsoft.com/office/drawing/2014/main" id="{627B411A-8256-6AA6-F75C-D89892BC31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9925" y="4067175"/>
            <a:ext cx="1377950" cy="241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5" name="Content Placeholder 2">
            <a:extLst>
              <a:ext uri="{FF2B5EF4-FFF2-40B4-BE49-F238E27FC236}">
                <a16:creationId xmlns:a16="http://schemas.microsoft.com/office/drawing/2014/main" id="{70228607-DB66-F03D-77CF-D6DD76811515}"/>
              </a:ext>
            </a:extLst>
          </p:cNvPr>
          <p:cNvSpPr txBox="1">
            <a:spLocks/>
          </p:cNvSpPr>
          <p:nvPr/>
        </p:nvSpPr>
        <p:spPr bwMode="auto">
          <a:xfrm>
            <a:off x="4921250" y="5743575"/>
            <a:ext cx="196215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buFont typeface="Wingdings" panose="05000000000000000000" pitchFamily="2" charset="2"/>
              <a:buNone/>
            </a:pPr>
            <a:r>
              <a:rPr lang="en-US" altLang="en-US" sz="1200"/>
              <a:t>The Plane Finder app updates in real time and you can see the aircraft moving across the screen </a:t>
            </a:r>
            <a:endParaRPr lang="en-GB" altLang="en-US"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4A87774C-AA0C-97A3-6795-F8C8AF7CB0C4}"/>
              </a:ext>
            </a:extLst>
          </p:cNvPr>
          <p:cNvSpPr>
            <a:spLocks noGrp="1" noChangeArrowheads="1"/>
          </p:cNvSpPr>
          <p:nvPr>
            <p:ph type="title"/>
          </p:nvPr>
        </p:nvSpPr>
        <p:spPr>
          <a:xfrm>
            <a:off x="1331913" y="404813"/>
            <a:ext cx="7577137" cy="939800"/>
          </a:xfrm>
        </p:spPr>
        <p:txBody>
          <a:bodyPr/>
          <a:lstStyle/>
          <a:p>
            <a:r>
              <a:rPr lang="en-US" altLang="en-US" sz="3600" b="1">
                <a:solidFill>
                  <a:srgbClr val="0070C0"/>
                </a:solidFill>
              </a:rPr>
              <a:t>Computer-aided design (CAD) </a:t>
            </a:r>
            <a:endParaRPr lang="en-GB" altLang="en-US" sz="3600" b="1">
              <a:solidFill>
                <a:srgbClr val="0070C0"/>
              </a:solidFill>
            </a:endParaRPr>
          </a:p>
        </p:txBody>
      </p:sp>
      <p:sp>
        <p:nvSpPr>
          <p:cNvPr id="49155" name="Content Placeholder 2">
            <a:extLst>
              <a:ext uri="{FF2B5EF4-FFF2-40B4-BE49-F238E27FC236}">
                <a16:creationId xmlns:a16="http://schemas.microsoft.com/office/drawing/2014/main" id="{C337BF05-29A8-E74D-2923-CD0CC1FFFDB5}"/>
              </a:ext>
            </a:extLst>
          </p:cNvPr>
          <p:cNvSpPr>
            <a:spLocks noGrp="1" noChangeArrowheads="1"/>
          </p:cNvSpPr>
          <p:nvPr>
            <p:ph idx="1"/>
          </p:nvPr>
        </p:nvSpPr>
        <p:spPr>
          <a:xfrm>
            <a:off x="468313" y="1879600"/>
            <a:ext cx="3573462" cy="4406900"/>
          </a:xfrm>
        </p:spPr>
        <p:txBody>
          <a:bodyPr/>
          <a:lstStyle/>
          <a:p>
            <a:r>
              <a:rPr lang="en-US" altLang="en-US" sz="1600"/>
              <a:t>Designing objects used to be a lengthy process requiring SCHEMATICS(technical circuits) to be drawn on paper. </a:t>
            </a:r>
          </a:p>
          <a:p>
            <a:endParaRPr lang="en-US" altLang="en-US" sz="1600"/>
          </a:p>
          <a:p>
            <a:r>
              <a:rPr lang="en-US" altLang="en-US" sz="1600"/>
              <a:t>Sometimes a number of engineers or designers would be working on one device or object and someone had to update a master drawing whenever changes were made.</a:t>
            </a:r>
          </a:p>
          <a:p>
            <a:endParaRPr lang="en-US" altLang="en-US" sz="1600"/>
          </a:p>
          <a:p>
            <a:r>
              <a:rPr lang="en-US" altLang="en-US" sz="1600"/>
              <a:t>CAD software has revolutionised design and, with collaborative versions of the software, multiple users can work on the same diagram in real time. </a:t>
            </a:r>
          </a:p>
          <a:p>
            <a:endParaRPr lang="en-GB" altLang="en-US" sz="1600"/>
          </a:p>
        </p:txBody>
      </p:sp>
      <p:pic>
        <p:nvPicPr>
          <p:cNvPr id="49156" name="Picture 5" descr="A computer sitting on top of a table&#10;&#10;Description automatically generated">
            <a:extLst>
              <a:ext uri="{FF2B5EF4-FFF2-40B4-BE49-F238E27FC236}">
                <a16:creationId xmlns:a16="http://schemas.microsoft.com/office/drawing/2014/main" id="{ABFEB1F2-83D2-D98D-6E61-B933A877E6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2588" y="1844675"/>
            <a:ext cx="2827337" cy="212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2">
            <a:extLst>
              <a:ext uri="{FF2B5EF4-FFF2-40B4-BE49-F238E27FC236}">
                <a16:creationId xmlns:a16="http://schemas.microsoft.com/office/drawing/2014/main" id="{4C14F08C-D9AB-AFFB-0E6D-58988FF5F060}"/>
              </a:ext>
            </a:extLst>
          </p:cNvPr>
          <p:cNvSpPr txBox="1">
            <a:spLocks/>
          </p:cNvSpPr>
          <p:nvPr/>
        </p:nvSpPr>
        <p:spPr bwMode="auto">
          <a:xfrm>
            <a:off x="6981825" y="1844675"/>
            <a:ext cx="2162175" cy="79216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marL="0" indent="0">
              <a:buFont typeface="Wingdings" panose="05000000000000000000" pitchFamily="2" charset="2"/>
              <a:buNone/>
              <a:defRPr/>
            </a:pPr>
            <a:r>
              <a:rPr lang="en-US" sz="1200" dirty="0"/>
              <a:t>If the software is also linked to simulation software, the designs can be tested and, in some cases, prototypes can be printed using 3D printing technology </a:t>
            </a:r>
            <a:endParaRPr lang="en-GB" sz="1200" dirty="0"/>
          </a:p>
          <a:p>
            <a:pPr>
              <a:defRPr/>
            </a:pPr>
            <a:endParaRPr lang="en-GB" sz="1600" kern="0" dirty="0"/>
          </a:p>
        </p:txBody>
      </p:sp>
      <p:pic>
        <p:nvPicPr>
          <p:cNvPr id="49158" name="Picture 7">
            <a:extLst>
              <a:ext uri="{FF2B5EF4-FFF2-40B4-BE49-F238E27FC236}">
                <a16:creationId xmlns:a16="http://schemas.microsoft.com/office/drawing/2014/main" id="{66C0DD97-F2A7-AFB4-E518-1545942C47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7538" y="4222750"/>
            <a:ext cx="4248150" cy="242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2EE70454-57E2-ED88-1971-281DFA66D523}"/>
              </a:ext>
            </a:extLst>
          </p:cNvPr>
          <p:cNvSpPr>
            <a:spLocks noGrp="1" noChangeArrowheads="1"/>
          </p:cNvSpPr>
          <p:nvPr>
            <p:ph type="title"/>
          </p:nvPr>
        </p:nvSpPr>
        <p:spPr>
          <a:xfrm>
            <a:off x="1331913" y="404813"/>
            <a:ext cx="7343775" cy="939800"/>
          </a:xfrm>
        </p:spPr>
        <p:txBody>
          <a:bodyPr/>
          <a:lstStyle/>
          <a:p>
            <a:r>
              <a:rPr lang="en-US" altLang="en-US" sz="3600" b="1">
                <a:solidFill>
                  <a:srgbClr val="0070C0"/>
                </a:solidFill>
              </a:rPr>
              <a:t>Voice control </a:t>
            </a:r>
            <a:endParaRPr lang="en-GB" altLang="en-US" sz="3600" b="1">
              <a:solidFill>
                <a:srgbClr val="0070C0"/>
              </a:solidFill>
            </a:endParaRPr>
          </a:p>
        </p:txBody>
      </p:sp>
      <p:sp>
        <p:nvSpPr>
          <p:cNvPr id="51203" name="Content Placeholder 2">
            <a:extLst>
              <a:ext uri="{FF2B5EF4-FFF2-40B4-BE49-F238E27FC236}">
                <a16:creationId xmlns:a16="http://schemas.microsoft.com/office/drawing/2014/main" id="{B98D287F-7CB1-2652-1144-174DC58B8167}"/>
              </a:ext>
            </a:extLst>
          </p:cNvPr>
          <p:cNvSpPr>
            <a:spLocks noGrp="1" noChangeArrowheads="1"/>
          </p:cNvSpPr>
          <p:nvPr>
            <p:ph idx="1"/>
          </p:nvPr>
        </p:nvSpPr>
        <p:spPr>
          <a:xfrm>
            <a:off x="268288" y="1844675"/>
            <a:ext cx="4016375" cy="4503738"/>
          </a:xfrm>
        </p:spPr>
        <p:txBody>
          <a:bodyPr/>
          <a:lstStyle/>
          <a:p>
            <a:r>
              <a:rPr lang="en-US" altLang="en-US" sz="1600"/>
              <a:t>There are many different ways that voice control is used in relation to technology. </a:t>
            </a:r>
          </a:p>
          <a:p>
            <a:r>
              <a:rPr lang="en-US" altLang="en-US" sz="1600"/>
              <a:t>One of the most recent is the Amazon Echo® with its Alexa Voice Service, which uses voice commands to provide a range of services. </a:t>
            </a:r>
          </a:p>
          <a:p>
            <a:r>
              <a:rPr lang="en-US" altLang="en-US" sz="1600"/>
              <a:t>Once set up, this device can control lights, switches and heating and can make diary entries, play music, provide food recipes, play the news, transmit audio content such as audio books and allow you to order takeaway food through services such as Just Eat®. </a:t>
            </a:r>
          </a:p>
          <a:p>
            <a:r>
              <a:rPr lang="en-US" altLang="en-US" sz="1600"/>
              <a:t>There is a variation of this on the iPhone called Siri® and another version on Windows® phones called Cortana®. </a:t>
            </a:r>
          </a:p>
        </p:txBody>
      </p:sp>
      <p:sp>
        <p:nvSpPr>
          <p:cNvPr id="4" name="Content Placeholder 2">
            <a:extLst>
              <a:ext uri="{FF2B5EF4-FFF2-40B4-BE49-F238E27FC236}">
                <a16:creationId xmlns:a16="http://schemas.microsoft.com/office/drawing/2014/main" id="{AE604EB7-7AE8-EAE4-1CF0-1223ACC1363E}"/>
              </a:ext>
            </a:extLst>
          </p:cNvPr>
          <p:cNvSpPr txBox="1">
            <a:spLocks/>
          </p:cNvSpPr>
          <p:nvPr/>
        </p:nvSpPr>
        <p:spPr bwMode="auto">
          <a:xfrm>
            <a:off x="4522788" y="1949450"/>
            <a:ext cx="4352925" cy="450373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kern="0" dirty="0"/>
              <a:t>Siri will carry out a whole range of tasks, including: </a:t>
            </a:r>
          </a:p>
          <a:p>
            <a:pPr lvl="1">
              <a:defRPr/>
            </a:pPr>
            <a:r>
              <a:rPr lang="en-US" sz="1600" kern="0" dirty="0"/>
              <a:t>scheduling reminders</a:t>
            </a:r>
          </a:p>
          <a:p>
            <a:pPr lvl="1">
              <a:defRPr/>
            </a:pPr>
            <a:r>
              <a:rPr lang="en-US" sz="1600" kern="0" dirty="0"/>
              <a:t>opening and closing apps</a:t>
            </a:r>
          </a:p>
          <a:p>
            <a:pPr lvl="1">
              <a:defRPr/>
            </a:pPr>
            <a:r>
              <a:rPr lang="en-US" sz="1600" kern="0" dirty="0"/>
              <a:t>reading your messages or emails to you</a:t>
            </a:r>
          </a:p>
          <a:p>
            <a:pPr lvl="1">
              <a:defRPr/>
            </a:pPr>
            <a:r>
              <a:rPr lang="en-US" sz="1600" kern="0" dirty="0"/>
              <a:t>searching for phone and internet content</a:t>
            </a:r>
          </a:p>
          <a:p>
            <a:pPr lvl="1">
              <a:defRPr/>
            </a:pPr>
            <a:r>
              <a:rPr lang="en-US" sz="1600" kern="0" dirty="0"/>
              <a:t>navigating with features such as 'take me home'</a:t>
            </a:r>
          </a:p>
          <a:p>
            <a:pPr lvl="1">
              <a:defRPr/>
            </a:pPr>
            <a:r>
              <a:rPr lang="en-US" sz="1600" kern="0" dirty="0"/>
              <a:t>texting or calling hands free</a:t>
            </a:r>
          </a:p>
          <a:p>
            <a:pPr lvl="1">
              <a:defRPr/>
            </a:pPr>
            <a:r>
              <a:rPr lang="en-US" sz="1600" kern="0" dirty="0"/>
              <a:t>setting a timer</a:t>
            </a:r>
          </a:p>
          <a:p>
            <a:pPr lvl="1">
              <a:defRPr/>
            </a:pPr>
            <a:r>
              <a:rPr lang="en-US" sz="1600" kern="0" dirty="0"/>
              <a:t>setting alarms</a:t>
            </a:r>
          </a:p>
          <a:p>
            <a:pPr lvl="1">
              <a:defRPr/>
            </a:pPr>
            <a:r>
              <a:rPr lang="en-US" sz="1600" kern="0" dirty="0"/>
              <a:t>checking the weather</a:t>
            </a:r>
          </a:p>
          <a:p>
            <a:pPr lvl="1">
              <a:defRPr/>
            </a:pPr>
            <a:r>
              <a:rPr lang="en-US" sz="1600" kern="0" dirty="0"/>
              <a:t>solving </a:t>
            </a:r>
            <a:r>
              <a:rPr lang="en-US" sz="1600" kern="0" dirty="0" err="1"/>
              <a:t>maths</a:t>
            </a:r>
            <a:r>
              <a:rPr lang="en-US" sz="1600" kern="0" dirty="0"/>
              <a:t> problems</a:t>
            </a:r>
          </a:p>
          <a:p>
            <a:pPr lvl="1">
              <a:defRPr/>
            </a:pPr>
            <a:r>
              <a:rPr lang="en-US" sz="1600" kern="0" dirty="0"/>
              <a:t>checking voicemails</a:t>
            </a:r>
          </a:p>
          <a:p>
            <a:pPr>
              <a:defRPr/>
            </a:pPr>
            <a:endParaRPr lang="en-GB" sz="1600" kern="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47F59E6D-BE76-3A72-3E38-84FC4600B310}"/>
              </a:ext>
            </a:extLst>
          </p:cNvPr>
          <p:cNvSpPr>
            <a:spLocks noGrp="1" noChangeArrowheads="1"/>
          </p:cNvSpPr>
          <p:nvPr>
            <p:ph type="title"/>
          </p:nvPr>
        </p:nvSpPr>
        <p:spPr>
          <a:xfrm>
            <a:off x="1116013" y="404813"/>
            <a:ext cx="4608512" cy="939800"/>
          </a:xfrm>
        </p:spPr>
        <p:txBody>
          <a:bodyPr/>
          <a:lstStyle/>
          <a:p>
            <a:r>
              <a:rPr lang="en-US" altLang="en-US" sz="3600" b="1">
                <a:solidFill>
                  <a:srgbClr val="0070C0"/>
                </a:solidFill>
              </a:rPr>
              <a:t>Use of drones </a:t>
            </a:r>
            <a:endParaRPr lang="en-GB" altLang="en-US" sz="3600" b="1">
              <a:solidFill>
                <a:srgbClr val="0070C0"/>
              </a:solidFill>
            </a:endParaRPr>
          </a:p>
        </p:txBody>
      </p:sp>
      <p:sp>
        <p:nvSpPr>
          <p:cNvPr id="55299" name="Content Placeholder 2">
            <a:extLst>
              <a:ext uri="{FF2B5EF4-FFF2-40B4-BE49-F238E27FC236}">
                <a16:creationId xmlns:a16="http://schemas.microsoft.com/office/drawing/2014/main" id="{29FA268B-762D-AC4A-9DE5-4A098809840F}"/>
              </a:ext>
            </a:extLst>
          </p:cNvPr>
          <p:cNvSpPr>
            <a:spLocks noGrp="1" noChangeArrowheads="1"/>
          </p:cNvSpPr>
          <p:nvPr>
            <p:ph idx="1"/>
          </p:nvPr>
        </p:nvSpPr>
        <p:spPr>
          <a:xfrm>
            <a:off x="250825" y="1955800"/>
            <a:ext cx="5041900" cy="687388"/>
          </a:xfrm>
        </p:spPr>
        <p:txBody>
          <a:bodyPr/>
          <a:lstStyle/>
          <a:p>
            <a:r>
              <a:rPr lang="en-US" altLang="en-US" sz="1600"/>
              <a:t>A DRONE is an unmanned aerial vehicle (UAV). </a:t>
            </a:r>
          </a:p>
          <a:p>
            <a:r>
              <a:rPr lang="en-US" altLang="en-US" sz="1600"/>
              <a:t>They come in many shapes and sizes and are being increasingly used in different ways (see Table).</a:t>
            </a:r>
          </a:p>
          <a:p>
            <a:endParaRPr lang="en-GB" altLang="en-US"/>
          </a:p>
        </p:txBody>
      </p:sp>
      <p:pic>
        <p:nvPicPr>
          <p:cNvPr id="55300" name="Picture 3">
            <a:extLst>
              <a:ext uri="{FF2B5EF4-FFF2-40B4-BE49-F238E27FC236}">
                <a16:creationId xmlns:a16="http://schemas.microsoft.com/office/drawing/2014/main" id="{CAC9E6B5-E992-D41C-0CD6-0357F82050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9425" y="1665288"/>
            <a:ext cx="3113088" cy="340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2">
            <a:extLst>
              <a:ext uri="{FF2B5EF4-FFF2-40B4-BE49-F238E27FC236}">
                <a16:creationId xmlns:a16="http://schemas.microsoft.com/office/drawing/2014/main" id="{CF69D727-F4E8-61F4-0302-6C72771CCC62}"/>
              </a:ext>
            </a:extLst>
          </p:cNvPr>
          <p:cNvSpPr txBox="1">
            <a:spLocks/>
          </p:cNvSpPr>
          <p:nvPr/>
        </p:nvSpPr>
        <p:spPr bwMode="auto">
          <a:xfrm>
            <a:off x="249238" y="3251200"/>
            <a:ext cx="4116387" cy="221773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dirty="0"/>
              <a:t>It is clear that drones can be used by </a:t>
            </a:r>
            <a:r>
              <a:rPr lang="en-US" sz="1600" dirty="0" err="1"/>
              <a:t>organisations</a:t>
            </a:r>
            <a:r>
              <a:rPr lang="en-US" sz="1600" dirty="0"/>
              <a:t> in many different ways. </a:t>
            </a:r>
          </a:p>
          <a:p>
            <a:pPr>
              <a:defRPr/>
            </a:pPr>
            <a:r>
              <a:rPr lang="en-US" sz="1600" dirty="0"/>
              <a:t>For this reason, they also come in a variety of shapes and sizes and with a range of accessories as shown in the photograph. </a:t>
            </a:r>
          </a:p>
          <a:p>
            <a:pPr>
              <a:defRPr/>
            </a:pPr>
            <a:endParaRPr lang="en-US" sz="1600" dirty="0"/>
          </a:p>
          <a:p>
            <a:pPr>
              <a:defRPr/>
            </a:pPr>
            <a:r>
              <a:rPr lang="en-US" sz="1600" dirty="0"/>
              <a:t>Why do drones need to come in different shapes and sizes? </a:t>
            </a:r>
          </a:p>
          <a:p>
            <a:pPr>
              <a:defRPr/>
            </a:pPr>
            <a:r>
              <a:rPr lang="en-US" sz="1600" dirty="0"/>
              <a:t>The smallest camera drone currently on the market is 4.3 cm wide and has a fully working camera. </a:t>
            </a:r>
            <a:endParaRPr lang="en-GB" kern="0" dirty="0"/>
          </a:p>
        </p:txBody>
      </p:sp>
      <p:pic>
        <p:nvPicPr>
          <p:cNvPr id="55302" name="Picture 6" descr="A picture containing outdoor, light, traffic, sitting&#10;&#10;Description automatically generated">
            <a:extLst>
              <a:ext uri="{FF2B5EF4-FFF2-40B4-BE49-F238E27FC236}">
                <a16:creationId xmlns:a16="http://schemas.microsoft.com/office/drawing/2014/main" id="{78FE1228-3322-104A-D105-D8CD915F71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0688" y="187325"/>
            <a:ext cx="2120900"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3" name="Picture 8" descr="A picture containing outdoor, small, white, front&#10;&#10;Description automatically generated">
            <a:extLst>
              <a:ext uri="{FF2B5EF4-FFF2-40B4-BE49-F238E27FC236}">
                <a16:creationId xmlns:a16="http://schemas.microsoft.com/office/drawing/2014/main" id="{BF6EF231-6BA9-BE51-E782-E47087638F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1863" y="5265738"/>
            <a:ext cx="2208212"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E8504FA5-1A63-9F2B-429A-2674150BAD0C}"/>
              </a:ext>
            </a:extLst>
          </p:cNvPr>
          <p:cNvSpPr>
            <a:spLocks noGrp="1" noChangeArrowheads="1"/>
          </p:cNvSpPr>
          <p:nvPr>
            <p:ph type="title"/>
          </p:nvPr>
        </p:nvSpPr>
        <p:spPr>
          <a:xfrm>
            <a:off x="1182688" y="404813"/>
            <a:ext cx="7726362" cy="939800"/>
          </a:xfrm>
        </p:spPr>
        <p:txBody>
          <a:bodyPr/>
          <a:lstStyle/>
          <a:p>
            <a:r>
              <a:rPr lang="en-US" altLang="en-US" sz="3600" b="1">
                <a:solidFill>
                  <a:srgbClr val="0070C0"/>
                </a:solidFill>
              </a:rPr>
              <a:t>Artificial intelligence </a:t>
            </a:r>
            <a:endParaRPr lang="en-GB" altLang="en-US" sz="3600" b="1">
              <a:solidFill>
                <a:srgbClr val="0070C0"/>
              </a:solidFill>
            </a:endParaRPr>
          </a:p>
        </p:txBody>
      </p:sp>
      <p:sp>
        <p:nvSpPr>
          <p:cNvPr id="57347" name="Content Placeholder 2">
            <a:extLst>
              <a:ext uri="{FF2B5EF4-FFF2-40B4-BE49-F238E27FC236}">
                <a16:creationId xmlns:a16="http://schemas.microsoft.com/office/drawing/2014/main" id="{3C797476-010C-FA22-78EF-FE20E01FC9A9}"/>
              </a:ext>
            </a:extLst>
          </p:cNvPr>
          <p:cNvSpPr>
            <a:spLocks noGrp="1" noChangeArrowheads="1"/>
          </p:cNvSpPr>
          <p:nvPr>
            <p:ph idx="1"/>
          </p:nvPr>
        </p:nvSpPr>
        <p:spPr>
          <a:xfrm>
            <a:off x="350838" y="2670175"/>
            <a:ext cx="5373687" cy="3805238"/>
          </a:xfrm>
        </p:spPr>
        <p:txBody>
          <a:bodyPr/>
          <a:lstStyle/>
          <a:p>
            <a:r>
              <a:rPr lang="en-US" altLang="en-US" sz="1600" b="1">
                <a:solidFill>
                  <a:srgbClr val="0070C0"/>
                </a:solidFill>
              </a:rPr>
              <a:t>Medical diagnosis </a:t>
            </a:r>
          </a:p>
          <a:p>
            <a:pPr lvl="1"/>
            <a:r>
              <a:rPr lang="en-US" altLang="en-US" sz="1400" b="1"/>
              <a:t>ARTIFICIAL INTELLIGENCE (AI) SYSTEMS </a:t>
            </a:r>
            <a:r>
              <a:rPr lang="en-US" altLang="en-US" sz="1400"/>
              <a:t>are different from most computer solutions because they can make decisions and also be programmed to learn. </a:t>
            </a:r>
          </a:p>
          <a:p>
            <a:pPr lvl="1"/>
            <a:r>
              <a:rPr lang="en-US" altLang="en-US" sz="1400"/>
              <a:t>It is not uncommon for computers to be used in medical diagnosis. </a:t>
            </a:r>
          </a:p>
          <a:p>
            <a:pPr lvl="1"/>
            <a:r>
              <a:rPr lang="en-US" altLang="en-US" sz="1400"/>
              <a:t>For example, the Accident and Emergency departments at most hospitals run a triage service. </a:t>
            </a:r>
          </a:p>
          <a:p>
            <a:pPr lvl="1"/>
            <a:r>
              <a:rPr lang="en-US" altLang="en-US" sz="1400"/>
              <a:t>This involves making some initial checks on the patient and then taking appropriate action. </a:t>
            </a:r>
          </a:p>
          <a:p>
            <a:pPr lvl="1"/>
            <a:r>
              <a:rPr lang="en-US" altLang="en-US" sz="1400"/>
              <a:t>Using an Al system means that this initial screening can be undertaken by someone less qualified than a doctor.</a:t>
            </a:r>
          </a:p>
          <a:p>
            <a:pPr lvl="1"/>
            <a:r>
              <a:rPr lang="en-US" altLang="en-US" sz="1400"/>
              <a:t>A qualified nurse will use the system to make an initial diagnosis by asking a series of yes/no questions that have a predictable outcome (see image).</a:t>
            </a:r>
          </a:p>
          <a:p>
            <a:pPr lvl="1"/>
            <a:r>
              <a:rPr lang="en-US" altLang="en-US" sz="1400"/>
              <a:t>At any stage, a doctor can intervene. </a:t>
            </a:r>
          </a:p>
          <a:p>
            <a:endParaRPr lang="en-GB" altLang="en-US" sz="1600"/>
          </a:p>
        </p:txBody>
      </p:sp>
      <p:sp>
        <p:nvSpPr>
          <p:cNvPr id="4" name="Content Placeholder 2">
            <a:extLst>
              <a:ext uri="{FF2B5EF4-FFF2-40B4-BE49-F238E27FC236}">
                <a16:creationId xmlns:a16="http://schemas.microsoft.com/office/drawing/2014/main" id="{AD6B27FC-DCAB-826A-DF80-AD59919ED0C3}"/>
              </a:ext>
            </a:extLst>
          </p:cNvPr>
          <p:cNvSpPr txBox="1">
            <a:spLocks/>
          </p:cNvSpPr>
          <p:nvPr/>
        </p:nvSpPr>
        <p:spPr bwMode="auto">
          <a:xfrm>
            <a:off x="377825" y="1773238"/>
            <a:ext cx="8513763" cy="792162"/>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kern="0" dirty="0"/>
              <a:t>New uses for artificial intelligence (Al) are being found every day, especially in areas such as medical diagnostics and fraud detection, making the processes much quicker and more effective. </a:t>
            </a:r>
          </a:p>
          <a:p>
            <a:pPr>
              <a:defRPr/>
            </a:pPr>
            <a:endParaRPr lang="en-GB" sz="1600" kern="0" dirty="0"/>
          </a:p>
        </p:txBody>
      </p:sp>
      <p:pic>
        <p:nvPicPr>
          <p:cNvPr id="57349" name="Picture 5" descr="A screenshot of a cell phone&#10;&#10;Description automatically generated">
            <a:extLst>
              <a:ext uri="{FF2B5EF4-FFF2-40B4-BE49-F238E27FC236}">
                <a16:creationId xmlns:a16="http://schemas.microsoft.com/office/drawing/2014/main" id="{3095DCF7-A85A-CD92-8F5D-2BF4693091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050" y="3141663"/>
            <a:ext cx="2882900"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7862A1B0-66DA-39AA-37C4-F3632C8A31C2}"/>
              </a:ext>
            </a:extLst>
          </p:cNvPr>
          <p:cNvSpPr>
            <a:spLocks noGrp="1" noChangeArrowheads="1"/>
          </p:cNvSpPr>
          <p:nvPr>
            <p:ph type="title"/>
          </p:nvPr>
        </p:nvSpPr>
        <p:spPr>
          <a:xfrm>
            <a:off x="1182688" y="404813"/>
            <a:ext cx="7726362" cy="939800"/>
          </a:xfrm>
        </p:spPr>
        <p:txBody>
          <a:bodyPr/>
          <a:lstStyle/>
          <a:p>
            <a:r>
              <a:rPr lang="en-US" altLang="en-US" sz="3600" b="1">
                <a:solidFill>
                  <a:srgbClr val="0070C0"/>
                </a:solidFill>
              </a:rPr>
              <a:t>Artificial intelligence </a:t>
            </a:r>
            <a:endParaRPr lang="en-GB" altLang="en-US" sz="3600" b="1">
              <a:solidFill>
                <a:srgbClr val="0070C0"/>
              </a:solidFill>
            </a:endParaRPr>
          </a:p>
        </p:txBody>
      </p:sp>
      <p:sp>
        <p:nvSpPr>
          <p:cNvPr id="59395" name="Content Placeholder 2">
            <a:extLst>
              <a:ext uri="{FF2B5EF4-FFF2-40B4-BE49-F238E27FC236}">
                <a16:creationId xmlns:a16="http://schemas.microsoft.com/office/drawing/2014/main" id="{E7D379FA-D8D3-032C-B928-4488B899E312}"/>
              </a:ext>
            </a:extLst>
          </p:cNvPr>
          <p:cNvSpPr>
            <a:spLocks noGrp="1" noChangeArrowheads="1"/>
          </p:cNvSpPr>
          <p:nvPr>
            <p:ph idx="1"/>
          </p:nvPr>
        </p:nvSpPr>
        <p:spPr>
          <a:xfrm>
            <a:off x="141288" y="1989138"/>
            <a:ext cx="4143375" cy="3527425"/>
          </a:xfrm>
        </p:spPr>
        <p:txBody>
          <a:bodyPr/>
          <a:lstStyle/>
          <a:p>
            <a:r>
              <a:rPr lang="en-US" altLang="en-US" sz="1600"/>
              <a:t>One of the advantages of using an Al system is that it is unlikely that factors will be missed because the process to make all the checks has been set out in advance. </a:t>
            </a:r>
          </a:p>
          <a:p>
            <a:endParaRPr lang="en-US" altLang="en-US" sz="1600"/>
          </a:p>
          <a:p>
            <a:r>
              <a:rPr lang="en-US" altLang="en-US" sz="1600"/>
              <a:t>It also benefits from the lack of emotion or personal connection to the patient, which means that the medical staff remain more objective. </a:t>
            </a:r>
          </a:p>
          <a:p>
            <a:endParaRPr lang="en-US" altLang="en-US" sz="1600"/>
          </a:p>
          <a:p>
            <a:r>
              <a:rPr lang="en-US" altLang="en-US" sz="1600"/>
              <a:t>However, this could mean that other symptoms might get overlooked, which is why currently Al systems are not used where life or death decisions may need to be made. </a:t>
            </a:r>
            <a:endParaRPr lang="en-GB" altLang="en-US" sz="1600"/>
          </a:p>
          <a:p>
            <a:endParaRPr lang="en-GB" altLang="en-US" sz="1600"/>
          </a:p>
        </p:txBody>
      </p:sp>
      <p:pic>
        <p:nvPicPr>
          <p:cNvPr id="59396" name="Picture 4" descr="A screenshot of a cell phone&#10;&#10;Description automatically generated">
            <a:extLst>
              <a:ext uri="{FF2B5EF4-FFF2-40B4-BE49-F238E27FC236}">
                <a16:creationId xmlns:a16="http://schemas.microsoft.com/office/drawing/2014/main" id="{98669245-FE44-FF8B-8053-A609CF018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3738" y="1895475"/>
            <a:ext cx="4378325" cy="436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9E54B211-CE20-8E0D-694F-7EEF5F9AAFD3}"/>
              </a:ext>
            </a:extLst>
          </p:cNvPr>
          <p:cNvSpPr>
            <a:spLocks noGrp="1" noChangeArrowheads="1"/>
          </p:cNvSpPr>
          <p:nvPr>
            <p:ph type="title"/>
          </p:nvPr>
        </p:nvSpPr>
        <p:spPr>
          <a:xfrm>
            <a:off x="1331913" y="404813"/>
            <a:ext cx="7577137" cy="939800"/>
          </a:xfrm>
        </p:spPr>
        <p:txBody>
          <a:bodyPr/>
          <a:lstStyle/>
          <a:p>
            <a:r>
              <a:rPr lang="en-US" altLang="en-US" sz="3600" b="1">
                <a:solidFill>
                  <a:srgbClr val="0070C0"/>
                </a:solidFill>
              </a:rPr>
              <a:t>Finance </a:t>
            </a:r>
            <a:endParaRPr lang="en-GB" altLang="en-US" sz="3600" b="1">
              <a:solidFill>
                <a:srgbClr val="0070C0"/>
              </a:solidFill>
            </a:endParaRPr>
          </a:p>
        </p:txBody>
      </p:sp>
      <p:sp>
        <p:nvSpPr>
          <p:cNvPr id="61443" name="Content Placeholder 2">
            <a:extLst>
              <a:ext uri="{FF2B5EF4-FFF2-40B4-BE49-F238E27FC236}">
                <a16:creationId xmlns:a16="http://schemas.microsoft.com/office/drawing/2014/main" id="{A40F8098-BC7C-DCCA-C145-04F223E54CF5}"/>
              </a:ext>
            </a:extLst>
          </p:cNvPr>
          <p:cNvSpPr>
            <a:spLocks noGrp="1" noChangeArrowheads="1"/>
          </p:cNvSpPr>
          <p:nvPr>
            <p:ph idx="1"/>
          </p:nvPr>
        </p:nvSpPr>
        <p:spPr>
          <a:xfrm>
            <a:off x="539750" y="1773238"/>
            <a:ext cx="7772400" cy="1800225"/>
          </a:xfrm>
        </p:spPr>
        <p:txBody>
          <a:bodyPr/>
          <a:lstStyle/>
          <a:p>
            <a:r>
              <a:rPr lang="en-US" altLang="en-US" sz="1600"/>
              <a:t>Another example of the application of Al is in neural network fraud detection. These systems use a range of information to identify unusual or suspicious activity that might be a sign of fraud.</a:t>
            </a:r>
          </a:p>
          <a:p>
            <a:r>
              <a:rPr lang="en-US" altLang="en-US" sz="1600"/>
              <a:t>For example, if the profiles of card and account holders- how old you are, where you live and the amount of money you typically spend on technology- make the sudden purchase of new TVs, computers, laptops and devices unusual, this would trigger concern. </a:t>
            </a:r>
          </a:p>
          <a:p>
            <a:endParaRPr lang="en-GB" altLang="en-US" sz="1600"/>
          </a:p>
        </p:txBody>
      </p:sp>
      <p:sp>
        <p:nvSpPr>
          <p:cNvPr id="4" name="Content Placeholder 2">
            <a:extLst>
              <a:ext uri="{FF2B5EF4-FFF2-40B4-BE49-F238E27FC236}">
                <a16:creationId xmlns:a16="http://schemas.microsoft.com/office/drawing/2014/main" id="{A0639562-EFAA-364C-E591-F9B38626C7B7}"/>
              </a:ext>
            </a:extLst>
          </p:cNvPr>
          <p:cNvSpPr txBox="1">
            <a:spLocks noChangeArrowheads="1"/>
          </p:cNvSpPr>
          <p:nvPr/>
        </p:nvSpPr>
        <p:spPr bwMode="auto">
          <a:xfrm>
            <a:off x="566738" y="3716338"/>
            <a:ext cx="4445000" cy="2411412"/>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altLang="en-US" sz="1600" kern="0" dirty="0"/>
              <a:t>Profile and account information is combined with historical information about what tends to happen to lost or stolen cards, applications for credit and mail order accounts.</a:t>
            </a:r>
          </a:p>
          <a:p>
            <a:pPr>
              <a:defRPr/>
            </a:pPr>
            <a:r>
              <a:rPr lang="en-US" altLang="en-US" sz="1600" kern="0" dirty="0"/>
              <a:t>Once this is in place, the software monitors activity and looks for common patterns that might indicate fraudulent activity. </a:t>
            </a:r>
          </a:p>
          <a:p>
            <a:pPr>
              <a:defRPr/>
            </a:pPr>
            <a:r>
              <a:rPr lang="en-US" altLang="en-US" sz="1600" kern="0" dirty="0"/>
              <a:t>The system then sends alerts so that activity can be investigated.</a:t>
            </a:r>
            <a:endParaRPr lang="en-GB" altLang="en-US" sz="1600" kern="0" dirty="0"/>
          </a:p>
          <a:p>
            <a:pPr>
              <a:defRPr/>
            </a:pPr>
            <a:endParaRPr lang="en-GB" altLang="en-US" sz="1600" kern="0" dirty="0"/>
          </a:p>
        </p:txBody>
      </p:sp>
      <p:pic>
        <p:nvPicPr>
          <p:cNvPr id="61445" name="Picture 2" descr="Diagram, engineering drawing&#10;&#10;Description automatically generated">
            <a:extLst>
              <a:ext uri="{FF2B5EF4-FFF2-40B4-BE49-F238E27FC236}">
                <a16:creationId xmlns:a16="http://schemas.microsoft.com/office/drawing/2014/main" id="{A9468F29-5941-1923-2C38-2AA21F676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0650" y="4005263"/>
            <a:ext cx="3376613"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04C833CE-6754-8AA7-3781-786F56140650}"/>
              </a:ext>
            </a:extLst>
          </p:cNvPr>
          <p:cNvSpPr>
            <a:spLocks noGrp="1" noChangeArrowheads="1"/>
          </p:cNvSpPr>
          <p:nvPr>
            <p:ph type="title"/>
          </p:nvPr>
        </p:nvSpPr>
        <p:spPr/>
        <p:txBody>
          <a:bodyPr/>
          <a:lstStyle/>
          <a:p>
            <a:r>
              <a:rPr lang="en-US" altLang="en-US" sz="3600" b="1">
                <a:solidFill>
                  <a:srgbClr val="0070C0"/>
                </a:solidFill>
              </a:rPr>
              <a:t>Augmented reality (AR) </a:t>
            </a:r>
            <a:endParaRPr lang="en-GB" altLang="en-US" sz="3600" b="1">
              <a:solidFill>
                <a:srgbClr val="0070C0"/>
              </a:solidFill>
            </a:endParaRPr>
          </a:p>
        </p:txBody>
      </p:sp>
      <p:sp>
        <p:nvSpPr>
          <p:cNvPr id="63491" name="Content Placeholder 2">
            <a:extLst>
              <a:ext uri="{FF2B5EF4-FFF2-40B4-BE49-F238E27FC236}">
                <a16:creationId xmlns:a16="http://schemas.microsoft.com/office/drawing/2014/main" id="{1A217CAA-41B6-2C30-416C-2317F8808CE9}"/>
              </a:ext>
            </a:extLst>
          </p:cNvPr>
          <p:cNvSpPr>
            <a:spLocks noGrp="1" noChangeArrowheads="1"/>
          </p:cNvSpPr>
          <p:nvPr>
            <p:ph idx="1"/>
          </p:nvPr>
        </p:nvSpPr>
        <p:spPr>
          <a:xfrm>
            <a:off x="395288" y="1844675"/>
            <a:ext cx="8513762" cy="792163"/>
          </a:xfrm>
        </p:spPr>
        <p:txBody>
          <a:bodyPr/>
          <a:lstStyle/>
          <a:p>
            <a:r>
              <a:rPr lang="en-US" altLang="en-US" sz="1600"/>
              <a:t>AUGMENTED REALITY (AR) is a technology that is used to overlay an image that has been generated by a computer onto what the user can see in the real world, providing a merged view. </a:t>
            </a:r>
          </a:p>
          <a:p>
            <a:endParaRPr lang="en-GB" altLang="en-US" sz="1600"/>
          </a:p>
        </p:txBody>
      </p:sp>
      <p:pic>
        <p:nvPicPr>
          <p:cNvPr id="63492" name="Picture 4" descr="A picture containing person, outdoor, building, street&#10;&#10;Description automatically generated">
            <a:extLst>
              <a:ext uri="{FF2B5EF4-FFF2-40B4-BE49-F238E27FC236}">
                <a16:creationId xmlns:a16="http://schemas.microsoft.com/office/drawing/2014/main" id="{423D6567-3BAA-856F-483C-6C133F358B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625" y="2782888"/>
            <a:ext cx="1933575"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3" name="Picture 6" descr="A picture containing person, holding, hand, car&#10;&#10;Description automatically generated">
            <a:extLst>
              <a:ext uri="{FF2B5EF4-FFF2-40B4-BE49-F238E27FC236}">
                <a16:creationId xmlns:a16="http://schemas.microsoft.com/office/drawing/2014/main" id="{FA330754-218B-6E4C-F7C9-B0A0587DDA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4813" y="4868863"/>
            <a:ext cx="2217737" cy="147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4" name="Picture 7">
            <a:extLst>
              <a:ext uri="{FF2B5EF4-FFF2-40B4-BE49-F238E27FC236}">
                <a16:creationId xmlns:a16="http://schemas.microsoft.com/office/drawing/2014/main" id="{62F7DBAA-E724-B4FC-0A1B-7C7779CA90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863" y="2997200"/>
            <a:ext cx="4308475" cy="318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F3414586-B028-1F5A-5192-66BF3BE3B47F}"/>
              </a:ext>
            </a:extLst>
          </p:cNvPr>
          <p:cNvSpPr>
            <a:spLocks noGrp="1" noChangeArrowheads="1"/>
          </p:cNvSpPr>
          <p:nvPr>
            <p:ph type="title"/>
          </p:nvPr>
        </p:nvSpPr>
        <p:spPr>
          <a:xfrm>
            <a:off x="1331913" y="404813"/>
            <a:ext cx="7577137" cy="939800"/>
          </a:xfrm>
        </p:spPr>
        <p:txBody>
          <a:bodyPr/>
          <a:lstStyle/>
          <a:p>
            <a:r>
              <a:rPr lang="en-US" altLang="en-US" sz="3600" b="1">
                <a:solidFill>
                  <a:srgbClr val="0070C0"/>
                </a:solidFill>
              </a:rPr>
              <a:t>Virtual reality (VR) </a:t>
            </a:r>
            <a:endParaRPr lang="en-GB" altLang="en-US" sz="3600" b="1">
              <a:solidFill>
                <a:srgbClr val="0070C0"/>
              </a:solidFill>
            </a:endParaRPr>
          </a:p>
        </p:txBody>
      </p:sp>
      <p:sp>
        <p:nvSpPr>
          <p:cNvPr id="65539" name="Content Placeholder 2">
            <a:extLst>
              <a:ext uri="{FF2B5EF4-FFF2-40B4-BE49-F238E27FC236}">
                <a16:creationId xmlns:a16="http://schemas.microsoft.com/office/drawing/2014/main" id="{1DF576BE-2536-CB5B-4E43-645786BE3EBB}"/>
              </a:ext>
            </a:extLst>
          </p:cNvPr>
          <p:cNvSpPr>
            <a:spLocks noGrp="1" noChangeArrowheads="1"/>
          </p:cNvSpPr>
          <p:nvPr>
            <p:ph idx="1"/>
          </p:nvPr>
        </p:nvSpPr>
        <p:spPr>
          <a:xfrm>
            <a:off x="482600" y="1811338"/>
            <a:ext cx="4376738" cy="825500"/>
          </a:xfrm>
        </p:spPr>
        <p:txBody>
          <a:bodyPr/>
          <a:lstStyle/>
          <a:p>
            <a:r>
              <a:rPr lang="en-US" altLang="en-US" sz="1600"/>
              <a:t>VIRTUAL REALITY (VR is a computer-generated simulation that people can interact with in a physical way. </a:t>
            </a:r>
          </a:p>
          <a:p>
            <a:r>
              <a:rPr lang="en-US" altLang="en-US" sz="1600"/>
              <a:t>It involves using a headset but can also include gloves fitted with sensors. Table 2.4 shows some uses of virtual reality. </a:t>
            </a:r>
            <a:endParaRPr lang="en-GB" altLang="en-US" sz="1600"/>
          </a:p>
          <a:p>
            <a:endParaRPr lang="en-GB" altLang="en-US" sz="1600"/>
          </a:p>
        </p:txBody>
      </p:sp>
      <p:pic>
        <p:nvPicPr>
          <p:cNvPr id="65540" name="Picture 3">
            <a:extLst>
              <a:ext uri="{FF2B5EF4-FFF2-40B4-BE49-F238E27FC236}">
                <a16:creationId xmlns:a16="http://schemas.microsoft.com/office/drawing/2014/main" id="{F265DEAE-94C4-F0F5-C302-1ED35BB955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1557338"/>
            <a:ext cx="3544888"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1" name="Picture 4">
            <a:extLst>
              <a:ext uri="{FF2B5EF4-FFF2-40B4-BE49-F238E27FC236}">
                <a16:creationId xmlns:a16="http://schemas.microsoft.com/office/drawing/2014/main" id="{01AA8504-4143-4770-A61A-FE6A73A189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2875" y="5300663"/>
            <a:ext cx="3541713" cy="141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2" name="Picture 6" descr="A person standing in front of a monitor&#10;&#10;Description automatically generated">
            <a:extLst>
              <a:ext uri="{FF2B5EF4-FFF2-40B4-BE49-F238E27FC236}">
                <a16:creationId xmlns:a16="http://schemas.microsoft.com/office/drawing/2014/main" id="{9F43C9A0-AFAA-8DFE-AE71-13ECBF7F64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1213" y="3917950"/>
            <a:ext cx="3384550" cy="253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4074F56A-0205-A5BE-AFF3-B1D04B4D5D73}"/>
              </a:ext>
            </a:extLst>
          </p:cNvPr>
          <p:cNvSpPr>
            <a:spLocks noGrp="1" noChangeArrowheads="1"/>
          </p:cNvSpPr>
          <p:nvPr>
            <p:ph type="title"/>
          </p:nvPr>
        </p:nvSpPr>
        <p:spPr/>
        <p:txBody>
          <a:bodyPr/>
          <a:lstStyle/>
          <a:p>
            <a:r>
              <a:rPr lang="en-US" altLang="en-US" sz="3600" b="1">
                <a:solidFill>
                  <a:srgbClr val="0070C0"/>
                </a:solidFill>
              </a:rPr>
              <a:t>Use of social media </a:t>
            </a:r>
            <a:endParaRPr lang="en-GB" altLang="en-US" sz="3600" b="1">
              <a:solidFill>
                <a:srgbClr val="0070C0"/>
              </a:solidFill>
            </a:endParaRPr>
          </a:p>
        </p:txBody>
      </p:sp>
      <p:sp>
        <p:nvSpPr>
          <p:cNvPr id="67587" name="Content Placeholder 2">
            <a:extLst>
              <a:ext uri="{FF2B5EF4-FFF2-40B4-BE49-F238E27FC236}">
                <a16:creationId xmlns:a16="http://schemas.microsoft.com/office/drawing/2014/main" id="{130D2969-4468-7564-BAD3-A234FCF5DC8E}"/>
              </a:ext>
            </a:extLst>
          </p:cNvPr>
          <p:cNvSpPr>
            <a:spLocks noGrp="1" noChangeArrowheads="1"/>
          </p:cNvSpPr>
          <p:nvPr>
            <p:ph idx="1"/>
          </p:nvPr>
        </p:nvSpPr>
        <p:spPr>
          <a:xfrm>
            <a:off x="461963" y="1844675"/>
            <a:ext cx="3965575" cy="3455988"/>
          </a:xfrm>
        </p:spPr>
        <p:txBody>
          <a:bodyPr/>
          <a:lstStyle/>
          <a:p>
            <a:r>
              <a:rPr lang="en-US" altLang="en-US" sz="1600"/>
              <a:t>Organisations and businesses use social media in different ways to promote themselves and their services.</a:t>
            </a:r>
          </a:p>
          <a:p>
            <a:r>
              <a:rPr lang="en-US" altLang="en-US" sz="1600"/>
              <a:t>For example, they might use Facebook® pages, Twitter feeds and YouTube ™ channels. </a:t>
            </a:r>
          </a:p>
          <a:p>
            <a:r>
              <a:rPr lang="en-US" altLang="en-US" sz="1600" b="1">
                <a:solidFill>
                  <a:srgbClr val="0070C0"/>
                </a:solidFill>
              </a:rPr>
              <a:t>BLOGS</a:t>
            </a:r>
            <a:r>
              <a:rPr lang="en-US" altLang="en-US" sz="1600"/>
              <a:t> and </a:t>
            </a:r>
            <a:r>
              <a:rPr lang="en-US" altLang="en-US" sz="1600" b="1">
                <a:solidFill>
                  <a:srgbClr val="0070C0"/>
                </a:solidFill>
              </a:rPr>
              <a:t>VLOGS</a:t>
            </a:r>
            <a:r>
              <a:rPr lang="en-US" altLang="en-US" sz="1600"/>
              <a:t> are also a part of the social media landscape. </a:t>
            </a:r>
          </a:p>
          <a:p>
            <a:r>
              <a:rPr lang="en-US" altLang="en-US" sz="1600"/>
              <a:t>Blogs (short for weblog) are similar to a journal or diary written by an individual and made public for anyone to read; </a:t>
            </a:r>
          </a:p>
          <a:p>
            <a:r>
              <a:rPr lang="en-US" altLang="en-US" sz="1600"/>
              <a:t>vlogs are weblogs that are largely made up of videos.</a:t>
            </a:r>
          </a:p>
          <a:p>
            <a:endParaRPr lang="en-US" altLang="en-US" sz="1600"/>
          </a:p>
          <a:p>
            <a:endParaRPr lang="en-GB" altLang="en-US" sz="1600"/>
          </a:p>
        </p:txBody>
      </p:sp>
      <p:sp>
        <p:nvSpPr>
          <p:cNvPr id="4" name="Content Placeholder 2">
            <a:extLst>
              <a:ext uri="{FF2B5EF4-FFF2-40B4-BE49-F238E27FC236}">
                <a16:creationId xmlns:a16="http://schemas.microsoft.com/office/drawing/2014/main" id="{2FEA7A50-8788-A6B1-952B-FB68AB7F6FAB}"/>
              </a:ext>
            </a:extLst>
          </p:cNvPr>
          <p:cNvSpPr txBox="1">
            <a:spLocks/>
          </p:cNvSpPr>
          <p:nvPr/>
        </p:nvSpPr>
        <p:spPr bwMode="auto">
          <a:xfrm>
            <a:off x="461963" y="5794375"/>
            <a:ext cx="8440737" cy="939800"/>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b="1" kern="0" dirty="0">
                <a:solidFill>
                  <a:srgbClr val="0070C0"/>
                </a:solidFill>
              </a:rPr>
              <a:t>A VLOGGER </a:t>
            </a:r>
            <a:r>
              <a:rPr lang="en-US" sz="1600" kern="0" dirty="0"/>
              <a:t>is a person who owns, runs or contributes to a vlog. </a:t>
            </a:r>
          </a:p>
          <a:p>
            <a:pPr>
              <a:defRPr/>
            </a:pPr>
            <a:r>
              <a:rPr lang="en-US" sz="1600" kern="0" dirty="0"/>
              <a:t>They build up subscribers, and the more subscribers a vlog has, the more successful it is considered to be. </a:t>
            </a:r>
          </a:p>
          <a:p>
            <a:pPr>
              <a:defRPr/>
            </a:pPr>
            <a:endParaRPr lang="en-GB" sz="1600" kern="0" dirty="0"/>
          </a:p>
        </p:txBody>
      </p:sp>
      <p:pic>
        <p:nvPicPr>
          <p:cNvPr id="67589" name="Picture 5" descr="A picture containing newspaper, sign&#10;&#10;Description automatically generated">
            <a:extLst>
              <a:ext uri="{FF2B5EF4-FFF2-40B4-BE49-F238E27FC236}">
                <a16:creationId xmlns:a16="http://schemas.microsoft.com/office/drawing/2014/main" id="{30D57219-29CA-6E94-854F-A966229FE1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3979863"/>
            <a:ext cx="2354263" cy="131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0" name="Picture 7" descr="A picture containing drawing&#10;&#10;Description automatically generated">
            <a:extLst>
              <a:ext uri="{FF2B5EF4-FFF2-40B4-BE49-F238E27FC236}">
                <a16:creationId xmlns:a16="http://schemas.microsoft.com/office/drawing/2014/main" id="{DDEAAF0E-7C82-E98A-5FC9-D9AD784DC2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5600" y="1905000"/>
            <a:ext cx="302895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D9B03B87-E499-F4DA-6862-197BD5A7DB25}"/>
              </a:ext>
            </a:extLst>
          </p:cNvPr>
          <p:cNvSpPr>
            <a:spLocks noGrp="1" noChangeArrowheads="1"/>
          </p:cNvSpPr>
          <p:nvPr>
            <p:ph type="title"/>
          </p:nvPr>
        </p:nvSpPr>
        <p:spPr/>
        <p:txBody>
          <a:bodyPr/>
          <a:lstStyle/>
          <a:p>
            <a:r>
              <a:rPr lang="en-US" altLang="en-US" sz="3600" b="1">
                <a:solidFill>
                  <a:srgbClr val="0070C0"/>
                </a:solidFill>
              </a:rPr>
              <a:t>Use of social media </a:t>
            </a:r>
            <a:endParaRPr lang="en-GB" altLang="en-US" sz="3600" b="1">
              <a:solidFill>
                <a:srgbClr val="0070C0"/>
              </a:solidFill>
            </a:endParaRPr>
          </a:p>
        </p:txBody>
      </p:sp>
      <p:sp>
        <p:nvSpPr>
          <p:cNvPr id="69635" name="Content Placeholder 2">
            <a:extLst>
              <a:ext uri="{FF2B5EF4-FFF2-40B4-BE49-F238E27FC236}">
                <a16:creationId xmlns:a16="http://schemas.microsoft.com/office/drawing/2014/main" id="{21012E05-0A0C-B872-6A2F-A36702B7B982}"/>
              </a:ext>
            </a:extLst>
          </p:cNvPr>
          <p:cNvSpPr>
            <a:spLocks noGrp="1" noChangeArrowheads="1"/>
          </p:cNvSpPr>
          <p:nvPr>
            <p:ph idx="1"/>
          </p:nvPr>
        </p:nvSpPr>
        <p:spPr>
          <a:xfrm>
            <a:off x="350838" y="1928813"/>
            <a:ext cx="5805487" cy="1787525"/>
          </a:xfrm>
        </p:spPr>
        <p:txBody>
          <a:bodyPr/>
          <a:lstStyle/>
          <a:p>
            <a:r>
              <a:rPr lang="en-US" altLang="en-US" sz="1600"/>
              <a:t>In February 2017, some of the most popular UK vlogs were: </a:t>
            </a:r>
          </a:p>
          <a:p>
            <a:pPr lvl="1"/>
            <a:r>
              <a:rPr lang="en-GB" altLang="en-US" sz="1600" b="1"/>
              <a:t>TheDiamondMinecart</a:t>
            </a:r>
            <a:r>
              <a:rPr lang="en-GB" altLang="en-US" sz="1600"/>
              <a:t>  - 14 million subscribers </a:t>
            </a:r>
          </a:p>
          <a:p>
            <a:pPr lvl="1"/>
            <a:r>
              <a:rPr lang="en-GB" altLang="en-US" sz="1600" b="1"/>
              <a:t>KSI</a:t>
            </a:r>
            <a:r>
              <a:rPr lang="en-GB" altLang="en-US" sz="1600"/>
              <a:t> - 15 million subscribers </a:t>
            </a:r>
          </a:p>
          <a:p>
            <a:pPr lvl="1"/>
            <a:r>
              <a:rPr lang="en-GB" altLang="en-US" sz="1600" b="1"/>
              <a:t>Caspar</a:t>
            </a:r>
            <a:r>
              <a:rPr lang="en-GB" altLang="en-US" sz="1600"/>
              <a:t> - 7 million subscribers </a:t>
            </a:r>
          </a:p>
          <a:p>
            <a:pPr lvl="1"/>
            <a:r>
              <a:rPr lang="en-GB" altLang="en-US" sz="1600" b="1"/>
              <a:t>ThatcherJoe</a:t>
            </a:r>
            <a:r>
              <a:rPr lang="en-GB" altLang="en-US" sz="1600"/>
              <a:t> - 7 million subscribers</a:t>
            </a:r>
          </a:p>
          <a:p>
            <a:endParaRPr lang="en-GB" altLang="en-US" sz="1600"/>
          </a:p>
        </p:txBody>
      </p:sp>
      <p:sp>
        <p:nvSpPr>
          <p:cNvPr id="4" name="Content Placeholder 2">
            <a:extLst>
              <a:ext uri="{FF2B5EF4-FFF2-40B4-BE49-F238E27FC236}">
                <a16:creationId xmlns:a16="http://schemas.microsoft.com/office/drawing/2014/main" id="{F98722FD-FE18-9FBF-2116-8E3EE62B67B5}"/>
              </a:ext>
            </a:extLst>
          </p:cNvPr>
          <p:cNvSpPr txBox="1">
            <a:spLocks/>
          </p:cNvSpPr>
          <p:nvPr/>
        </p:nvSpPr>
        <p:spPr bwMode="auto">
          <a:xfrm>
            <a:off x="366713" y="3789363"/>
            <a:ext cx="8442325" cy="2376487"/>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kern="0" dirty="0"/>
              <a:t>These vlogs include prankster, comedy and gaming content. They are attractive to businesses for the following two reasons. </a:t>
            </a:r>
          </a:p>
          <a:p>
            <a:pPr>
              <a:defRPr/>
            </a:pPr>
            <a:endParaRPr lang="en-US" sz="1600" kern="0" dirty="0"/>
          </a:p>
          <a:p>
            <a:pPr lvl="1">
              <a:defRPr/>
            </a:pPr>
            <a:r>
              <a:rPr lang="en-US" sz="1600" kern="0" dirty="0"/>
              <a:t>If vloggers have a large number of subscribers, then </a:t>
            </a:r>
            <a:r>
              <a:rPr lang="en-US" sz="1600" kern="0" dirty="0" err="1"/>
              <a:t>businesseswill</a:t>
            </a:r>
            <a:r>
              <a:rPr lang="en-US" sz="1600" kern="0" dirty="0"/>
              <a:t> target advertising that would interest a subscriber of that particular type of vlog. The business pays the vlogger to display their advertisements.</a:t>
            </a:r>
          </a:p>
          <a:p>
            <a:pPr lvl="1">
              <a:defRPr/>
            </a:pPr>
            <a:r>
              <a:rPr lang="en-US" sz="1600" kern="0" dirty="0"/>
              <a:t>Some vloggers become very well known and, as social media celebrities, any products they endorse should result in more sales.</a:t>
            </a:r>
          </a:p>
          <a:p>
            <a:pPr>
              <a:defRPr/>
            </a:pPr>
            <a:endParaRPr lang="en-US" sz="1600" kern="0" dirty="0"/>
          </a:p>
          <a:p>
            <a:pPr>
              <a:defRPr/>
            </a:pPr>
            <a:r>
              <a:rPr lang="en-US" sz="1600" kern="0" dirty="0"/>
              <a:t>Some vloggers are so successful that they earn their living from their vlog</a:t>
            </a:r>
            <a:endParaRPr lang="en-GB" sz="1600" kern="0" dirty="0"/>
          </a:p>
        </p:txBody>
      </p:sp>
      <p:pic>
        <p:nvPicPr>
          <p:cNvPr id="69637" name="Picture 5" descr="A close up of a device&#10;&#10;Description automatically generated">
            <a:extLst>
              <a:ext uri="{FF2B5EF4-FFF2-40B4-BE49-F238E27FC236}">
                <a16:creationId xmlns:a16="http://schemas.microsoft.com/office/drawing/2014/main" id="{95A93C5E-DED8-A0FC-E653-957B7AFDB7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4900" y="1841500"/>
            <a:ext cx="24669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F84FFF00-0CB5-BFDC-9E68-361586FDD024}"/>
              </a:ext>
            </a:extLst>
          </p:cNvPr>
          <p:cNvSpPr>
            <a:spLocks noGrp="1" noChangeArrowheads="1"/>
          </p:cNvSpPr>
          <p:nvPr>
            <p:ph type="title"/>
          </p:nvPr>
        </p:nvSpPr>
        <p:spPr>
          <a:xfrm>
            <a:off x="1258888" y="404813"/>
            <a:ext cx="7650162" cy="939800"/>
          </a:xfrm>
        </p:spPr>
        <p:txBody>
          <a:bodyPr/>
          <a:lstStyle/>
          <a:p>
            <a:r>
              <a:rPr lang="en-US" altLang="en-US" sz="3600" b="1">
                <a:solidFill>
                  <a:srgbClr val="0070C0"/>
                </a:solidFill>
              </a:rPr>
              <a:t>Internet of Things (loT)</a:t>
            </a:r>
            <a:endParaRPr lang="en-GB" altLang="en-US" sz="3600" b="1">
              <a:solidFill>
                <a:srgbClr val="0070C0"/>
              </a:solidFill>
            </a:endParaRPr>
          </a:p>
        </p:txBody>
      </p:sp>
      <p:sp>
        <p:nvSpPr>
          <p:cNvPr id="73731" name="Content Placeholder 2">
            <a:extLst>
              <a:ext uri="{FF2B5EF4-FFF2-40B4-BE49-F238E27FC236}">
                <a16:creationId xmlns:a16="http://schemas.microsoft.com/office/drawing/2014/main" id="{A86203A3-EC63-D987-2A1C-5EF071837DF7}"/>
              </a:ext>
            </a:extLst>
          </p:cNvPr>
          <p:cNvSpPr>
            <a:spLocks noGrp="1" noChangeArrowheads="1"/>
          </p:cNvSpPr>
          <p:nvPr>
            <p:ph idx="1"/>
          </p:nvPr>
        </p:nvSpPr>
        <p:spPr>
          <a:xfrm>
            <a:off x="395288" y="1776413"/>
            <a:ext cx="8280400" cy="939800"/>
          </a:xfrm>
        </p:spPr>
        <p:txBody>
          <a:bodyPr/>
          <a:lstStyle/>
          <a:p>
            <a:r>
              <a:rPr lang="en-US" altLang="en-US" sz="1600"/>
              <a:t>The INTERNET OF THINGS (IoT) is a term which groups together all technologies that have internet connectivity. </a:t>
            </a:r>
          </a:p>
          <a:p>
            <a:r>
              <a:rPr lang="en-US" altLang="en-US" sz="1600"/>
              <a:t>This includes household devices, smartphones and smartwatches, tablets, and location devices. </a:t>
            </a:r>
          </a:p>
        </p:txBody>
      </p:sp>
      <p:sp>
        <p:nvSpPr>
          <p:cNvPr id="5" name="Content Placeholder 2">
            <a:extLst>
              <a:ext uri="{FF2B5EF4-FFF2-40B4-BE49-F238E27FC236}">
                <a16:creationId xmlns:a16="http://schemas.microsoft.com/office/drawing/2014/main" id="{7283EFCE-D844-1FF2-3272-E33CF28A8161}"/>
              </a:ext>
            </a:extLst>
          </p:cNvPr>
          <p:cNvSpPr txBox="1">
            <a:spLocks/>
          </p:cNvSpPr>
          <p:nvPr/>
        </p:nvSpPr>
        <p:spPr bwMode="auto">
          <a:xfrm>
            <a:off x="423863" y="2989263"/>
            <a:ext cx="5011737" cy="2303462"/>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kern="0" dirty="0"/>
              <a:t>Connecting devices over the internet</a:t>
            </a:r>
          </a:p>
          <a:p>
            <a:pPr lvl="1">
              <a:defRPr/>
            </a:pPr>
            <a:r>
              <a:rPr lang="en-US" sz="1600" dirty="0"/>
              <a:t>The IT and computing industry ,generally agree that by 2020, there will be more than 30 billion devices connected to the internet. </a:t>
            </a:r>
          </a:p>
          <a:p>
            <a:pPr lvl="1">
              <a:defRPr/>
            </a:pPr>
            <a:r>
              <a:rPr lang="en-US" sz="1600" dirty="0"/>
              <a:t>This will include significantly more handheld devices, such as phones and tablets, but is also likely to include an increasing number of devices in the home and both personal and public forms of transport. </a:t>
            </a:r>
          </a:p>
          <a:p>
            <a:pPr lvl="1">
              <a:defRPr/>
            </a:pPr>
            <a:r>
              <a:rPr lang="en-US" sz="1600" dirty="0"/>
              <a:t>It is not possible to know what other technologies will be attached to the internet because these devices are currently in development. </a:t>
            </a:r>
            <a:endParaRPr lang="en-US" sz="1600" kern="0" dirty="0"/>
          </a:p>
          <a:p>
            <a:pPr>
              <a:defRPr/>
            </a:pPr>
            <a:endParaRPr lang="en-GB" kern="0" dirty="0"/>
          </a:p>
        </p:txBody>
      </p:sp>
      <p:pic>
        <p:nvPicPr>
          <p:cNvPr id="73733" name="Picture 6" descr="A screenshot of a computer&#10;&#10;Description automatically generated">
            <a:extLst>
              <a:ext uri="{FF2B5EF4-FFF2-40B4-BE49-F238E27FC236}">
                <a16:creationId xmlns:a16="http://schemas.microsoft.com/office/drawing/2014/main" id="{C052BB26-651D-19B1-F95F-A8624B7AF6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6413" y="3429000"/>
            <a:ext cx="3322637" cy="225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64C3D153-5315-5220-A8B4-D4861B34D558}"/>
              </a:ext>
            </a:extLst>
          </p:cNvPr>
          <p:cNvSpPr>
            <a:spLocks noGrp="1" noChangeArrowheads="1"/>
          </p:cNvSpPr>
          <p:nvPr>
            <p:ph type="title"/>
          </p:nvPr>
        </p:nvSpPr>
        <p:spPr>
          <a:xfrm>
            <a:off x="1258888" y="404813"/>
            <a:ext cx="7650162" cy="939800"/>
          </a:xfrm>
        </p:spPr>
        <p:txBody>
          <a:bodyPr/>
          <a:lstStyle/>
          <a:p>
            <a:r>
              <a:rPr lang="en-US" altLang="en-US" sz="3600" b="1">
                <a:solidFill>
                  <a:srgbClr val="0070C0"/>
                </a:solidFill>
              </a:rPr>
              <a:t>IoT - Consumers </a:t>
            </a:r>
          </a:p>
        </p:txBody>
      </p:sp>
      <p:sp>
        <p:nvSpPr>
          <p:cNvPr id="75779" name="Content Placeholder 2">
            <a:extLst>
              <a:ext uri="{FF2B5EF4-FFF2-40B4-BE49-F238E27FC236}">
                <a16:creationId xmlns:a16="http://schemas.microsoft.com/office/drawing/2014/main" id="{F29BB3FB-F22E-AC2B-BF46-6227289AC1C3}"/>
              </a:ext>
            </a:extLst>
          </p:cNvPr>
          <p:cNvSpPr>
            <a:spLocks noGrp="1" noChangeArrowheads="1"/>
          </p:cNvSpPr>
          <p:nvPr>
            <p:ph idx="1"/>
          </p:nvPr>
        </p:nvSpPr>
        <p:spPr>
          <a:xfrm>
            <a:off x="685800" y="1700213"/>
            <a:ext cx="5686425" cy="4503737"/>
          </a:xfrm>
        </p:spPr>
        <p:txBody>
          <a:bodyPr/>
          <a:lstStyle/>
          <a:p>
            <a:r>
              <a:rPr lang="en-US" altLang="en-US" sz="1600"/>
              <a:t>Consumers are becoming increasingly aware of the possibilities associated with the loT and are finding more and more ways of using technology in their day-to-day activities. </a:t>
            </a:r>
          </a:p>
          <a:p>
            <a:r>
              <a:rPr lang="en-US" altLang="en-US" sz="1600"/>
              <a:t>Using smartphones and new smart fridge technology, the system monitors the food products in your fridge (including what you have, how much and the use-by dates). You use the app to decide what to eat (because it identifies what needs to be used first), and you can use the same app in the supermarket to buy products you are running low on. </a:t>
            </a:r>
          </a:p>
          <a:p>
            <a:r>
              <a:rPr lang="en-US" altLang="en-US" sz="1600"/>
              <a:t>Hive®, Nest® and tado0 systems control the heating in your home and allow you to switch your home systems on and off, and change the temperature. </a:t>
            </a:r>
          </a:p>
          <a:p>
            <a:r>
              <a:rPr lang="en-US" altLang="en-US" sz="1600"/>
              <a:t>The next step is a home automation system such as Wink Hub 2™ or Logitech Harmony Elite that also controls the lighting and the locks in your home and can have surveillance functionality in various forms. The system can tell you when the members. of the household leave and return to the home. </a:t>
            </a:r>
            <a:endParaRPr lang="en-GB" altLang="en-US" sz="1600"/>
          </a:p>
        </p:txBody>
      </p:sp>
      <p:pic>
        <p:nvPicPr>
          <p:cNvPr id="75780" name="Picture 4" descr="A picture containing orange, sitting, street, parking&#10;&#10;Description automatically generated">
            <a:extLst>
              <a:ext uri="{FF2B5EF4-FFF2-40B4-BE49-F238E27FC236}">
                <a16:creationId xmlns:a16="http://schemas.microsoft.com/office/drawing/2014/main" id="{5081E5FA-09D1-14AB-B441-BFC21FF184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8125" y="1792288"/>
            <a:ext cx="21431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1" name="Picture 6">
            <a:extLst>
              <a:ext uri="{FF2B5EF4-FFF2-40B4-BE49-F238E27FC236}">
                <a16:creationId xmlns:a16="http://schemas.microsoft.com/office/drawing/2014/main" id="{AA8D64D9-B030-0D2D-685B-ADA384B219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0475" y="4438650"/>
            <a:ext cx="2638425"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a:extLst>
              <a:ext uri="{FF2B5EF4-FFF2-40B4-BE49-F238E27FC236}">
                <a16:creationId xmlns:a16="http://schemas.microsoft.com/office/drawing/2014/main" id="{D0E39D06-4004-DC7F-9090-61F8521D1DBD}"/>
              </a:ext>
            </a:extLst>
          </p:cNvPr>
          <p:cNvSpPr>
            <a:spLocks noGrp="1" noChangeArrowheads="1"/>
          </p:cNvSpPr>
          <p:nvPr>
            <p:ph type="title"/>
          </p:nvPr>
        </p:nvSpPr>
        <p:spPr>
          <a:xfrm>
            <a:off x="1331913" y="404813"/>
            <a:ext cx="7577137" cy="939800"/>
          </a:xfrm>
        </p:spPr>
        <p:txBody>
          <a:bodyPr/>
          <a:lstStyle/>
          <a:p>
            <a:r>
              <a:rPr lang="en-US" altLang="en-US" sz="3600" b="1">
                <a:solidFill>
                  <a:srgbClr val="0070C0"/>
                </a:solidFill>
              </a:rPr>
              <a:t>Enterprise deployments</a:t>
            </a:r>
          </a:p>
        </p:txBody>
      </p:sp>
      <p:sp>
        <p:nvSpPr>
          <p:cNvPr id="77827" name="Content Placeholder 2">
            <a:extLst>
              <a:ext uri="{FF2B5EF4-FFF2-40B4-BE49-F238E27FC236}">
                <a16:creationId xmlns:a16="http://schemas.microsoft.com/office/drawing/2014/main" id="{48AB43E5-B62A-94FC-1323-E19466C51156}"/>
              </a:ext>
            </a:extLst>
          </p:cNvPr>
          <p:cNvSpPr>
            <a:spLocks noGrp="1" noChangeArrowheads="1"/>
          </p:cNvSpPr>
          <p:nvPr>
            <p:ph idx="1"/>
          </p:nvPr>
        </p:nvSpPr>
        <p:spPr>
          <a:xfrm>
            <a:off x="539750" y="2060575"/>
            <a:ext cx="4248150" cy="3744913"/>
          </a:xfrm>
        </p:spPr>
        <p:txBody>
          <a:bodyPr/>
          <a:lstStyle/>
          <a:p>
            <a:r>
              <a:rPr lang="en-US" altLang="en-US" sz="1600"/>
              <a:t>ENTERPRISE DEPLOYMENTS are basic versions of software that have added functionality. </a:t>
            </a:r>
          </a:p>
          <a:p>
            <a:r>
              <a:rPr lang="en-US" altLang="en-US" sz="1600"/>
              <a:t>They are designed for business use (rather than for an individual user). </a:t>
            </a:r>
          </a:p>
          <a:p>
            <a:r>
              <a:rPr lang="en-US" altLang="en-US" sz="1600"/>
              <a:t>Two key factors that are considered when creating enterprise versions are additional security and SCALABILITY (this means that the software can support more users as necessary). </a:t>
            </a:r>
          </a:p>
          <a:p>
            <a:r>
              <a:rPr lang="en-US" altLang="en-US" sz="1600"/>
              <a:t>Enterprise systems are often made up of a large number of PCs and servers, with a wide range of connected devices.</a:t>
            </a:r>
          </a:p>
        </p:txBody>
      </p:sp>
      <p:sp>
        <p:nvSpPr>
          <p:cNvPr id="4" name="Content Placeholder 2">
            <a:extLst>
              <a:ext uri="{FF2B5EF4-FFF2-40B4-BE49-F238E27FC236}">
                <a16:creationId xmlns:a16="http://schemas.microsoft.com/office/drawing/2014/main" id="{730757A7-85D6-2185-F5C3-AFFF9E2B52A0}"/>
              </a:ext>
            </a:extLst>
          </p:cNvPr>
          <p:cNvSpPr txBox="1">
            <a:spLocks/>
          </p:cNvSpPr>
          <p:nvPr/>
        </p:nvSpPr>
        <p:spPr bwMode="auto">
          <a:xfrm>
            <a:off x="685800" y="6021388"/>
            <a:ext cx="8218488" cy="647700"/>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kern="0" dirty="0"/>
              <a:t>Online connectivity - Connected devices that are not using a free Wi-Fi connection will be subject to data charges.</a:t>
            </a:r>
            <a:endParaRPr lang="en-GB" sz="1600" kern="0" dirty="0"/>
          </a:p>
        </p:txBody>
      </p:sp>
      <p:pic>
        <p:nvPicPr>
          <p:cNvPr id="77829" name="Picture 5" descr="A screenshot of a cell phone&#10;&#10;Description automatically generated">
            <a:extLst>
              <a:ext uri="{FF2B5EF4-FFF2-40B4-BE49-F238E27FC236}">
                <a16:creationId xmlns:a16="http://schemas.microsoft.com/office/drawing/2014/main" id="{4BF84534-1B3D-1DB9-C561-ED405E4CAB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4238" y="1928813"/>
            <a:ext cx="2438400"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0" name="Picture 8" descr="A picture containing text, map&#10;&#10;Description automatically generated">
            <a:extLst>
              <a:ext uri="{FF2B5EF4-FFF2-40B4-BE49-F238E27FC236}">
                <a16:creationId xmlns:a16="http://schemas.microsoft.com/office/drawing/2014/main" id="{2FB2AF76-91E3-9B6D-551E-07C08F313C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4238" y="3900488"/>
            <a:ext cx="24384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5FE25188-D5B2-150D-A8FA-28B241F25784}"/>
              </a:ext>
            </a:extLst>
          </p:cNvPr>
          <p:cNvSpPr>
            <a:spLocks noGrp="1" noChangeArrowheads="1"/>
          </p:cNvSpPr>
          <p:nvPr>
            <p:ph type="title"/>
          </p:nvPr>
        </p:nvSpPr>
        <p:spPr/>
        <p:txBody>
          <a:bodyPr/>
          <a:lstStyle/>
          <a:p>
            <a:r>
              <a:rPr lang="en-GB" altLang="en-US" sz="3600" b="1">
                <a:solidFill>
                  <a:srgbClr val="0070C0"/>
                </a:solidFill>
              </a:rPr>
              <a:t>Enabling technologies </a:t>
            </a:r>
          </a:p>
        </p:txBody>
      </p:sp>
      <p:sp>
        <p:nvSpPr>
          <p:cNvPr id="81923" name="Content Placeholder 2">
            <a:extLst>
              <a:ext uri="{FF2B5EF4-FFF2-40B4-BE49-F238E27FC236}">
                <a16:creationId xmlns:a16="http://schemas.microsoft.com/office/drawing/2014/main" id="{99990EB5-4BEB-64B8-7006-694A38568511}"/>
              </a:ext>
            </a:extLst>
          </p:cNvPr>
          <p:cNvSpPr>
            <a:spLocks noGrp="1" noChangeArrowheads="1"/>
          </p:cNvSpPr>
          <p:nvPr>
            <p:ph idx="1"/>
          </p:nvPr>
        </p:nvSpPr>
        <p:spPr>
          <a:xfrm>
            <a:off x="387350" y="2146300"/>
            <a:ext cx="2952750" cy="3711575"/>
          </a:xfrm>
        </p:spPr>
        <p:txBody>
          <a:bodyPr/>
          <a:lstStyle/>
          <a:p>
            <a:r>
              <a:rPr lang="en-US" altLang="en-US" sz="1600"/>
              <a:t>There are three key communications technologies that make the loT possible that are heavily used in different contexts. </a:t>
            </a:r>
          </a:p>
          <a:p>
            <a:endParaRPr lang="en-US" altLang="en-US" sz="1600"/>
          </a:p>
          <a:p>
            <a:r>
              <a:rPr lang="en-US" altLang="en-US" sz="1600"/>
              <a:t>These technologies are BLUETOOTH, RADIO FREQUENCY IDENTIFICATION (RFID) and NEAR FIELD COMMUNICATION (NFC) </a:t>
            </a:r>
            <a:endParaRPr lang="en-GB" altLang="en-US" sz="1600"/>
          </a:p>
        </p:txBody>
      </p:sp>
      <p:pic>
        <p:nvPicPr>
          <p:cNvPr id="81924" name="Picture 3">
            <a:extLst>
              <a:ext uri="{FF2B5EF4-FFF2-40B4-BE49-F238E27FC236}">
                <a16:creationId xmlns:a16="http://schemas.microsoft.com/office/drawing/2014/main" id="{9245B9D4-6FBB-368A-6087-242F723866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838" y="1966913"/>
            <a:ext cx="4976812" cy="407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a:extLst>
              <a:ext uri="{FF2B5EF4-FFF2-40B4-BE49-F238E27FC236}">
                <a16:creationId xmlns:a16="http://schemas.microsoft.com/office/drawing/2014/main" id="{8DD00691-6224-76EA-9F80-27AEF74EA070}"/>
              </a:ext>
            </a:extLst>
          </p:cNvPr>
          <p:cNvSpPr>
            <a:spLocks noGrp="1" noChangeArrowheads="1"/>
          </p:cNvSpPr>
          <p:nvPr>
            <p:ph type="title"/>
          </p:nvPr>
        </p:nvSpPr>
        <p:spPr>
          <a:xfrm>
            <a:off x="1331913" y="447675"/>
            <a:ext cx="5688012" cy="939800"/>
          </a:xfrm>
        </p:spPr>
        <p:txBody>
          <a:bodyPr/>
          <a:lstStyle/>
          <a:p>
            <a:r>
              <a:rPr lang="en-US" altLang="en-US" sz="3200" b="1">
                <a:solidFill>
                  <a:srgbClr val="0070C0"/>
                </a:solidFill>
              </a:rPr>
              <a:t>Development of wearable technology </a:t>
            </a:r>
            <a:endParaRPr lang="en-GB" altLang="en-US" sz="3200" b="1">
              <a:solidFill>
                <a:srgbClr val="0070C0"/>
              </a:solidFill>
            </a:endParaRPr>
          </a:p>
        </p:txBody>
      </p:sp>
      <p:sp>
        <p:nvSpPr>
          <p:cNvPr id="83971" name="Content Placeholder 2">
            <a:extLst>
              <a:ext uri="{FF2B5EF4-FFF2-40B4-BE49-F238E27FC236}">
                <a16:creationId xmlns:a16="http://schemas.microsoft.com/office/drawing/2014/main" id="{6B941669-F9D3-AB9A-48E3-7317E28FE8DA}"/>
              </a:ext>
            </a:extLst>
          </p:cNvPr>
          <p:cNvSpPr>
            <a:spLocks noGrp="1" noChangeArrowheads="1"/>
          </p:cNvSpPr>
          <p:nvPr>
            <p:ph idx="1"/>
          </p:nvPr>
        </p:nvSpPr>
        <p:spPr>
          <a:xfrm>
            <a:off x="549275" y="1844675"/>
            <a:ext cx="8359775" cy="615950"/>
          </a:xfrm>
        </p:spPr>
        <p:txBody>
          <a:bodyPr/>
          <a:lstStyle/>
          <a:p>
            <a:r>
              <a:rPr lang="en-US" altLang="en-US" sz="1600"/>
              <a:t>One of the biggest growth markets currently is wearable technology, from the smartwatch to smart glasses and devices such as Fitbit® that are used in sport. </a:t>
            </a:r>
          </a:p>
          <a:p>
            <a:endParaRPr lang="en-GB" altLang="en-US" sz="1600"/>
          </a:p>
        </p:txBody>
      </p:sp>
      <p:sp>
        <p:nvSpPr>
          <p:cNvPr id="5" name="Content Placeholder 2">
            <a:extLst>
              <a:ext uri="{FF2B5EF4-FFF2-40B4-BE49-F238E27FC236}">
                <a16:creationId xmlns:a16="http://schemas.microsoft.com/office/drawing/2014/main" id="{41EA2BD4-7EDC-80EE-1EE1-B8961E6F0854}"/>
              </a:ext>
            </a:extLst>
          </p:cNvPr>
          <p:cNvSpPr txBox="1">
            <a:spLocks/>
          </p:cNvSpPr>
          <p:nvPr/>
        </p:nvSpPr>
        <p:spPr bwMode="auto">
          <a:xfrm>
            <a:off x="549275" y="2617788"/>
            <a:ext cx="4959350" cy="162242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b="1" kern="0" dirty="0">
                <a:solidFill>
                  <a:srgbClr val="0070C0"/>
                </a:solidFill>
              </a:rPr>
              <a:t>Fitbit</a:t>
            </a:r>
            <a:r>
              <a:rPr lang="en-US" sz="1600" kern="0" dirty="0"/>
              <a:t> -  Data can be uploaded to Fitbit software that you can use to monitor your own health over a period of time. Fitbit uses sensors on the back of a watch to monitor a range of factors, such as your activity, your heart rate and your sleep patterns. </a:t>
            </a:r>
            <a:endParaRPr lang="en-GB" sz="1600" kern="0" dirty="0"/>
          </a:p>
          <a:p>
            <a:pPr>
              <a:defRPr/>
            </a:pPr>
            <a:endParaRPr lang="en-GB" sz="1600" kern="0" dirty="0"/>
          </a:p>
        </p:txBody>
      </p:sp>
      <p:sp>
        <p:nvSpPr>
          <p:cNvPr id="6" name="Content Placeholder 2">
            <a:extLst>
              <a:ext uri="{FF2B5EF4-FFF2-40B4-BE49-F238E27FC236}">
                <a16:creationId xmlns:a16="http://schemas.microsoft.com/office/drawing/2014/main" id="{F2F399FA-7F9E-3F69-E6FC-639E0D2E017C}"/>
              </a:ext>
            </a:extLst>
          </p:cNvPr>
          <p:cNvSpPr txBox="1">
            <a:spLocks/>
          </p:cNvSpPr>
          <p:nvPr/>
        </p:nvSpPr>
        <p:spPr bwMode="auto">
          <a:xfrm>
            <a:off x="550863" y="4535488"/>
            <a:ext cx="4957762" cy="1624012"/>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b="1" dirty="0">
                <a:solidFill>
                  <a:srgbClr val="0070C0"/>
                </a:solidFill>
              </a:rPr>
              <a:t>Smartwatches</a:t>
            </a:r>
            <a:r>
              <a:rPr lang="en-US" sz="1600" dirty="0"/>
              <a:t> - An alternative is using an app such as Heart Rate on a smartwatch. To get a reading, you simply hold your index finger flat over the camera for approximately 10 seconds. Readings are stored in the app and allow you to build up a picture of your heart health over time and when you are in different states, such as </a:t>
            </a:r>
            <a:r>
              <a:rPr lang="en-US" sz="1600" dirty="0" err="1"/>
              <a:t>duriinq</a:t>
            </a:r>
            <a:r>
              <a:rPr lang="en-US" sz="1600" dirty="0"/>
              <a:t> an exercise warm up or cardio session. </a:t>
            </a:r>
            <a:endParaRPr lang="en-GB" sz="1600" kern="0" dirty="0"/>
          </a:p>
        </p:txBody>
      </p:sp>
      <p:pic>
        <p:nvPicPr>
          <p:cNvPr id="83974" name="Picture 7" descr="A close up of a watch&#10;&#10;Description automatically generated">
            <a:extLst>
              <a:ext uri="{FF2B5EF4-FFF2-40B4-BE49-F238E27FC236}">
                <a16:creationId xmlns:a16="http://schemas.microsoft.com/office/drawing/2014/main" id="{AEE50F9B-E9E1-42A4-54D7-0B1502F270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0963" y="234950"/>
            <a:ext cx="11588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5" name="Picture 9" descr="A picture containing table, computer, desk, clock&#10;&#10;Description automatically generated">
            <a:extLst>
              <a:ext uri="{FF2B5EF4-FFF2-40B4-BE49-F238E27FC236}">
                <a16:creationId xmlns:a16="http://schemas.microsoft.com/office/drawing/2014/main" id="{F73C69B5-4E5B-793D-3FDF-383912AE42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0788" y="5067300"/>
            <a:ext cx="2176462"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6" name="Picture 11" descr="A screenshot of a cell phone&#10;&#10;Description automatically generated">
            <a:extLst>
              <a:ext uri="{FF2B5EF4-FFF2-40B4-BE49-F238E27FC236}">
                <a16:creationId xmlns:a16="http://schemas.microsoft.com/office/drawing/2014/main" id="{5D209CC2-AE46-3DC7-6667-543BAC688F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1775" y="2757488"/>
            <a:ext cx="85725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7" name="Picture 13" descr="A picture containing person, indoor, monitor, screen&#10;&#10;Description automatically generated">
            <a:extLst>
              <a:ext uri="{FF2B5EF4-FFF2-40B4-BE49-F238E27FC236}">
                <a16:creationId xmlns:a16="http://schemas.microsoft.com/office/drawing/2014/main" id="{0EE00764-F7D7-A455-00E7-D3F4740C5AA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61088" y="2757488"/>
            <a:ext cx="106997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a:extLst>
              <a:ext uri="{FF2B5EF4-FFF2-40B4-BE49-F238E27FC236}">
                <a16:creationId xmlns:a16="http://schemas.microsoft.com/office/drawing/2014/main" id="{18D0AF43-30B5-24C0-A4C4-C8317C09D4BC}"/>
              </a:ext>
            </a:extLst>
          </p:cNvPr>
          <p:cNvSpPr>
            <a:spLocks noGrp="1" noChangeArrowheads="1"/>
          </p:cNvSpPr>
          <p:nvPr>
            <p:ph type="title"/>
          </p:nvPr>
        </p:nvSpPr>
        <p:spPr/>
        <p:txBody>
          <a:bodyPr/>
          <a:lstStyle/>
          <a:p>
            <a:r>
              <a:rPr lang="en-US" altLang="en-US" sz="3600" b="1">
                <a:solidFill>
                  <a:srgbClr val="0070C0"/>
                </a:solidFill>
              </a:rPr>
              <a:t>Smart glasses</a:t>
            </a:r>
            <a:endParaRPr lang="en-GB" altLang="en-US" sz="3600"/>
          </a:p>
        </p:txBody>
      </p:sp>
      <p:sp>
        <p:nvSpPr>
          <p:cNvPr id="86019" name="Content Placeholder 2">
            <a:extLst>
              <a:ext uri="{FF2B5EF4-FFF2-40B4-BE49-F238E27FC236}">
                <a16:creationId xmlns:a16="http://schemas.microsoft.com/office/drawing/2014/main" id="{A105E8D5-FF46-78B1-0581-DEFBE0072DCC}"/>
              </a:ext>
            </a:extLst>
          </p:cNvPr>
          <p:cNvSpPr>
            <a:spLocks noGrp="1" noChangeArrowheads="1"/>
          </p:cNvSpPr>
          <p:nvPr>
            <p:ph idx="1"/>
          </p:nvPr>
        </p:nvSpPr>
        <p:spPr>
          <a:xfrm>
            <a:off x="468313" y="1989138"/>
            <a:ext cx="5111750" cy="4319587"/>
          </a:xfrm>
        </p:spPr>
        <p:txBody>
          <a:bodyPr/>
          <a:lstStyle/>
          <a:p>
            <a:r>
              <a:rPr lang="en-US" altLang="en-US" sz="1600"/>
              <a:t>Using augmented reality technology, smart glasses are a wearable technology that overlays what you can see with computer-generated information. </a:t>
            </a:r>
          </a:p>
          <a:p>
            <a:r>
              <a:rPr lang="en-US" altLang="en-US" sz="1600"/>
              <a:t>For example, you could be wearing the glasses while walking through London and text or images would appear beside buildings, statues or other features you are looking at, telling you something about them.</a:t>
            </a:r>
          </a:p>
          <a:p>
            <a:r>
              <a:rPr lang="en-US" altLang="en-US" sz="1600"/>
              <a:t>This technology is already being used in some museums as an alternative to tour guides. </a:t>
            </a:r>
          </a:p>
          <a:p>
            <a:r>
              <a:rPr lang="en-US" altLang="en-US" sz="1600"/>
              <a:t>The advantage is that, in addition to not having to employ someone to show you around, this technology means that users can walk through the museum at their own pace. </a:t>
            </a:r>
          </a:p>
          <a:p>
            <a:r>
              <a:rPr lang="en-US" altLang="en-US" sz="1600"/>
              <a:t>It also allows the information to be delivered to the user in their native language. </a:t>
            </a:r>
          </a:p>
          <a:p>
            <a:endParaRPr lang="en-GB" altLang="en-US" sz="1600"/>
          </a:p>
        </p:txBody>
      </p:sp>
      <p:pic>
        <p:nvPicPr>
          <p:cNvPr id="86020" name="Picture 5" descr="A close up of a persons face&#10;&#10;Description automatically generated">
            <a:extLst>
              <a:ext uri="{FF2B5EF4-FFF2-40B4-BE49-F238E27FC236}">
                <a16:creationId xmlns:a16="http://schemas.microsoft.com/office/drawing/2014/main" id="{78DBC118-0A10-FAC3-0FF1-42E42A1C15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6313" y="1989138"/>
            <a:ext cx="2619375"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1" name="Picture 7" descr="A close up of a device&#10;&#10;Description automatically generated">
            <a:extLst>
              <a:ext uri="{FF2B5EF4-FFF2-40B4-BE49-F238E27FC236}">
                <a16:creationId xmlns:a16="http://schemas.microsoft.com/office/drawing/2014/main" id="{5B165619-960B-CBB3-F52E-F6D6032ED1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0575" y="4581525"/>
            <a:ext cx="2990850"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a:extLst>
              <a:ext uri="{FF2B5EF4-FFF2-40B4-BE49-F238E27FC236}">
                <a16:creationId xmlns:a16="http://schemas.microsoft.com/office/drawing/2014/main" id="{38290953-982F-5980-950D-D3B372288B1B}"/>
              </a:ext>
            </a:extLst>
          </p:cNvPr>
          <p:cNvSpPr>
            <a:spLocks noGrp="1" noChangeArrowheads="1"/>
          </p:cNvSpPr>
          <p:nvPr>
            <p:ph type="title"/>
          </p:nvPr>
        </p:nvSpPr>
        <p:spPr/>
        <p:txBody>
          <a:bodyPr/>
          <a:lstStyle/>
          <a:p>
            <a:r>
              <a:rPr lang="en-US" altLang="en-US" sz="3600" b="1">
                <a:solidFill>
                  <a:srgbClr val="0070C0"/>
                </a:solidFill>
              </a:rPr>
              <a:t>Goggles</a:t>
            </a:r>
          </a:p>
        </p:txBody>
      </p:sp>
      <p:sp>
        <p:nvSpPr>
          <p:cNvPr id="4" name="Content Placeholder 2">
            <a:extLst>
              <a:ext uri="{FF2B5EF4-FFF2-40B4-BE49-F238E27FC236}">
                <a16:creationId xmlns:a16="http://schemas.microsoft.com/office/drawing/2014/main" id="{34A42724-645A-D2C0-F1D5-EDED8877E875}"/>
              </a:ext>
            </a:extLst>
          </p:cNvPr>
          <p:cNvSpPr txBox="1">
            <a:spLocks/>
          </p:cNvSpPr>
          <p:nvPr/>
        </p:nvSpPr>
        <p:spPr bwMode="auto">
          <a:xfrm>
            <a:off x="339725" y="2136775"/>
            <a:ext cx="4392613" cy="41767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dirty="0"/>
              <a:t>Goggles that make use of virtual reality technology are used to enhance the wearer's gaming experience, or can be used in a range of training or therapeutic contexts such as teaching firefighters to cope in a house fire. </a:t>
            </a:r>
          </a:p>
          <a:p>
            <a:pPr>
              <a:defRPr/>
            </a:pPr>
            <a:endParaRPr lang="en-US" sz="1600" dirty="0"/>
          </a:p>
          <a:p>
            <a:pPr>
              <a:defRPr/>
            </a:pPr>
            <a:r>
              <a:rPr lang="en-US" sz="1600" dirty="0"/>
              <a:t>Where previous training has relied on the use of real smoke-filled constructions, most of these effects can now be achieved through the use of VR goggles. </a:t>
            </a:r>
            <a:endParaRPr lang="en-GB" sz="1600" dirty="0"/>
          </a:p>
          <a:p>
            <a:pPr>
              <a:defRPr/>
            </a:pPr>
            <a:endParaRPr lang="en-GB" sz="1600" kern="0" dirty="0"/>
          </a:p>
        </p:txBody>
      </p:sp>
      <p:pic>
        <p:nvPicPr>
          <p:cNvPr id="88068" name="Picture 6" descr="A picture containing person, man, indoor, photo&#10;&#10;Description automatically generated">
            <a:extLst>
              <a:ext uri="{FF2B5EF4-FFF2-40B4-BE49-F238E27FC236}">
                <a16:creationId xmlns:a16="http://schemas.microsoft.com/office/drawing/2014/main" id="{E2701525-A306-89DB-0227-51F41609F9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0" y="2208213"/>
            <a:ext cx="3660775"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69" name="Picture 8" descr="A person wearing a hat and glasses&#10;&#10;Description automatically generated">
            <a:extLst>
              <a:ext uri="{FF2B5EF4-FFF2-40B4-BE49-F238E27FC236}">
                <a16:creationId xmlns:a16="http://schemas.microsoft.com/office/drawing/2014/main" id="{9D58335A-F437-0C7D-E1AF-98D45EEF2E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5600" y="4694238"/>
            <a:ext cx="28575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a:extLst>
              <a:ext uri="{FF2B5EF4-FFF2-40B4-BE49-F238E27FC236}">
                <a16:creationId xmlns:a16="http://schemas.microsoft.com/office/drawing/2014/main" id="{47CAF66D-22AF-3220-D905-B23B8F5EC2BF}"/>
              </a:ext>
            </a:extLst>
          </p:cNvPr>
          <p:cNvSpPr>
            <a:spLocks noGrp="1" noChangeArrowheads="1"/>
          </p:cNvSpPr>
          <p:nvPr>
            <p:ph type="title"/>
          </p:nvPr>
        </p:nvSpPr>
        <p:spPr>
          <a:xfrm>
            <a:off x="1182688" y="404813"/>
            <a:ext cx="7726362" cy="939800"/>
          </a:xfrm>
        </p:spPr>
        <p:txBody>
          <a:bodyPr/>
          <a:lstStyle/>
          <a:p>
            <a:r>
              <a:rPr lang="en-US" altLang="en-US" sz="3600" b="1">
                <a:solidFill>
                  <a:srgbClr val="0070C0"/>
                </a:solidFill>
              </a:rPr>
              <a:t>Cloud technology </a:t>
            </a:r>
            <a:endParaRPr lang="en-GB" altLang="en-US" sz="3600" b="1">
              <a:solidFill>
                <a:srgbClr val="0070C0"/>
              </a:solidFill>
            </a:endParaRPr>
          </a:p>
        </p:txBody>
      </p:sp>
      <p:sp>
        <p:nvSpPr>
          <p:cNvPr id="90115" name="Content Placeholder 2">
            <a:extLst>
              <a:ext uri="{FF2B5EF4-FFF2-40B4-BE49-F238E27FC236}">
                <a16:creationId xmlns:a16="http://schemas.microsoft.com/office/drawing/2014/main" id="{C88436CE-F611-A4E3-388D-FD292FE4E519}"/>
              </a:ext>
            </a:extLst>
          </p:cNvPr>
          <p:cNvSpPr>
            <a:spLocks noGrp="1" noChangeArrowheads="1"/>
          </p:cNvSpPr>
          <p:nvPr>
            <p:ph idx="1"/>
          </p:nvPr>
        </p:nvSpPr>
        <p:spPr>
          <a:xfrm>
            <a:off x="395288" y="1773238"/>
            <a:ext cx="8513762" cy="1511300"/>
          </a:xfrm>
        </p:spPr>
        <p:txBody>
          <a:bodyPr/>
          <a:lstStyle/>
          <a:p>
            <a:r>
              <a:rPr lang="en-US" altLang="en-US" sz="1400"/>
              <a:t>Historically, organisations were responsible for their entire IT systems and all the functionality that was needed by the organisation. </a:t>
            </a:r>
          </a:p>
          <a:p>
            <a:r>
              <a:rPr lang="en-US" altLang="en-US" sz="1400"/>
              <a:t>This was called LEGACY IT. </a:t>
            </a:r>
          </a:p>
          <a:p>
            <a:r>
              <a:rPr lang="en-US" altLang="en-US" sz="1400"/>
              <a:t>The emergence of </a:t>
            </a:r>
            <a:r>
              <a:rPr lang="en-US" altLang="en-US" sz="1400" b="1">
                <a:solidFill>
                  <a:srgbClr val="0070C0"/>
                </a:solidFill>
              </a:rPr>
              <a:t>CLOUD TECHNOLOGY </a:t>
            </a:r>
            <a:r>
              <a:rPr lang="en-US" altLang="en-US" sz="1400"/>
              <a:t>has made it possible for IT services to make use of computing resources that are not physically present at the organisation's office.</a:t>
            </a:r>
          </a:p>
          <a:p>
            <a:r>
              <a:rPr lang="en-US" altLang="en-US" sz="1400"/>
              <a:t>They are remote services that are accessed via the internet. </a:t>
            </a:r>
          </a:p>
        </p:txBody>
      </p:sp>
      <p:sp>
        <p:nvSpPr>
          <p:cNvPr id="4" name="Content Placeholder 2">
            <a:extLst>
              <a:ext uri="{FF2B5EF4-FFF2-40B4-BE49-F238E27FC236}">
                <a16:creationId xmlns:a16="http://schemas.microsoft.com/office/drawing/2014/main" id="{45605076-1D9A-3496-0553-1EEBEA866D72}"/>
              </a:ext>
            </a:extLst>
          </p:cNvPr>
          <p:cNvSpPr txBox="1">
            <a:spLocks/>
          </p:cNvSpPr>
          <p:nvPr/>
        </p:nvSpPr>
        <p:spPr bwMode="auto">
          <a:xfrm>
            <a:off x="250825" y="3459163"/>
            <a:ext cx="4176713" cy="302577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400" kern="0" dirty="0"/>
              <a:t>As there is no physical box on site, this reduces the amount of money that the </a:t>
            </a:r>
            <a:r>
              <a:rPr lang="en-US" sz="1400" kern="0" dirty="0" err="1"/>
              <a:t>organisation</a:t>
            </a:r>
            <a:r>
              <a:rPr lang="en-US" sz="1400" kern="0" dirty="0"/>
              <a:t> has tied up in technology. </a:t>
            </a:r>
          </a:p>
          <a:p>
            <a:pPr>
              <a:defRPr/>
            </a:pPr>
            <a:r>
              <a:rPr lang="en-US" sz="1400" kern="0" dirty="0"/>
              <a:t>In </a:t>
            </a:r>
            <a:r>
              <a:rPr lang="en-US" sz="1400" kern="0" dirty="0" err="1"/>
              <a:t>addlition</a:t>
            </a:r>
            <a:r>
              <a:rPr lang="en-US" sz="1400" kern="0" dirty="0"/>
              <a:t>, the business does not need to worry about maintenance and any faults are usually handled by the service provider. </a:t>
            </a:r>
          </a:p>
          <a:p>
            <a:pPr>
              <a:defRPr/>
            </a:pPr>
            <a:r>
              <a:rPr lang="en-US" sz="1400" kern="0" dirty="0"/>
              <a:t>The servers tend to be a combination of physical and/or </a:t>
            </a:r>
            <a:r>
              <a:rPr lang="en-US" sz="1400" b="1" kern="0" dirty="0">
                <a:solidFill>
                  <a:srgbClr val="0070C0"/>
                </a:solidFill>
              </a:rPr>
              <a:t>VIRTUALISED SERVERS</a:t>
            </a:r>
            <a:r>
              <a:rPr lang="en-US" sz="1400" kern="0" dirty="0"/>
              <a:t>. </a:t>
            </a:r>
          </a:p>
          <a:p>
            <a:pPr>
              <a:defRPr/>
            </a:pPr>
            <a:r>
              <a:rPr lang="en-US" sz="1400" kern="0" dirty="0"/>
              <a:t>A </a:t>
            </a:r>
            <a:r>
              <a:rPr lang="en-US" sz="1400" kern="0" dirty="0" err="1"/>
              <a:t>virtualised</a:t>
            </a:r>
            <a:r>
              <a:rPr lang="en-US" sz="1400" kern="0" dirty="0"/>
              <a:t> server is simply a server where storage has been split into different parts and each one behaves like a server in its own right. </a:t>
            </a:r>
          </a:p>
          <a:p>
            <a:pPr>
              <a:defRPr/>
            </a:pPr>
            <a:r>
              <a:rPr lang="en-US" sz="1400" kern="0" dirty="0"/>
              <a:t>It is a physical server of virtual servers. </a:t>
            </a:r>
          </a:p>
        </p:txBody>
      </p:sp>
      <p:pic>
        <p:nvPicPr>
          <p:cNvPr id="90117" name="Picture 5" descr="A picture containing computer&#10;&#10;Description automatically generated">
            <a:extLst>
              <a:ext uri="{FF2B5EF4-FFF2-40B4-BE49-F238E27FC236}">
                <a16:creationId xmlns:a16="http://schemas.microsoft.com/office/drawing/2014/main" id="{3B20232C-98A3-1B7D-79AD-5B1724B2E0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25" y="279400"/>
            <a:ext cx="23812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8" name="Picture 7" descr="A picture containing drawing&#10;&#10;Description automatically generated">
            <a:extLst>
              <a:ext uri="{FF2B5EF4-FFF2-40B4-BE49-F238E27FC236}">
                <a16:creationId xmlns:a16="http://schemas.microsoft.com/office/drawing/2014/main" id="{00AA3596-F0A3-9715-D620-4C153B087C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9338" y="4524375"/>
            <a:ext cx="3532187" cy="202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9" name="Picture 8" descr="A picture containing screenshot&#10;&#10;Description automatically generated">
            <a:extLst>
              <a:ext uri="{FF2B5EF4-FFF2-40B4-BE49-F238E27FC236}">
                <a16:creationId xmlns:a16="http://schemas.microsoft.com/office/drawing/2014/main" id="{A7A57A14-5E51-8545-5CF7-029A862183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9338" y="3255963"/>
            <a:ext cx="38893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a:extLst>
              <a:ext uri="{FF2B5EF4-FFF2-40B4-BE49-F238E27FC236}">
                <a16:creationId xmlns:a16="http://schemas.microsoft.com/office/drawing/2014/main" id="{727F11FF-89A2-F487-F698-1730EC9E9B5A}"/>
              </a:ext>
            </a:extLst>
          </p:cNvPr>
          <p:cNvSpPr>
            <a:spLocks noGrp="1" noChangeArrowheads="1"/>
          </p:cNvSpPr>
          <p:nvPr>
            <p:ph type="title"/>
          </p:nvPr>
        </p:nvSpPr>
        <p:spPr>
          <a:xfrm>
            <a:off x="1182688" y="404813"/>
            <a:ext cx="7726362" cy="939800"/>
          </a:xfrm>
        </p:spPr>
        <p:txBody>
          <a:bodyPr/>
          <a:lstStyle/>
          <a:p>
            <a:r>
              <a:rPr lang="en-US" altLang="en-US" sz="3600" b="1">
                <a:solidFill>
                  <a:srgbClr val="0070C0"/>
                </a:solidFill>
              </a:rPr>
              <a:t>Cloud technology </a:t>
            </a:r>
            <a:endParaRPr lang="en-GB" altLang="en-US" sz="3600" b="1">
              <a:solidFill>
                <a:srgbClr val="0070C0"/>
              </a:solidFill>
            </a:endParaRPr>
          </a:p>
        </p:txBody>
      </p:sp>
      <p:sp>
        <p:nvSpPr>
          <p:cNvPr id="92163" name="Content Placeholder 2">
            <a:extLst>
              <a:ext uri="{FF2B5EF4-FFF2-40B4-BE49-F238E27FC236}">
                <a16:creationId xmlns:a16="http://schemas.microsoft.com/office/drawing/2014/main" id="{4F4088E7-DDB6-F20B-6730-921853C35EA2}"/>
              </a:ext>
            </a:extLst>
          </p:cNvPr>
          <p:cNvSpPr>
            <a:spLocks noGrp="1" noChangeArrowheads="1"/>
          </p:cNvSpPr>
          <p:nvPr>
            <p:ph idx="1"/>
          </p:nvPr>
        </p:nvSpPr>
        <p:spPr>
          <a:xfrm>
            <a:off x="334963" y="1954213"/>
            <a:ext cx="8493125" cy="1300162"/>
          </a:xfrm>
        </p:spPr>
        <p:txBody>
          <a:bodyPr/>
          <a:lstStyle/>
          <a:p>
            <a:r>
              <a:rPr lang="en-US" altLang="en-US" sz="1400"/>
              <a:t>Cloud servers tend to exist in larger data centres and warehouses so the physical conditions, the environment, the backup and the security are typically very good. </a:t>
            </a:r>
          </a:p>
          <a:p>
            <a:endParaRPr lang="en-US" altLang="en-US" sz="1400"/>
          </a:p>
          <a:p>
            <a:r>
              <a:rPr lang="en-US" altLang="en-US" sz="1400"/>
              <a:t>Even if the organisation is using cloud services, it should still continue to make occasional backups. </a:t>
            </a:r>
          </a:p>
          <a:p>
            <a:endParaRPr lang="en-US" altLang="en-US" sz="1400"/>
          </a:p>
          <a:p>
            <a:r>
              <a:rPr lang="en-US" altLang="en-US" sz="1400"/>
              <a:t>These will usually be scheduled automatically at off-peak times (when the organisation is closed, such as overnight). </a:t>
            </a:r>
          </a:p>
          <a:p>
            <a:pPr marL="457200" lvl="1" indent="0">
              <a:buFont typeface="Wingdings" panose="05000000000000000000" pitchFamily="2" charset="2"/>
              <a:buNone/>
            </a:pPr>
            <a:endParaRPr lang="en-GB" altLang="en-US" sz="1400"/>
          </a:p>
        </p:txBody>
      </p:sp>
      <p:sp>
        <p:nvSpPr>
          <p:cNvPr id="4" name="Content Placeholder 2">
            <a:extLst>
              <a:ext uri="{FF2B5EF4-FFF2-40B4-BE49-F238E27FC236}">
                <a16:creationId xmlns:a16="http://schemas.microsoft.com/office/drawing/2014/main" id="{4955805F-E300-0F91-D739-DFE0439560EB}"/>
              </a:ext>
            </a:extLst>
          </p:cNvPr>
          <p:cNvSpPr txBox="1">
            <a:spLocks/>
          </p:cNvSpPr>
          <p:nvPr/>
        </p:nvSpPr>
        <p:spPr bwMode="auto">
          <a:xfrm>
            <a:off x="334963" y="5445125"/>
            <a:ext cx="8513762" cy="130016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400" kern="0" dirty="0"/>
              <a:t>Each service provides different functionality and each is used for different purposes by different types of people.</a:t>
            </a:r>
          </a:p>
          <a:p>
            <a:pPr>
              <a:defRPr/>
            </a:pPr>
            <a:endParaRPr lang="en-US" sz="1400" kern="0" dirty="0"/>
          </a:p>
          <a:p>
            <a:pPr>
              <a:defRPr/>
            </a:pPr>
            <a:r>
              <a:rPr lang="en-US" sz="1400" kern="0" dirty="0"/>
              <a:t>Some solutions that a company might use may involve more than one simultaneously, much in the same way as a car relies on petrol, electricity, coolant, air and so on to work properly. </a:t>
            </a:r>
            <a:endParaRPr lang="en-GB" sz="1400" kern="0" dirty="0"/>
          </a:p>
        </p:txBody>
      </p:sp>
      <p:sp>
        <p:nvSpPr>
          <p:cNvPr id="5" name="Content Placeholder 2">
            <a:extLst>
              <a:ext uri="{FF2B5EF4-FFF2-40B4-BE49-F238E27FC236}">
                <a16:creationId xmlns:a16="http://schemas.microsoft.com/office/drawing/2014/main" id="{29B49ABC-CF90-4F06-774B-1478F3BEFB7A}"/>
              </a:ext>
            </a:extLst>
          </p:cNvPr>
          <p:cNvSpPr txBox="1">
            <a:spLocks/>
          </p:cNvSpPr>
          <p:nvPr/>
        </p:nvSpPr>
        <p:spPr bwMode="auto">
          <a:xfrm>
            <a:off x="334963" y="3865563"/>
            <a:ext cx="4832350" cy="129857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400" kern="0" dirty="0"/>
              <a:t>Cloud services can be split into four separate cloud technologies. </a:t>
            </a:r>
          </a:p>
          <a:p>
            <a:pPr lvl="1">
              <a:buFont typeface="+mj-lt"/>
              <a:buAutoNum type="alphaLcPeriod"/>
              <a:defRPr/>
            </a:pPr>
            <a:r>
              <a:rPr lang="en-GB" sz="1400" kern="0" dirty="0"/>
              <a:t>Software as a service (</a:t>
            </a:r>
            <a:r>
              <a:rPr lang="en-GB" sz="1400" kern="0" dirty="0" err="1"/>
              <a:t>Saas</a:t>
            </a:r>
            <a:r>
              <a:rPr lang="en-GB" sz="1400" kern="0" dirty="0"/>
              <a:t>)</a:t>
            </a:r>
          </a:p>
          <a:p>
            <a:pPr lvl="1">
              <a:buFont typeface="+mj-lt"/>
              <a:buAutoNum type="alphaLcPeriod"/>
              <a:defRPr/>
            </a:pPr>
            <a:r>
              <a:rPr lang="en-GB" sz="1400" kern="0" dirty="0"/>
              <a:t>Infrastructure as a service (</a:t>
            </a:r>
            <a:r>
              <a:rPr lang="en-GB" sz="1400" kern="0" dirty="0" err="1"/>
              <a:t>laas</a:t>
            </a:r>
            <a:r>
              <a:rPr lang="en-GB" sz="1400" kern="0" dirty="0"/>
              <a:t>)</a:t>
            </a:r>
          </a:p>
          <a:p>
            <a:pPr lvl="1">
              <a:buFont typeface="+mj-lt"/>
              <a:buAutoNum type="alphaLcPeriod"/>
              <a:defRPr/>
            </a:pPr>
            <a:r>
              <a:rPr lang="en-GB" sz="1400" kern="0" dirty="0"/>
              <a:t>Platform as a service (</a:t>
            </a:r>
            <a:r>
              <a:rPr lang="en-GB" sz="1400" kern="0" dirty="0" err="1"/>
              <a:t>Paas</a:t>
            </a:r>
            <a:r>
              <a:rPr lang="en-GB" sz="1400" kern="0" dirty="0"/>
              <a:t>)</a:t>
            </a:r>
          </a:p>
          <a:p>
            <a:pPr lvl="1">
              <a:buFont typeface="+mj-lt"/>
              <a:buAutoNum type="alphaLcPeriod"/>
              <a:defRPr/>
            </a:pPr>
            <a:r>
              <a:rPr lang="en-GB" sz="1400" kern="0" dirty="0"/>
              <a:t>Data as a service (</a:t>
            </a:r>
            <a:r>
              <a:rPr lang="en-GB" sz="1400" kern="0" dirty="0" err="1"/>
              <a:t>Daas</a:t>
            </a:r>
            <a:r>
              <a:rPr lang="en-GB" sz="1400" kern="0" dirty="0"/>
              <a:t>)</a:t>
            </a:r>
          </a:p>
          <a:p>
            <a:pPr marL="457200" lvl="1" indent="0">
              <a:buFont typeface="Wingdings" panose="05000000000000000000" pitchFamily="2" charset="2"/>
              <a:buNone/>
              <a:defRPr/>
            </a:pPr>
            <a:endParaRPr lang="en-GB" sz="1400" kern="0" dirty="0"/>
          </a:p>
        </p:txBody>
      </p:sp>
      <p:pic>
        <p:nvPicPr>
          <p:cNvPr id="92166" name="Picture 6" descr="A picture containing screenshot&#10;&#10;Description automatically generated">
            <a:extLst>
              <a:ext uri="{FF2B5EF4-FFF2-40B4-BE49-F238E27FC236}">
                <a16:creationId xmlns:a16="http://schemas.microsoft.com/office/drawing/2014/main" id="{B487F12F-8058-59D3-7EBB-845F2E4FBC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3250" y="242888"/>
            <a:ext cx="1933575"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7" name="Picture 8" descr="A screenshot of a cell phone&#10;&#10;Description automatically generated">
            <a:extLst>
              <a:ext uri="{FF2B5EF4-FFF2-40B4-BE49-F238E27FC236}">
                <a16:creationId xmlns:a16="http://schemas.microsoft.com/office/drawing/2014/main" id="{F6907A61-227A-C626-3759-1B04671401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6388" y="3786188"/>
            <a:ext cx="3133725"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72FE8515-0F1D-3BB3-B6DC-3D18A6DF79C4}"/>
              </a:ext>
            </a:extLst>
          </p:cNvPr>
          <p:cNvSpPr>
            <a:spLocks noGrp="1" noChangeArrowheads="1"/>
          </p:cNvSpPr>
          <p:nvPr>
            <p:ph type="title"/>
          </p:nvPr>
        </p:nvSpPr>
        <p:spPr/>
        <p:txBody>
          <a:bodyPr/>
          <a:lstStyle/>
          <a:p>
            <a:r>
              <a:rPr lang="en-US" altLang="en-US" sz="3600" b="1">
                <a:solidFill>
                  <a:srgbClr val="0070C0"/>
                </a:solidFill>
              </a:rPr>
              <a:t>Software as a service (Saas)</a:t>
            </a:r>
            <a:endParaRPr lang="en-GB" altLang="en-US" sz="3600" b="1">
              <a:solidFill>
                <a:srgbClr val="0070C0"/>
              </a:solidFill>
            </a:endParaRPr>
          </a:p>
        </p:txBody>
      </p:sp>
      <p:sp>
        <p:nvSpPr>
          <p:cNvPr id="94211" name="Content Placeholder 2">
            <a:extLst>
              <a:ext uri="{FF2B5EF4-FFF2-40B4-BE49-F238E27FC236}">
                <a16:creationId xmlns:a16="http://schemas.microsoft.com/office/drawing/2014/main" id="{895EEE30-4B23-18DD-D680-AE0B59DD33B3}"/>
              </a:ext>
            </a:extLst>
          </p:cNvPr>
          <p:cNvSpPr>
            <a:spLocks noGrp="1" noChangeArrowheads="1"/>
          </p:cNvSpPr>
          <p:nvPr>
            <p:ph idx="1"/>
          </p:nvPr>
        </p:nvSpPr>
        <p:spPr>
          <a:xfrm>
            <a:off x="323850" y="1844675"/>
            <a:ext cx="8585200" cy="1728788"/>
          </a:xfrm>
        </p:spPr>
        <p:txBody>
          <a:bodyPr/>
          <a:lstStyle/>
          <a:p>
            <a:r>
              <a:rPr lang="en-US" altLang="en-US" sz="1400"/>
              <a:t>This is a cloud-based application service, which replaces the more traditional installed software with applications that are provided by the service provider.</a:t>
            </a:r>
          </a:p>
          <a:p>
            <a:r>
              <a:rPr lang="en-US" altLang="en-US" sz="1400"/>
              <a:t>These are used via an internet BROWSER (for example, web-based applications to create spreadsheets, word-process, complete online forms such as tax, interact with a customer relationship management database). </a:t>
            </a:r>
          </a:p>
          <a:p>
            <a:r>
              <a:rPr lang="en-US" altLang="en-US" sz="1400"/>
              <a:t>A third party sells the organization a license that enables it to use applications it would previously have had to buy and install on its own machines. </a:t>
            </a:r>
          </a:p>
          <a:p>
            <a:endParaRPr lang="en-GB" altLang="en-US" sz="1600"/>
          </a:p>
        </p:txBody>
      </p:sp>
      <p:sp>
        <p:nvSpPr>
          <p:cNvPr id="4" name="Content Placeholder 2">
            <a:extLst>
              <a:ext uri="{FF2B5EF4-FFF2-40B4-BE49-F238E27FC236}">
                <a16:creationId xmlns:a16="http://schemas.microsoft.com/office/drawing/2014/main" id="{83618B10-A37A-7669-906C-21CF0667173D}"/>
              </a:ext>
            </a:extLst>
          </p:cNvPr>
          <p:cNvSpPr txBox="1">
            <a:spLocks/>
          </p:cNvSpPr>
          <p:nvPr/>
        </p:nvSpPr>
        <p:spPr bwMode="auto">
          <a:xfrm>
            <a:off x="352425" y="3573463"/>
            <a:ext cx="5659438" cy="3024187"/>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400" kern="0" dirty="0"/>
              <a:t>Advantages of </a:t>
            </a:r>
            <a:r>
              <a:rPr lang="en-US" sz="1400" kern="0" dirty="0" err="1"/>
              <a:t>Saas</a:t>
            </a:r>
            <a:r>
              <a:rPr lang="en-US" sz="1400" kern="0" dirty="0"/>
              <a:t> are that: </a:t>
            </a:r>
          </a:p>
          <a:p>
            <a:pPr lvl="1">
              <a:defRPr/>
            </a:pPr>
            <a:r>
              <a:rPr lang="en-US" sz="1400" kern="0" dirty="0"/>
              <a:t>it is always up to date</a:t>
            </a:r>
          </a:p>
          <a:p>
            <a:pPr lvl="1">
              <a:defRPr/>
            </a:pPr>
            <a:r>
              <a:rPr lang="en-US" sz="1400" kern="0" dirty="0"/>
              <a:t>no installations or patches are needed on individual machines in the office</a:t>
            </a:r>
          </a:p>
          <a:p>
            <a:pPr lvl="1">
              <a:defRPr/>
            </a:pPr>
            <a:r>
              <a:rPr lang="en-US" sz="1400" kern="0" dirty="0"/>
              <a:t>technical support needs are reduced</a:t>
            </a:r>
          </a:p>
          <a:p>
            <a:pPr lvl="1">
              <a:defRPr/>
            </a:pPr>
            <a:r>
              <a:rPr lang="en-US" sz="1400" kern="0" dirty="0"/>
              <a:t>staff always use the same version of the application so there will be no incompatibility issues with files</a:t>
            </a:r>
          </a:p>
          <a:p>
            <a:pPr lvl="1">
              <a:defRPr/>
            </a:pPr>
            <a:r>
              <a:rPr lang="en-US" sz="1400" kern="0" dirty="0"/>
              <a:t>it can be used outside office hours and outside the office itself</a:t>
            </a:r>
          </a:p>
          <a:p>
            <a:pPr lvl="1">
              <a:defRPr/>
            </a:pPr>
            <a:r>
              <a:rPr lang="en-US" sz="1400" kern="0" dirty="0"/>
              <a:t>users will normally be able to collaborate online. Commercial examples of the uses of </a:t>
            </a:r>
            <a:r>
              <a:rPr lang="en-US" sz="1400" kern="0" dirty="0" err="1"/>
              <a:t>Saas</a:t>
            </a:r>
            <a:r>
              <a:rPr lang="en-US" sz="1400" kern="0" dirty="0"/>
              <a:t> include:</a:t>
            </a:r>
          </a:p>
          <a:p>
            <a:pPr lvl="1">
              <a:defRPr/>
            </a:pPr>
            <a:r>
              <a:rPr lang="en-US" sz="1400" kern="0" dirty="0"/>
              <a:t>Google apps for Work™ (also known as G Suite™)</a:t>
            </a:r>
          </a:p>
          <a:p>
            <a:pPr lvl="1">
              <a:defRPr/>
            </a:pPr>
            <a:r>
              <a:rPr lang="en-US" sz="1400" kern="0" dirty="0"/>
              <a:t>Draw.io™ for creating flowcharts and diagrams online.</a:t>
            </a:r>
            <a:endParaRPr lang="en-GB" sz="1400" kern="0" dirty="0"/>
          </a:p>
          <a:p>
            <a:pPr>
              <a:defRPr/>
            </a:pPr>
            <a:endParaRPr lang="en-GB" sz="1600" kern="0" dirty="0"/>
          </a:p>
        </p:txBody>
      </p:sp>
      <p:pic>
        <p:nvPicPr>
          <p:cNvPr id="94213" name="Picture 11" descr="A close up of a logo&#10;&#10;Description automatically generated">
            <a:extLst>
              <a:ext uri="{FF2B5EF4-FFF2-40B4-BE49-F238E27FC236}">
                <a16:creationId xmlns:a16="http://schemas.microsoft.com/office/drawing/2014/main" id="{8E6CF3B8-0E93-6569-B972-A472134BBF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1863" y="3860800"/>
            <a:ext cx="276225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9D075290-ABE6-153A-7D4A-03DC6BCD97B6}"/>
              </a:ext>
            </a:extLst>
          </p:cNvPr>
          <p:cNvSpPr>
            <a:spLocks noGrp="1" noChangeArrowheads="1"/>
          </p:cNvSpPr>
          <p:nvPr>
            <p:ph type="title"/>
          </p:nvPr>
        </p:nvSpPr>
        <p:spPr/>
        <p:txBody>
          <a:bodyPr/>
          <a:lstStyle/>
          <a:p>
            <a:r>
              <a:rPr lang="en-US" altLang="en-US" sz="3200" b="1">
                <a:solidFill>
                  <a:srgbClr val="0070C0"/>
                </a:solidFill>
              </a:rPr>
              <a:t>Infrastructure as a service (Iaas)</a:t>
            </a:r>
            <a:endParaRPr lang="en-GB" altLang="en-US" sz="3200" b="1">
              <a:solidFill>
                <a:srgbClr val="0070C0"/>
              </a:solidFill>
            </a:endParaRPr>
          </a:p>
        </p:txBody>
      </p:sp>
      <p:sp>
        <p:nvSpPr>
          <p:cNvPr id="96259" name="Content Placeholder 2">
            <a:extLst>
              <a:ext uri="{FF2B5EF4-FFF2-40B4-BE49-F238E27FC236}">
                <a16:creationId xmlns:a16="http://schemas.microsoft.com/office/drawing/2014/main" id="{6D59EA1B-2830-BEFF-52EC-6689A8ED34D0}"/>
              </a:ext>
            </a:extLst>
          </p:cNvPr>
          <p:cNvSpPr>
            <a:spLocks noGrp="1" noChangeArrowheads="1"/>
          </p:cNvSpPr>
          <p:nvPr>
            <p:ph idx="1"/>
          </p:nvPr>
        </p:nvSpPr>
        <p:spPr>
          <a:xfrm>
            <a:off x="685800" y="1773238"/>
            <a:ext cx="7772400" cy="2376487"/>
          </a:xfrm>
        </p:spPr>
        <p:txBody>
          <a:bodyPr/>
          <a:lstStyle/>
          <a:p>
            <a:r>
              <a:rPr lang="en-US" altLang="en-US" sz="1400"/>
              <a:t>This service focuses more on the organisation's hardware. </a:t>
            </a:r>
          </a:p>
          <a:p>
            <a:r>
              <a:rPr lang="en-US" altLang="en-US" sz="1400"/>
              <a:t>For example, the organisation will not purchase physical servers and machines, but will instead use cloud-based hardware and virtualised instances as its base platform. </a:t>
            </a:r>
          </a:p>
          <a:p>
            <a:r>
              <a:rPr lang="en-US" altLang="en-US" sz="1400"/>
              <a:t>This means that a remote 'box' provides arn OPERATING SYSTEM (often Linux™ but MS® Windows Servers™ also exist). </a:t>
            </a:r>
          </a:p>
          <a:p>
            <a:r>
              <a:rPr lang="en-US" altLang="en-US" sz="1400"/>
              <a:t>laas can be referred to as consumption based: the organisation can use the services in much the same way as it uses electricity. </a:t>
            </a:r>
          </a:p>
          <a:p>
            <a:r>
              <a:rPr lang="en-US" altLang="en-US" sz="1400"/>
              <a:t>It pays for the amount of data it stores and the central processing or RANDOM-ACCESS MEMORY (RAM) it uses on an ongoing basis. </a:t>
            </a:r>
          </a:p>
          <a:p>
            <a:r>
              <a:rPr lang="en-US" altLang="en-US" sz="1400"/>
              <a:t>One of the main advantages is its scalability. </a:t>
            </a:r>
          </a:p>
        </p:txBody>
      </p:sp>
      <p:sp>
        <p:nvSpPr>
          <p:cNvPr id="4" name="Content Placeholder 2">
            <a:extLst>
              <a:ext uri="{FF2B5EF4-FFF2-40B4-BE49-F238E27FC236}">
                <a16:creationId xmlns:a16="http://schemas.microsoft.com/office/drawing/2014/main" id="{4EC4724A-67F1-DA88-70DD-03ABA604A9E1}"/>
              </a:ext>
            </a:extLst>
          </p:cNvPr>
          <p:cNvSpPr txBox="1">
            <a:spLocks/>
          </p:cNvSpPr>
          <p:nvPr/>
        </p:nvSpPr>
        <p:spPr bwMode="auto">
          <a:xfrm>
            <a:off x="685800" y="4313238"/>
            <a:ext cx="5241925" cy="2303462"/>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400" kern="0" dirty="0"/>
              <a:t>The main benefit of this type of service is that the </a:t>
            </a:r>
            <a:r>
              <a:rPr lang="en-US" sz="1400" kern="0" dirty="0" err="1"/>
              <a:t>organisation</a:t>
            </a:r>
            <a:r>
              <a:rPr lang="en-US" sz="1400" kern="0" dirty="0"/>
              <a:t> no longer has to worry about the hardware and networking equipment as this is managed by the service provider, which also manages and maintains the servers.</a:t>
            </a:r>
          </a:p>
          <a:p>
            <a:pPr>
              <a:defRPr/>
            </a:pPr>
            <a:r>
              <a:rPr lang="en-US" sz="1400" kern="0" dirty="0"/>
              <a:t>Commercial examples of the uses of </a:t>
            </a:r>
            <a:r>
              <a:rPr lang="en-US" sz="1400" kern="0" dirty="0" err="1"/>
              <a:t>laas</a:t>
            </a:r>
            <a:r>
              <a:rPr lang="en-US" sz="1400" kern="0" dirty="0"/>
              <a:t> include: </a:t>
            </a:r>
          </a:p>
          <a:p>
            <a:pPr lvl="1">
              <a:defRPr/>
            </a:pPr>
            <a:r>
              <a:rPr lang="en-US" sz="1400" kern="0" dirty="0"/>
              <a:t>Amazon Web Services®</a:t>
            </a:r>
          </a:p>
          <a:p>
            <a:pPr lvl="1">
              <a:defRPr/>
            </a:pPr>
            <a:r>
              <a:rPr lang="en-US" sz="1400" kern="0" dirty="0"/>
              <a:t>Microsoft&lt;t Azure™</a:t>
            </a:r>
          </a:p>
          <a:p>
            <a:pPr lvl="1">
              <a:defRPr/>
            </a:pPr>
            <a:r>
              <a:rPr lang="en-US" sz="1400" kern="0" dirty="0"/>
              <a:t>Google Compute Engine™</a:t>
            </a:r>
            <a:endParaRPr lang="en-GB" sz="1400" kern="0" dirty="0"/>
          </a:p>
        </p:txBody>
      </p:sp>
      <p:pic>
        <p:nvPicPr>
          <p:cNvPr id="96261" name="Picture 5" descr="A close up of a map&#10;&#10;Description automatically generated">
            <a:extLst>
              <a:ext uri="{FF2B5EF4-FFF2-40B4-BE49-F238E27FC236}">
                <a16:creationId xmlns:a16="http://schemas.microsoft.com/office/drawing/2014/main" id="{F4E0EBCF-D7F1-31E8-8173-A952B70458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888" y="4313238"/>
            <a:ext cx="2619375"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2A41C863-7E83-5CAF-FDBE-BBC1DC538B3B}"/>
              </a:ext>
            </a:extLst>
          </p:cNvPr>
          <p:cNvSpPr>
            <a:spLocks noGrp="1" noChangeArrowheads="1"/>
          </p:cNvSpPr>
          <p:nvPr>
            <p:ph type="title"/>
          </p:nvPr>
        </p:nvSpPr>
        <p:spPr/>
        <p:txBody>
          <a:bodyPr/>
          <a:lstStyle/>
          <a:p>
            <a:r>
              <a:rPr lang="en-US" altLang="en-US" sz="3600" b="1">
                <a:solidFill>
                  <a:srgbClr val="0070C0"/>
                </a:solidFill>
              </a:rPr>
              <a:t>Platform as a service (Paas)</a:t>
            </a:r>
            <a:endParaRPr lang="en-GB" altLang="en-US" sz="3600" b="1">
              <a:solidFill>
                <a:srgbClr val="0070C0"/>
              </a:solidFill>
            </a:endParaRPr>
          </a:p>
        </p:txBody>
      </p:sp>
      <p:sp>
        <p:nvSpPr>
          <p:cNvPr id="98307" name="Content Placeholder 2">
            <a:extLst>
              <a:ext uri="{FF2B5EF4-FFF2-40B4-BE49-F238E27FC236}">
                <a16:creationId xmlns:a16="http://schemas.microsoft.com/office/drawing/2014/main" id="{193401BA-A32F-26A6-BEAE-ED54DEFD2ACA}"/>
              </a:ext>
            </a:extLst>
          </p:cNvPr>
          <p:cNvSpPr>
            <a:spLocks noGrp="1" noChangeArrowheads="1"/>
          </p:cNvSpPr>
          <p:nvPr>
            <p:ph idx="1"/>
          </p:nvPr>
        </p:nvSpPr>
        <p:spPr>
          <a:xfrm>
            <a:off x="685800" y="1949450"/>
            <a:ext cx="7989888" cy="1624013"/>
          </a:xfrm>
        </p:spPr>
        <p:txBody>
          <a:bodyPr/>
          <a:lstStyle/>
          <a:p>
            <a:r>
              <a:rPr lang="en-US" altLang="en-US" sz="1600"/>
              <a:t>This approach is often used in software development because it allows the programmers to work at a higher level with less complexity.</a:t>
            </a:r>
          </a:p>
          <a:p>
            <a:endParaRPr lang="en-US" altLang="en-US" sz="1600"/>
          </a:p>
          <a:p>
            <a:r>
              <a:rPr lang="en-US" altLang="en-US" sz="1600"/>
              <a:t>It can be useful where multiple developers are working together on a single project. </a:t>
            </a:r>
          </a:p>
          <a:p>
            <a:endParaRPr lang="en-US" altLang="en-US" sz="1600"/>
          </a:p>
          <a:p>
            <a:r>
              <a:rPr lang="en-US" altLang="en-US" sz="1600"/>
              <a:t>The hardware infrastructure is provided and the development applications are managed by the organisation. </a:t>
            </a:r>
          </a:p>
        </p:txBody>
      </p:sp>
      <p:sp>
        <p:nvSpPr>
          <p:cNvPr id="4" name="Content Placeholder 2">
            <a:extLst>
              <a:ext uri="{FF2B5EF4-FFF2-40B4-BE49-F238E27FC236}">
                <a16:creationId xmlns:a16="http://schemas.microsoft.com/office/drawing/2014/main" id="{33C857B0-0FCD-09ED-99EE-F69DCEAF1819}"/>
              </a:ext>
            </a:extLst>
          </p:cNvPr>
          <p:cNvSpPr txBox="1">
            <a:spLocks/>
          </p:cNvSpPr>
          <p:nvPr/>
        </p:nvSpPr>
        <p:spPr bwMode="auto">
          <a:xfrm>
            <a:off x="685800" y="4581525"/>
            <a:ext cx="4173538" cy="140652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kern="0" dirty="0"/>
              <a:t>Commercial examples of </a:t>
            </a:r>
            <a:r>
              <a:rPr lang="en-US" sz="1600" kern="0" dirty="0" err="1"/>
              <a:t>Paas</a:t>
            </a:r>
            <a:r>
              <a:rPr lang="en-US" sz="1600" kern="0" dirty="0"/>
              <a:t> include: </a:t>
            </a:r>
          </a:p>
          <a:p>
            <a:pPr lvl="1">
              <a:defRPr/>
            </a:pPr>
            <a:r>
              <a:rPr lang="en-US" sz="1600" kern="0" dirty="0"/>
              <a:t>Open PaaS</a:t>
            </a:r>
          </a:p>
          <a:p>
            <a:pPr lvl="1">
              <a:defRPr/>
            </a:pPr>
            <a:r>
              <a:rPr lang="en-US" sz="1600" kern="0" dirty="0"/>
              <a:t>Mobile PaaS</a:t>
            </a:r>
          </a:p>
          <a:p>
            <a:pPr lvl="1">
              <a:defRPr/>
            </a:pPr>
            <a:r>
              <a:rPr lang="en-US" sz="1600" kern="0" dirty="0"/>
              <a:t>PaaS for Rapid Development.</a:t>
            </a:r>
          </a:p>
          <a:p>
            <a:pPr>
              <a:defRPr/>
            </a:pPr>
            <a:endParaRPr lang="en-GB" sz="1800" kern="0" dirty="0"/>
          </a:p>
        </p:txBody>
      </p:sp>
      <p:pic>
        <p:nvPicPr>
          <p:cNvPr id="98309" name="Picture 5" descr="A close up of a map&#10;&#10;Description automatically generated">
            <a:extLst>
              <a:ext uri="{FF2B5EF4-FFF2-40B4-BE49-F238E27FC236}">
                <a16:creationId xmlns:a16="http://schemas.microsoft.com/office/drawing/2014/main" id="{1A7F988E-C50D-613D-D0B9-E9E592D279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5600" y="4413250"/>
            <a:ext cx="2619375"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35F0F839-3A01-C9F2-392A-1E308DCC1EB5}"/>
              </a:ext>
            </a:extLst>
          </p:cNvPr>
          <p:cNvSpPr>
            <a:spLocks noGrp="1" noChangeArrowheads="1"/>
          </p:cNvSpPr>
          <p:nvPr>
            <p:ph type="title"/>
          </p:nvPr>
        </p:nvSpPr>
        <p:spPr/>
        <p:txBody>
          <a:bodyPr/>
          <a:lstStyle/>
          <a:p>
            <a:r>
              <a:rPr lang="en-US" altLang="en-US" sz="3600" b="1">
                <a:solidFill>
                  <a:srgbClr val="0070C0"/>
                </a:solidFill>
              </a:rPr>
              <a:t>Data as a service (Daas)</a:t>
            </a:r>
            <a:endParaRPr lang="en-GB" altLang="en-US" sz="3600" b="1">
              <a:solidFill>
                <a:srgbClr val="0070C0"/>
              </a:solidFill>
            </a:endParaRPr>
          </a:p>
        </p:txBody>
      </p:sp>
      <p:sp>
        <p:nvSpPr>
          <p:cNvPr id="100355" name="Content Placeholder 2">
            <a:extLst>
              <a:ext uri="{FF2B5EF4-FFF2-40B4-BE49-F238E27FC236}">
                <a16:creationId xmlns:a16="http://schemas.microsoft.com/office/drawing/2014/main" id="{EFC5457C-C177-90B4-FE0D-32D387EC06DA}"/>
              </a:ext>
            </a:extLst>
          </p:cNvPr>
          <p:cNvSpPr>
            <a:spLocks noGrp="1" noChangeArrowheads="1"/>
          </p:cNvSpPr>
          <p:nvPr>
            <p:ph idx="1"/>
          </p:nvPr>
        </p:nvSpPr>
        <p:spPr>
          <a:xfrm>
            <a:off x="539750" y="1839913"/>
            <a:ext cx="8208963" cy="1065212"/>
          </a:xfrm>
        </p:spPr>
        <p:txBody>
          <a:bodyPr/>
          <a:lstStyle/>
          <a:p>
            <a:r>
              <a:rPr lang="en-US" altLang="en-US" sz="1600"/>
              <a:t>In traditional systems, the format and structure of data was linked closely with the application that created and managed it. </a:t>
            </a:r>
          </a:p>
          <a:p>
            <a:r>
              <a:rPr lang="en-US" altLang="en-US" sz="1600"/>
              <a:t>This meant that any changes in data or processing would affect each other. </a:t>
            </a:r>
          </a:p>
          <a:p>
            <a:r>
              <a:rPr lang="en-US" altLang="en-US" sz="1600"/>
              <a:t>This required the code or the data to be restructured to keep everything working. </a:t>
            </a:r>
          </a:p>
        </p:txBody>
      </p:sp>
      <p:sp>
        <p:nvSpPr>
          <p:cNvPr id="4" name="Content Placeholder 2">
            <a:extLst>
              <a:ext uri="{FF2B5EF4-FFF2-40B4-BE49-F238E27FC236}">
                <a16:creationId xmlns:a16="http://schemas.microsoft.com/office/drawing/2014/main" id="{DBB86CA5-27A5-A1C7-9773-96D4694D8E26}"/>
              </a:ext>
            </a:extLst>
          </p:cNvPr>
          <p:cNvSpPr txBox="1">
            <a:spLocks/>
          </p:cNvSpPr>
          <p:nvPr/>
        </p:nvSpPr>
        <p:spPr bwMode="auto">
          <a:xfrm>
            <a:off x="547688" y="3141663"/>
            <a:ext cx="5400675" cy="106362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kern="0" dirty="0" err="1"/>
              <a:t>Daas</a:t>
            </a:r>
            <a:r>
              <a:rPr lang="en-US" sz="1600" kern="0" dirty="0"/>
              <a:t> involves separating the two and having data provided in a neutral way that multiple applications can 'talk' to. </a:t>
            </a:r>
          </a:p>
          <a:p>
            <a:pPr>
              <a:defRPr/>
            </a:pPr>
            <a:r>
              <a:rPr lang="en-US" sz="1600" kern="0" dirty="0"/>
              <a:t>Then, even if the application changes, it can use methods that translate the data sources so that they can be used.</a:t>
            </a:r>
          </a:p>
        </p:txBody>
      </p:sp>
      <p:sp>
        <p:nvSpPr>
          <p:cNvPr id="5" name="Content Placeholder 2">
            <a:extLst>
              <a:ext uri="{FF2B5EF4-FFF2-40B4-BE49-F238E27FC236}">
                <a16:creationId xmlns:a16="http://schemas.microsoft.com/office/drawing/2014/main" id="{D3EECF09-BC2A-8267-8D00-06218A4F4B46}"/>
              </a:ext>
            </a:extLst>
          </p:cNvPr>
          <p:cNvSpPr txBox="1">
            <a:spLocks/>
          </p:cNvSpPr>
          <p:nvPr/>
        </p:nvSpPr>
        <p:spPr bwMode="auto">
          <a:xfrm>
            <a:off x="539750" y="4868863"/>
            <a:ext cx="5616575" cy="1873250"/>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kern="0" dirty="0"/>
              <a:t>Examples of data that could be used include: </a:t>
            </a:r>
          </a:p>
          <a:p>
            <a:pPr>
              <a:defRPr/>
            </a:pPr>
            <a:endParaRPr lang="en-US" sz="1600" kern="0" dirty="0"/>
          </a:p>
          <a:p>
            <a:pPr lvl="1">
              <a:defRPr/>
            </a:pPr>
            <a:r>
              <a:rPr lang="en-GB" sz="1600" kern="0" dirty="0"/>
              <a:t>population data</a:t>
            </a:r>
          </a:p>
          <a:p>
            <a:pPr lvl="1">
              <a:defRPr/>
            </a:pPr>
            <a:r>
              <a:rPr lang="en-GB" sz="1600" kern="0" dirty="0"/>
              <a:t>statistics</a:t>
            </a:r>
          </a:p>
          <a:p>
            <a:pPr lvl="1">
              <a:defRPr/>
            </a:pPr>
            <a:r>
              <a:rPr lang="en-GB" sz="1600" kern="0" dirty="0"/>
              <a:t>consumer data.</a:t>
            </a:r>
          </a:p>
        </p:txBody>
      </p:sp>
      <p:pic>
        <p:nvPicPr>
          <p:cNvPr id="100358" name="Picture 6" descr="A picture containing laptop, computer, table, sitting&#10;&#10;Description automatically generated">
            <a:extLst>
              <a:ext uri="{FF2B5EF4-FFF2-40B4-BE49-F238E27FC236}">
                <a16:creationId xmlns:a16="http://schemas.microsoft.com/office/drawing/2014/main" id="{6FD3B82C-A871-3105-4751-C6CC91CC48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8363" y="3157538"/>
            <a:ext cx="28575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59" name="Picture 8" descr="A screenshot of a cell phone&#10;&#10;Description automatically generated">
            <a:extLst>
              <a:ext uri="{FF2B5EF4-FFF2-40B4-BE49-F238E27FC236}">
                <a16:creationId xmlns:a16="http://schemas.microsoft.com/office/drawing/2014/main" id="{22340217-AA42-C16E-2BF2-E6DF8C5C93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4963" y="5129213"/>
            <a:ext cx="3390900"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E18D1-BC85-95AE-858C-0170A778136B}"/>
              </a:ext>
            </a:extLst>
          </p:cNvPr>
          <p:cNvSpPr>
            <a:spLocks noGrp="1"/>
          </p:cNvSpPr>
          <p:nvPr>
            <p:ph type="title"/>
          </p:nvPr>
        </p:nvSpPr>
        <p:spPr/>
        <p:txBody>
          <a:bodyPr/>
          <a:lstStyle/>
          <a:p>
            <a:r>
              <a:rPr lang="en-GB" sz="3600" b="1" dirty="0">
                <a:solidFill>
                  <a:srgbClr val="0070C0"/>
                </a:solidFill>
              </a:rPr>
              <a:t>Lifecycle Stages</a:t>
            </a:r>
          </a:p>
        </p:txBody>
      </p:sp>
      <p:sp>
        <p:nvSpPr>
          <p:cNvPr id="3" name="Content Placeholder 2">
            <a:extLst>
              <a:ext uri="{FF2B5EF4-FFF2-40B4-BE49-F238E27FC236}">
                <a16:creationId xmlns:a16="http://schemas.microsoft.com/office/drawing/2014/main" id="{D85904C5-9D33-AD91-CBE3-9CE9E9B29F51}"/>
              </a:ext>
            </a:extLst>
          </p:cNvPr>
          <p:cNvSpPr>
            <a:spLocks noGrp="1"/>
          </p:cNvSpPr>
          <p:nvPr>
            <p:ph idx="1"/>
          </p:nvPr>
        </p:nvSpPr>
        <p:spPr>
          <a:xfrm>
            <a:off x="251520" y="1772816"/>
            <a:ext cx="8657530" cy="2808312"/>
          </a:xfrm>
        </p:spPr>
        <p:txBody>
          <a:bodyPr/>
          <a:lstStyle/>
          <a:p>
            <a:r>
              <a:rPr lang="en-GB" sz="1800" dirty="0"/>
              <a:t>Emerging technologies follow a typical lifecycle path that helps assess their current state in the market and potential future development:</a:t>
            </a:r>
          </a:p>
          <a:p>
            <a:pPr lvl="1"/>
            <a:r>
              <a:rPr lang="en-GB" sz="1600" b="1" dirty="0"/>
              <a:t>Innovation:</a:t>
            </a:r>
            <a:r>
              <a:rPr lang="en-GB" sz="1600" dirty="0"/>
              <a:t> New or experimental technologies with limited adoption and high uncertainty.</a:t>
            </a:r>
          </a:p>
          <a:p>
            <a:pPr lvl="1"/>
            <a:r>
              <a:rPr lang="en-GB" sz="1600" b="1" dirty="0"/>
              <a:t>Growth:</a:t>
            </a:r>
            <a:r>
              <a:rPr lang="en-GB" sz="1600" dirty="0"/>
              <a:t> Rapidly developing technologies gaining traction in industries with increasing adoption.</a:t>
            </a:r>
          </a:p>
          <a:p>
            <a:pPr lvl="1"/>
            <a:r>
              <a:rPr lang="en-GB" sz="1600" b="1" dirty="0"/>
              <a:t>Maturity:</a:t>
            </a:r>
            <a:r>
              <a:rPr lang="en-GB" sz="1600" dirty="0"/>
              <a:t> Well-established technologies widely used across sectors with slower innovation.</a:t>
            </a:r>
          </a:p>
          <a:p>
            <a:pPr lvl="1"/>
            <a:r>
              <a:rPr lang="en-GB" sz="1600" b="1" dirty="0"/>
              <a:t>Decline:</a:t>
            </a:r>
            <a:r>
              <a:rPr lang="en-GB" sz="1600" dirty="0"/>
              <a:t> Outdated or replaced technologies experiencing reduced relevance and adoption.</a:t>
            </a:r>
          </a:p>
          <a:p>
            <a:endParaRPr lang="en-GB" sz="1800" dirty="0"/>
          </a:p>
          <a:p>
            <a:endParaRPr lang="en-GB" sz="1800" dirty="0"/>
          </a:p>
        </p:txBody>
      </p:sp>
      <p:sp>
        <p:nvSpPr>
          <p:cNvPr id="5" name="Content Placeholder 2">
            <a:extLst>
              <a:ext uri="{FF2B5EF4-FFF2-40B4-BE49-F238E27FC236}">
                <a16:creationId xmlns:a16="http://schemas.microsoft.com/office/drawing/2014/main" id="{F25F438E-B7DE-E2B3-1D9C-E71E71F40D99}"/>
              </a:ext>
            </a:extLst>
          </p:cNvPr>
          <p:cNvSpPr txBox="1">
            <a:spLocks/>
          </p:cNvSpPr>
          <p:nvPr/>
        </p:nvSpPr>
        <p:spPr bwMode="auto">
          <a:xfrm>
            <a:off x="254735" y="4613436"/>
            <a:ext cx="8657530" cy="1656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dirty="0"/>
              <a:t>Two common models used to identify these stages include:</a:t>
            </a:r>
          </a:p>
          <a:p>
            <a:pPr lvl="1"/>
            <a:r>
              <a:rPr lang="en-GB" sz="1400" b="1" dirty="0"/>
              <a:t>Technology Adoption Lifecycle</a:t>
            </a:r>
            <a:r>
              <a:rPr lang="en-GB" sz="1400" dirty="0"/>
              <a:t> – categorizes users by adoption behaviour: Innovators, Early Adopters, Early Majority, Late Majority, and Laggards.</a:t>
            </a:r>
          </a:p>
          <a:p>
            <a:pPr lvl="1"/>
            <a:r>
              <a:rPr lang="en-GB" sz="1400" b="1" dirty="0"/>
              <a:t>Gartner Hype Cycle</a:t>
            </a:r>
            <a:r>
              <a:rPr lang="en-GB" sz="1400" dirty="0"/>
              <a:t> – tracks the visibility and maturity of a technology through five phases: Innovation Trigger, Peak of Inflated Expectations, Trough of Disillusionment, Slope of Enlightenment, and Plateau of Productivity.</a:t>
            </a:r>
          </a:p>
          <a:p>
            <a:endParaRPr lang="en-GB" sz="1800" kern="0" dirty="0"/>
          </a:p>
        </p:txBody>
      </p:sp>
    </p:spTree>
    <p:extLst>
      <p:ext uri="{BB962C8B-B14F-4D97-AF65-F5344CB8AC3E}">
        <p14:creationId xmlns:p14="http://schemas.microsoft.com/office/powerpoint/2010/main" val="3521665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76A26-1E3F-1F80-2B90-A07D4E6BF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04F8E2-E8E2-AC95-8195-C22681034FF7}"/>
              </a:ext>
            </a:extLst>
          </p:cNvPr>
          <p:cNvSpPr>
            <a:spLocks noGrp="1"/>
          </p:cNvSpPr>
          <p:nvPr>
            <p:ph type="title"/>
          </p:nvPr>
        </p:nvSpPr>
        <p:spPr/>
        <p:txBody>
          <a:bodyPr/>
          <a:lstStyle/>
          <a:p>
            <a:r>
              <a:rPr lang="en-GB" sz="3600" b="1" dirty="0">
                <a:solidFill>
                  <a:srgbClr val="0070C0"/>
                </a:solidFill>
              </a:rPr>
              <a:t>Analyse Technology Maturity</a:t>
            </a:r>
          </a:p>
        </p:txBody>
      </p:sp>
      <p:sp>
        <p:nvSpPr>
          <p:cNvPr id="3" name="Content Placeholder 2">
            <a:extLst>
              <a:ext uri="{FF2B5EF4-FFF2-40B4-BE49-F238E27FC236}">
                <a16:creationId xmlns:a16="http://schemas.microsoft.com/office/drawing/2014/main" id="{A35D352F-4C2E-4004-D22F-623E5B2990E8}"/>
              </a:ext>
            </a:extLst>
          </p:cNvPr>
          <p:cNvSpPr>
            <a:spLocks noGrp="1"/>
          </p:cNvSpPr>
          <p:nvPr>
            <p:ph idx="1"/>
          </p:nvPr>
        </p:nvSpPr>
        <p:spPr>
          <a:xfrm>
            <a:off x="264179" y="1889876"/>
            <a:ext cx="8657530" cy="2160240"/>
          </a:xfrm>
          <a:ln>
            <a:solidFill>
              <a:srgbClr val="0070C0"/>
            </a:solidFill>
          </a:ln>
        </p:spPr>
        <p:txBody>
          <a:bodyPr/>
          <a:lstStyle/>
          <a:p>
            <a:r>
              <a:rPr lang="en-GB" sz="1800" b="1" dirty="0"/>
              <a:t>Technology Adoption Lifecycle:</a:t>
            </a:r>
          </a:p>
          <a:p>
            <a:pPr lvl="1"/>
            <a:r>
              <a:rPr lang="en-GB" sz="1400" b="1" dirty="0"/>
              <a:t> </a:t>
            </a:r>
            <a:r>
              <a:rPr lang="en-GB" sz="1600" dirty="0"/>
              <a:t>Explains how users adopt technology over time: </a:t>
            </a:r>
          </a:p>
          <a:p>
            <a:pPr lvl="2"/>
            <a:r>
              <a:rPr lang="en-GB" sz="1600" b="1" dirty="0">
                <a:solidFill>
                  <a:srgbClr val="0070C0"/>
                </a:solidFill>
              </a:rPr>
              <a:t>Innovators</a:t>
            </a:r>
            <a:r>
              <a:rPr lang="en-GB" sz="1600" dirty="0"/>
              <a:t> – first to try new tech</a:t>
            </a:r>
          </a:p>
          <a:p>
            <a:pPr lvl="2"/>
            <a:r>
              <a:rPr lang="en-GB" sz="1600" b="1" dirty="0">
                <a:solidFill>
                  <a:srgbClr val="0070C0"/>
                </a:solidFill>
              </a:rPr>
              <a:t>Early Adopters </a:t>
            </a:r>
            <a:r>
              <a:rPr lang="en-GB" sz="1600" dirty="0"/>
              <a:t>– opinion leaders and trendsetters</a:t>
            </a:r>
          </a:p>
          <a:p>
            <a:pPr lvl="2"/>
            <a:r>
              <a:rPr lang="en-GB" sz="1600" b="1" dirty="0">
                <a:solidFill>
                  <a:srgbClr val="0070C0"/>
                </a:solidFill>
              </a:rPr>
              <a:t>Early Majority </a:t>
            </a:r>
            <a:r>
              <a:rPr lang="en-GB" sz="1600" dirty="0"/>
              <a:t>– practical users adopting after proven success</a:t>
            </a:r>
          </a:p>
          <a:p>
            <a:pPr lvl="2"/>
            <a:r>
              <a:rPr lang="en-GB" sz="1600" b="1" dirty="0">
                <a:solidFill>
                  <a:srgbClr val="0070C0"/>
                </a:solidFill>
              </a:rPr>
              <a:t>Late Majority </a:t>
            </a:r>
            <a:r>
              <a:rPr lang="en-GB" sz="1600" dirty="0"/>
              <a:t>– sceptical users adopting out of necessity</a:t>
            </a:r>
          </a:p>
          <a:p>
            <a:pPr lvl="2"/>
            <a:r>
              <a:rPr lang="en-GB" sz="1600" b="1" dirty="0">
                <a:solidFill>
                  <a:srgbClr val="0070C0"/>
                </a:solidFill>
              </a:rPr>
              <a:t>Laggards</a:t>
            </a:r>
            <a:r>
              <a:rPr lang="en-GB" sz="1600" dirty="0"/>
              <a:t> – last to adopt, often due to resistance to change</a:t>
            </a:r>
          </a:p>
          <a:p>
            <a:pPr marL="0" indent="0">
              <a:buNone/>
            </a:pPr>
            <a:endParaRPr lang="en-GB" sz="1800" dirty="0"/>
          </a:p>
          <a:p>
            <a:endParaRPr lang="en-GB" sz="1800" dirty="0"/>
          </a:p>
        </p:txBody>
      </p:sp>
      <p:sp>
        <p:nvSpPr>
          <p:cNvPr id="5" name="Content Placeholder 2">
            <a:extLst>
              <a:ext uri="{FF2B5EF4-FFF2-40B4-BE49-F238E27FC236}">
                <a16:creationId xmlns:a16="http://schemas.microsoft.com/office/drawing/2014/main" id="{E413E964-76AE-DC7F-DF8A-82CF539E4A2E}"/>
              </a:ext>
            </a:extLst>
          </p:cNvPr>
          <p:cNvSpPr txBox="1">
            <a:spLocks/>
          </p:cNvSpPr>
          <p:nvPr/>
        </p:nvSpPr>
        <p:spPr bwMode="auto">
          <a:xfrm>
            <a:off x="251520" y="4365103"/>
            <a:ext cx="8568952" cy="2160239"/>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Gartner Hype Cycle:</a:t>
            </a:r>
          </a:p>
          <a:p>
            <a:pPr lvl="1"/>
            <a:r>
              <a:rPr lang="en-GB" sz="1600" dirty="0"/>
              <a:t>Tracks the visibility and maturity of a technology across five phases:</a:t>
            </a:r>
          </a:p>
          <a:p>
            <a:pPr lvl="2"/>
            <a:r>
              <a:rPr lang="en-GB" sz="1600" b="1" dirty="0">
                <a:solidFill>
                  <a:srgbClr val="0070C0"/>
                </a:solidFill>
              </a:rPr>
              <a:t>Innovation Trigger</a:t>
            </a:r>
            <a:r>
              <a:rPr lang="en-GB" sz="1600" dirty="0">
                <a:solidFill>
                  <a:srgbClr val="0070C0"/>
                </a:solidFill>
              </a:rPr>
              <a:t> </a:t>
            </a:r>
            <a:r>
              <a:rPr lang="en-GB" sz="1600" dirty="0"/>
              <a:t>– breakthrough ideas begin</a:t>
            </a:r>
          </a:p>
          <a:p>
            <a:pPr lvl="2"/>
            <a:r>
              <a:rPr lang="en-GB" sz="1600" b="1" dirty="0">
                <a:solidFill>
                  <a:srgbClr val="0070C0"/>
                </a:solidFill>
              </a:rPr>
              <a:t>Peak of Inflated Expectations</a:t>
            </a:r>
            <a:r>
              <a:rPr lang="en-GB" sz="1600" dirty="0">
                <a:solidFill>
                  <a:srgbClr val="0070C0"/>
                </a:solidFill>
              </a:rPr>
              <a:t> </a:t>
            </a:r>
            <a:r>
              <a:rPr lang="en-GB" sz="1600" dirty="0"/>
              <a:t>– hype grows, unrealistic expectations</a:t>
            </a:r>
          </a:p>
          <a:p>
            <a:pPr lvl="2"/>
            <a:r>
              <a:rPr lang="en-GB" sz="1600" b="1" dirty="0">
                <a:solidFill>
                  <a:srgbClr val="0070C0"/>
                </a:solidFill>
              </a:rPr>
              <a:t>Trough of Disillusionment</a:t>
            </a:r>
            <a:r>
              <a:rPr lang="en-GB" sz="1600" dirty="0">
                <a:solidFill>
                  <a:srgbClr val="0070C0"/>
                </a:solidFill>
              </a:rPr>
              <a:t> </a:t>
            </a:r>
            <a:r>
              <a:rPr lang="en-GB" sz="1600" dirty="0"/>
              <a:t>– disappointment as reality sets in</a:t>
            </a:r>
          </a:p>
          <a:p>
            <a:pPr lvl="2"/>
            <a:r>
              <a:rPr lang="en-GB" sz="1600" b="1" dirty="0">
                <a:solidFill>
                  <a:srgbClr val="0070C0"/>
                </a:solidFill>
              </a:rPr>
              <a:t>Slope of Enlightenment</a:t>
            </a:r>
            <a:r>
              <a:rPr lang="en-GB" sz="1600" dirty="0">
                <a:solidFill>
                  <a:srgbClr val="0070C0"/>
                </a:solidFill>
              </a:rPr>
              <a:t> </a:t>
            </a:r>
            <a:r>
              <a:rPr lang="en-GB" sz="1600" dirty="0"/>
              <a:t>– practical applications emerge</a:t>
            </a:r>
          </a:p>
          <a:p>
            <a:pPr lvl="2"/>
            <a:r>
              <a:rPr lang="en-GB" sz="1600" b="1" dirty="0">
                <a:solidFill>
                  <a:srgbClr val="0070C0"/>
                </a:solidFill>
              </a:rPr>
              <a:t>Plateau of Productivity</a:t>
            </a:r>
            <a:r>
              <a:rPr lang="en-GB" sz="1600" dirty="0">
                <a:solidFill>
                  <a:srgbClr val="0070C0"/>
                </a:solidFill>
              </a:rPr>
              <a:t> </a:t>
            </a:r>
            <a:r>
              <a:rPr lang="en-GB" sz="1600" dirty="0"/>
              <a:t>– widespread and sustainable adoption</a:t>
            </a:r>
          </a:p>
          <a:p>
            <a:endParaRPr lang="en-GB" sz="1800" kern="0" dirty="0"/>
          </a:p>
        </p:txBody>
      </p:sp>
      <p:pic>
        <p:nvPicPr>
          <p:cNvPr id="3074" name="Picture 2" descr="Gen AI will hit 'Trough of Disillusionment in 2025">
            <a:extLst>
              <a:ext uri="{FF2B5EF4-FFF2-40B4-BE49-F238E27FC236}">
                <a16:creationId xmlns:a16="http://schemas.microsoft.com/office/drawing/2014/main" id="{2DF063E0-DE80-8FB6-81A5-3A1F4D87C1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8304" y="4509120"/>
            <a:ext cx="1368152" cy="76982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rossing the Chasm in the Technology Adoption Life Cycle">
            <a:extLst>
              <a:ext uri="{FF2B5EF4-FFF2-40B4-BE49-F238E27FC236}">
                <a16:creationId xmlns:a16="http://schemas.microsoft.com/office/drawing/2014/main" id="{5D401E36-EE07-B80F-8372-A31632A72D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271" y="2024298"/>
            <a:ext cx="1978201" cy="1112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62732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FDE85-43AD-A449-1273-D4AB14883D8D}"/>
            </a:ext>
          </a:extLst>
        </p:cNvPr>
        <p:cNvGrpSpPr/>
        <p:nvPr/>
      </p:nvGrpSpPr>
      <p:grpSpPr>
        <a:xfrm>
          <a:off x="0" y="0"/>
          <a:ext cx="0" cy="0"/>
          <a:chOff x="0" y="0"/>
          <a:chExt cx="0" cy="0"/>
        </a:xfrm>
      </p:grpSpPr>
      <p:sp>
        <p:nvSpPr>
          <p:cNvPr id="102402" name="Title 1">
            <a:extLst>
              <a:ext uri="{FF2B5EF4-FFF2-40B4-BE49-F238E27FC236}">
                <a16:creationId xmlns:a16="http://schemas.microsoft.com/office/drawing/2014/main" id="{04442078-3F11-363D-603F-19720A89AD20}"/>
              </a:ext>
            </a:extLst>
          </p:cNvPr>
          <p:cNvSpPr>
            <a:spLocks noGrp="1" noChangeArrowheads="1"/>
          </p:cNvSpPr>
          <p:nvPr>
            <p:ph type="title"/>
          </p:nvPr>
        </p:nvSpPr>
        <p:spPr>
          <a:xfrm>
            <a:off x="1182688" y="404813"/>
            <a:ext cx="7726362" cy="939800"/>
          </a:xfrm>
        </p:spPr>
        <p:txBody>
          <a:bodyPr/>
          <a:lstStyle/>
          <a:p>
            <a:r>
              <a:rPr lang="en-GB" altLang="en-US" sz="2400" b="1" dirty="0">
                <a:solidFill>
                  <a:srgbClr val="FF0000"/>
                </a:solidFill>
              </a:rPr>
              <a:t>Activity - </a:t>
            </a:r>
            <a:r>
              <a:rPr lang="en-GB" sz="2400" b="1" dirty="0">
                <a:solidFill>
                  <a:srgbClr val="FF0000"/>
                </a:solidFill>
              </a:rPr>
              <a:t>Investigating Emerging Technologies lifecycles</a:t>
            </a:r>
            <a:endParaRPr lang="en-GB" altLang="en-US" sz="2400" b="1" dirty="0">
              <a:solidFill>
                <a:srgbClr val="FF0000"/>
              </a:solidFill>
            </a:endParaRPr>
          </a:p>
        </p:txBody>
      </p:sp>
      <p:sp>
        <p:nvSpPr>
          <p:cNvPr id="102403" name="Content Placeholder 2">
            <a:extLst>
              <a:ext uri="{FF2B5EF4-FFF2-40B4-BE49-F238E27FC236}">
                <a16:creationId xmlns:a16="http://schemas.microsoft.com/office/drawing/2014/main" id="{DE7CE92D-F119-8EF0-DD8A-6076A947449B}"/>
              </a:ext>
            </a:extLst>
          </p:cNvPr>
          <p:cNvSpPr>
            <a:spLocks noGrp="1" noChangeArrowheads="1"/>
          </p:cNvSpPr>
          <p:nvPr>
            <p:ph idx="1"/>
          </p:nvPr>
        </p:nvSpPr>
        <p:spPr>
          <a:xfrm>
            <a:off x="258618" y="1834642"/>
            <a:ext cx="8820235" cy="851274"/>
          </a:xfrm>
        </p:spPr>
        <p:txBody>
          <a:bodyPr/>
          <a:lstStyle/>
          <a:p>
            <a:r>
              <a:rPr lang="en-US" sz="1800" b="1" dirty="0"/>
              <a:t>Objective:</a:t>
            </a:r>
            <a:r>
              <a:rPr lang="en-US" sz="1800" dirty="0"/>
              <a:t> </a:t>
            </a:r>
            <a:r>
              <a:rPr lang="en-GB" sz="1800" dirty="0"/>
              <a:t>Explore how emerging technologies are used today and where they are on their lifecycle (innovation, growth, maturity, or decline).</a:t>
            </a:r>
          </a:p>
        </p:txBody>
      </p:sp>
      <p:sp>
        <p:nvSpPr>
          <p:cNvPr id="3" name="Content Placeholder 2">
            <a:extLst>
              <a:ext uri="{FF2B5EF4-FFF2-40B4-BE49-F238E27FC236}">
                <a16:creationId xmlns:a16="http://schemas.microsoft.com/office/drawing/2014/main" id="{E17CDC8B-34E0-B9C5-FED2-A13A8032C1B3}"/>
              </a:ext>
            </a:extLst>
          </p:cNvPr>
          <p:cNvSpPr txBox="1">
            <a:spLocks noChangeArrowheads="1"/>
          </p:cNvSpPr>
          <p:nvPr/>
        </p:nvSpPr>
        <p:spPr bwMode="auto">
          <a:xfrm>
            <a:off x="258618" y="2720496"/>
            <a:ext cx="4464496" cy="2317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600" b="1" dirty="0"/>
              <a:t>Team Goals:</a:t>
            </a:r>
            <a:endParaRPr lang="en-GB" sz="1600" dirty="0"/>
          </a:p>
          <a:p>
            <a:pPr lvl="1"/>
            <a:r>
              <a:rPr lang="en-GB" sz="1800" dirty="0"/>
              <a:t>Research 5 emerging technologies</a:t>
            </a:r>
          </a:p>
          <a:p>
            <a:pPr lvl="1"/>
            <a:r>
              <a:rPr lang="en-GB" sz="1800" dirty="0"/>
              <a:t>Analyse real-world applications</a:t>
            </a:r>
          </a:p>
          <a:p>
            <a:pPr lvl="1"/>
            <a:r>
              <a:rPr lang="en-GB" sz="1800" dirty="0"/>
              <a:t>Identify lifecycle stages</a:t>
            </a:r>
          </a:p>
          <a:p>
            <a:pPr lvl="1"/>
            <a:r>
              <a:rPr lang="en-GB" sz="1800" dirty="0"/>
              <a:t>Present findings in a collaborative report and presentation</a:t>
            </a:r>
          </a:p>
          <a:p>
            <a:pPr lvl="1"/>
            <a:endParaRPr lang="en-GB" sz="1600" dirty="0"/>
          </a:p>
        </p:txBody>
      </p:sp>
      <p:sp>
        <p:nvSpPr>
          <p:cNvPr id="4" name="Content Placeholder 2">
            <a:extLst>
              <a:ext uri="{FF2B5EF4-FFF2-40B4-BE49-F238E27FC236}">
                <a16:creationId xmlns:a16="http://schemas.microsoft.com/office/drawing/2014/main" id="{13FDBC22-7CA4-A964-976B-D8CDF1D94B10}"/>
              </a:ext>
            </a:extLst>
          </p:cNvPr>
          <p:cNvSpPr txBox="1">
            <a:spLocks noChangeArrowheads="1"/>
          </p:cNvSpPr>
          <p:nvPr/>
        </p:nvSpPr>
        <p:spPr bwMode="auto">
          <a:xfrm>
            <a:off x="5093093" y="5301208"/>
            <a:ext cx="3960441" cy="1329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Outcome:</a:t>
            </a:r>
          </a:p>
          <a:p>
            <a:pPr lvl="1"/>
            <a:r>
              <a:rPr lang="en-GB" sz="1800" dirty="0"/>
              <a:t>Understand the maturity and industry relevance of each technology</a:t>
            </a:r>
            <a:r>
              <a:rPr lang="en-US" sz="1800" dirty="0"/>
              <a:t>.</a:t>
            </a:r>
            <a:endParaRPr lang="en-GB" sz="1800" dirty="0"/>
          </a:p>
        </p:txBody>
      </p:sp>
      <p:sp>
        <p:nvSpPr>
          <p:cNvPr id="2" name="Content Placeholder 2">
            <a:extLst>
              <a:ext uri="{FF2B5EF4-FFF2-40B4-BE49-F238E27FC236}">
                <a16:creationId xmlns:a16="http://schemas.microsoft.com/office/drawing/2014/main" id="{CC0C0F01-53AE-9C07-CBDC-0DB09D2ACBB4}"/>
              </a:ext>
            </a:extLst>
          </p:cNvPr>
          <p:cNvSpPr txBox="1">
            <a:spLocks noChangeArrowheads="1"/>
          </p:cNvSpPr>
          <p:nvPr/>
        </p:nvSpPr>
        <p:spPr bwMode="auto">
          <a:xfrm>
            <a:off x="4788024" y="4172085"/>
            <a:ext cx="3954544" cy="1096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600" b="1" dirty="0"/>
              <a:t>Key Lifecycle Models:</a:t>
            </a:r>
            <a:endParaRPr lang="en-GB" sz="1600" dirty="0"/>
          </a:p>
          <a:p>
            <a:pPr lvl="1"/>
            <a:r>
              <a:rPr lang="en-GB" sz="1800" dirty="0"/>
              <a:t>Technology Adoption Lifecycle</a:t>
            </a:r>
          </a:p>
          <a:p>
            <a:pPr lvl="1"/>
            <a:r>
              <a:rPr lang="en-GB" sz="1800" dirty="0"/>
              <a:t>Gartner Hype Cycle</a:t>
            </a:r>
          </a:p>
          <a:p>
            <a:pPr lvl="1"/>
            <a:endParaRPr lang="en-GB" sz="1600" dirty="0"/>
          </a:p>
        </p:txBody>
      </p:sp>
      <p:pic>
        <p:nvPicPr>
          <p:cNvPr id="1026" name="Picture 2" descr="Business Reporter - Improving Business Performance - Using the technology  adoption lifecycle to overcome clocks">
            <a:extLst>
              <a:ext uri="{FF2B5EF4-FFF2-40B4-BE49-F238E27FC236}">
                <a16:creationId xmlns:a16="http://schemas.microsoft.com/office/drawing/2014/main" id="{8459E135-A311-ED48-D048-2B48A3108B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0542" y="4953716"/>
            <a:ext cx="2856427" cy="190428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3 Exciting New Trends in the Gartner Emerging Technologies Hype Cycle">
            <a:extLst>
              <a:ext uri="{FF2B5EF4-FFF2-40B4-BE49-F238E27FC236}">
                <a16:creationId xmlns:a16="http://schemas.microsoft.com/office/drawing/2014/main" id="{7F1F2377-410B-C1DC-F728-C0641A9A15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4439" y="2420888"/>
            <a:ext cx="1658129" cy="1524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2421763"/>
      </p:ext>
    </p:extLst>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646F5E18B7F644AA5B880758D99BE0" ma:contentTypeVersion="0" ma:contentTypeDescription="Create a new document." ma:contentTypeScope="" ma:versionID="5dd15dd6ca134e1876e3a61e71abe859">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5E1BA9E-A680-4C5C-A652-C348FC683A4A}"/>
</file>

<file path=customXml/itemProps2.xml><?xml version="1.0" encoding="utf-8"?>
<ds:datastoreItem xmlns:ds="http://schemas.openxmlformats.org/officeDocument/2006/customXml" ds:itemID="{75A45EE5-9EB2-4B20-B1AE-886F68B9E0BA}"/>
</file>

<file path=customXml/itemProps3.xml><?xml version="1.0" encoding="utf-8"?>
<ds:datastoreItem xmlns:ds="http://schemas.openxmlformats.org/officeDocument/2006/customXml" ds:itemID="{03EE9BCC-F586-45EF-8F75-9C6D041D1343}"/>
</file>

<file path=docProps/app.xml><?xml version="1.0" encoding="utf-8"?>
<Properties xmlns="http://schemas.openxmlformats.org/officeDocument/2006/extended-properties" xmlns:vt="http://schemas.openxmlformats.org/officeDocument/2006/docPropsVTypes">
  <Template/>
  <TotalTime>2548</TotalTime>
  <Words>5178</Words>
  <Application>Microsoft Office PowerPoint</Application>
  <PresentationFormat>On-screen Show (4:3)</PresentationFormat>
  <Paragraphs>392</Paragraphs>
  <Slides>39</Slides>
  <Notes>38</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39</vt:i4>
      </vt:variant>
    </vt:vector>
  </HeadingPairs>
  <TitlesOfParts>
    <vt:vector size="44" baseType="lpstr">
      <vt:lpstr>Arial</vt:lpstr>
      <vt:lpstr>Tahoma</vt:lpstr>
      <vt:lpstr>Wingdings</vt:lpstr>
      <vt:lpstr>Blends</vt:lpstr>
      <vt:lpstr>1_Blends</vt:lpstr>
      <vt:lpstr>Occupational Specialist Component Content: Digital Production, Design  and Development</vt:lpstr>
      <vt:lpstr>The unit outcomes</vt:lpstr>
      <vt:lpstr>Learning Objectives</vt:lpstr>
      <vt:lpstr>Mobile technology in different sectors </vt:lpstr>
      <vt:lpstr>Mobile technology in different sectors </vt:lpstr>
      <vt:lpstr>Development and use of smart devices/smartphone apps </vt:lpstr>
      <vt:lpstr>5G</vt:lpstr>
      <vt:lpstr> Emerging mobile technology and its future use </vt:lpstr>
      <vt:lpstr>Travel </vt:lpstr>
      <vt:lpstr>Intelligent computer </vt:lpstr>
      <vt:lpstr>Robotics </vt:lpstr>
      <vt:lpstr>Automation </vt:lpstr>
      <vt:lpstr>Global Positioning System (GPS) </vt:lpstr>
      <vt:lpstr>Computer-aided design (CAD) </vt:lpstr>
      <vt:lpstr>Voice control </vt:lpstr>
      <vt:lpstr>Use of drones </vt:lpstr>
      <vt:lpstr>Artificial intelligence </vt:lpstr>
      <vt:lpstr>Artificial intelligence </vt:lpstr>
      <vt:lpstr>Finance </vt:lpstr>
      <vt:lpstr>Augmented reality (AR) </vt:lpstr>
      <vt:lpstr>Virtual reality (VR) </vt:lpstr>
      <vt:lpstr>Use of social media </vt:lpstr>
      <vt:lpstr>Use of social media </vt:lpstr>
      <vt:lpstr>Internet of Things (loT)</vt:lpstr>
      <vt:lpstr>IoT - Consumers </vt:lpstr>
      <vt:lpstr>Enterprise deployments</vt:lpstr>
      <vt:lpstr>Enabling technologies </vt:lpstr>
      <vt:lpstr>Development of wearable technology </vt:lpstr>
      <vt:lpstr>Smart glasses</vt:lpstr>
      <vt:lpstr>Goggles</vt:lpstr>
      <vt:lpstr>Cloud technology </vt:lpstr>
      <vt:lpstr>Cloud technology </vt:lpstr>
      <vt:lpstr>Software as a service (Saas)</vt:lpstr>
      <vt:lpstr>Infrastructure as a service (Iaas)</vt:lpstr>
      <vt:lpstr>Platform as a service (Paas)</vt:lpstr>
      <vt:lpstr>Data as a service (Daas)</vt:lpstr>
      <vt:lpstr>Lifecycle Stages</vt:lpstr>
      <vt:lpstr>Analyse Technology Maturity</vt:lpstr>
      <vt:lpstr>Activity - Investigating Emerging Technologies lifecycles</vt:lpstr>
    </vt:vector>
  </TitlesOfParts>
  <Company>dabs.com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Programming and Visual Basic</dc:title>
  <dc:creator>Hamish</dc:creator>
  <cp:lastModifiedBy>Hamish Spencer</cp:lastModifiedBy>
  <cp:revision>376</cp:revision>
  <dcterms:created xsi:type="dcterms:W3CDTF">2010-11-28T12:04:27Z</dcterms:created>
  <dcterms:modified xsi:type="dcterms:W3CDTF">2025-07-31T14:56:20Z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0x0101001C646F5E18B7F644AA5B880758D99BE0</vt:lpwstr>
  </property>
</Properties>
</file>