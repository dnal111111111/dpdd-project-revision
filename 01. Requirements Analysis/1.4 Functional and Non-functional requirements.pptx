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841" r:id="rId2"/>
  </p:sldMasterIdLst>
  <p:notesMasterIdLst>
    <p:notesMasterId r:id="rId16"/>
  </p:notesMasterIdLst>
  <p:sldIdLst>
    <p:sldId id="345" r:id="rId3"/>
    <p:sldId id="342" r:id="rId4"/>
    <p:sldId id="381" r:id="rId5"/>
    <p:sldId id="364" r:id="rId6"/>
    <p:sldId id="397" r:id="rId7"/>
    <p:sldId id="398" r:id="rId8"/>
    <p:sldId id="399" r:id="rId9"/>
    <p:sldId id="402" r:id="rId10"/>
    <p:sldId id="400" r:id="rId11"/>
    <p:sldId id="401" r:id="rId12"/>
    <p:sldId id="403" r:id="rId13"/>
    <p:sldId id="404" r:id="rId14"/>
    <p:sldId id="388" r:id="rId15"/>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34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13" autoAdjust="0"/>
    <p:restoredTop sz="73932" autoAdjust="0"/>
  </p:normalViewPr>
  <p:slideViewPr>
    <p:cSldViewPr>
      <p:cViewPr varScale="1">
        <p:scale>
          <a:sx n="78" d="100"/>
          <a:sy n="78" d="100"/>
        </p:scale>
        <p:origin x="1362" y="84"/>
      </p:cViewPr>
      <p:guideLst>
        <p:guide orient="horz" pos="2341"/>
        <p:guide pos="2880"/>
      </p:guideLst>
    </p:cSldViewPr>
  </p:slideViewPr>
  <p:notesTextViewPr>
    <p:cViewPr>
      <p:scale>
        <a:sx n="100" d="100"/>
        <a:sy n="100" d="100"/>
      </p:scale>
      <p:origin x="0" y="0"/>
    </p:cViewPr>
  </p:notesTextViewPr>
  <p:notesViewPr>
    <p:cSldViewPr>
      <p:cViewPr varScale="1">
        <p:scale>
          <a:sx n="53" d="100"/>
          <a:sy n="53" d="100"/>
        </p:scale>
        <p:origin x="-1794"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customXml" Target="../customXml/item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ustomXml" Target="../customXml/item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BDFBC1B9-AC23-6F1F-72F2-BC9CB74F6B0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47" name="Rectangle 3">
            <a:extLst>
              <a:ext uri="{FF2B5EF4-FFF2-40B4-BE49-F238E27FC236}">
                <a16:creationId xmlns:a16="http://schemas.microsoft.com/office/drawing/2014/main" id="{2F78C47F-6B68-167F-D1B0-B03D4F92468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cs typeface="Arial" pitchFamily="34" charset="0"/>
              </a:defRPr>
            </a:lvl1pPr>
          </a:lstStyle>
          <a:p>
            <a:pPr>
              <a:defRPr/>
            </a:pPr>
            <a:endParaRPr lang="en-GB"/>
          </a:p>
        </p:txBody>
      </p:sp>
      <p:sp>
        <p:nvSpPr>
          <p:cNvPr id="15364" name="Rectangle 4">
            <a:extLst>
              <a:ext uri="{FF2B5EF4-FFF2-40B4-BE49-F238E27FC236}">
                <a16:creationId xmlns:a16="http://schemas.microsoft.com/office/drawing/2014/main" id="{53F8599F-4234-5B55-633C-8B668BA53B0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a:extLst>
              <a:ext uri="{FF2B5EF4-FFF2-40B4-BE49-F238E27FC236}">
                <a16:creationId xmlns:a16="http://schemas.microsoft.com/office/drawing/2014/main" id="{1D7B8690-C660-DD5F-9A8A-AD99663EC7C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31750" name="Rectangle 6">
            <a:extLst>
              <a:ext uri="{FF2B5EF4-FFF2-40B4-BE49-F238E27FC236}">
                <a16:creationId xmlns:a16="http://schemas.microsoft.com/office/drawing/2014/main" id="{F90A1A49-9B61-E9D4-AC01-D57DB852DA7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cs typeface="Arial" pitchFamily="34" charset="0"/>
              </a:defRPr>
            </a:lvl1pPr>
          </a:lstStyle>
          <a:p>
            <a:pPr>
              <a:defRPr/>
            </a:pPr>
            <a:endParaRPr lang="en-GB"/>
          </a:p>
        </p:txBody>
      </p:sp>
      <p:sp>
        <p:nvSpPr>
          <p:cNvPr id="31751" name="Rectangle 7">
            <a:extLst>
              <a:ext uri="{FF2B5EF4-FFF2-40B4-BE49-F238E27FC236}">
                <a16:creationId xmlns:a16="http://schemas.microsoft.com/office/drawing/2014/main" id="{8F1B5F26-A5C2-3296-55DC-B376BC8C49C4}"/>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3753857-A10B-42B7-865E-B3EB711CC47B}"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oftwareimprovementgroup.com/resources/security-by-design-in-9-steps/"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solcept.ch/en/blog/critical-systems/secure-by-design/"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568F0362-D102-97EB-42F5-B5A290B833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EAAC5D7-E3F4-4FBF-8CB8-207F3ECD1F73}" type="slidenum">
              <a:rPr lang="en-GB" altLang="en-US" smtClean="0"/>
              <a:pPr>
                <a:spcBef>
                  <a:spcPct val="0"/>
                </a:spcBef>
              </a:pPr>
              <a:t>1</a:t>
            </a:fld>
            <a:endParaRPr lang="en-GB" altLang="en-US"/>
          </a:p>
        </p:txBody>
      </p:sp>
      <p:sp>
        <p:nvSpPr>
          <p:cNvPr id="17411" name="Rectangle 2">
            <a:extLst>
              <a:ext uri="{FF2B5EF4-FFF2-40B4-BE49-F238E27FC236}">
                <a16:creationId xmlns:a16="http://schemas.microsoft.com/office/drawing/2014/main" id="{E5580D8D-9BB1-8BCB-66F1-FE4D15192AD8}"/>
              </a:ext>
            </a:extLst>
          </p:cNvPr>
          <p:cNvSpPr>
            <a:spLocks noGrp="1" noRot="1" noChangeAspect="1" noChangeArrowheads="1" noTextEdit="1"/>
          </p:cNvSpPr>
          <p:nvPr>
            <p:ph type="sldImg"/>
          </p:nvPr>
        </p:nvSpPr>
        <p:spPr>
          <a:ln/>
        </p:spPr>
      </p:sp>
      <p:sp>
        <p:nvSpPr>
          <p:cNvPr id="17412" name="Rectangle 3">
            <a:extLst>
              <a:ext uri="{FF2B5EF4-FFF2-40B4-BE49-F238E27FC236}">
                <a16:creationId xmlns:a16="http://schemas.microsoft.com/office/drawing/2014/main" id="{DE78D2B4-D914-D078-9A6A-70DCA90DA0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ACCDD5B-A0E2-E64F-1ED5-C6D92582B5F1}"/>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9C91B6C-068B-2BDA-9BF2-8A7459CEADD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9460" name="Slide Number Placeholder 3">
            <a:extLst>
              <a:ext uri="{FF2B5EF4-FFF2-40B4-BE49-F238E27FC236}">
                <a16:creationId xmlns:a16="http://schemas.microsoft.com/office/drawing/2014/main" id="{193447D8-79DC-E795-5C6B-F895197A29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0718C5B-243E-4748-AFA8-3DDDF96F044E}" type="slidenum">
              <a:rPr lang="en-GB" altLang="en-US" smtClean="0"/>
              <a:pPr>
                <a:spcBef>
                  <a:spcPct val="0"/>
                </a:spcBef>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86D0E290-EF1D-B635-06B5-BF20A630CE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8EDE841-4091-4BAB-AEBA-3AC4AFC69CEA}" type="slidenum">
              <a:rPr lang="en-GB" altLang="en-US" smtClean="0"/>
              <a:pPr/>
              <a:t>3</a:t>
            </a:fld>
            <a:endParaRPr lang="en-GB" altLang="en-US"/>
          </a:p>
        </p:txBody>
      </p:sp>
      <p:sp>
        <p:nvSpPr>
          <p:cNvPr id="21507" name="Rectangle 2">
            <a:extLst>
              <a:ext uri="{FF2B5EF4-FFF2-40B4-BE49-F238E27FC236}">
                <a16:creationId xmlns:a16="http://schemas.microsoft.com/office/drawing/2014/main" id="{040EFDFF-03CA-628D-64B5-2B2A18ACCF68}"/>
              </a:ext>
            </a:extLst>
          </p:cNvPr>
          <p:cNvSpPr>
            <a:spLocks noGrp="1" noRot="1" noChangeAspect="1" noChangeArrowheads="1" noTextEdit="1"/>
          </p:cNvSpPr>
          <p:nvPr>
            <p:ph type="sldImg"/>
          </p:nvPr>
        </p:nvSpPr>
        <p:spPr>
          <a:ln/>
        </p:spPr>
      </p:sp>
      <p:sp>
        <p:nvSpPr>
          <p:cNvPr id="21508" name="Rectangle 3">
            <a:extLst>
              <a:ext uri="{FF2B5EF4-FFF2-40B4-BE49-F238E27FC236}">
                <a16:creationId xmlns:a16="http://schemas.microsoft.com/office/drawing/2014/main" id="{F2BF19E1-ED68-0BFF-7A18-6FC19210A0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2D6C-04EB-9872-856B-188F077F919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D00B0A0-3142-3EFE-8F0A-AF9DD98C6B02}"/>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131C3B01-2955-6126-DD31-A376486920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19460" name="Slide Number Placeholder 3">
            <a:extLst>
              <a:ext uri="{FF2B5EF4-FFF2-40B4-BE49-F238E27FC236}">
                <a16:creationId xmlns:a16="http://schemas.microsoft.com/office/drawing/2014/main" id="{1248B560-F751-3CF0-C73E-B05AC84DF8A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4</a:t>
            </a:fld>
            <a:endParaRPr lang="en-GB" altLang="en-US"/>
          </a:p>
        </p:txBody>
      </p:sp>
    </p:spTree>
    <p:extLst>
      <p:ext uri="{BB962C8B-B14F-4D97-AF65-F5344CB8AC3E}">
        <p14:creationId xmlns:p14="http://schemas.microsoft.com/office/powerpoint/2010/main" val="38788737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F96AF-DDDE-C65D-81C4-2E9E6D8D2D4E}"/>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0FCB02A-2D47-CA93-DE84-32071670E93F}"/>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B575ACC3-285B-CBA1-7F6D-E1BFA704B8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https://www.einfochips.com/blog/secure-by-design-principles-for-external-accessible-interfaces/</a:t>
            </a:r>
          </a:p>
          <a:p>
            <a:r>
              <a:rPr lang="en-GB" sz="1800" dirty="0">
                <a:solidFill>
                  <a:srgbClr val="000000"/>
                </a:solidFill>
                <a:hlinkClick r:id="rId3"/>
              </a:rPr>
              <a:t>https://www.softwareimprovementgroup.com/resources/security-by-design-in-9-steps/</a:t>
            </a:r>
            <a:endParaRPr lang="en-GB" sz="1800" dirty="0">
              <a:solidFill>
                <a:srgbClr val="000000"/>
              </a:solidFill>
            </a:endParaRPr>
          </a:p>
          <a:p>
            <a:r>
              <a:rPr lang="en-GB" sz="1800" dirty="0">
                <a:solidFill>
                  <a:srgbClr val="000000"/>
                </a:solidFill>
                <a:hlinkClick r:id="rId4"/>
              </a:rPr>
              <a:t>https://www.solcept.ch/en/blog/critical-systems/secure-by-design/</a:t>
            </a:r>
            <a:endParaRPr lang="en-GB" sz="1800" dirty="0">
              <a:solidFill>
                <a:srgbClr val="000000"/>
              </a:solidFill>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altLang="en-US" sz="1800" dirty="0"/>
              <a:t>https://reciprocity.com/resources/what-is-security-by-design/</a:t>
            </a:r>
          </a:p>
          <a:p>
            <a:endParaRPr lang="en-GB" sz="1800" dirty="0">
              <a:solidFill>
                <a:srgbClr val="000000"/>
              </a:solidFill>
            </a:endParaRPr>
          </a:p>
          <a:p>
            <a:pPr lvl="1">
              <a:defRPr/>
            </a:pPr>
            <a:endParaRPr lang="en-GB" sz="1800" dirty="0">
              <a:solidFill>
                <a:srgbClr val="000000"/>
              </a:solidFill>
            </a:endParaRPr>
          </a:p>
          <a:p>
            <a:endParaRPr lang="en-GB" dirty="0"/>
          </a:p>
          <a:p>
            <a:r>
              <a:rPr lang="en-GB" altLang="en-US" sz="1200" dirty="0">
                <a:solidFill>
                  <a:srgbClr val="4A4A4A"/>
                </a:solidFill>
              </a:rPr>
              <a:t>For a long time, the topic of information security was neglected, because in the market the demand for </a:t>
            </a:r>
            <a:r>
              <a:rPr lang="en-GB" altLang="en-US" sz="1200" b="1" dirty="0"/>
              <a:t>functional requirements </a:t>
            </a:r>
            <a:r>
              <a:rPr lang="en-GB" altLang="en-US" sz="1200" dirty="0">
                <a:solidFill>
                  <a:srgbClr val="4A4A4A"/>
                </a:solidFill>
              </a:rPr>
              <a:t>was greater than the demand for </a:t>
            </a:r>
            <a:r>
              <a:rPr lang="en-GB" altLang="en-US" sz="1200" b="1" dirty="0">
                <a:solidFill>
                  <a:srgbClr val="4A4A4A"/>
                </a:solidFill>
              </a:rPr>
              <a:t>non-functional</a:t>
            </a:r>
            <a:r>
              <a:rPr lang="en-GB" altLang="en-US" sz="1200" dirty="0">
                <a:solidFill>
                  <a:srgbClr val="4A4A4A"/>
                </a:solidFill>
              </a:rPr>
              <a:t> requirements. </a:t>
            </a:r>
          </a:p>
          <a:p>
            <a:r>
              <a:rPr lang="en-GB" altLang="en-US" sz="1200" dirty="0">
                <a:solidFill>
                  <a:srgbClr val="FF0000"/>
                </a:solidFill>
              </a:rPr>
              <a:t>Information security </a:t>
            </a:r>
            <a:r>
              <a:rPr lang="en-GB" altLang="en-US" sz="1200" dirty="0">
                <a:solidFill>
                  <a:srgbClr val="4A4A4A"/>
                </a:solidFill>
              </a:rPr>
              <a:t>is a non-functional requirement, and implementing it costs money and time.</a:t>
            </a:r>
            <a:endParaRPr lang="en-GB" altLang="en-US" sz="1200" dirty="0">
              <a:solidFill>
                <a:srgbClr val="202124"/>
              </a:solidFill>
            </a:endParaRPr>
          </a:p>
          <a:p>
            <a:r>
              <a:rPr lang="en-GB" altLang="en-US" sz="1200" dirty="0">
                <a:solidFill>
                  <a:srgbClr val="202124"/>
                </a:solidFill>
              </a:rPr>
              <a:t>Secure by design means that software engineers have designed the software to be secure from the outset so as to reduce the likelihood of flaws that might compromise a company's information security. </a:t>
            </a:r>
          </a:p>
          <a:p>
            <a:pPr>
              <a:defRPr/>
            </a:pPr>
            <a:r>
              <a:rPr lang="en-GB" altLang="en-US" sz="1200" kern="0" dirty="0">
                <a:solidFill>
                  <a:srgbClr val="202124"/>
                </a:solidFill>
              </a:rPr>
              <a:t>An effective approach to cybersecurity risk management requires a complete cybersecurity lifecycle perspective.</a:t>
            </a:r>
          </a:p>
          <a:p>
            <a:pPr>
              <a:defRPr/>
            </a:pPr>
            <a:r>
              <a:rPr lang="en-GB" sz="1200" dirty="0"/>
              <a:t>The advent of networked devices (IoT, </a:t>
            </a:r>
            <a:r>
              <a:rPr lang="en-GB" sz="1200" dirty="0" err="1"/>
              <a:t>IIoT</a:t>
            </a:r>
            <a:r>
              <a:rPr lang="en-GB" sz="1200" dirty="0"/>
              <a:t>, Things, etc.) means that devices that were previously secure by design in their intended environment (no connection to the Internet) are now no longer secure.</a:t>
            </a:r>
            <a:endParaRPr lang="en-GB" altLang="en-US" sz="1200" kern="0" dirty="0"/>
          </a:p>
          <a:p>
            <a:endParaRPr lang="en-GB" dirty="0"/>
          </a:p>
          <a:p>
            <a:endParaRPr lang="en-GB" dirty="0"/>
          </a:p>
        </p:txBody>
      </p:sp>
      <p:sp>
        <p:nvSpPr>
          <p:cNvPr id="19460" name="Slide Number Placeholder 3">
            <a:extLst>
              <a:ext uri="{FF2B5EF4-FFF2-40B4-BE49-F238E27FC236}">
                <a16:creationId xmlns:a16="http://schemas.microsoft.com/office/drawing/2014/main" id="{9F465949-97B2-D8A9-407C-718A5A918D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5</a:t>
            </a:fld>
            <a:endParaRPr lang="en-GB" altLang="en-US"/>
          </a:p>
        </p:txBody>
      </p:sp>
    </p:spTree>
    <p:extLst>
      <p:ext uri="{BB962C8B-B14F-4D97-AF65-F5344CB8AC3E}">
        <p14:creationId xmlns:p14="http://schemas.microsoft.com/office/powerpoint/2010/main" val="511504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5BF75-8DFD-ECDD-83CF-A21E4B540606}"/>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CED3737-0340-F86C-C1BC-7DDFBE03B19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A3C518D-6178-6531-36FF-5EC11913508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https://insightspotter.com/non-functional-vs-functional-requirements-how-to-be-successful/</a:t>
            </a:r>
          </a:p>
          <a:p>
            <a:endParaRPr lang="en-GB" dirty="0"/>
          </a:p>
          <a:p>
            <a:endParaRPr lang="en-GB" dirty="0"/>
          </a:p>
          <a:p>
            <a:pPr rtl="0" eaLnBrk="1" fontAlgn="auto" latinLnBrk="0" hangingPunct="1"/>
            <a:r>
              <a:rPr lang="en-GB" sz="1200" b="1" i="0" u="none" strike="noStrike" kern="1200" dirty="0">
                <a:solidFill>
                  <a:schemeClr val="tx1"/>
                </a:solidFill>
                <a:effectLst/>
                <a:latin typeface="Arial" pitchFamily="34" charset="0"/>
                <a:ea typeface="+mn-ea"/>
                <a:cs typeface="Arial" pitchFamily="34" charset="0"/>
              </a:rPr>
              <a:t>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 functional requirement defines a system or its component.</a:t>
            </a: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It specifies “What should the software system do?</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Functional requirement is specified by User.</a:t>
            </a: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It is mandatory.</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It is captured in use case.</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Defined at a component level.</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Helps you verify the functionality of the software.</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Functional Testing like System, Integration, End to End, API testing, etc are done.</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Usually easy to define.</a:t>
            </a:r>
            <a:endParaRPr lang="en-GB" sz="1200" b="0" i="0" u="none" strike="noStrike" dirty="0">
              <a:effectLst/>
              <a:latin typeface="Arial" panose="020B0604020202020204" pitchFamily="34" charset="0"/>
            </a:endParaRP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altLang="en-US" sz="1200" b="1" dirty="0"/>
              <a:t>Example</a:t>
            </a:r>
          </a:p>
          <a:p>
            <a:pPr marL="0" marR="0" lvl="0" indent="0" algn="l" defTabSz="914400" rtl="0" eaLnBrk="1" fontAlgn="auto" latinLnBrk="0" hangingPunct="1">
              <a:lnSpc>
                <a:spcPct val="100000"/>
              </a:lnSpc>
              <a:spcBef>
                <a:spcPct val="30000"/>
              </a:spcBef>
              <a:spcAft>
                <a:spcPct val="0"/>
              </a:spcAft>
              <a:buClrTx/>
              <a:buSzTx/>
              <a:buFontTx/>
              <a:buNone/>
              <a:tabLst/>
              <a:defRPr/>
            </a:pPr>
            <a:r>
              <a:rPr lang="en-GB" altLang="en-US" sz="1200" b="1" dirty="0"/>
              <a:t>1)</a:t>
            </a:r>
            <a:r>
              <a:rPr lang="en-GB" altLang="en-US" sz="1200" dirty="0"/>
              <a:t> Authentication of user whenever he/she logs into the system.</a:t>
            </a:r>
            <a:br>
              <a:rPr lang="en-GB" altLang="en-US" sz="1200" dirty="0"/>
            </a:br>
            <a:r>
              <a:rPr lang="en-GB" altLang="en-US" sz="1200" b="1" dirty="0"/>
              <a:t>2)</a:t>
            </a:r>
            <a:r>
              <a:rPr lang="en-GB" altLang="en-US" sz="1200" dirty="0"/>
              <a:t> System shutdown in case of a cyber attack.</a:t>
            </a:r>
            <a:br>
              <a:rPr lang="en-GB" altLang="en-US" sz="1200" dirty="0"/>
            </a:br>
            <a:r>
              <a:rPr lang="en-GB" altLang="en-US" sz="1200" b="1" dirty="0"/>
              <a:t>3)</a:t>
            </a:r>
            <a:r>
              <a:rPr lang="en-GB" altLang="en-US" sz="1200" dirty="0"/>
              <a:t> A Verification email is sent to user whenever he/she registers for the first time on some software system.</a:t>
            </a: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1" i="0" u="none" strike="noStrike" kern="1200" dirty="0">
                <a:solidFill>
                  <a:schemeClr val="tx1"/>
                </a:solidFill>
                <a:effectLst/>
                <a:latin typeface="Arial" pitchFamily="34" charset="0"/>
                <a:ea typeface="+mn-ea"/>
                <a:cs typeface="Arial" pitchFamily="34" charset="0"/>
              </a:rPr>
              <a:t>Non-Functional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 non-functional requirement defines the quality attribute of a software system.</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places constraints on “How should the software system fulfil the 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Non-functional requirement is specified by technical peoples e.g. Architect, Technical leaders and software developers.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is not mandatory.</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is captured as a quality attribute.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Applied to a system as a whole.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Helps you to verify the performance of the software.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Non-Functional Testing like Performance, Stress, Usability, Security testing, etc are done.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Usually more difficult to define.</a:t>
            </a:r>
            <a:endParaRPr lang="en-GB" sz="1200" b="0" i="0" u="none" strike="noStrike" dirty="0">
              <a:effectLst/>
              <a:latin typeface="Arial" panose="020B0604020202020204" pitchFamily="34" charset="0"/>
            </a:endParaRPr>
          </a:p>
          <a:p>
            <a:endParaRPr lang="en-GB" altLang="en-US" sz="1800" dirty="0"/>
          </a:p>
          <a:p>
            <a:endParaRPr lang="en-GB" altLang="en-US" sz="1800" dirty="0"/>
          </a:p>
          <a:p>
            <a:r>
              <a:rPr lang="en-GB" altLang="en-US" sz="1800" b="1" dirty="0"/>
              <a:t>Example</a:t>
            </a:r>
          </a:p>
          <a:p>
            <a:r>
              <a:rPr lang="en-GB" altLang="en-US" sz="1800" b="1" dirty="0"/>
              <a:t>1)</a:t>
            </a:r>
            <a:r>
              <a:rPr lang="en-GB" altLang="en-US" sz="1800" dirty="0"/>
              <a:t> Emails should be sent with a latency of no greater than 12 hours from such an activity.</a:t>
            </a:r>
            <a:br>
              <a:rPr lang="en-GB" altLang="en-US" sz="1800" dirty="0"/>
            </a:br>
            <a:r>
              <a:rPr lang="en-GB" altLang="en-US" sz="1800" b="1" dirty="0"/>
              <a:t>2)</a:t>
            </a:r>
            <a:r>
              <a:rPr lang="en-GB" altLang="en-US" sz="1800" dirty="0"/>
              <a:t> The processing of each request should be done within 10 seconds</a:t>
            </a:r>
            <a:br>
              <a:rPr lang="en-GB" altLang="en-US" sz="1800" dirty="0"/>
            </a:br>
            <a:r>
              <a:rPr lang="en-GB" altLang="en-US" sz="1800" b="1" dirty="0"/>
              <a:t>3)</a:t>
            </a:r>
            <a:r>
              <a:rPr lang="en-GB" altLang="en-US" sz="1800" dirty="0"/>
              <a:t> The site should load in 3 seconds when the number of simultaneous users are &gt; 10000</a:t>
            </a:r>
          </a:p>
          <a:p>
            <a:endParaRPr lang="en-GB" dirty="0"/>
          </a:p>
        </p:txBody>
      </p:sp>
      <p:sp>
        <p:nvSpPr>
          <p:cNvPr id="19460" name="Slide Number Placeholder 3">
            <a:extLst>
              <a:ext uri="{FF2B5EF4-FFF2-40B4-BE49-F238E27FC236}">
                <a16:creationId xmlns:a16="http://schemas.microsoft.com/office/drawing/2014/main" id="{8DD0DB59-30DC-68F7-CBB5-C4272F6004E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6</a:t>
            </a:fld>
            <a:endParaRPr lang="en-GB" altLang="en-US"/>
          </a:p>
        </p:txBody>
      </p:sp>
    </p:spTree>
    <p:extLst>
      <p:ext uri="{BB962C8B-B14F-4D97-AF65-F5344CB8AC3E}">
        <p14:creationId xmlns:p14="http://schemas.microsoft.com/office/powerpoint/2010/main" val="32960800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EA6C8-11EE-4B8E-4AE1-57944F0225A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938F960A-2FB5-141C-6F3E-51359B47A9B5}"/>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0B45D2B6-4321-F37D-C8AF-369225A9643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https://www.modernrequirements.com/blogs/what-are-non-functional-requirements/</a:t>
            </a:r>
          </a:p>
          <a:p>
            <a:endParaRPr lang="en-GB" dirty="0"/>
          </a:p>
          <a:p>
            <a:endParaRPr lang="en-GB" dirty="0"/>
          </a:p>
          <a:p>
            <a:pPr rtl="0" eaLnBrk="1" fontAlgn="auto" latinLnBrk="0" hangingPunct="1"/>
            <a:r>
              <a:rPr lang="en-GB" sz="1200" b="1" i="0" u="none" strike="noStrike" kern="1200" dirty="0">
                <a:solidFill>
                  <a:schemeClr val="tx1"/>
                </a:solidFill>
                <a:effectLst/>
                <a:latin typeface="Arial" pitchFamily="34" charset="0"/>
                <a:ea typeface="+mn-ea"/>
                <a:cs typeface="Arial" pitchFamily="34" charset="0"/>
              </a:rPr>
              <a:t>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 functional requirement defines a system or its component.</a:t>
            </a: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It specifies “What should the software system do?</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Functional requirement is specified by User.</a:t>
            </a: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It is mandatory.</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It is captured in use case.</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Defined at a component level.</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Helps you verify the functionality of the software.</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Functional Testing like System, Integration, End to End, API testing, etc are done.</a:t>
            </a:r>
            <a:endParaRPr lang="en-GB" sz="1200" b="0" i="0" u="none" strike="noStrike" dirty="0">
              <a:effectLst/>
              <a:latin typeface="Arial" panose="020B0604020202020204"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0" i="0" u="none" strike="noStrike" kern="1200" dirty="0">
                <a:solidFill>
                  <a:schemeClr val="tx1"/>
                </a:solidFill>
                <a:effectLst/>
                <a:latin typeface="Arial" pitchFamily="34" charset="0"/>
                <a:ea typeface="+mn-ea"/>
                <a:cs typeface="Arial" pitchFamily="34" charset="0"/>
              </a:rPr>
              <a:t>Usually easy to define.</a:t>
            </a:r>
            <a:endParaRPr lang="en-GB" sz="1200" b="0" i="0" u="none" strike="noStrike" dirty="0">
              <a:effectLst/>
              <a:latin typeface="Arial" panose="020B0604020202020204" pitchFamily="34" charset="0"/>
            </a:endParaRP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altLang="en-US" sz="1200" b="1" dirty="0"/>
              <a:t>Example</a:t>
            </a:r>
          </a:p>
          <a:p>
            <a:pPr marL="0" marR="0" lvl="0" indent="0" algn="l" defTabSz="914400" rtl="0" eaLnBrk="1" fontAlgn="auto" latinLnBrk="0" hangingPunct="1">
              <a:lnSpc>
                <a:spcPct val="100000"/>
              </a:lnSpc>
              <a:spcBef>
                <a:spcPct val="30000"/>
              </a:spcBef>
              <a:spcAft>
                <a:spcPct val="0"/>
              </a:spcAft>
              <a:buClrTx/>
              <a:buSzTx/>
              <a:buFontTx/>
              <a:buNone/>
              <a:tabLst/>
              <a:defRPr/>
            </a:pPr>
            <a:r>
              <a:rPr lang="en-GB" altLang="en-US" sz="1200" b="1" dirty="0"/>
              <a:t>1)</a:t>
            </a:r>
            <a:r>
              <a:rPr lang="en-GB" altLang="en-US" sz="1200" dirty="0"/>
              <a:t> Authentication of user whenever he/she logs into the system.</a:t>
            </a:r>
            <a:br>
              <a:rPr lang="en-GB" altLang="en-US" sz="1200" dirty="0"/>
            </a:br>
            <a:r>
              <a:rPr lang="en-GB" altLang="en-US" sz="1200" b="1" dirty="0"/>
              <a:t>2)</a:t>
            </a:r>
            <a:r>
              <a:rPr lang="en-GB" altLang="en-US" sz="1200" dirty="0"/>
              <a:t> System shutdown in case of a cyber attack.</a:t>
            </a:r>
            <a:br>
              <a:rPr lang="en-GB" altLang="en-US" sz="1200" dirty="0"/>
            </a:br>
            <a:r>
              <a:rPr lang="en-GB" altLang="en-US" sz="1200" b="1" dirty="0"/>
              <a:t>3)</a:t>
            </a:r>
            <a:r>
              <a:rPr lang="en-GB" altLang="en-US" sz="1200" dirty="0"/>
              <a:t> A Verification email is sent to user whenever he/she registers for the first time on some software system.</a:t>
            </a: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rtl="0" eaLnBrk="1" fontAlgn="auto" latinLnBrk="0" hangingPunct="1"/>
            <a:endParaRPr lang="en-GB" sz="1200" b="0" i="0" u="none" strike="noStrike" kern="1200" dirty="0">
              <a:solidFill>
                <a:schemeClr val="tx1"/>
              </a:solidFill>
              <a:effectLst/>
              <a:latin typeface="Arial" pitchFamily="34" charset="0"/>
              <a:ea typeface="+mn-ea"/>
              <a:cs typeface="Arial" pitchFamily="34" charset="0"/>
            </a:endParaRPr>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1" i="0" u="none" strike="noStrike" kern="1200" dirty="0">
                <a:solidFill>
                  <a:schemeClr val="tx1"/>
                </a:solidFill>
                <a:effectLst/>
                <a:latin typeface="Arial" pitchFamily="34" charset="0"/>
                <a:ea typeface="+mn-ea"/>
                <a:cs typeface="Arial" pitchFamily="34" charset="0"/>
              </a:rPr>
              <a:t>Non-Functional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 non-functional requirement defines the quality attribute of a software system.</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places constraints on “How should the software system fulfil the 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Non-functional requirement is specified by technical peoples e.g. Architect, Technical leaders and software developers.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is not mandatory.</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is captured as a quality attribute.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Applied to a system as a whole.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Helps you to verify the performance of the software.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Non-Functional Testing like Performance, Stress, Usability, Security testing, etc are done.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Usually more difficult to define.</a:t>
            </a:r>
            <a:endParaRPr lang="en-GB" sz="1200" b="0" i="0" u="none" strike="noStrike" dirty="0">
              <a:effectLst/>
              <a:latin typeface="Arial" panose="020B0604020202020204" pitchFamily="34" charset="0"/>
            </a:endParaRPr>
          </a:p>
          <a:p>
            <a:endParaRPr lang="en-GB" altLang="en-US" sz="1800" dirty="0"/>
          </a:p>
          <a:p>
            <a:endParaRPr lang="en-GB" altLang="en-US" sz="1800" dirty="0"/>
          </a:p>
          <a:p>
            <a:r>
              <a:rPr lang="en-GB" altLang="en-US" sz="1800" b="1" dirty="0"/>
              <a:t>Example</a:t>
            </a:r>
          </a:p>
          <a:p>
            <a:r>
              <a:rPr lang="en-GB" altLang="en-US" sz="1800" b="1" dirty="0"/>
              <a:t>1)</a:t>
            </a:r>
            <a:r>
              <a:rPr lang="en-GB" altLang="en-US" sz="1800" dirty="0"/>
              <a:t> Emails should be sent with a latency of no greater than 12 hours from such an activity.</a:t>
            </a:r>
            <a:br>
              <a:rPr lang="en-GB" altLang="en-US" sz="1800" dirty="0"/>
            </a:br>
            <a:r>
              <a:rPr lang="en-GB" altLang="en-US" sz="1800" b="1" dirty="0"/>
              <a:t>2)</a:t>
            </a:r>
            <a:r>
              <a:rPr lang="en-GB" altLang="en-US" sz="1800" dirty="0"/>
              <a:t> The processing of each request should be done within 10 seconds</a:t>
            </a:r>
            <a:br>
              <a:rPr lang="en-GB" altLang="en-US" sz="1800" dirty="0"/>
            </a:br>
            <a:r>
              <a:rPr lang="en-GB" altLang="en-US" sz="1800" b="1" dirty="0"/>
              <a:t>3)</a:t>
            </a:r>
            <a:r>
              <a:rPr lang="en-GB" altLang="en-US" sz="1800" dirty="0"/>
              <a:t> The site should load in 3 seconds when the number of simultaneous users are &gt; 10000</a:t>
            </a:r>
          </a:p>
          <a:p>
            <a:endParaRPr lang="en-GB" dirty="0"/>
          </a:p>
        </p:txBody>
      </p:sp>
      <p:sp>
        <p:nvSpPr>
          <p:cNvPr id="19460" name="Slide Number Placeholder 3">
            <a:extLst>
              <a:ext uri="{FF2B5EF4-FFF2-40B4-BE49-F238E27FC236}">
                <a16:creationId xmlns:a16="http://schemas.microsoft.com/office/drawing/2014/main" id="{52BE843F-8865-6551-6B27-E3AECB41C9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7</a:t>
            </a:fld>
            <a:endParaRPr lang="en-GB" altLang="en-US"/>
          </a:p>
        </p:txBody>
      </p:sp>
    </p:spTree>
    <p:extLst>
      <p:ext uri="{BB962C8B-B14F-4D97-AF65-F5344CB8AC3E}">
        <p14:creationId xmlns:p14="http://schemas.microsoft.com/office/powerpoint/2010/main" val="4014370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CE6E2-668E-2784-9B1F-F2441780E088}"/>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F4DDC4DC-9B9A-1594-5633-2421074120C3}"/>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4F4E8FFE-6AEC-95AC-2D57-E0FFF8031F7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https://www.frugaltesting.com/blog/how-to-test-the-scalability-of-software-systems-best-practices</a:t>
            </a:r>
          </a:p>
          <a:p>
            <a:endParaRPr lang="en-GB" dirty="0"/>
          </a:p>
          <a:p>
            <a:endParaRPr lang="en-GB" dirty="0"/>
          </a:p>
          <a:p>
            <a:pPr marL="0" marR="0" lvl="0" indent="0" algn="l" defTabSz="914400" rtl="0" eaLnBrk="1" fontAlgn="auto" latinLnBrk="0" hangingPunct="1">
              <a:lnSpc>
                <a:spcPct val="100000"/>
              </a:lnSpc>
              <a:spcBef>
                <a:spcPct val="30000"/>
              </a:spcBef>
              <a:spcAft>
                <a:spcPct val="0"/>
              </a:spcAft>
              <a:buClrTx/>
              <a:buSzTx/>
              <a:buFontTx/>
              <a:buNone/>
              <a:tabLst/>
              <a:defRPr/>
            </a:pPr>
            <a:r>
              <a:rPr lang="en-GB" sz="1200" b="1" i="0" u="none" strike="noStrike" kern="1200" dirty="0">
                <a:solidFill>
                  <a:schemeClr val="tx1"/>
                </a:solidFill>
                <a:effectLst/>
                <a:latin typeface="Arial" pitchFamily="34" charset="0"/>
                <a:ea typeface="+mn-ea"/>
                <a:cs typeface="Arial" pitchFamily="34" charset="0"/>
              </a:rPr>
              <a:t>Non-Functional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 non-functional requirement defines the quality attribute of a software system.</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places constraints on “How should the software system fulfil the functional requirements?”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Non-functional requirement is specified by technical peoples e.g. Architect, Technical leaders and software developers.</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is not mandatory.</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It is captured as a quality attribute.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Applied to a system as a whole.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Helps you to verify the performance of the software.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Non-Functional Testing like Performance, Stress, Usability, Security testing, etc are done.</a:t>
            </a:r>
            <a:endParaRPr lang="en-GB" sz="1200" b="0" i="0" u="none" strike="noStrike" dirty="0">
              <a:effectLst/>
              <a:latin typeface="Arial" panose="020B0604020202020204" pitchFamily="34" charset="0"/>
            </a:endParaRPr>
          </a:p>
          <a:p>
            <a:pPr rtl="0" eaLnBrk="1" fontAlgn="auto" latinLnBrk="0" hangingPunct="1"/>
            <a:r>
              <a:rPr lang="en-GB" sz="1200" b="0" i="0" u="none" strike="noStrike" kern="1200" dirty="0">
                <a:solidFill>
                  <a:schemeClr val="tx1"/>
                </a:solidFill>
                <a:effectLst/>
                <a:latin typeface="Arial" pitchFamily="34" charset="0"/>
                <a:ea typeface="+mn-ea"/>
                <a:cs typeface="Arial" pitchFamily="34" charset="0"/>
              </a:rPr>
              <a:t>Usually more difficult to define.</a:t>
            </a:r>
            <a:endParaRPr lang="en-GB" sz="1200" b="0" i="0" u="none" strike="noStrike" dirty="0">
              <a:effectLst/>
              <a:latin typeface="Arial" panose="020B0604020202020204" pitchFamily="34" charset="0"/>
            </a:endParaRPr>
          </a:p>
          <a:p>
            <a:endParaRPr lang="en-GB" altLang="en-US" sz="1800" dirty="0"/>
          </a:p>
          <a:p>
            <a:endParaRPr lang="en-GB" altLang="en-US" sz="1800" dirty="0"/>
          </a:p>
          <a:p>
            <a:r>
              <a:rPr lang="en-GB" altLang="en-US" sz="1800" b="1" dirty="0"/>
              <a:t>Example</a:t>
            </a:r>
          </a:p>
          <a:p>
            <a:r>
              <a:rPr lang="en-GB" altLang="en-US" sz="1800" b="1" dirty="0"/>
              <a:t>1)</a:t>
            </a:r>
            <a:r>
              <a:rPr lang="en-GB" altLang="en-US" sz="1800" dirty="0"/>
              <a:t> Emails should be sent with a latency of no greater than 12 hours from such an activity.</a:t>
            </a:r>
            <a:br>
              <a:rPr lang="en-GB" altLang="en-US" sz="1800" dirty="0"/>
            </a:br>
            <a:r>
              <a:rPr lang="en-GB" altLang="en-US" sz="1800" b="1" dirty="0"/>
              <a:t>2)</a:t>
            </a:r>
            <a:r>
              <a:rPr lang="en-GB" altLang="en-US" sz="1800" dirty="0"/>
              <a:t> The processing of each request should be done within 10 seconds</a:t>
            </a:r>
            <a:br>
              <a:rPr lang="en-GB" altLang="en-US" sz="1800" dirty="0"/>
            </a:br>
            <a:r>
              <a:rPr lang="en-GB" altLang="en-US" sz="1800" b="1" dirty="0"/>
              <a:t>3)</a:t>
            </a:r>
            <a:r>
              <a:rPr lang="en-GB" altLang="en-US" sz="1800" dirty="0"/>
              <a:t> The site should load in 3 seconds when the number of simultaneous users are &gt; 10000</a:t>
            </a:r>
          </a:p>
          <a:p>
            <a:endParaRPr lang="en-GB" dirty="0"/>
          </a:p>
        </p:txBody>
      </p:sp>
      <p:sp>
        <p:nvSpPr>
          <p:cNvPr id="19460" name="Slide Number Placeholder 3">
            <a:extLst>
              <a:ext uri="{FF2B5EF4-FFF2-40B4-BE49-F238E27FC236}">
                <a16:creationId xmlns:a16="http://schemas.microsoft.com/office/drawing/2014/main" id="{22F31CA2-A130-A858-9D35-113913746B7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8</a:t>
            </a:fld>
            <a:endParaRPr lang="en-GB" altLang="en-US"/>
          </a:p>
        </p:txBody>
      </p:sp>
    </p:spTree>
    <p:extLst>
      <p:ext uri="{BB962C8B-B14F-4D97-AF65-F5344CB8AC3E}">
        <p14:creationId xmlns:p14="http://schemas.microsoft.com/office/powerpoint/2010/main" val="19121184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72605-BD44-B874-DC31-056C054E28B4}"/>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05BB378D-B021-EBFF-A694-4A5951712734}"/>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7EC2D86E-6DA6-6BFD-E99A-88901913FFE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https://requirements.com/Content/What-is/what-are-security-requirements</a:t>
            </a:r>
          </a:p>
        </p:txBody>
      </p:sp>
      <p:sp>
        <p:nvSpPr>
          <p:cNvPr id="19460" name="Slide Number Placeholder 3">
            <a:extLst>
              <a:ext uri="{FF2B5EF4-FFF2-40B4-BE49-F238E27FC236}">
                <a16:creationId xmlns:a16="http://schemas.microsoft.com/office/drawing/2014/main" id="{DC36B318-49C4-ED38-3814-146BCA38A6B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9</a:t>
            </a:fld>
            <a:endParaRPr lang="en-GB" altLang="en-US"/>
          </a:p>
        </p:txBody>
      </p:sp>
    </p:spTree>
    <p:extLst>
      <p:ext uri="{BB962C8B-B14F-4D97-AF65-F5344CB8AC3E}">
        <p14:creationId xmlns:p14="http://schemas.microsoft.com/office/powerpoint/2010/main" val="7643614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DB2D2-D9AC-5473-69C7-5812CC8D3D13}"/>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BCB787A-BC27-A1E7-66F3-053C60CAEC2B}"/>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DB8C3CCE-B918-721C-054A-836C0F3269ED}"/>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https://fastercapital.com/topics/the-importance-of-accessibility-and-inclusivity.html/1</a:t>
            </a:r>
          </a:p>
          <a:p>
            <a:r>
              <a:rPr lang="en-GB" dirty="0"/>
              <a:t>https://aredgroup.com/what-digital-accessibility-tools-mean-for-inclusivity/</a:t>
            </a:r>
          </a:p>
          <a:p>
            <a:r>
              <a:rPr lang="en-GB" dirty="0"/>
              <a:t>https://www.infosys.com/iki/techcompass/embedding-accessibility-software-development-lifecycle.html</a:t>
            </a:r>
          </a:p>
          <a:p>
            <a:endParaRPr lang="en-GB" dirty="0"/>
          </a:p>
        </p:txBody>
      </p:sp>
      <p:sp>
        <p:nvSpPr>
          <p:cNvPr id="19460" name="Slide Number Placeholder 3">
            <a:extLst>
              <a:ext uri="{FF2B5EF4-FFF2-40B4-BE49-F238E27FC236}">
                <a16:creationId xmlns:a16="http://schemas.microsoft.com/office/drawing/2014/main" id="{B9D01F7E-5146-F99F-5C4A-5503D17E905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10</a:t>
            </a:fld>
            <a:endParaRPr lang="en-GB" altLang="en-US"/>
          </a:p>
        </p:txBody>
      </p:sp>
    </p:spTree>
    <p:extLst>
      <p:ext uri="{BB962C8B-B14F-4D97-AF65-F5344CB8AC3E}">
        <p14:creationId xmlns:p14="http://schemas.microsoft.com/office/powerpoint/2010/main" val="1213235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A3EBA-10CE-6B59-F753-9E41CB1A3B05}"/>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DB22DF42-EE06-D41A-860B-C245B38D5827}"/>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2756EF60-4EAF-E0C6-E5A9-63CEAA91C94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dirty="0"/>
              <a:t>https://mambo.io/blog/acceptance-criteria</a:t>
            </a:r>
          </a:p>
        </p:txBody>
      </p:sp>
      <p:sp>
        <p:nvSpPr>
          <p:cNvPr id="19460" name="Slide Number Placeholder 3">
            <a:extLst>
              <a:ext uri="{FF2B5EF4-FFF2-40B4-BE49-F238E27FC236}">
                <a16:creationId xmlns:a16="http://schemas.microsoft.com/office/drawing/2014/main" id="{1D901B7B-D5C1-A7F9-901E-FEC69591093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11</a:t>
            </a:fld>
            <a:endParaRPr lang="en-GB" altLang="en-US"/>
          </a:p>
        </p:txBody>
      </p:sp>
    </p:spTree>
    <p:extLst>
      <p:ext uri="{BB962C8B-B14F-4D97-AF65-F5344CB8AC3E}">
        <p14:creationId xmlns:p14="http://schemas.microsoft.com/office/powerpoint/2010/main" val="727644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ABE40-1FC2-32BE-A2D5-9BFF9089F2B7}"/>
            </a:ext>
          </a:extLst>
        </p:cNvPr>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8943513E-05DD-32E5-2C29-C160DB5C82E8}"/>
              </a:ext>
            </a:extLst>
          </p:cNvPr>
          <p:cNvSpPr>
            <a:spLocks noGrp="1" noRot="1" noChangeAspect="1" noChangeArrowheads="1" noTextEdit="1"/>
          </p:cNvSpPr>
          <p:nvPr>
            <p:ph type="sldImg"/>
          </p:nvPr>
        </p:nvSpPr>
        <p:spPr>
          <a:ln/>
        </p:spPr>
      </p:sp>
      <p:sp>
        <p:nvSpPr>
          <p:cNvPr id="19459" name="Notes Placeholder 2">
            <a:extLst>
              <a:ext uri="{FF2B5EF4-FFF2-40B4-BE49-F238E27FC236}">
                <a16:creationId xmlns:a16="http://schemas.microsoft.com/office/drawing/2014/main" id="{E15BC896-0ADA-7059-C901-023BAE5BF99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b="0" dirty="0"/>
              <a:t>https://blog.nashtechglobal.com/spike-testing-assessing-software-performance-under-sudden-load-changes/</a:t>
            </a:r>
          </a:p>
        </p:txBody>
      </p:sp>
      <p:sp>
        <p:nvSpPr>
          <p:cNvPr id="19460" name="Slide Number Placeholder 3">
            <a:extLst>
              <a:ext uri="{FF2B5EF4-FFF2-40B4-BE49-F238E27FC236}">
                <a16:creationId xmlns:a16="http://schemas.microsoft.com/office/drawing/2014/main" id="{3C4C25DB-A6E9-1C5C-F845-46F6B59F566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15FD51-F16C-49AD-855E-6D86249AC32F}" type="slidenum">
              <a:rPr lang="en-GB" altLang="en-US" smtClean="0"/>
              <a:pPr>
                <a:spcBef>
                  <a:spcPct val="0"/>
                </a:spcBef>
              </a:pPr>
              <a:t>12</a:t>
            </a:fld>
            <a:endParaRPr lang="en-GB" altLang="en-US"/>
          </a:p>
        </p:txBody>
      </p:sp>
    </p:spTree>
    <p:extLst>
      <p:ext uri="{BB962C8B-B14F-4D97-AF65-F5344CB8AC3E}">
        <p14:creationId xmlns:p14="http://schemas.microsoft.com/office/powerpoint/2010/main" val="39737600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7096FAD0-2F92-0051-5559-CB366AE574E9}"/>
              </a:ext>
            </a:extLst>
          </p:cNvPr>
          <p:cNvSpPr>
            <a:spLocks noGrp="1" noRot="1" noChangeAspect="1" noChangeArrowheads="1" noTextEdit="1"/>
          </p:cNvSpPr>
          <p:nvPr>
            <p:ph type="sldImg"/>
          </p:nvPr>
        </p:nvSpPr>
        <p:spPr>
          <a:ln/>
        </p:spPr>
      </p:sp>
      <p:sp>
        <p:nvSpPr>
          <p:cNvPr id="66563" name="Notes Placeholder 2">
            <a:extLst>
              <a:ext uri="{FF2B5EF4-FFF2-40B4-BE49-F238E27FC236}">
                <a16:creationId xmlns:a16="http://schemas.microsoft.com/office/drawing/2014/main" id="{94429125-D479-038C-FC46-57E8C273090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
        <p:nvSpPr>
          <p:cNvPr id="66564" name="Slide Number Placeholder 3">
            <a:extLst>
              <a:ext uri="{FF2B5EF4-FFF2-40B4-BE49-F238E27FC236}">
                <a16:creationId xmlns:a16="http://schemas.microsoft.com/office/drawing/2014/main" id="{26AD3499-140B-11AC-31CF-8749A7ADC6F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7D93FB-A2FE-45B9-B059-DC94CA3885A0}" type="slidenum">
              <a:rPr lang="en-GB" altLang="en-US" smtClean="0"/>
              <a:pPr/>
              <a:t>13</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CA4A6754-35B0-B151-CFDA-E2B01A78276A}"/>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8D18C9AD-6AFA-0A12-F84E-9DD315F602C8}"/>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08923DAD-1B3A-AB7B-97B1-3767BB90F3C9}"/>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11" name="Rectangle 5">
                <a:extLst>
                  <a:ext uri="{FF2B5EF4-FFF2-40B4-BE49-F238E27FC236}">
                    <a16:creationId xmlns:a16="http://schemas.microsoft.com/office/drawing/2014/main" id="{CE1500DD-DD1B-5920-CD4B-350522140C2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grpSp>
          <p:nvGrpSpPr>
            <p:cNvPr id="4" name="Group 6">
              <a:extLst>
                <a:ext uri="{FF2B5EF4-FFF2-40B4-BE49-F238E27FC236}">
                  <a16:creationId xmlns:a16="http://schemas.microsoft.com/office/drawing/2014/main" id="{79C95CFF-D90A-A27A-3875-166C92A6B54A}"/>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D9B8BA4C-3CA7-D451-CEDA-3C096AC3FFD9}"/>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9" name="Rectangle 8">
                <a:extLst>
                  <a:ext uri="{FF2B5EF4-FFF2-40B4-BE49-F238E27FC236}">
                    <a16:creationId xmlns:a16="http://schemas.microsoft.com/office/drawing/2014/main" id="{A50E8AFB-1604-6173-E69F-6BF9AC80A637}"/>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5" name="Rectangle 9">
              <a:extLst>
                <a:ext uri="{FF2B5EF4-FFF2-40B4-BE49-F238E27FC236}">
                  <a16:creationId xmlns:a16="http://schemas.microsoft.com/office/drawing/2014/main" id="{87854E4D-6335-AF55-B447-7644DEEF3D9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6" name="Rectangle 10">
              <a:extLst>
                <a:ext uri="{FF2B5EF4-FFF2-40B4-BE49-F238E27FC236}">
                  <a16:creationId xmlns:a16="http://schemas.microsoft.com/office/drawing/2014/main" id="{C2A35965-0619-ABEF-93CB-6C2BB4688EF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sp>
          <p:nvSpPr>
            <p:cNvPr id="7" name="Rectangle 11">
              <a:extLst>
                <a:ext uri="{FF2B5EF4-FFF2-40B4-BE49-F238E27FC236}">
                  <a16:creationId xmlns:a16="http://schemas.microsoft.com/office/drawing/2014/main" id="{2A8F05C1-028B-14F3-A5C9-998F992A5C4A}"/>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p>
          </p:txBody>
        </p:sp>
      </p:grpSp>
      <p:sp>
        <p:nvSpPr>
          <p:cNvPr id="12" name="TextBox 17">
            <a:extLst>
              <a:ext uri="{FF2B5EF4-FFF2-40B4-BE49-F238E27FC236}">
                <a16:creationId xmlns:a16="http://schemas.microsoft.com/office/drawing/2014/main" id="{1DD07479-E5EA-6B2D-FAC3-1D1B35451AE4}"/>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
        <p:nvSpPr>
          <p:cNvPr id="25612"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3" name="Date Placeholder 14">
            <a:extLst>
              <a:ext uri="{FF2B5EF4-FFF2-40B4-BE49-F238E27FC236}">
                <a16:creationId xmlns:a16="http://schemas.microsoft.com/office/drawing/2014/main" id="{0C60144C-90C7-537D-C95B-355E8F38395D}"/>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4" name="Footer Placeholder 15">
            <a:extLst>
              <a:ext uri="{FF2B5EF4-FFF2-40B4-BE49-F238E27FC236}">
                <a16:creationId xmlns:a16="http://schemas.microsoft.com/office/drawing/2014/main" id="{57C9BA0E-3233-A205-F59B-50661D267722}"/>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Tree>
    <p:extLst>
      <p:ext uri="{BB962C8B-B14F-4D97-AF65-F5344CB8AC3E}">
        <p14:creationId xmlns:p14="http://schemas.microsoft.com/office/powerpoint/2010/main" val="2878934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3063197E-3D28-B19C-90F4-1F55475BFBE8}"/>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71A0E0D-0D2B-1C13-E899-8F863CC8A4A8}"/>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E34D9EE5-4A8F-CE68-CE52-53DD9454957E}"/>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8FF83BB0-2D26-42E8-8295-E7FD4B549021}" type="slidenum">
              <a:rPr lang="en-US" altLang="en-US"/>
              <a:pPr>
                <a:defRPr/>
              </a:pPr>
              <a:t>‹#›</a:t>
            </a:fld>
            <a:endParaRPr lang="en-US" altLang="en-US"/>
          </a:p>
        </p:txBody>
      </p:sp>
    </p:spTree>
    <p:extLst>
      <p:ext uri="{BB962C8B-B14F-4D97-AF65-F5344CB8AC3E}">
        <p14:creationId xmlns:p14="http://schemas.microsoft.com/office/powerpoint/2010/main" val="3911823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8C6295D-2EA7-06FA-2218-85BABDFF35B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7C2105E-90CD-D133-17FF-00802F031D10}"/>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BE96669-5892-3559-F997-1B1369C9DC6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FEF8A60-D507-4554-ADC5-B99FC33A4E47}" type="slidenum">
              <a:rPr lang="en-US" altLang="en-US"/>
              <a:pPr>
                <a:defRPr/>
              </a:pPr>
              <a:t>‹#›</a:t>
            </a:fld>
            <a:endParaRPr lang="en-US" altLang="en-US"/>
          </a:p>
        </p:txBody>
      </p:sp>
    </p:spTree>
    <p:extLst>
      <p:ext uri="{BB962C8B-B14F-4D97-AF65-F5344CB8AC3E}">
        <p14:creationId xmlns:p14="http://schemas.microsoft.com/office/powerpoint/2010/main" val="4014495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4F51DD8B-E9D3-2DB1-26E0-CFB29790E67F}"/>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021A86E-F14E-8F00-83B1-A504B70CFAAC}"/>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CE2257E-9A13-6217-D860-B34B03C4097C}"/>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E8E858AB-C70E-4FD5-BC5C-D3CD071B37D0}" type="slidenum">
              <a:rPr lang="en-US" altLang="en-US"/>
              <a:pPr>
                <a:defRPr/>
              </a:pPr>
              <a:t>‹#›</a:t>
            </a:fld>
            <a:endParaRPr lang="en-US" altLang="en-US"/>
          </a:p>
        </p:txBody>
      </p:sp>
    </p:spTree>
    <p:extLst>
      <p:ext uri="{BB962C8B-B14F-4D97-AF65-F5344CB8AC3E}">
        <p14:creationId xmlns:p14="http://schemas.microsoft.com/office/powerpoint/2010/main" val="3546671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33E965E6-D8C7-9B83-E8A5-4D7D70B3D7B1}"/>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4D35874A-359C-A80A-BC2D-58C6BD9FACC7}"/>
              </a:ext>
            </a:extLst>
          </p:cNvPr>
          <p:cNvSpPr>
            <a:spLocks noGrp="1" noChangeArrowheads="1"/>
          </p:cNvSpPr>
          <p:nvPr>
            <p:ph type="ftr" sz="quarter" idx="11"/>
          </p:nvPr>
        </p:nvSpPr>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9574EFC-3BCF-2F64-7EFB-1DF5A31145A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3F55A5DA-6EA0-45F2-8147-023A96C29B6A}" type="slidenum">
              <a:rPr lang="en-US" altLang="en-US"/>
              <a:pPr>
                <a:defRPr/>
              </a:pPr>
              <a:t>‹#›</a:t>
            </a:fld>
            <a:endParaRPr lang="en-US" altLang="en-US"/>
          </a:p>
        </p:txBody>
      </p:sp>
    </p:spTree>
    <p:extLst>
      <p:ext uri="{BB962C8B-B14F-4D97-AF65-F5344CB8AC3E}">
        <p14:creationId xmlns:p14="http://schemas.microsoft.com/office/powerpoint/2010/main" val="1688162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AD01D203-67E8-B552-AD5B-9E798A753381}"/>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1070F416-3BF5-ADCA-2492-051964F5B9A3}"/>
              </a:ext>
            </a:extLst>
          </p:cNvPr>
          <p:cNvSpPr>
            <a:spLocks noGrp="1" noChangeArrowheads="1"/>
          </p:cNvSpPr>
          <p:nvPr>
            <p:ph type="ftr" sz="quarter" idx="11"/>
          </p:nvPr>
        </p:nvSpPr>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0AB49558-6449-6C06-038B-41C045077D09}"/>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DCF290B8-561C-49FC-9AB2-D7D198562175}" type="slidenum">
              <a:rPr lang="en-US" altLang="en-US"/>
              <a:pPr>
                <a:defRPr/>
              </a:pPr>
              <a:t>‹#›</a:t>
            </a:fld>
            <a:endParaRPr lang="en-US" altLang="en-US"/>
          </a:p>
        </p:txBody>
      </p:sp>
    </p:spTree>
    <p:extLst>
      <p:ext uri="{BB962C8B-B14F-4D97-AF65-F5344CB8AC3E}">
        <p14:creationId xmlns:p14="http://schemas.microsoft.com/office/powerpoint/2010/main" val="3585099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21A206B-D39B-185F-BF87-50436AF74309}"/>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FC2AB834-3700-CC56-71C8-8FB5E3E2B70B}"/>
              </a:ext>
            </a:extLst>
          </p:cNvPr>
          <p:cNvSpPr>
            <a:spLocks noGrp="1" noChangeArrowheads="1"/>
          </p:cNvSpPr>
          <p:nvPr>
            <p:ph type="ftr" sz="quarter" idx="11"/>
          </p:nvPr>
        </p:nvSpPr>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C442CF7B-66A7-350E-E045-1E6C5CD09AE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7D426D49-85C2-4E4B-B2E1-C25E0664451E}" type="slidenum">
              <a:rPr lang="en-US" altLang="en-US"/>
              <a:pPr>
                <a:defRPr/>
              </a:pPr>
              <a:t>‹#›</a:t>
            </a:fld>
            <a:endParaRPr lang="en-US" altLang="en-US"/>
          </a:p>
        </p:txBody>
      </p:sp>
    </p:spTree>
    <p:extLst>
      <p:ext uri="{BB962C8B-B14F-4D97-AF65-F5344CB8AC3E}">
        <p14:creationId xmlns:p14="http://schemas.microsoft.com/office/powerpoint/2010/main" val="193187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C398E79E-C02A-03D2-4276-96D976753690}"/>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B114DB61-DE68-DF47-F4F9-9428352AB985}"/>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51909BDA-6FFD-D923-E902-92CA6559DDAF}"/>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C088E45-DE2B-4C2F-BB9B-0610EF262E18}" type="slidenum">
              <a:rPr lang="en-US" altLang="en-US"/>
              <a:pPr>
                <a:defRPr/>
              </a:pPr>
              <a:t>‹#›</a:t>
            </a:fld>
            <a:endParaRPr lang="en-US" altLang="en-US"/>
          </a:p>
        </p:txBody>
      </p:sp>
    </p:spTree>
    <p:extLst>
      <p:ext uri="{BB962C8B-B14F-4D97-AF65-F5344CB8AC3E}">
        <p14:creationId xmlns:p14="http://schemas.microsoft.com/office/powerpoint/2010/main" val="3048444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DEF04C38-C460-B118-CA3E-70139FD8FB70}"/>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726EED84-0D16-EE34-3705-A26543F0A828}"/>
              </a:ext>
            </a:extLst>
          </p:cNvPr>
          <p:cNvSpPr>
            <a:spLocks noGrp="1" noChangeArrowheads="1"/>
          </p:cNvSpPr>
          <p:nvPr>
            <p:ph type="ftr" sz="quarter" idx="11"/>
          </p:nvPr>
        </p:nvSpPr>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5B8D1352-A4B3-44A0-78DB-91E3A9456144}"/>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00F1D59A-8E8D-4A44-ACD8-BF83A5C2E221}" type="slidenum">
              <a:rPr lang="en-US" altLang="en-US"/>
              <a:pPr>
                <a:defRPr/>
              </a:pPr>
              <a:t>‹#›</a:t>
            </a:fld>
            <a:endParaRPr lang="en-US" altLang="en-US"/>
          </a:p>
        </p:txBody>
      </p:sp>
    </p:spTree>
    <p:extLst>
      <p:ext uri="{BB962C8B-B14F-4D97-AF65-F5344CB8AC3E}">
        <p14:creationId xmlns:p14="http://schemas.microsoft.com/office/powerpoint/2010/main" val="1220677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57E0DDAF-C15F-97D2-167F-67F4919D826D}"/>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841B3043-A1CA-0BD9-9B57-ED5EB516A9AE}"/>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2A328F4-75F8-5873-CD55-D8A742575A6A}"/>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2E06CDEC-CA55-4AFC-8C16-3349BE527570}" type="slidenum">
              <a:rPr lang="en-US" altLang="en-US"/>
              <a:pPr>
                <a:defRPr/>
              </a:pPr>
              <a:t>‹#›</a:t>
            </a:fld>
            <a:endParaRPr lang="en-US" altLang="en-US"/>
          </a:p>
        </p:txBody>
      </p:sp>
    </p:spTree>
    <p:extLst>
      <p:ext uri="{BB962C8B-B14F-4D97-AF65-F5344CB8AC3E}">
        <p14:creationId xmlns:p14="http://schemas.microsoft.com/office/powerpoint/2010/main" val="3296362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F305FB92-9A9F-AF93-35B9-6B034B48A826}"/>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A36BD66-789C-CEF8-FB33-D3FE8320F8C1}"/>
              </a:ext>
            </a:extLst>
          </p:cNvPr>
          <p:cNvSpPr>
            <a:spLocks noGrp="1" noChangeArrowheads="1"/>
          </p:cNvSpPr>
          <p:nvPr>
            <p:ph type="ftr" sz="quarter" idx="11"/>
          </p:nvPr>
        </p:nvSpPr>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5347CFC9-2227-1A81-F9D6-E03882E2C365}"/>
              </a:ext>
            </a:extLst>
          </p:cNvPr>
          <p:cNvSpPr>
            <a:spLocks noGrp="1" noChangeArrowheads="1"/>
          </p:cNvSpPr>
          <p:nvPr>
            <p:ph type="sldNum" sz="quarter" idx="12"/>
          </p:nvPr>
        </p:nvSpPr>
        <p:spPr>
          <a:xfrm>
            <a:off x="6781800" y="6324600"/>
            <a:ext cx="19050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a:lvl1pPr>
          </a:lstStyle>
          <a:p>
            <a:pPr>
              <a:defRPr/>
            </a:pPr>
            <a:fld id="{C8850773-8F29-4755-9C9A-DC587DB329D6}" type="slidenum">
              <a:rPr lang="en-US" altLang="en-US"/>
              <a:pPr>
                <a:defRPr/>
              </a:pPr>
              <a:t>‹#›</a:t>
            </a:fld>
            <a:endParaRPr lang="en-US" altLang="en-US"/>
          </a:p>
        </p:txBody>
      </p:sp>
    </p:spTree>
    <p:extLst>
      <p:ext uri="{BB962C8B-B14F-4D97-AF65-F5344CB8AC3E}">
        <p14:creationId xmlns:p14="http://schemas.microsoft.com/office/powerpoint/2010/main" val="1239131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D746220-CD17-7773-4B70-80AA900F418C}"/>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E73AFABA-6D40-0797-4D6D-770FEEC5A5C4}"/>
                </a:ext>
              </a:extLst>
            </p:cNvPr>
            <p:cNvGrpSpPr>
              <a:grpSpLocks/>
            </p:cNvGrpSpPr>
            <p:nvPr/>
          </p:nvGrpSpPr>
          <p:grpSpPr bwMode="auto">
            <a:xfrm>
              <a:off x="183" y="1604"/>
              <a:ext cx="448" cy="299"/>
              <a:chOff x="720" y="336"/>
              <a:chExt cx="624" cy="432"/>
            </a:xfrm>
          </p:grpSpPr>
          <p:sp>
            <p:nvSpPr>
              <p:cNvPr id="10" name="Rectangle 4">
                <a:extLst>
                  <a:ext uri="{FF2B5EF4-FFF2-40B4-BE49-F238E27FC236}">
                    <a16:creationId xmlns:a16="http://schemas.microsoft.com/office/drawing/2014/main" id="{06F094F2-B447-6C57-4DEB-0767B7B5DAE0}"/>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11" name="Rectangle 5">
                <a:extLst>
                  <a:ext uri="{FF2B5EF4-FFF2-40B4-BE49-F238E27FC236}">
                    <a16:creationId xmlns:a16="http://schemas.microsoft.com/office/drawing/2014/main" id="{9410E372-628F-611C-F848-C56B96DA4EE2}"/>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grpSp>
          <p:nvGrpSpPr>
            <p:cNvPr id="4" name="Group 6">
              <a:extLst>
                <a:ext uri="{FF2B5EF4-FFF2-40B4-BE49-F238E27FC236}">
                  <a16:creationId xmlns:a16="http://schemas.microsoft.com/office/drawing/2014/main" id="{C48DD911-76CF-006C-D52D-15B208AAD279}"/>
                </a:ext>
              </a:extLst>
            </p:cNvPr>
            <p:cNvGrpSpPr>
              <a:grpSpLocks/>
            </p:cNvGrpSpPr>
            <p:nvPr/>
          </p:nvGrpSpPr>
          <p:grpSpPr bwMode="auto">
            <a:xfrm>
              <a:off x="261" y="1870"/>
              <a:ext cx="465" cy="299"/>
              <a:chOff x="912" y="2640"/>
              <a:chExt cx="672" cy="432"/>
            </a:xfrm>
          </p:grpSpPr>
          <p:sp>
            <p:nvSpPr>
              <p:cNvPr id="8" name="Rectangle 7">
                <a:extLst>
                  <a:ext uri="{FF2B5EF4-FFF2-40B4-BE49-F238E27FC236}">
                    <a16:creationId xmlns:a16="http://schemas.microsoft.com/office/drawing/2014/main" id="{9FDB0E59-0471-E639-CE7A-93EB604A34BA}"/>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9" name="Rectangle 8">
                <a:extLst>
                  <a:ext uri="{FF2B5EF4-FFF2-40B4-BE49-F238E27FC236}">
                    <a16:creationId xmlns:a16="http://schemas.microsoft.com/office/drawing/2014/main" id="{BBE434AC-1D21-A855-C9F7-DC85E724C7F6}"/>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5" name="Rectangle 9">
              <a:extLst>
                <a:ext uri="{FF2B5EF4-FFF2-40B4-BE49-F238E27FC236}">
                  <a16:creationId xmlns:a16="http://schemas.microsoft.com/office/drawing/2014/main" id="{0404D00D-7CC4-967F-43DA-3E46AE006D2F}"/>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6" name="Rectangle 10">
              <a:extLst>
                <a:ext uri="{FF2B5EF4-FFF2-40B4-BE49-F238E27FC236}">
                  <a16:creationId xmlns:a16="http://schemas.microsoft.com/office/drawing/2014/main" id="{7F85C824-08A4-3FDE-88D2-4FEC28966523}"/>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sp>
          <p:nvSpPr>
            <p:cNvPr id="7" name="Rectangle 11">
              <a:extLst>
                <a:ext uri="{FF2B5EF4-FFF2-40B4-BE49-F238E27FC236}">
                  <a16:creationId xmlns:a16="http://schemas.microsoft.com/office/drawing/2014/main" id="{5221032D-1B0E-A303-1EA7-0B1A648BFB6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endParaRPr lang="en-US" altLang="en-US">
                <a:solidFill>
                  <a:srgbClr val="000000"/>
                </a:solidFill>
              </a:endParaRPr>
            </a:p>
          </p:txBody>
        </p:sp>
      </p:grpSp>
      <p:sp>
        <p:nvSpPr>
          <p:cNvPr id="25612" name="Rectangle 12"/>
          <p:cNvSpPr>
            <a:spLocks noGrp="1" noChangeArrowheads="1"/>
          </p:cNvSpPr>
          <p:nvPr>
            <p:ph type="ctrTitle"/>
          </p:nvPr>
        </p:nvSpPr>
        <p:spPr>
          <a:xfrm>
            <a:off x="990600" y="1828800"/>
            <a:ext cx="7772400" cy="1143000"/>
          </a:xfrm>
        </p:spPr>
        <p:txBody>
          <a:bodyPr/>
          <a:lstStyle>
            <a:lvl1pPr>
              <a:defRPr/>
            </a:lvl1pPr>
          </a:lstStyle>
          <a:p>
            <a:pPr lvl="0"/>
            <a:r>
              <a:rPr lang="en-US" noProof="0"/>
              <a:t>Click to edit Master title style</a:t>
            </a:r>
          </a:p>
        </p:txBody>
      </p:sp>
      <p:sp>
        <p:nvSpPr>
          <p:cNvPr id="25613"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en-US" noProof="0"/>
              <a:t>Click to edit Master subtitle style</a:t>
            </a:r>
          </a:p>
        </p:txBody>
      </p:sp>
      <p:sp>
        <p:nvSpPr>
          <p:cNvPr id="12" name="Rectangle 14">
            <a:extLst>
              <a:ext uri="{FF2B5EF4-FFF2-40B4-BE49-F238E27FC236}">
                <a16:creationId xmlns:a16="http://schemas.microsoft.com/office/drawing/2014/main" id="{41382EA9-568E-F673-851E-041DBAEE3281}"/>
              </a:ext>
            </a:extLst>
          </p:cNvPr>
          <p:cNvSpPr>
            <a:spLocks noGrp="1" noChangeArrowheads="1"/>
          </p:cNvSpPr>
          <p:nvPr>
            <p:ph type="dt" sz="half" idx="10"/>
          </p:nvPr>
        </p:nvSpPr>
        <p:spPr>
          <a:xfrm>
            <a:off x="990600" y="6248400"/>
            <a:ext cx="1905000" cy="457200"/>
          </a:xfrm>
        </p:spPr>
        <p:txBody>
          <a:bodyPr/>
          <a:lstStyle>
            <a:lvl1pPr>
              <a:defRPr>
                <a:solidFill>
                  <a:srgbClr val="1C1C1C"/>
                </a:solidFill>
              </a:defRPr>
            </a:lvl1pPr>
          </a:lstStyle>
          <a:p>
            <a:pPr>
              <a:defRPr/>
            </a:pPr>
            <a:endParaRPr lang="en-US"/>
          </a:p>
        </p:txBody>
      </p:sp>
      <p:sp>
        <p:nvSpPr>
          <p:cNvPr id="13" name="Rectangle 15">
            <a:extLst>
              <a:ext uri="{FF2B5EF4-FFF2-40B4-BE49-F238E27FC236}">
                <a16:creationId xmlns:a16="http://schemas.microsoft.com/office/drawing/2014/main" id="{C7647F68-900B-61DA-506A-0FF10512095C}"/>
              </a:ext>
            </a:extLst>
          </p:cNvPr>
          <p:cNvSpPr>
            <a:spLocks noGrp="1" noChangeArrowheads="1"/>
          </p:cNvSpPr>
          <p:nvPr>
            <p:ph type="ftr" sz="quarter" idx="11"/>
          </p:nvPr>
        </p:nvSpPr>
        <p:spPr>
          <a:xfrm>
            <a:off x="3429000" y="6248400"/>
            <a:ext cx="2895600" cy="457200"/>
          </a:xfrm>
        </p:spPr>
        <p:txBody>
          <a:bodyPr/>
          <a:lstStyle>
            <a:lvl1pPr>
              <a:defRPr>
                <a:solidFill>
                  <a:srgbClr val="1C1C1C"/>
                </a:solidFill>
              </a:defRPr>
            </a:lvl1pPr>
          </a:lstStyle>
          <a:p>
            <a:pPr>
              <a:defRPr/>
            </a:pPr>
            <a:endParaRPr lang="en-US"/>
          </a:p>
        </p:txBody>
      </p:sp>
      <p:sp>
        <p:nvSpPr>
          <p:cNvPr id="14" name="Rectangle 16">
            <a:extLst>
              <a:ext uri="{FF2B5EF4-FFF2-40B4-BE49-F238E27FC236}">
                <a16:creationId xmlns:a16="http://schemas.microsoft.com/office/drawing/2014/main" id="{B0248D19-5BAF-6579-CFE8-89A9B36F8D03}"/>
              </a:ext>
            </a:extLst>
          </p:cNvPr>
          <p:cNvSpPr>
            <a:spLocks noGrp="1" noChangeArrowheads="1"/>
          </p:cNvSpPr>
          <p:nvPr>
            <p:ph type="sldNum" sz="quarter" idx="12"/>
          </p:nvPr>
        </p:nvSpPr>
        <p:spPr>
          <a:xfrm>
            <a:off x="6858000" y="6248400"/>
            <a:ext cx="1905000" cy="457200"/>
          </a:xfrm>
        </p:spPr>
        <p:txBody>
          <a:bodyPr/>
          <a:lstStyle>
            <a:lvl1pPr>
              <a:defRPr>
                <a:solidFill>
                  <a:srgbClr val="1C1C1C"/>
                </a:solidFill>
              </a:defRPr>
            </a:lvl1pPr>
          </a:lstStyle>
          <a:p>
            <a:pPr>
              <a:defRPr/>
            </a:pPr>
            <a:fld id="{1AD08CED-6810-459B-A7C9-4E3DBF5F3BFE}" type="slidenum">
              <a:rPr lang="en-US" altLang="en-US"/>
              <a:pPr>
                <a:defRPr/>
              </a:pPr>
              <a:t>‹#›</a:t>
            </a:fld>
            <a:endParaRPr lang="en-US" altLang="en-US"/>
          </a:p>
        </p:txBody>
      </p:sp>
    </p:spTree>
    <p:extLst>
      <p:ext uri="{BB962C8B-B14F-4D97-AF65-F5344CB8AC3E}">
        <p14:creationId xmlns:p14="http://schemas.microsoft.com/office/powerpoint/2010/main" val="17745410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64D4B662-20D9-6D94-7DD6-20955305557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273240D5-094D-6170-FCE5-6C6BC416C42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F5D2818-7917-F1DB-7A61-7D1C059FEAA1}"/>
              </a:ext>
            </a:extLst>
          </p:cNvPr>
          <p:cNvSpPr>
            <a:spLocks noGrp="1" noChangeArrowheads="1"/>
          </p:cNvSpPr>
          <p:nvPr>
            <p:ph type="sldNum" sz="quarter" idx="12"/>
          </p:nvPr>
        </p:nvSpPr>
        <p:spPr>
          <a:ln/>
        </p:spPr>
        <p:txBody>
          <a:bodyPr/>
          <a:lstStyle>
            <a:lvl1pPr>
              <a:defRPr/>
            </a:lvl1pPr>
          </a:lstStyle>
          <a:p>
            <a:pPr>
              <a:defRPr/>
            </a:pPr>
            <a:fld id="{449D4C66-E5DC-4597-9155-FE38688E103C}" type="slidenum">
              <a:rPr lang="en-US" altLang="en-US"/>
              <a:pPr>
                <a:defRPr/>
              </a:pPr>
              <a:t>‹#›</a:t>
            </a:fld>
            <a:endParaRPr lang="en-US" altLang="en-US"/>
          </a:p>
        </p:txBody>
      </p:sp>
    </p:spTree>
    <p:extLst>
      <p:ext uri="{BB962C8B-B14F-4D97-AF65-F5344CB8AC3E}">
        <p14:creationId xmlns:p14="http://schemas.microsoft.com/office/powerpoint/2010/main" val="27143061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D65A8F52-3796-6D64-C2C1-1998EC077AD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A3732925-8780-5CAC-443B-27DEC153546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8A9753F-0739-4829-BC4D-FB8F4E08FAE2}"/>
              </a:ext>
            </a:extLst>
          </p:cNvPr>
          <p:cNvSpPr>
            <a:spLocks noGrp="1" noChangeArrowheads="1"/>
          </p:cNvSpPr>
          <p:nvPr>
            <p:ph type="sldNum" sz="quarter" idx="12"/>
          </p:nvPr>
        </p:nvSpPr>
        <p:spPr>
          <a:ln/>
        </p:spPr>
        <p:txBody>
          <a:bodyPr/>
          <a:lstStyle>
            <a:lvl1pPr>
              <a:defRPr/>
            </a:lvl1pPr>
          </a:lstStyle>
          <a:p>
            <a:pPr>
              <a:defRPr/>
            </a:pPr>
            <a:fld id="{6E542A41-7BE9-4750-9C64-4A9E1209B22C}" type="slidenum">
              <a:rPr lang="en-US" altLang="en-US"/>
              <a:pPr>
                <a:defRPr/>
              </a:pPr>
              <a:t>‹#›</a:t>
            </a:fld>
            <a:endParaRPr lang="en-US" altLang="en-US"/>
          </a:p>
        </p:txBody>
      </p:sp>
    </p:spTree>
    <p:extLst>
      <p:ext uri="{BB962C8B-B14F-4D97-AF65-F5344CB8AC3E}">
        <p14:creationId xmlns:p14="http://schemas.microsoft.com/office/powerpoint/2010/main" val="3893432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11826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145088" y="1628775"/>
            <a:ext cx="3810000" cy="4503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11">
            <a:extLst>
              <a:ext uri="{FF2B5EF4-FFF2-40B4-BE49-F238E27FC236}">
                <a16:creationId xmlns:a16="http://schemas.microsoft.com/office/drawing/2014/main" id="{4582C532-5CF1-6D0F-7F65-62BE87FBCD3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CC3CE0C6-B0D0-7362-4431-641122D2C51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D9BEBFB3-B9B4-E432-F9F4-4F2BFDEC2AF5}"/>
              </a:ext>
            </a:extLst>
          </p:cNvPr>
          <p:cNvSpPr>
            <a:spLocks noGrp="1" noChangeArrowheads="1"/>
          </p:cNvSpPr>
          <p:nvPr>
            <p:ph type="sldNum" sz="quarter" idx="12"/>
          </p:nvPr>
        </p:nvSpPr>
        <p:spPr>
          <a:ln/>
        </p:spPr>
        <p:txBody>
          <a:bodyPr/>
          <a:lstStyle>
            <a:lvl1pPr>
              <a:defRPr/>
            </a:lvl1pPr>
          </a:lstStyle>
          <a:p>
            <a:pPr>
              <a:defRPr/>
            </a:pPr>
            <a:fld id="{16B57C85-C1DB-44D1-B6D4-4CC384364C45}" type="slidenum">
              <a:rPr lang="en-US" altLang="en-US"/>
              <a:pPr>
                <a:defRPr/>
              </a:pPr>
              <a:t>‹#›</a:t>
            </a:fld>
            <a:endParaRPr lang="en-US" altLang="en-US"/>
          </a:p>
        </p:txBody>
      </p:sp>
    </p:spTree>
    <p:extLst>
      <p:ext uri="{BB962C8B-B14F-4D97-AF65-F5344CB8AC3E}">
        <p14:creationId xmlns:p14="http://schemas.microsoft.com/office/powerpoint/2010/main" val="10587690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11">
            <a:extLst>
              <a:ext uri="{FF2B5EF4-FFF2-40B4-BE49-F238E27FC236}">
                <a16:creationId xmlns:a16="http://schemas.microsoft.com/office/drawing/2014/main" id="{0648F848-1D16-9635-3EDB-5D63E9DC875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58AF0D06-DCCB-BC7E-44F8-C280668751F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D6B5C33-3689-EF14-7913-4B1607ED5C38}"/>
              </a:ext>
            </a:extLst>
          </p:cNvPr>
          <p:cNvSpPr>
            <a:spLocks noGrp="1" noChangeArrowheads="1"/>
          </p:cNvSpPr>
          <p:nvPr>
            <p:ph type="sldNum" sz="quarter" idx="12"/>
          </p:nvPr>
        </p:nvSpPr>
        <p:spPr>
          <a:ln/>
        </p:spPr>
        <p:txBody>
          <a:bodyPr/>
          <a:lstStyle>
            <a:lvl1pPr>
              <a:defRPr/>
            </a:lvl1pPr>
          </a:lstStyle>
          <a:p>
            <a:pPr>
              <a:defRPr/>
            </a:pPr>
            <a:fld id="{68729063-D26C-446A-B55B-FD4E3272AB54}" type="slidenum">
              <a:rPr lang="en-US" altLang="en-US"/>
              <a:pPr>
                <a:defRPr/>
              </a:pPr>
              <a:t>‹#›</a:t>
            </a:fld>
            <a:endParaRPr lang="en-US" altLang="en-US"/>
          </a:p>
        </p:txBody>
      </p:sp>
    </p:spTree>
    <p:extLst>
      <p:ext uri="{BB962C8B-B14F-4D97-AF65-F5344CB8AC3E}">
        <p14:creationId xmlns:p14="http://schemas.microsoft.com/office/powerpoint/2010/main" val="1298811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11">
            <a:extLst>
              <a:ext uri="{FF2B5EF4-FFF2-40B4-BE49-F238E27FC236}">
                <a16:creationId xmlns:a16="http://schemas.microsoft.com/office/drawing/2014/main" id="{8E40AA82-8549-C37D-DD86-B736D0AB222E}"/>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2D527FC9-9F1B-5700-456C-829D2DCE0AC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D8A63FD1-2D40-F941-6513-981C601A695B}"/>
              </a:ext>
            </a:extLst>
          </p:cNvPr>
          <p:cNvSpPr>
            <a:spLocks noGrp="1" noChangeArrowheads="1"/>
          </p:cNvSpPr>
          <p:nvPr>
            <p:ph type="sldNum" sz="quarter" idx="12"/>
          </p:nvPr>
        </p:nvSpPr>
        <p:spPr>
          <a:ln/>
        </p:spPr>
        <p:txBody>
          <a:bodyPr/>
          <a:lstStyle>
            <a:lvl1pPr>
              <a:defRPr/>
            </a:lvl1pPr>
          </a:lstStyle>
          <a:p>
            <a:pPr>
              <a:defRPr/>
            </a:pPr>
            <a:fld id="{838E932A-6241-4167-A8C7-0ECE9B5FC1B7}" type="slidenum">
              <a:rPr lang="en-US" altLang="en-US"/>
              <a:pPr>
                <a:defRPr/>
              </a:pPr>
              <a:t>‹#›</a:t>
            </a:fld>
            <a:endParaRPr lang="en-US" altLang="en-US"/>
          </a:p>
        </p:txBody>
      </p:sp>
    </p:spTree>
    <p:extLst>
      <p:ext uri="{BB962C8B-B14F-4D97-AF65-F5344CB8AC3E}">
        <p14:creationId xmlns:p14="http://schemas.microsoft.com/office/powerpoint/2010/main" val="4334122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49097574-C523-9643-E70A-3548CD49FF69}"/>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5ACD735E-0D2A-14DE-EFBE-7D59B88ABE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CB84EB0A-0A40-6B8F-B5DC-7BE7E45FEBAA}"/>
              </a:ext>
            </a:extLst>
          </p:cNvPr>
          <p:cNvSpPr>
            <a:spLocks noGrp="1" noChangeArrowheads="1"/>
          </p:cNvSpPr>
          <p:nvPr>
            <p:ph type="sldNum" sz="quarter" idx="12"/>
          </p:nvPr>
        </p:nvSpPr>
        <p:spPr>
          <a:ln/>
        </p:spPr>
        <p:txBody>
          <a:bodyPr/>
          <a:lstStyle>
            <a:lvl1pPr>
              <a:defRPr/>
            </a:lvl1pPr>
          </a:lstStyle>
          <a:p>
            <a:pPr>
              <a:defRPr/>
            </a:pPr>
            <a:fld id="{72D8A287-313A-483E-A90D-BC6117DB3792}" type="slidenum">
              <a:rPr lang="en-US" altLang="en-US"/>
              <a:pPr>
                <a:defRPr/>
              </a:pPr>
              <a:t>‹#›</a:t>
            </a:fld>
            <a:endParaRPr lang="en-US" altLang="en-US"/>
          </a:p>
        </p:txBody>
      </p:sp>
    </p:spTree>
    <p:extLst>
      <p:ext uri="{BB962C8B-B14F-4D97-AF65-F5344CB8AC3E}">
        <p14:creationId xmlns:p14="http://schemas.microsoft.com/office/powerpoint/2010/main" val="18671297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4B1513CC-AE08-E897-F172-EA9875563B0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E8E9A12-C678-1C4E-DF65-4BEF9490BF1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98357F10-5177-BC0F-CFFB-C381BCADAFFA}"/>
              </a:ext>
            </a:extLst>
          </p:cNvPr>
          <p:cNvSpPr>
            <a:spLocks noGrp="1" noChangeArrowheads="1"/>
          </p:cNvSpPr>
          <p:nvPr>
            <p:ph type="sldNum" sz="quarter" idx="12"/>
          </p:nvPr>
        </p:nvSpPr>
        <p:spPr>
          <a:ln/>
        </p:spPr>
        <p:txBody>
          <a:bodyPr/>
          <a:lstStyle>
            <a:lvl1pPr>
              <a:defRPr/>
            </a:lvl1pPr>
          </a:lstStyle>
          <a:p>
            <a:pPr>
              <a:defRPr/>
            </a:pPr>
            <a:fld id="{DEA501D4-F9FE-45B6-9C63-F3A5DDF8DC4E}" type="slidenum">
              <a:rPr lang="en-US" altLang="en-US"/>
              <a:pPr>
                <a:defRPr/>
              </a:pPr>
              <a:t>‹#›</a:t>
            </a:fld>
            <a:endParaRPr lang="en-US" altLang="en-US"/>
          </a:p>
        </p:txBody>
      </p:sp>
    </p:spTree>
    <p:extLst>
      <p:ext uri="{BB962C8B-B14F-4D97-AF65-F5344CB8AC3E}">
        <p14:creationId xmlns:p14="http://schemas.microsoft.com/office/powerpoint/2010/main" val="259734184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82101E48-A3C9-9756-3A4C-AC227BB4148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BE64F7A8-910D-ACAA-686B-95D2C92FFA5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D17FE8C2-AAC0-A7FA-F2F5-BC00B3A6CC5F}"/>
              </a:ext>
            </a:extLst>
          </p:cNvPr>
          <p:cNvSpPr>
            <a:spLocks noGrp="1" noChangeArrowheads="1"/>
          </p:cNvSpPr>
          <p:nvPr>
            <p:ph type="sldNum" sz="quarter" idx="12"/>
          </p:nvPr>
        </p:nvSpPr>
        <p:spPr>
          <a:ln/>
        </p:spPr>
        <p:txBody>
          <a:bodyPr/>
          <a:lstStyle>
            <a:lvl1pPr>
              <a:defRPr/>
            </a:lvl1pPr>
          </a:lstStyle>
          <a:p>
            <a:pPr>
              <a:defRPr/>
            </a:pPr>
            <a:fld id="{6B5DA6AF-D9E6-4497-9A83-1D3BF0749EAE}" type="slidenum">
              <a:rPr lang="en-US" altLang="en-US"/>
              <a:pPr>
                <a:defRPr/>
              </a:pPr>
              <a:t>‹#›</a:t>
            </a:fld>
            <a:endParaRPr lang="en-US" altLang="en-US"/>
          </a:p>
        </p:txBody>
      </p:sp>
    </p:spTree>
    <p:extLst>
      <p:ext uri="{BB962C8B-B14F-4D97-AF65-F5344CB8AC3E}">
        <p14:creationId xmlns:p14="http://schemas.microsoft.com/office/powerpoint/2010/main" val="3709937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B9F58557-8F82-7727-6498-4F39A438FCD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165E883-A45D-E1E6-D79F-BBA1FFD21C7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FF62B699-BB19-D176-FA59-CFD0A5ADA389}"/>
              </a:ext>
            </a:extLst>
          </p:cNvPr>
          <p:cNvSpPr>
            <a:spLocks noGrp="1" noChangeArrowheads="1"/>
          </p:cNvSpPr>
          <p:nvPr>
            <p:ph type="sldNum" sz="quarter" idx="12"/>
          </p:nvPr>
        </p:nvSpPr>
        <p:spPr>
          <a:ln/>
        </p:spPr>
        <p:txBody>
          <a:bodyPr/>
          <a:lstStyle>
            <a:lvl1pPr>
              <a:defRPr/>
            </a:lvl1pPr>
          </a:lstStyle>
          <a:p>
            <a:pPr>
              <a:defRPr/>
            </a:pPr>
            <a:fld id="{E8CDFBAF-CA29-4F02-BB2C-21D8F3115846}" type="slidenum">
              <a:rPr lang="en-US" altLang="en-US"/>
              <a:pPr>
                <a:defRPr/>
              </a:pPr>
              <a:t>‹#›</a:t>
            </a:fld>
            <a:endParaRPr lang="en-US" altLang="en-US"/>
          </a:p>
        </p:txBody>
      </p:sp>
    </p:spTree>
    <p:extLst>
      <p:ext uri="{BB962C8B-B14F-4D97-AF65-F5344CB8AC3E}">
        <p14:creationId xmlns:p14="http://schemas.microsoft.com/office/powerpoint/2010/main" val="20237527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96113" y="404813"/>
            <a:ext cx="1958975" cy="57277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1116013" y="404813"/>
            <a:ext cx="5727700" cy="57277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11">
            <a:extLst>
              <a:ext uri="{FF2B5EF4-FFF2-40B4-BE49-F238E27FC236}">
                <a16:creationId xmlns:a16="http://schemas.microsoft.com/office/drawing/2014/main" id="{A7A4B85E-0E82-1B1D-A3DF-A92D81B687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E8D16390-2E87-CBC5-652E-1C70CD9C08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75D86232-3EBF-3E0C-94E0-8FF72B0AB8BF}"/>
              </a:ext>
            </a:extLst>
          </p:cNvPr>
          <p:cNvSpPr>
            <a:spLocks noGrp="1" noChangeArrowheads="1"/>
          </p:cNvSpPr>
          <p:nvPr>
            <p:ph type="sldNum" sz="quarter" idx="12"/>
          </p:nvPr>
        </p:nvSpPr>
        <p:spPr>
          <a:ln/>
        </p:spPr>
        <p:txBody>
          <a:bodyPr/>
          <a:lstStyle>
            <a:lvl1pPr>
              <a:defRPr/>
            </a:lvl1pPr>
          </a:lstStyle>
          <a:p>
            <a:pPr>
              <a:defRPr/>
            </a:pPr>
            <a:fld id="{A2106E7D-0BFE-4BBF-8502-75FF964EBC1C}" type="slidenum">
              <a:rPr lang="en-US" altLang="en-US"/>
              <a:pPr>
                <a:defRPr/>
              </a:pPr>
              <a:t>‹#›</a:t>
            </a:fld>
            <a:endParaRPr lang="en-US" altLang="en-US"/>
          </a:p>
        </p:txBody>
      </p:sp>
    </p:spTree>
    <p:extLst>
      <p:ext uri="{BB962C8B-B14F-4D97-AF65-F5344CB8AC3E}">
        <p14:creationId xmlns:p14="http://schemas.microsoft.com/office/powerpoint/2010/main" val="1607749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9CE086B-DF88-4360-1F40-9785E4697E66}"/>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7" name="Rectangle 3">
            <a:extLst>
              <a:ext uri="{FF2B5EF4-FFF2-40B4-BE49-F238E27FC236}">
                <a16:creationId xmlns:a16="http://schemas.microsoft.com/office/drawing/2014/main" id="{A1B18F39-552B-25F9-278E-59B1A5A5C419}"/>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8" name="Rectangle 4">
            <a:extLst>
              <a:ext uri="{FF2B5EF4-FFF2-40B4-BE49-F238E27FC236}">
                <a16:creationId xmlns:a16="http://schemas.microsoft.com/office/drawing/2014/main" id="{892F2098-6A00-A85A-AB28-983CDB26A6CD}"/>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29" name="Rectangle 5">
            <a:extLst>
              <a:ext uri="{FF2B5EF4-FFF2-40B4-BE49-F238E27FC236}">
                <a16:creationId xmlns:a16="http://schemas.microsoft.com/office/drawing/2014/main" id="{1D6D0BE5-A503-F1B0-6970-83A0C26F96D0}"/>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0" name="Rectangle 6">
            <a:extLst>
              <a:ext uri="{FF2B5EF4-FFF2-40B4-BE49-F238E27FC236}">
                <a16:creationId xmlns:a16="http://schemas.microsoft.com/office/drawing/2014/main" id="{A8467AC0-FB1F-DA38-9CD5-F333EC1D3E81}"/>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1" name="Rectangle 7">
            <a:extLst>
              <a:ext uri="{FF2B5EF4-FFF2-40B4-BE49-F238E27FC236}">
                <a16:creationId xmlns:a16="http://schemas.microsoft.com/office/drawing/2014/main" id="{AC3CC14F-5462-0758-5F9D-F5411828677B}"/>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2" name="Rectangle 8">
            <a:extLst>
              <a:ext uri="{FF2B5EF4-FFF2-40B4-BE49-F238E27FC236}">
                <a16:creationId xmlns:a16="http://schemas.microsoft.com/office/drawing/2014/main" id="{DC0D0319-A119-94E1-E880-B36489F7B317}"/>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latin typeface="Tahoma" pitchFamily="34" charset="0"/>
            </a:endParaRPr>
          </a:p>
        </p:txBody>
      </p:sp>
      <p:sp>
        <p:nvSpPr>
          <p:cNvPr id="1033" name="Rectangle 9">
            <a:extLst>
              <a:ext uri="{FF2B5EF4-FFF2-40B4-BE49-F238E27FC236}">
                <a16:creationId xmlns:a16="http://schemas.microsoft.com/office/drawing/2014/main" id="{9C646D4F-8FE8-1FCA-63BE-D3AB49E15CBD}"/>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4" name="Rectangle 10">
            <a:extLst>
              <a:ext uri="{FF2B5EF4-FFF2-40B4-BE49-F238E27FC236}">
                <a16:creationId xmlns:a16="http://schemas.microsoft.com/office/drawing/2014/main" id="{3DE4BEAA-D054-5DB6-9D93-8F49A79FE364}"/>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FDA1989C-299F-BC51-F064-C22AB94D7607}"/>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latin typeface="+mn-lt"/>
                <a:cs typeface="Arial" pitchFamily="34" charset="0"/>
              </a:defRPr>
            </a:lvl1pPr>
          </a:lstStyle>
          <a:p>
            <a:pPr>
              <a:defRPr/>
            </a:pPr>
            <a:endParaRPr lang="en-US"/>
          </a:p>
        </p:txBody>
      </p:sp>
      <p:sp>
        <p:nvSpPr>
          <p:cNvPr id="24588" name="Rectangle 12">
            <a:extLst>
              <a:ext uri="{FF2B5EF4-FFF2-40B4-BE49-F238E27FC236}">
                <a16:creationId xmlns:a16="http://schemas.microsoft.com/office/drawing/2014/main" id="{571C2B02-757F-CBFE-3E4B-8670A94F8890}"/>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mn-lt"/>
                <a:cs typeface="Arial" pitchFamily="34" charset="0"/>
              </a:defRPr>
            </a:lvl1pPr>
          </a:lstStyle>
          <a:p>
            <a:pPr>
              <a:defRPr/>
            </a:pPr>
            <a:endParaRPr lang="en-US"/>
          </a:p>
        </p:txBody>
      </p:sp>
      <p:sp>
        <p:nvSpPr>
          <p:cNvPr id="14" name="TextBox 17">
            <a:extLst>
              <a:ext uri="{FF2B5EF4-FFF2-40B4-BE49-F238E27FC236}">
                <a16:creationId xmlns:a16="http://schemas.microsoft.com/office/drawing/2014/main" id="{A280FA8B-CE78-759C-13BC-864819784DA5}"/>
              </a:ext>
            </a:extLst>
          </p:cNvPr>
          <p:cNvSpPr txBox="1"/>
          <p:nvPr userDrawn="1"/>
        </p:nvSpPr>
        <p:spPr>
          <a:xfrm>
            <a:off x="7235825" y="6611938"/>
            <a:ext cx="1908175" cy="246062"/>
          </a:xfrm>
          <a:prstGeom prst="rect">
            <a:avLst/>
          </a:prstGeom>
          <a:noFill/>
        </p:spPr>
        <p:txBody>
          <a:bodyPr>
            <a:spAutoFit/>
          </a:bodyPr>
          <a:ls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eaLnBrk="1" hangingPunct="1">
              <a:defRPr/>
            </a:pPr>
            <a:r>
              <a:rPr lang="en-US" sz="1000" dirty="0"/>
              <a:t>Prepared by Hamish Spencer</a:t>
            </a:r>
            <a:endParaRPr lang="en-GB" sz="1000" dirty="0"/>
          </a:p>
        </p:txBody>
      </p:sp>
    </p:spTree>
  </p:cSld>
  <p:clrMap bg1="lt1" tx1="dk1" bg2="lt2" tx2="dk2" accent1="accent1" accent2="accent2" accent3="accent3" accent4="accent4" accent5="accent5" accent6="accent6" hlink="hlink" folHlink="folHlink"/>
  <p:sldLayoutIdLst>
    <p:sldLayoutId id="2147485856" r:id="rId1"/>
    <p:sldLayoutId id="2147485857" r:id="rId2"/>
    <p:sldLayoutId id="2147485858" r:id="rId3"/>
    <p:sldLayoutId id="2147485859" r:id="rId4"/>
    <p:sldLayoutId id="2147485860" r:id="rId5"/>
    <p:sldLayoutId id="2147485861" r:id="rId6"/>
    <p:sldLayoutId id="2147485862" r:id="rId7"/>
    <p:sldLayoutId id="2147485863" r:id="rId8"/>
    <p:sldLayoutId id="2147485864" r:id="rId9"/>
    <p:sldLayoutId id="2147485865" r:id="rId10"/>
    <p:sldLayoutId id="2147485866"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pitchFamily="34" charset="0"/>
        </a:defRPr>
      </a:lvl2pPr>
      <a:lvl3pPr algn="l" rtl="0" eaLnBrk="0" fontAlgn="base" hangingPunct="0">
        <a:spcBef>
          <a:spcPct val="0"/>
        </a:spcBef>
        <a:spcAft>
          <a:spcPct val="0"/>
        </a:spcAft>
        <a:defRPr sz="4400">
          <a:solidFill>
            <a:schemeClr val="tx2"/>
          </a:solidFill>
          <a:latin typeface="Tahoma" pitchFamily="34" charset="0"/>
          <a:cs typeface="Arial" pitchFamily="34" charset="0"/>
        </a:defRPr>
      </a:lvl3pPr>
      <a:lvl4pPr algn="l" rtl="0" eaLnBrk="0" fontAlgn="base" hangingPunct="0">
        <a:spcBef>
          <a:spcPct val="0"/>
        </a:spcBef>
        <a:spcAft>
          <a:spcPct val="0"/>
        </a:spcAft>
        <a:defRPr sz="4400">
          <a:solidFill>
            <a:schemeClr val="tx2"/>
          </a:solidFill>
          <a:latin typeface="Tahoma" pitchFamily="34" charset="0"/>
          <a:cs typeface="Arial" pitchFamily="34" charset="0"/>
        </a:defRPr>
      </a:lvl4pPr>
      <a:lvl5pPr algn="l" rtl="0" eaLnBrk="0" fontAlgn="base" hangingPunct="0">
        <a:spcBef>
          <a:spcPct val="0"/>
        </a:spcBef>
        <a:spcAft>
          <a:spcPct val="0"/>
        </a:spcAft>
        <a:defRPr sz="4400">
          <a:solidFill>
            <a:schemeClr val="tx2"/>
          </a:solidFill>
          <a:latin typeface="Tahoma" pitchFamily="34" charset="0"/>
          <a:cs typeface="Arial" pitchFamily="34" charset="0"/>
        </a:defRPr>
      </a:lvl5pPr>
      <a:lvl6pPr marL="457200" algn="l" rtl="0" fontAlgn="base">
        <a:spcBef>
          <a:spcPct val="0"/>
        </a:spcBef>
        <a:spcAft>
          <a:spcPct val="0"/>
        </a:spcAft>
        <a:defRPr sz="4400">
          <a:solidFill>
            <a:schemeClr val="tx2"/>
          </a:solidFill>
          <a:latin typeface="Tahoma" pitchFamily="34" charset="0"/>
          <a:cs typeface="Arial" pitchFamily="34" charset="0"/>
        </a:defRPr>
      </a:lvl6pPr>
      <a:lvl7pPr marL="914400" algn="l" rtl="0" fontAlgn="base">
        <a:spcBef>
          <a:spcPct val="0"/>
        </a:spcBef>
        <a:spcAft>
          <a:spcPct val="0"/>
        </a:spcAft>
        <a:defRPr sz="4400">
          <a:solidFill>
            <a:schemeClr val="tx2"/>
          </a:solidFill>
          <a:latin typeface="Tahoma" pitchFamily="34" charset="0"/>
          <a:cs typeface="Arial" pitchFamily="34" charset="0"/>
        </a:defRPr>
      </a:lvl7pPr>
      <a:lvl8pPr marL="1371600" algn="l" rtl="0" fontAlgn="base">
        <a:spcBef>
          <a:spcPct val="0"/>
        </a:spcBef>
        <a:spcAft>
          <a:spcPct val="0"/>
        </a:spcAft>
        <a:defRPr sz="4400">
          <a:solidFill>
            <a:schemeClr val="tx2"/>
          </a:solidFill>
          <a:latin typeface="Tahoma" pitchFamily="34" charset="0"/>
          <a:cs typeface="Arial" pitchFamily="34" charset="0"/>
        </a:defRPr>
      </a:lvl8pPr>
      <a:lvl9pPr marL="1828800" algn="l" rtl="0" fontAlgn="base">
        <a:spcBef>
          <a:spcPct val="0"/>
        </a:spcBef>
        <a:spcAft>
          <a:spcPct val="0"/>
        </a:spcAft>
        <a:defRPr sz="4400">
          <a:solidFill>
            <a:schemeClr val="tx2"/>
          </a:solidFill>
          <a:latin typeface="Tahoma" pitchFamily="34" charset="0"/>
          <a:cs typeface="Arial"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D2FECB0-B714-3754-B9EC-38C32391FD52}"/>
              </a:ext>
            </a:extLst>
          </p:cNvPr>
          <p:cNvSpPr>
            <a:spLocks noChangeArrowheads="1"/>
          </p:cNvSpPr>
          <p:nvPr/>
        </p:nvSpPr>
        <p:spPr bwMode="ltGray">
          <a:xfrm>
            <a:off x="442913" y="801688"/>
            <a:ext cx="438150" cy="474662"/>
          </a:xfrm>
          <a:prstGeom prst="rect">
            <a:avLst/>
          </a:prstGeom>
          <a:solidFill>
            <a:schemeClr val="accent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1" name="Rectangle 3">
            <a:extLst>
              <a:ext uri="{FF2B5EF4-FFF2-40B4-BE49-F238E27FC236}">
                <a16:creationId xmlns:a16="http://schemas.microsoft.com/office/drawing/2014/main" id="{02D290C0-AB81-E2CC-497E-4D1F3BE57B8C}"/>
              </a:ext>
            </a:extLst>
          </p:cNvPr>
          <p:cNvSpPr>
            <a:spLocks noChangeArrowheads="1"/>
          </p:cNvSpPr>
          <p:nvPr/>
        </p:nvSpPr>
        <p:spPr bwMode="ltGray">
          <a:xfrm>
            <a:off x="825500" y="801688"/>
            <a:ext cx="328613"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2" name="Rectangle 4">
            <a:extLst>
              <a:ext uri="{FF2B5EF4-FFF2-40B4-BE49-F238E27FC236}">
                <a16:creationId xmlns:a16="http://schemas.microsoft.com/office/drawing/2014/main" id="{DE41A1E7-C04D-A16B-3304-A6503B1ECB6F}"/>
              </a:ext>
            </a:extLst>
          </p:cNvPr>
          <p:cNvSpPr>
            <a:spLocks noChangeArrowheads="1"/>
          </p:cNvSpPr>
          <p:nvPr/>
        </p:nvSpPr>
        <p:spPr bwMode="ltGray">
          <a:xfrm>
            <a:off x="566738" y="1223963"/>
            <a:ext cx="422275" cy="474662"/>
          </a:xfrm>
          <a:prstGeom prst="rect">
            <a:avLst/>
          </a:prstGeom>
          <a:solidFill>
            <a:schemeClr val="folHlink"/>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3" name="Rectangle 5">
            <a:extLst>
              <a:ext uri="{FF2B5EF4-FFF2-40B4-BE49-F238E27FC236}">
                <a16:creationId xmlns:a16="http://schemas.microsoft.com/office/drawing/2014/main" id="{097AFF5D-673E-869C-637D-6D352060D689}"/>
              </a:ext>
            </a:extLst>
          </p:cNvPr>
          <p:cNvSpPr>
            <a:spLocks noChangeArrowheads="1"/>
          </p:cNvSpPr>
          <p:nvPr/>
        </p:nvSpPr>
        <p:spPr bwMode="ltGray">
          <a:xfrm>
            <a:off x="936625" y="1223963"/>
            <a:ext cx="368300"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4" name="Rectangle 6">
            <a:extLst>
              <a:ext uri="{FF2B5EF4-FFF2-40B4-BE49-F238E27FC236}">
                <a16:creationId xmlns:a16="http://schemas.microsoft.com/office/drawing/2014/main" id="{340355B3-4E2C-B176-B356-87D6C894425E}"/>
              </a:ext>
            </a:extLst>
          </p:cNvPr>
          <p:cNvSpPr>
            <a:spLocks noChangeArrowheads="1"/>
          </p:cNvSpPr>
          <p:nvPr/>
        </p:nvSpPr>
        <p:spPr bwMode="ltGray">
          <a:xfrm>
            <a:off x="152400" y="1150938"/>
            <a:ext cx="560388"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5" name="Rectangle 7">
            <a:extLst>
              <a:ext uri="{FF2B5EF4-FFF2-40B4-BE49-F238E27FC236}">
                <a16:creationId xmlns:a16="http://schemas.microsoft.com/office/drawing/2014/main" id="{02B1D51E-AF07-0EB3-B53E-66D6666B6D95}"/>
              </a:ext>
            </a:extLst>
          </p:cNvPr>
          <p:cNvSpPr>
            <a:spLocks noChangeArrowheads="1"/>
          </p:cNvSpPr>
          <p:nvPr/>
        </p:nvSpPr>
        <p:spPr bwMode="gray">
          <a:xfrm>
            <a:off x="787400" y="693738"/>
            <a:ext cx="31750" cy="1052512"/>
          </a:xfrm>
          <a:prstGeom prst="rect">
            <a:avLst/>
          </a:prstGeom>
          <a:solidFill>
            <a:schemeClr val="bg2"/>
          </a:soli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6" name="Rectangle 8">
            <a:extLst>
              <a:ext uri="{FF2B5EF4-FFF2-40B4-BE49-F238E27FC236}">
                <a16:creationId xmlns:a16="http://schemas.microsoft.com/office/drawing/2014/main" id="{04AF4639-4861-FADA-588D-F5D6D9DC969C}"/>
              </a:ext>
            </a:extLst>
          </p:cNvPr>
          <p:cNvSpPr>
            <a:spLocks noChangeArrowheads="1"/>
          </p:cNvSpPr>
          <p:nvPr/>
        </p:nvSpPr>
        <p:spPr bwMode="gray">
          <a:xfrm>
            <a:off x="468313" y="1484313"/>
            <a:ext cx="8226425"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kumimoji="1" lang="en-US" altLang="en-US" sz="2400">
              <a:solidFill>
                <a:srgbClr val="000000"/>
              </a:solidFill>
              <a:latin typeface="Tahoma" pitchFamily="34" charset="0"/>
            </a:endParaRPr>
          </a:p>
        </p:txBody>
      </p:sp>
      <p:sp>
        <p:nvSpPr>
          <p:cNvPr id="2057" name="Rectangle 9">
            <a:extLst>
              <a:ext uri="{FF2B5EF4-FFF2-40B4-BE49-F238E27FC236}">
                <a16:creationId xmlns:a16="http://schemas.microsoft.com/office/drawing/2014/main" id="{839159C5-5E89-9EFC-DDEE-6FF3FDA9C9D1}"/>
              </a:ext>
            </a:extLst>
          </p:cNvPr>
          <p:cNvSpPr>
            <a:spLocks noGrp="1" noChangeArrowheads="1"/>
          </p:cNvSpPr>
          <p:nvPr>
            <p:ph type="title"/>
          </p:nvPr>
        </p:nvSpPr>
        <p:spPr bwMode="auto">
          <a:xfrm>
            <a:off x="1116013" y="404813"/>
            <a:ext cx="7793037"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8" name="Rectangle 10">
            <a:extLst>
              <a:ext uri="{FF2B5EF4-FFF2-40B4-BE49-F238E27FC236}">
                <a16:creationId xmlns:a16="http://schemas.microsoft.com/office/drawing/2014/main" id="{29AA447F-4C57-B67B-4E99-D2BF08DE1E8A}"/>
              </a:ext>
            </a:extLst>
          </p:cNvPr>
          <p:cNvSpPr>
            <a:spLocks noGrp="1" noChangeArrowheads="1"/>
          </p:cNvSpPr>
          <p:nvPr>
            <p:ph type="body" idx="1"/>
          </p:nvPr>
        </p:nvSpPr>
        <p:spPr bwMode="auto">
          <a:xfrm>
            <a:off x="1182688" y="1628775"/>
            <a:ext cx="7772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4587" name="Rectangle 11">
            <a:extLst>
              <a:ext uri="{FF2B5EF4-FFF2-40B4-BE49-F238E27FC236}">
                <a16:creationId xmlns:a16="http://schemas.microsoft.com/office/drawing/2014/main" id="{7FF40BDD-4E55-3848-1BC3-C86D00F520E8}"/>
              </a:ext>
            </a:extLst>
          </p:cNvPr>
          <p:cNvSpPr>
            <a:spLocks noGrp="1" noChangeArrowheads="1"/>
          </p:cNvSpPr>
          <p:nvPr>
            <p:ph type="dt" sz="half" idx="2"/>
          </p:nvPr>
        </p:nvSpPr>
        <p:spPr bwMode="auto">
          <a:xfrm>
            <a:off x="9144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400">
                <a:solidFill>
                  <a:srgbClr val="000000"/>
                </a:solidFill>
                <a:latin typeface="+mn-lt"/>
                <a:cs typeface="Arial" charset="0"/>
              </a:defRPr>
            </a:lvl1pPr>
          </a:lstStyle>
          <a:p>
            <a:pPr>
              <a:defRPr/>
            </a:pPr>
            <a:endParaRPr lang="en-US"/>
          </a:p>
        </p:txBody>
      </p:sp>
      <p:sp>
        <p:nvSpPr>
          <p:cNvPr id="24588" name="Rectangle 12">
            <a:extLst>
              <a:ext uri="{FF2B5EF4-FFF2-40B4-BE49-F238E27FC236}">
                <a16:creationId xmlns:a16="http://schemas.microsoft.com/office/drawing/2014/main" id="{E17A5661-CC4C-A82B-A294-D1D475FE29EB}"/>
              </a:ext>
            </a:extLst>
          </p:cNvPr>
          <p:cNvSpPr>
            <a:spLocks noGrp="1" noChangeArrowheads="1"/>
          </p:cNvSpPr>
          <p:nvPr>
            <p:ph type="ftr" sz="quarter" idx="3"/>
          </p:nvPr>
        </p:nvSpPr>
        <p:spPr bwMode="auto">
          <a:xfrm>
            <a:off x="3352800" y="6324600"/>
            <a:ext cx="28956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eaLnBrk="1" hangingPunct="1">
              <a:defRPr sz="1400">
                <a:solidFill>
                  <a:srgbClr val="000000"/>
                </a:solidFill>
                <a:latin typeface="+mn-lt"/>
                <a:cs typeface="Arial" charset="0"/>
              </a:defRPr>
            </a:lvl1pPr>
          </a:lstStyle>
          <a:p>
            <a:pPr>
              <a:defRPr/>
            </a:pPr>
            <a:endParaRPr lang="en-US"/>
          </a:p>
        </p:txBody>
      </p:sp>
      <p:sp>
        <p:nvSpPr>
          <p:cNvPr id="24589" name="Rectangle 13">
            <a:extLst>
              <a:ext uri="{FF2B5EF4-FFF2-40B4-BE49-F238E27FC236}">
                <a16:creationId xmlns:a16="http://schemas.microsoft.com/office/drawing/2014/main" id="{82506277-4364-2AF3-50B6-5FA22635BFDC}"/>
              </a:ext>
            </a:extLst>
          </p:cNvPr>
          <p:cNvSpPr>
            <a:spLocks noGrp="1" noChangeArrowheads="1"/>
          </p:cNvSpPr>
          <p:nvPr>
            <p:ph type="sldNum" sz="quarter" idx="4"/>
          </p:nvPr>
        </p:nvSpPr>
        <p:spPr bwMode="auto">
          <a:xfrm>
            <a:off x="6781800" y="63246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400">
                <a:solidFill>
                  <a:srgbClr val="000000"/>
                </a:solidFill>
                <a:latin typeface="Tahoma" panose="020B0604030504040204" pitchFamily="34" charset="0"/>
              </a:defRPr>
            </a:lvl1pPr>
          </a:lstStyle>
          <a:p>
            <a:pPr>
              <a:defRPr/>
            </a:pPr>
            <a:fld id="{0FDC0C32-6781-4D48-A5B1-73F49819B20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5867" r:id="rId1"/>
    <p:sldLayoutId id="2147485846" r:id="rId2"/>
    <p:sldLayoutId id="2147485847" r:id="rId3"/>
    <p:sldLayoutId id="2147485848" r:id="rId4"/>
    <p:sldLayoutId id="2147485849" r:id="rId5"/>
    <p:sldLayoutId id="2147485850" r:id="rId6"/>
    <p:sldLayoutId id="2147485851" r:id="rId7"/>
    <p:sldLayoutId id="2147485852" r:id="rId8"/>
    <p:sldLayoutId id="2147485853" r:id="rId9"/>
    <p:sldLayoutId id="2147485854" r:id="rId10"/>
    <p:sldLayoutId id="214748585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cs typeface="Arial" charset="0"/>
        </a:defRPr>
      </a:lvl2pPr>
      <a:lvl3pPr algn="l" rtl="0" eaLnBrk="0" fontAlgn="base" hangingPunct="0">
        <a:spcBef>
          <a:spcPct val="0"/>
        </a:spcBef>
        <a:spcAft>
          <a:spcPct val="0"/>
        </a:spcAft>
        <a:defRPr sz="4400">
          <a:solidFill>
            <a:schemeClr val="tx2"/>
          </a:solidFill>
          <a:latin typeface="Tahoma" pitchFamily="34" charset="0"/>
          <a:cs typeface="Arial" charset="0"/>
        </a:defRPr>
      </a:lvl3pPr>
      <a:lvl4pPr algn="l" rtl="0" eaLnBrk="0" fontAlgn="base" hangingPunct="0">
        <a:spcBef>
          <a:spcPct val="0"/>
        </a:spcBef>
        <a:spcAft>
          <a:spcPct val="0"/>
        </a:spcAft>
        <a:defRPr sz="4400">
          <a:solidFill>
            <a:schemeClr val="tx2"/>
          </a:solidFill>
          <a:latin typeface="Tahoma" pitchFamily="34" charset="0"/>
          <a:cs typeface="Arial" charset="0"/>
        </a:defRPr>
      </a:lvl4pPr>
      <a:lvl5pPr algn="l" rtl="0" eaLnBrk="0" fontAlgn="base" hangingPunct="0">
        <a:spcBef>
          <a:spcPct val="0"/>
        </a:spcBef>
        <a:spcAft>
          <a:spcPct val="0"/>
        </a:spcAft>
        <a:defRPr sz="4400">
          <a:solidFill>
            <a:schemeClr val="tx2"/>
          </a:solidFill>
          <a:latin typeface="Tahoma" pitchFamily="34" charset="0"/>
          <a:cs typeface="Arial" charset="0"/>
        </a:defRPr>
      </a:lvl5pPr>
      <a:lvl6pPr marL="457200" algn="l" rtl="0" fontAlgn="base">
        <a:spcBef>
          <a:spcPct val="0"/>
        </a:spcBef>
        <a:spcAft>
          <a:spcPct val="0"/>
        </a:spcAft>
        <a:defRPr sz="4400">
          <a:solidFill>
            <a:schemeClr val="tx2"/>
          </a:solidFill>
          <a:latin typeface="Tahoma" pitchFamily="34" charset="0"/>
          <a:cs typeface="Arial" charset="0"/>
        </a:defRPr>
      </a:lvl6pPr>
      <a:lvl7pPr marL="914400" algn="l" rtl="0" fontAlgn="base">
        <a:spcBef>
          <a:spcPct val="0"/>
        </a:spcBef>
        <a:spcAft>
          <a:spcPct val="0"/>
        </a:spcAft>
        <a:defRPr sz="4400">
          <a:solidFill>
            <a:schemeClr val="tx2"/>
          </a:solidFill>
          <a:latin typeface="Tahoma" pitchFamily="34" charset="0"/>
          <a:cs typeface="Arial" charset="0"/>
        </a:defRPr>
      </a:lvl7pPr>
      <a:lvl8pPr marL="1371600" algn="l" rtl="0" fontAlgn="base">
        <a:spcBef>
          <a:spcPct val="0"/>
        </a:spcBef>
        <a:spcAft>
          <a:spcPct val="0"/>
        </a:spcAft>
        <a:defRPr sz="4400">
          <a:solidFill>
            <a:schemeClr val="tx2"/>
          </a:solidFill>
          <a:latin typeface="Tahoma" pitchFamily="34" charset="0"/>
          <a:cs typeface="Arial" charset="0"/>
        </a:defRPr>
      </a:lvl8pPr>
      <a:lvl9pPr marL="1828800" algn="l" rtl="0" fontAlgn="base">
        <a:spcBef>
          <a:spcPct val="0"/>
        </a:spcBef>
        <a:spcAft>
          <a:spcPct val="0"/>
        </a:spcAft>
        <a:defRPr sz="4400">
          <a:solidFill>
            <a:schemeClr val="tx2"/>
          </a:solidFill>
          <a:latin typeface="Tahoma" pitchFamily="34" charset="0"/>
          <a:cs typeface="Arial"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3A7917A2-E9B1-9EE7-7001-4DC144152168}"/>
              </a:ext>
            </a:extLst>
          </p:cNvPr>
          <p:cNvSpPr>
            <a:spLocks noGrp="1" noChangeArrowheads="1"/>
          </p:cNvSpPr>
          <p:nvPr>
            <p:ph type="ctrTitle"/>
          </p:nvPr>
        </p:nvSpPr>
        <p:spPr>
          <a:xfrm>
            <a:off x="990600" y="1828800"/>
            <a:ext cx="7542213" cy="1143000"/>
          </a:xfrm>
        </p:spPr>
        <p:txBody>
          <a:bodyPr/>
          <a:lstStyle/>
          <a:p>
            <a:r>
              <a:rPr lang="en-GB" altLang="en-US" sz="2800" b="1">
                <a:solidFill>
                  <a:srgbClr val="0070C0"/>
                </a:solidFill>
              </a:rPr>
              <a:t>Occupational Specialist Component Content: Digital Production, Design  and Development</a:t>
            </a:r>
          </a:p>
        </p:txBody>
      </p:sp>
      <p:sp>
        <p:nvSpPr>
          <p:cNvPr id="15363" name="TextBox 4">
            <a:extLst>
              <a:ext uri="{FF2B5EF4-FFF2-40B4-BE49-F238E27FC236}">
                <a16:creationId xmlns:a16="http://schemas.microsoft.com/office/drawing/2014/main" id="{C63AC1F3-81DF-2E88-865A-FC010505FE90}"/>
              </a:ext>
            </a:extLst>
          </p:cNvPr>
          <p:cNvSpPr txBox="1">
            <a:spLocks noChangeArrowheads="1"/>
          </p:cNvSpPr>
          <p:nvPr/>
        </p:nvSpPr>
        <p:spPr bwMode="auto">
          <a:xfrm>
            <a:off x="323850" y="3716338"/>
            <a:ext cx="8613775" cy="2952750"/>
          </a:xfrm>
          <a:prstGeom prst="rect">
            <a:avLst/>
          </a:prstGeom>
          <a:noFill/>
          <a:ln>
            <a:noFill/>
          </a:ln>
        </p:spPr>
        <p:txBody>
          <a:bodyPr/>
          <a:lstStyle>
            <a:lvl1pPr marL="171450" indent="-171450" eaLnBrk="0" hangingPunct="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defRPr/>
            </a:pPr>
            <a:r>
              <a:rPr lang="en-GB" sz="1400" dirty="0">
                <a:solidFill>
                  <a:srgbClr val="000000"/>
                </a:solidFill>
                <a:latin typeface="+mn-lt"/>
              </a:rPr>
              <a:t>The T Level T Level Technical Qualification in Digital: Digital Production, Design and Development includes a single Occupational Specialist Component. Therefore, there is a single synoptic assessment for the Occupational Specialist Component, which is an extended ‘design, development and implementation’ project. The synoptic element of the project is important in order to ensure that students are able to demonstrate threshold competence: this is the principal reason why the Occupational Specialism is assessed via a single extended project assessment to ensure that students are able to evidence all the skills required by the Performance Outcomes. </a:t>
            </a:r>
          </a:p>
          <a:p>
            <a:pPr>
              <a:defRPr/>
            </a:pPr>
            <a:r>
              <a:rPr lang="en-GB" sz="1400" dirty="0">
                <a:solidFill>
                  <a:srgbClr val="000000"/>
                </a:solidFill>
                <a:latin typeface="+mn-lt"/>
              </a:rPr>
              <a:t>The T Level Technical Qualification in Digital: Digital Production, Design and Development Occupational Specialist Component consists of several activities grouped into four substantive tasks. </a:t>
            </a:r>
          </a:p>
          <a:p>
            <a:pPr>
              <a:defRPr/>
            </a:pPr>
            <a:r>
              <a:rPr lang="en-GB" sz="1400" dirty="0">
                <a:solidFill>
                  <a:srgbClr val="000000"/>
                </a:solidFill>
                <a:latin typeface="+mn-lt"/>
              </a:rPr>
              <a:t>Each task will be completed during a window set by Pearson during which you will schedule supervised assessment sessions. In some cases, tasks will also involve opportunities for unsupervised activities where the requirements of the skills being assessed make this necessary.</a:t>
            </a:r>
            <a:endParaRPr lang="en-GB" altLang="en-US" sz="1400" dirty="0">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082AD34-BE00-5593-15CB-ED1B12F035DB}"/>
              </a:ext>
            </a:extLst>
          </p:cNvPr>
          <p:cNvSpPr>
            <a:spLocks noGrp="1" noChangeArrowheads="1"/>
          </p:cNvSpPr>
          <p:nvPr>
            <p:ph type="title"/>
          </p:nvPr>
        </p:nvSpPr>
        <p:spPr>
          <a:xfrm>
            <a:off x="1258888" y="404813"/>
            <a:ext cx="7650162" cy="939800"/>
          </a:xfrm>
        </p:spPr>
        <p:txBody>
          <a:bodyPr/>
          <a:lstStyle/>
          <a:p>
            <a:r>
              <a:rPr lang="en-GB" altLang="en-US" sz="3600" b="1">
                <a:solidFill>
                  <a:srgbClr val="0070C0"/>
                </a:solidFill>
              </a:rPr>
              <a:t>The unit outcomes</a:t>
            </a:r>
            <a:endParaRPr lang="en-US" altLang="en-US" sz="3600" b="1">
              <a:solidFill>
                <a:srgbClr val="0070C0"/>
              </a:solidFill>
            </a:endParaRPr>
          </a:p>
        </p:txBody>
      </p:sp>
      <p:sp>
        <p:nvSpPr>
          <p:cNvPr id="18435" name="Content Placeholder 2">
            <a:extLst>
              <a:ext uri="{FF2B5EF4-FFF2-40B4-BE49-F238E27FC236}">
                <a16:creationId xmlns:a16="http://schemas.microsoft.com/office/drawing/2014/main" id="{95749667-EC1B-49A1-57F1-F70B88A7B8DD}"/>
              </a:ext>
            </a:extLst>
          </p:cNvPr>
          <p:cNvSpPr>
            <a:spLocks noGrp="1" noChangeArrowheads="1"/>
          </p:cNvSpPr>
          <p:nvPr>
            <p:ph idx="1"/>
          </p:nvPr>
        </p:nvSpPr>
        <p:spPr>
          <a:xfrm>
            <a:off x="323850" y="1916113"/>
            <a:ext cx="8208963" cy="4340225"/>
          </a:xfrm>
        </p:spPr>
        <p:txBody>
          <a:bodyPr/>
          <a:lstStyle/>
          <a:p>
            <a:r>
              <a:rPr lang="en-GB" altLang="en-US" sz="1800" b="1"/>
              <a:t>1.4 </a:t>
            </a:r>
            <a:r>
              <a:rPr lang="en-GB" altLang="en-US" sz="1800"/>
              <a:t>Understand and define the functional and non-functional requirements of a software solution</a:t>
            </a:r>
          </a:p>
          <a:p>
            <a:endParaRPr lang="en-GB" altLang="en-US" sz="1800"/>
          </a:p>
          <a:p>
            <a:pPr lvl="1"/>
            <a:r>
              <a:rPr lang="en-GB" altLang="en-US" sz="1800"/>
              <a:t>An understanding of the concept of ‘secure by design’ and how this influences the decisions made regarding functional and non-functional requirements.</a:t>
            </a:r>
          </a:p>
          <a:p>
            <a:pPr lvl="1"/>
            <a:r>
              <a:rPr lang="en-GB" altLang="en-US" sz="1800"/>
              <a:t>An understanding of and ability to define functional requirements of a software solution</a:t>
            </a:r>
          </a:p>
          <a:p>
            <a:pPr lvl="1"/>
            <a:r>
              <a:rPr lang="en-GB" altLang="en-US" sz="1800"/>
              <a:t>An understanding of and ability to define non-functional requirements of a software solution.</a:t>
            </a:r>
          </a:p>
          <a:p>
            <a:pPr lvl="1"/>
            <a:r>
              <a:rPr lang="en-GB" altLang="en-US" sz="1800"/>
              <a:t>Understand the use of ‘spike testing’ as an early product-testing method to establish requirements and determine the extent of the problem and the required scope of a software solution.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A621A4D6-3DCA-E30B-C0ED-73AA3A108EEC}"/>
              </a:ext>
            </a:extLst>
          </p:cNvPr>
          <p:cNvSpPr>
            <a:spLocks noGrp="1" noChangeArrowheads="1"/>
          </p:cNvSpPr>
          <p:nvPr>
            <p:ph type="title"/>
          </p:nvPr>
        </p:nvSpPr>
        <p:spPr>
          <a:xfrm>
            <a:off x="1403350" y="404813"/>
            <a:ext cx="7505700" cy="939800"/>
          </a:xfrm>
        </p:spPr>
        <p:txBody>
          <a:bodyPr/>
          <a:lstStyle/>
          <a:p>
            <a:pPr eaLnBrk="1" hangingPunct="1"/>
            <a:r>
              <a:rPr lang="en-GB" altLang="en-US" sz="3600" b="1">
                <a:solidFill>
                  <a:srgbClr val="0070C0"/>
                </a:solidFill>
              </a:rPr>
              <a:t>Learning Objectives</a:t>
            </a:r>
          </a:p>
        </p:txBody>
      </p:sp>
      <p:sp>
        <p:nvSpPr>
          <p:cNvPr id="20483" name="Rectangle 3">
            <a:extLst>
              <a:ext uri="{FF2B5EF4-FFF2-40B4-BE49-F238E27FC236}">
                <a16:creationId xmlns:a16="http://schemas.microsoft.com/office/drawing/2014/main" id="{5D80CF23-68E5-2E01-24FF-46207538E2FB}"/>
              </a:ext>
            </a:extLst>
          </p:cNvPr>
          <p:cNvSpPr>
            <a:spLocks noGrp="1" noChangeArrowheads="1"/>
          </p:cNvSpPr>
          <p:nvPr>
            <p:ph type="body" idx="1"/>
          </p:nvPr>
        </p:nvSpPr>
        <p:spPr>
          <a:xfrm>
            <a:off x="827088" y="1916113"/>
            <a:ext cx="7772400" cy="4503737"/>
          </a:xfrm>
        </p:spPr>
        <p:txBody>
          <a:bodyPr/>
          <a:lstStyle/>
          <a:p>
            <a:pPr>
              <a:lnSpc>
                <a:spcPct val="90000"/>
              </a:lnSpc>
            </a:pPr>
            <a:r>
              <a:rPr lang="en-GB" altLang="en-US" sz="1800" b="1" dirty="0"/>
              <a:t>Aims</a:t>
            </a:r>
          </a:p>
          <a:p>
            <a:pPr lvl="1">
              <a:lnSpc>
                <a:spcPct val="90000"/>
              </a:lnSpc>
            </a:pPr>
            <a:r>
              <a:rPr lang="en-GB" altLang="en-US" sz="1800" dirty="0"/>
              <a:t>To u</a:t>
            </a:r>
            <a:r>
              <a:rPr lang="en-GB" sz="1800" dirty="0"/>
              <a:t>nderstand and define Functional and Non-Functional requirements of a software solution.</a:t>
            </a:r>
          </a:p>
          <a:p>
            <a:pPr lvl="1">
              <a:lnSpc>
                <a:spcPct val="90000"/>
              </a:lnSpc>
            </a:pPr>
            <a:endParaRPr lang="en-GB" altLang="en-US" sz="1800" dirty="0"/>
          </a:p>
          <a:p>
            <a:pPr>
              <a:lnSpc>
                <a:spcPct val="90000"/>
              </a:lnSpc>
            </a:pPr>
            <a:r>
              <a:rPr lang="en-GB" altLang="en-US" sz="1800" b="1" dirty="0"/>
              <a:t>Objectives</a:t>
            </a:r>
          </a:p>
          <a:p>
            <a:pPr lvl="1">
              <a:lnSpc>
                <a:spcPct val="90000"/>
              </a:lnSpc>
            </a:pPr>
            <a:r>
              <a:rPr lang="en-GB" altLang="en-US" sz="1800" dirty="0"/>
              <a:t>To be able to understand</a:t>
            </a:r>
          </a:p>
          <a:p>
            <a:pPr lvl="2"/>
            <a:r>
              <a:rPr lang="en-GB" sz="1800" dirty="0"/>
              <a:t>How to define </a:t>
            </a:r>
            <a:r>
              <a:rPr lang="en-GB" sz="1800" b="1" dirty="0"/>
              <a:t>functional</a:t>
            </a:r>
            <a:r>
              <a:rPr lang="en-GB" sz="1800" dirty="0"/>
              <a:t> and </a:t>
            </a:r>
            <a:r>
              <a:rPr lang="en-GB" sz="1800" b="1" dirty="0"/>
              <a:t>non-functional</a:t>
            </a:r>
            <a:r>
              <a:rPr lang="en-GB" sz="1800" dirty="0"/>
              <a:t> requirements</a:t>
            </a:r>
          </a:p>
          <a:p>
            <a:pPr lvl="2"/>
            <a:r>
              <a:rPr lang="en-GB" sz="1800" dirty="0"/>
              <a:t>The concept of </a:t>
            </a:r>
            <a:r>
              <a:rPr lang="en-GB" sz="1800" b="1" dirty="0"/>
              <a:t>secure by design</a:t>
            </a:r>
            <a:r>
              <a:rPr lang="en-GB" sz="1800" dirty="0"/>
              <a:t> and its impact on software design</a:t>
            </a:r>
          </a:p>
          <a:p>
            <a:pPr lvl="2"/>
            <a:r>
              <a:rPr lang="en-GB" sz="1800" dirty="0"/>
              <a:t>Key performance and usability metrics</a:t>
            </a:r>
          </a:p>
          <a:p>
            <a:pPr lvl="2"/>
            <a:r>
              <a:rPr lang="en-GB" sz="1800" dirty="0"/>
              <a:t>The role of </a:t>
            </a:r>
            <a:r>
              <a:rPr lang="en-GB" sz="1800" b="1" dirty="0"/>
              <a:t>spike testing</a:t>
            </a:r>
            <a:r>
              <a:rPr lang="en-GB" sz="1800" dirty="0"/>
              <a:t> in early requirement gathering</a:t>
            </a:r>
          </a:p>
          <a:p>
            <a:pPr lvl="1">
              <a:lnSpc>
                <a:spcPct val="90000"/>
              </a:lnSpc>
            </a:pPr>
            <a:endParaRPr lang="en-GB"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77DB-38D2-9FC4-6CAC-236611900968}"/>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7393FE4D-16A2-7E4F-BDE1-C85BC37A38EB}"/>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What Are Software Requirements?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2A622E7B-F09A-943E-6D60-DADA61E89A47}"/>
              </a:ext>
            </a:extLst>
          </p:cNvPr>
          <p:cNvSpPr>
            <a:spLocks noGrp="1" noChangeArrowheads="1"/>
          </p:cNvSpPr>
          <p:nvPr>
            <p:ph idx="1"/>
          </p:nvPr>
        </p:nvSpPr>
        <p:spPr>
          <a:xfrm>
            <a:off x="234432" y="1916832"/>
            <a:ext cx="8675136" cy="727631"/>
          </a:xfrm>
        </p:spPr>
        <p:txBody>
          <a:bodyPr/>
          <a:lstStyle/>
          <a:p>
            <a:r>
              <a:rPr lang="en-GB" sz="1800" dirty="0"/>
              <a:t>Software requirements describe the expected behaviour and constraints of a system. </a:t>
            </a:r>
          </a:p>
          <a:p>
            <a:r>
              <a:rPr lang="en-GB" sz="1800" dirty="0"/>
              <a:t>They guide development, testing, and deployment decisions and must align with user and business needs.</a:t>
            </a:r>
          </a:p>
        </p:txBody>
      </p:sp>
      <p:sp>
        <p:nvSpPr>
          <p:cNvPr id="6" name="Content Placeholder 2">
            <a:extLst>
              <a:ext uri="{FF2B5EF4-FFF2-40B4-BE49-F238E27FC236}">
                <a16:creationId xmlns:a16="http://schemas.microsoft.com/office/drawing/2014/main" id="{87FB6BB5-FDC4-FAEA-F853-F12FFA9CF36B}"/>
              </a:ext>
            </a:extLst>
          </p:cNvPr>
          <p:cNvSpPr txBox="1">
            <a:spLocks noChangeArrowheads="1"/>
          </p:cNvSpPr>
          <p:nvPr/>
        </p:nvSpPr>
        <p:spPr bwMode="auto">
          <a:xfrm>
            <a:off x="237820" y="3313438"/>
            <a:ext cx="8675136"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altLang="en-US" sz="1800" kern="0" dirty="0"/>
              <a:t>Software requirements should describe:</a:t>
            </a:r>
          </a:p>
          <a:p>
            <a:pPr lvl="1"/>
            <a:r>
              <a:rPr lang="en-GB" sz="1800" dirty="0"/>
              <a:t>What the system should do. (</a:t>
            </a:r>
            <a:r>
              <a:rPr lang="en-GB" sz="1800" b="1" dirty="0"/>
              <a:t>Functional Requirements)</a:t>
            </a:r>
            <a:endParaRPr lang="en-GB" sz="1800" dirty="0"/>
          </a:p>
          <a:p>
            <a:pPr lvl="1"/>
            <a:r>
              <a:rPr lang="en-GB" sz="1800" dirty="0"/>
              <a:t>How the system should perform. (</a:t>
            </a:r>
            <a:r>
              <a:rPr lang="en-GB" sz="1800" b="1" dirty="0"/>
              <a:t>Non-Functional Requirements)</a:t>
            </a:r>
            <a:endParaRPr lang="en-GB" sz="1800" dirty="0"/>
          </a:p>
          <a:p>
            <a:pPr marL="0" indent="0">
              <a:buNone/>
            </a:pPr>
            <a:endParaRPr lang="en-GB" altLang="en-US" sz="1800" kern="0" dirty="0"/>
          </a:p>
        </p:txBody>
      </p:sp>
      <p:pic>
        <p:nvPicPr>
          <p:cNvPr id="2" name="Picture 2" descr="1_functional_nonfunctional_requirements">
            <a:extLst>
              <a:ext uri="{FF2B5EF4-FFF2-40B4-BE49-F238E27FC236}">
                <a16:creationId xmlns:a16="http://schemas.microsoft.com/office/drawing/2014/main" id="{01A26D2E-8365-6598-95E1-7A99047B5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37002" y="4648678"/>
            <a:ext cx="4443258" cy="1734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a:extLst>
              <a:ext uri="{FF2B5EF4-FFF2-40B4-BE49-F238E27FC236}">
                <a16:creationId xmlns:a16="http://schemas.microsoft.com/office/drawing/2014/main" id="{568A7278-51E7-74F6-EAB3-9158787886F9}"/>
              </a:ext>
            </a:extLst>
          </p:cNvPr>
          <p:cNvSpPr txBox="1">
            <a:spLocks noChangeArrowheads="1"/>
          </p:cNvSpPr>
          <p:nvPr/>
        </p:nvSpPr>
        <p:spPr bwMode="auto">
          <a:xfrm>
            <a:off x="234432" y="4394349"/>
            <a:ext cx="3888432" cy="18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The foundation for system design, testing, and validation.</a:t>
            </a:r>
          </a:p>
          <a:p>
            <a:pPr lvl="1"/>
            <a:r>
              <a:rPr lang="en-GB" sz="1800" dirty="0"/>
              <a:t>How they align with business goals and user needs.</a:t>
            </a:r>
          </a:p>
          <a:p>
            <a:endParaRPr lang="en-GB" altLang="en-US" sz="1800" kern="0" dirty="0"/>
          </a:p>
        </p:txBody>
      </p:sp>
    </p:spTree>
    <p:extLst>
      <p:ext uri="{BB962C8B-B14F-4D97-AF65-F5344CB8AC3E}">
        <p14:creationId xmlns:p14="http://schemas.microsoft.com/office/powerpoint/2010/main" val="421736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26B59-45C6-8BB3-795A-EB0635B34DD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D3D29E22-120A-5FFC-2646-D57D10B9A4D5}"/>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Secure by Design</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FE986372-67DC-4A1A-7C77-301018B03E79}"/>
              </a:ext>
            </a:extLst>
          </p:cNvPr>
          <p:cNvSpPr>
            <a:spLocks noGrp="1" noChangeArrowheads="1"/>
          </p:cNvSpPr>
          <p:nvPr>
            <p:ph idx="1"/>
          </p:nvPr>
        </p:nvSpPr>
        <p:spPr>
          <a:xfrm>
            <a:off x="234432" y="1916832"/>
            <a:ext cx="8675136" cy="727631"/>
          </a:xfrm>
        </p:spPr>
        <p:txBody>
          <a:bodyPr/>
          <a:lstStyle/>
          <a:p>
            <a:r>
              <a:rPr lang="en-GB" sz="1800" dirty="0"/>
              <a:t>"Secure by design" means integrating security into every part of the system from the start. </a:t>
            </a:r>
          </a:p>
          <a:p>
            <a:r>
              <a:rPr lang="en-GB" sz="1800" dirty="0"/>
              <a:t>This principle affects both what the system does (functional) and how it performs (non-functional), helping to prevent security flaws later on.</a:t>
            </a:r>
          </a:p>
        </p:txBody>
      </p:sp>
      <p:sp>
        <p:nvSpPr>
          <p:cNvPr id="6" name="Content Placeholder 2">
            <a:extLst>
              <a:ext uri="{FF2B5EF4-FFF2-40B4-BE49-F238E27FC236}">
                <a16:creationId xmlns:a16="http://schemas.microsoft.com/office/drawing/2014/main" id="{EC3A511E-471D-FC61-428E-89740C1676BF}"/>
              </a:ext>
            </a:extLst>
          </p:cNvPr>
          <p:cNvSpPr txBox="1">
            <a:spLocks noChangeArrowheads="1"/>
          </p:cNvSpPr>
          <p:nvPr/>
        </p:nvSpPr>
        <p:spPr bwMode="auto">
          <a:xfrm>
            <a:off x="263909" y="3429000"/>
            <a:ext cx="8675136"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t>Secure by design should not be added as an afterthought.</a:t>
            </a:r>
          </a:p>
          <a:p>
            <a:r>
              <a:rPr lang="en-GB" altLang="en-US" sz="1800" kern="0" dirty="0"/>
              <a:t>It </a:t>
            </a:r>
            <a:r>
              <a:rPr lang="en-GB" sz="1800" dirty="0"/>
              <a:t>Influences both functional and non-functional requirements.</a:t>
            </a:r>
          </a:p>
          <a:p>
            <a:r>
              <a:rPr lang="en-GB" sz="1800" dirty="0"/>
              <a:t>It should reduce vulnerabilities and enhances trust.</a:t>
            </a:r>
            <a:endParaRPr lang="en-GB" altLang="en-US" sz="1800" kern="0" dirty="0"/>
          </a:p>
          <a:p>
            <a:pPr marL="0" indent="0">
              <a:buNone/>
            </a:pPr>
            <a:endParaRPr lang="en-GB" altLang="en-US" sz="1800" kern="0" dirty="0"/>
          </a:p>
        </p:txBody>
      </p:sp>
      <p:sp>
        <p:nvSpPr>
          <p:cNvPr id="4" name="Content Placeholder 2">
            <a:extLst>
              <a:ext uri="{FF2B5EF4-FFF2-40B4-BE49-F238E27FC236}">
                <a16:creationId xmlns:a16="http://schemas.microsoft.com/office/drawing/2014/main" id="{369BF89E-541B-7E40-3946-F927126AA85C}"/>
              </a:ext>
            </a:extLst>
          </p:cNvPr>
          <p:cNvSpPr txBox="1">
            <a:spLocks noChangeArrowheads="1"/>
          </p:cNvSpPr>
          <p:nvPr/>
        </p:nvSpPr>
        <p:spPr bwMode="auto">
          <a:xfrm>
            <a:off x="296336" y="4683615"/>
            <a:ext cx="4995744"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t>It should lead to decisions like:</a:t>
            </a:r>
          </a:p>
          <a:p>
            <a:pPr lvl="1"/>
            <a:r>
              <a:rPr lang="en-GB" sz="1800" dirty="0"/>
              <a:t>Data validation and encryption (functional)</a:t>
            </a:r>
          </a:p>
          <a:p>
            <a:pPr lvl="1"/>
            <a:r>
              <a:rPr lang="en-GB" sz="1800" dirty="0"/>
              <a:t>Role-based access and audit trails (non-functional)</a:t>
            </a:r>
          </a:p>
          <a:p>
            <a:pPr lvl="1"/>
            <a:r>
              <a:rPr lang="en-GB" sz="1800" dirty="0"/>
              <a:t>Secure APIs and third-party integrations</a:t>
            </a:r>
          </a:p>
          <a:p>
            <a:pPr marL="0" indent="0">
              <a:buNone/>
            </a:pPr>
            <a:endParaRPr lang="en-GB" altLang="en-US" sz="1800" kern="0" dirty="0"/>
          </a:p>
        </p:txBody>
      </p:sp>
      <p:pic>
        <p:nvPicPr>
          <p:cNvPr id="7" name="Picture 6">
            <a:extLst>
              <a:ext uri="{FF2B5EF4-FFF2-40B4-BE49-F238E27FC236}">
                <a16:creationId xmlns:a16="http://schemas.microsoft.com/office/drawing/2014/main" id="{660DF6A1-BD8C-C6E5-0678-42AFB0E2D0A6}"/>
              </a:ext>
            </a:extLst>
          </p:cNvPr>
          <p:cNvPicPr>
            <a:picLocks noChangeAspect="1"/>
          </p:cNvPicPr>
          <p:nvPr/>
        </p:nvPicPr>
        <p:blipFill>
          <a:blip r:embed="rId3"/>
          <a:stretch>
            <a:fillRect/>
          </a:stretch>
        </p:blipFill>
        <p:spPr>
          <a:xfrm>
            <a:off x="5505062" y="4554923"/>
            <a:ext cx="3419872" cy="1856884"/>
          </a:xfrm>
          <a:prstGeom prst="rect">
            <a:avLst/>
          </a:prstGeom>
        </p:spPr>
      </p:pic>
    </p:spTree>
    <p:extLst>
      <p:ext uri="{BB962C8B-B14F-4D97-AF65-F5344CB8AC3E}">
        <p14:creationId xmlns:p14="http://schemas.microsoft.com/office/powerpoint/2010/main" val="112414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61FD4-BF5B-6D43-D186-8C16729CB5F0}"/>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9FE049CB-23CF-7609-633E-7868631DE12A}"/>
              </a:ext>
            </a:extLst>
          </p:cNvPr>
          <p:cNvSpPr>
            <a:spLocks noGrp="1" noChangeArrowheads="1"/>
          </p:cNvSpPr>
          <p:nvPr>
            <p:ph type="title"/>
          </p:nvPr>
        </p:nvSpPr>
        <p:spPr>
          <a:xfrm>
            <a:off x="1374859" y="454216"/>
            <a:ext cx="5400600" cy="939800"/>
          </a:xfrm>
        </p:spPr>
        <p:txBody>
          <a:bodyPr/>
          <a:lstStyle/>
          <a:p>
            <a:r>
              <a:rPr lang="en-GB" sz="3200" b="1" dirty="0">
                <a:solidFill>
                  <a:srgbClr val="0070C0"/>
                </a:solidFill>
              </a:rPr>
              <a:t>Defining </a:t>
            </a:r>
            <a:br>
              <a:rPr lang="en-GB" sz="3200" b="1" dirty="0">
                <a:solidFill>
                  <a:srgbClr val="0070C0"/>
                </a:solidFill>
              </a:rPr>
            </a:br>
            <a:r>
              <a:rPr lang="en-GB" sz="3200" b="1" dirty="0">
                <a:solidFill>
                  <a:srgbClr val="0070C0"/>
                </a:solidFill>
              </a:rPr>
              <a:t>Functional Requirements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738B579E-94AC-308A-2410-99538F855330}"/>
              </a:ext>
            </a:extLst>
          </p:cNvPr>
          <p:cNvSpPr>
            <a:spLocks noGrp="1" noChangeArrowheads="1"/>
          </p:cNvSpPr>
          <p:nvPr>
            <p:ph idx="1"/>
          </p:nvPr>
        </p:nvSpPr>
        <p:spPr>
          <a:xfrm>
            <a:off x="179512" y="1862465"/>
            <a:ext cx="8784976" cy="1440160"/>
          </a:xfrm>
        </p:spPr>
        <p:txBody>
          <a:bodyPr/>
          <a:lstStyle/>
          <a:p>
            <a:r>
              <a:rPr lang="en-GB" sz="1600" dirty="0"/>
              <a:t>Functional requirements define the core behaviour of the software. </a:t>
            </a:r>
          </a:p>
          <a:p>
            <a:r>
              <a:rPr lang="en-GB" sz="1600" dirty="0"/>
              <a:t>These include how the software handles inputs, processes data, applies business rules, and how it will be used or deployed</a:t>
            </a:r>
          </a:p>
          <a:p>
            <a:pPr marL="142875" indent="-271463"/>
            <a:r>
              <a:rPr lang="en-GB" sz="1600" dirty="0"/>
              <a:t>Functional Requirements Include:</a:t>
            </a:r>
          </a:p>
          <a:p>
            <a:pPr marL="542925" lvl="1" indent="-271463"/>
            <a:r>
              <a:rPr lang="en-GB" sz="1600" b="1" dirty="0"/>
              <a:t>Inputs</a:t>
            </a:r>
            <a:r>
              <a:rPr lang="en-GB" sz="1600" dirty="0"/>
              <a:t>: What data is collected or entered</a:t>
            </a:r>
          </a:p>
          <a:p>
            <a:pPr marL="803275" lvl="2" indent="-260350"/>
            <a:r>
              <a:rPr lang="en-GB" sz="1600" dirty="0"/>
              <a:t>e.g., User login credentials, form submissions</a:t>
            </a:r>
          </a:p>
          <a:p>
            <a:pPr marL="542925" lvl="1" indent="-271463"/>
            <a:r>
              <a:rPr lang="en-GB" sz="1600" b="1" dirty="0"/>
              <a:t>Data Needed</a:t>
            </a:r>
            <a:r>
              <a:rPr lang="en-GB" sz="1600" dirty="0"/>
              <a:t>: What data must be stored or fetched</a:t>
            </a:r>
          </a:p>
          <a:p>
            <a:pPr marL="803275" lvl="2" indent="-260350"/>
            <a:r>
              <a:rPr lang="en-GB" sz="1600" dirty="0"/>
              <a:t>e.g., User profiles, product inventory</a:t>
            </a:r>
          </a:p>
          <a:p>
            <a:endParaRPr lang="en-GB" sz="1600" dirty="0"/>
          </a:p>
          <a:p>
            <a:endParaRPr lang="en-GB" sz="1800" dirty="0"/>
          </a:p>
        </p:txBody>
      </p:sp>
      <p:sp>
        <p:nvSpPr>
          <p:cNvPr id="3" name="Content Placeholder 2">
            <a:extLst>
              <a:ext uri="{FF2B5EF4-FFF2-40B4-BE49-F238E27FC236}">
                <a16:creationId xmlns:a16="http://schemas.microsoft.com/office/drawing/2014/main" id="{469E8A08-7ADF-5976-1A58-C8A00668B475}"/>
              </a:ext>
            </a:extLst>
          </p:cNvPr>
          <p:cNvSpPr txBox="1">
            <a:spLocks noChangeArrowheads="1"/>
          </p:cNvSpPr>
          <p:nvPr/>
        </p:nvSpPr>
        <p:spPr bwMode="auto">
          <a:xfrm>
            <a:off x="-31868" y="4120430"/>
            <a:ext cx="5870157" cy="1785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600" b="1" dirty="0"/>
              <a:t>Data Processing</a:t>
            </a:r>
            <a:r>
              <a:rPr lang="en-GB" sz="1600" dirty="0"/>
              <a:t>: Transformations, validations, calculations</a:t>
            </a:r>
          </a:p>
          <a:p>
            <a:pPr lvl="2"/>
            <a:r>
              <a:rPr lang="en-GB" sz="1600" dirty="0"/>
              <a:t>e.g., Order total calculation, input sanitization</a:t>
            </a:r>
            <a:endParaRPr lang="en-GB" sz="1600" b="1" kern="0" dirty="0"/>
          </a:p>
          <a:p>
            <a:pPr lvl="1"/>
            <a:r>
              <a:rPr lang="en-GB" sz="1600" b="1" kern="0" dirty="0"/>
              <a:t>Logic of the System</a:t>
            </a:r>
            <a:r>
              <a:rPr lang="en-GB" sz="1600" kern="0" dirty="0"/>
              <a:t>: Decision-making rules and workflows</a:t>
            </a:r>
          </a:p>
          <a:p>
            <a:pPr lvl="2"/>
            <a:r>
              <a:rPr lang="en-GB" sz="1600" kern="0" dirty="0"/>
              <a:t>e.g., Access control rules, business logic flows</a:t>
            </a:r>
          </a:p>
          <a:p>
            <a:endParaRPr lang="en-GB" sz="1800" kern="0" dirty="0"/>
          </a:p>
        </p:txBody>
      </p:sp>
      <p:sp>
        <p:nvSpPr>
          <p:cNvPr id="5" name="Content Placeholder 2">
            <a:extLst>
              <a:ext uri="{FF2B5EF4-FFF2-40B4-BE49-F238E27FC236}">
                <a16:creationId xmlns:a16="http://schemas.microsoft.com/office/drawing/2014/main" id="{A76EFEAD-5DF2-3189-936B-EB3EEE3A2B6E}"/>
              </a:ext>
            </a:extLst>
          </p:cNvPr>
          <p:cNvSpPr txBox="1">
            <a:spLocks noChangeArrowheads="1"/>
          </p:cNvSpPr>
          <p:nvPr/>
        </p:nvSpPr>
        <p:spPr bwMode="auto">
          <a:xfrm>
            <a:off x="5702484" y="2824037"/>
            <a:ext cx="3262004" cy="308188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200" b="1" dirty="0"/>
              <a:t>Example:</a:t>
            </a:r>
          </a:p>
          <a:p>
            <a:pPr marL="444500" lvl="1" indent="-258763"/>
            <a:r>
              <a:rPr lang="en-GB" sz="1200" b="1" dirty="0"/>
              <a:t>Use Case</a:t>
            </a:r>
            <a:r>
              <a:rPr lang="en-GB" sz="1200" dirty="0"/>
              <a:t>: Online Booking System</a:t>
            </a:r>
          </a:p>
          <a:p>
            <a:pPr marL="444500" lvl="1" indent="-258763"/>
            <a:r>
              <a:rPr lang="en-GB" sz="1200" b="1" dirty="0"/>
              <a:t>Inputs</a:t>
            </a:r>
            <a:r>
              <a:rPr lang="en-GB" sz="1200" dirty="0"/>
              <a:t>: User date selection, payment info</a:t>
            </a:r>
          </a:p>
          <a:p>
            <a:pPr marL="444500" lvl="1" indent="-258763"/>
            <a:r>
              <a:rPr lang="en-GB" sz="1200" b="1" dirty="0"/>
              <a:t>Data Needed</a:t>
            </a:r>
            <a:r>
              <a:rPr lang="en-GB" sz="1200" dirty="0"/>
              <a:t>: Availability, user details, payment status</a:t>
            </a:r>
          </a:p>
          <a:p>
            <a:pPr marL="444500" lvl="1" indent="-258763"/>
            <a:r>
              <a:rPr lang="en-GB" sz="1200" b="1" dirty="0"/>
              <a:t>Processing</a:t>
            </a:r>
            <a:r>
              <a:rPr lang="en-GB" sz="1200" dirty="0"/>
              <a:t>: Check availability, validate card, confirm booking</a:t>
            </a:r>
          </a:p>
          <a:p>
            <a:pPr marL="444500" lvl="1" indent="-258763"/>
            <a:r>
              <a:rPr lang="en-GB" sz="1200" b="1" dirty="0"/>
              <a:t>Logic</a:t>
            </a:r>
            <a:r>
              <a:rPr lang="en-GB" sz="1200" dirty="0"/>
              <a:t>: Bookings must not overlap; only available slots shown</a:t>
            </a:r>
          </a:p>
          <a:p>
            <a:pPr marL="444500" lvl="1" indent="-258763"/>
            <a:r>
              <a:rPr lang="en-GB" sz="1200" b="1" dirty="0"/>
              <a:t>Deployment</a:t>
            </a:r>
            <a:r>
              <a:rPr lang="en-GB" sz="1200" dirty="0"/>
              <a:t>: Mobile-first responsive web application</a:t>
            </a:r>
          </a:p>
          <a:p>
            <a:pPr marL="444500" lvl="1" indent="-258763"/>
            <a:endParaRPr lang="en-GB" sz="1200" dirty="0"/>
          </a:p>
          <a:p>
            <a:pPr marL="44450" indent="-258763"/>
            <a:r>
              <a:rPr lang="en-GB" sz="1200" b="1" kern="0" dirty="0"/>
              <a:t>See slide notes for further examples</a:t>
            </a:r>
          </a:p>
          <a:p>
            <a:endParaRPr lang="en-GB" sz="1800" kern="0" dirty="0"/>
          </a:p>
        </p:txBody>
      </p:sp>
      <p:pic>
        <p:nvPicPr>
          <p:cNvPr id="9" name="Picture 8">
            <a:extLst>
              <a:ext uri="{FF2B5EF4-FFF2-40B4-BE49-F238E27FC236}">
                <a16:creationId xmlns:a16="http://schemas.microsoft.com/office/drawing/2014/main" id="{D5E52CA9-E056-C4F4-18C6-003374781B62}"/>
              </a:ext>
            </a:extLst>
          </p:cNvPr>
          <p:cNvPicPr>
            <a:picLocks noChangeAspect="1"/>
          </p:cNvPicPr>
          <p:nvPr/>
        </p:nvPicPr>
        <p:blipFill>
          <a:blip r:embed="rId3"/>
          <a:stretch>
            <a:fillRect/>
          </a:stretch>
        </p:blipFill>
        <p:spPr>
          <a:xfrm>
            <a:off x="6818359" y="276044"/>
            <a:ext cx="2304256" cy="1296144"/>
          </a:xfrm>
          <a:prstGeom prst="rect">
            <a:avLst/>
          </a:prstGeom>
        </p:spPr>
      </p:pic>
      <p:sp>
        <p:nvSpPr>
          <p:cNvPr id="10" name="Content Placeholder 2">
            <a:extLst>
              <a:ext uri="{FF2B5EF4-FFF2-40B4-BE49-F238E27FC236}">
                <a16:creationId xmlns:a16="http://schemas.microsoft.com/office/drawing/2014/main" id="{1ED974A6-FA32-3C43-574B-15FB23405618}"/>
              </a:ext>
            </a:extLst>
          </p:cNvPr>
          <p:cNvSpPr txBox="1">
            <a:spLocks noChangeArrowheads="1"/>
          </p:cNvSpPr>
          <p:nvPr/>
        </p:nvSpPr>
        <p:spPr bwMode="auto">
          <a:xfrm>
            <a:off x="-7593" y="5914004"/>
            <a:ext cx="8964488" cy="630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600" b="1" kern="0" dirty="0"/>
              <a:t>Deployment &amp; Usage Platforms</a:t>
            </a:r>
            <a:r>
              <a:rPr lang="en-GB" sz="1600" kern="0" dirty="0"/>
              <a:t>: Where and how the software runs</a:t>
            </a:r>
          </a:p>
          <a:p>
            <a:pPr lvl="2"/>
            <a:r>
              <a:rPr lang="en-GB" sz="1600" kern="0" dirty="0"/>
              <a:t>e.g., Web app, mobile app, desktop platform, cloud environment</a:t>
            </a:r>
          </a:p>
          <a:p>
            <a:endParaRPr lang="en-GB" sz="1600" kern="0" dirty="0"/>
          </a:p>
          <a:p>
            <a:endParaRPr lang="en-GB" sz="1800" kern="0" dirty="0"/>
          </a:p>
          <a:p>
            <a:endParaRPr lang="en-GB" sz="1800" kern="0" dirty="0"/>
          </a:p>
        </p:txBody>
      </p:sp>
    </p:spTree>
    <p:extLst>
      <p:ext uri="{BB962C8B-B14F-4D97-AF65-F5344CB8AC3E}">
        <p14:creationId xmlns:p14="http://schemas.microsoft.com/office/powerpoint/2010/main" val="19928303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EE1C0-E172-3240-FF9F-941238180AE3}"/>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B0140D84-D1D7-735E-251C-E34749B5362A}"/>
              </a:ext>
            </a:extLst>
          </p:cNvPr>
          <p:cNvSpPr>
            <a:spLocks noGrp="1" noChangeArrowheads="1"/>
          </p:cNvSpPr>
          <p:nvPr>
            <p:ph type="title"/>
          </p:nvPr>
        </p:nvSpPr>
        <p:spPr>
          <a:xfrm>
            <a:off x="1475656" y="446193"/>
            <a:ext cx="7128792" cy="939800"/>
          </a:xfrm>
        </p:spPr>
        <p:txBody>
          <a:bodyPr/>
          <a:lstStyle/>
          <a:p>
            <a:r>
              <a:rPr lang="en-GB" sz="3200" b="1" dirty="0">
                <a:solidFill>
                  <a:srgbClr val="0070C0"/>
                </a:solidFill>
              </a:rPr>
              <a:t>Understanding </a:t>
            </a:r>
            <a:br>
              <a:rPr lang="en-GB" sz="3200" b="1" dirty="0">
                <a:solidFill>
                  <a:srgbClr val="0070C0"/>
                </a:solidFill>
              </a:rPr>
            </a:br>
            <a:r>
              <a:rPr lang="en-GB" sz="3200" b="1" dirty="0">
                <a:solidFill>
                  <a:srgbClr val="0070C0"/>
                </a:solidFill>
              </a:rPr>
              <a:t>Non-Functional Requirements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5D40A86B-733F-814D-B184-5A082AC3480E}"/>
              </a:ext>
            </a:extLst>
          </p:cNvPr>
          <p:cNvSpPr>
            <a:spLocks noGrp="1" noChangeArrowheads="1"/>
          </p:cNvSpPr>
          <p:nvPr>
            <p:ph idx="1"/>
          </p:nvPr>
        </p:nvSpPr>
        <p:spPr>
          <a:xfrm>
            <a:off x="201934" y="2654152"/>
            <a:ext cx="7957392" cy="4203848"/>
          </a:xfrm>
        </p:spPr>
        <p:txBody>
          <a:bodyPr/>
          <a:lstStyle/>
          <a:p>
            <a:r>
              <a:rPr lang="en-GB" sz="1800" dirty="0"/>
              <a:t>Non-Functional Requirements focus on:</a:t>
            </a:r>
          </a:p>
          <a:p>
            <a:pPr lvl="1"/>
            <a:r>
              <a:rPr lang="en-GB" sz="1800" b="1" dirty="0"/>
              <a:t>Security</a:t>
            </a:r>
            <a:r>
              <a:rPr lang="en-GB" sz="1800" dirty="0"/>
              <a:t>:</a:t>
            </a:r>
          </a:p>
          <a:p>
            <a:pPr lvl="2"/>
            <a:r>
              <a:rPr lang="en-GB" sz="1600" dirty="0"/>
              <a:t>Authentication, encryption, secure storage</a:t>
            </a:r>
          </a:p>
          <a:p>
            <a:pPr lvl="1"/>
            <a:r>
              <a:rPr lang="en-GB" sz="1800" b="1" dirty="0"/>
              <a:t>Accessibility</a:t>
            </a:r>
            <a:r>
              <a:rPr lang="en-GB" sz="1800" dirty="0"/>
              <a:t>:</a:t>
            </a:r>
          </a:p>
          <a:p>
            <a:pPr lvl="2"/>
            <a:r>
              <a:rPr lang="en-GB" sz="1600" dirty="0"/>
              <a:t>WCAG compliance, screen reader support, keyboard navigation</a:t>
            </a:r>
          </a:p>
          <a:p>
            <a:pPr lvl="1"/>
            <a:r>
              <a:rPr lang="en-GB" sz="1800" b="1" dirty="0"/>
              <a:t>Scalability</a:t>
            </a:r>
            <a:r>
              <a:rPr lang="en-GB" sz="1800" dirty="0"/>
              <a:t>:</a:t>
            </a:r>
          </a:p>
          <a:p>
            <a:pPr lvl="2"/>
            <a:r>
              <a:rPr lang="en-GB" sz="1600" dirty="0"/>
              <a:t>Ability to support growth (users, data, features)</a:t>
            </a:r>
          </a:p>
          <a:p>
            <a:pPr lvl="1"/>
            <a:r>
              <a:rPr lang="en-GB" sz="1800" b="1" dirty="0"/>
              <a:t>Performance Metrics</a:t>
            </a:r>
            <a:r>
              <a:rPr lang="en-GB" sz="1800" dirty="0"/>
              <a:t>:</a:t>
            </a:r>
          </a:p>
          <a:p>
            <a:pPr lvl="2"/>
            <a:r>
              <a:rPr lang="en-GB" sz="1800" b="1" dirty="0"/>
              <a:t>Responsiveness</a:t>
            </a:r>
            <a:r>
              <a:rPr lang="en-GB" sz="1800" dirty="0"/>
              <a:t>: Page load time, latency</a:t>
            </a:r>
          </a:p>
          <a:p>
            <a:pPr lvl="2"/>
            <a:r>
              <a:rPr lang="en-GB" sz="1800" b="1" dirty="0"/>
              <a:t>Load Handling</a:t>
            </a:r>
            <a:r>
              <a:rPr lang="en-GB" sz="1800" dirty="0"/>
              <a:t>: Concurrent users, data throughput</a:t>
            </a:r>
          </a:p>
          <a:p>
            <a:pPr lvl="2"/>
            <a:r>
              <a:rPr lang="en-GB" sz="1800" b="1" dirty="0"/>
              <a:t>Reliability</a:t>
            </a:r>
            <a:r>
              <a:rPr lang="en-GB" sz="1800" dirty="0"/>
              <a:t>: Uptime %, error rates</a:t>
            </a:r>
          </a:p>
          <a:p>
            <a:pPr lvl="1"/>
            <a:r>
              <a:rPr lang="en-GB" sz="1800" b="1" dirty="0"/>
              <a:t>User Acceptance Criteria</a:t>
            </a:r>
            <a:r>
              <a:rPr lang="en-GB" sz="1800" dirty="0"/>
              <a:t>:</a:t>
            </a:r>
          </a:p>
          <a:p>
            <a:pPr lvl="2"/>
            <a:r>
              <a:rPr lang="en-GB" sz="1600" dirty="0"/>
              <a:t>Measures for successful deployment (usability, satisfaction, task success)</a:t>
            </a:r>
          </a:p>
          <a:p>
            <a:endParaRPr lang="en-GB" sz="1800" dirty="0"/>
          </a:p>
          <a:p>
            <a:endParaRPr lang="en-GB" sz="1800" dirty="0"/>
          </a:p>
        </p:txBody>
      </p:sp>
      <p:pic>
        <p:nvPicPr>
          <p:cNvPr id="4098" name="Picture 2" descr="Nonfunctional Requirements Explained: Examples, Types, Tools">
            <a:extLst>
              <a:ext uri="{FF2B5EF4-FFF2-40B4-BE49-F238E27FC236}">
                <a16:creationId xmlns:a16="http://schemas.microsoft.com/office/drawing/2014/main" id="{170E58B4-0DC5-E340-5D56-ABBC4D9540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411" y="2220808"/>
            <a:ext cx="2449587" cy="148304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at are non-functional requirements (NFRs) | Planio">
            <a:extLst>
              <a:ext uri="{FF2B5EF4-FFF2-40B4-BE49-F238E27FC236}">
                <a16:creationId xmlns:a16="http://schemas.microsoft.com/office/drawing/2014/main" id="{F9694CDE-AF05-3605-0CFF-788E1F9EBF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7322" y="4482830"/>
            <a:ext cx="1955676" cy="1346225"/>
          </a:xfrm>
          <a:prstGeom prst="rect">
            <a:avLst/>
          </a:prstGeom>
          <a:noFill/>
          <a:extLst>
            <a:ext uri="{909E8E84-426E-40DD-AFC4-6F175D3DCCD1}">
              <a14:hiddenFill xmlns:a14="http://schemas.microsoft.com/office/drawing/2010/main">
                <a:solidFill>
                  <a:srgbClr val="FFFFFF"/>
                </a:solidFill>
              </a14:hiddenFill>
            </a:ext>
          </a:extLst>
        </p:spPr>
      </p:pic>
      <p:sp>
        <p:nvSpPr>
          <p:cNvPr id="2" name="Content Placeholder 2">
            <a:extLst>
              <a:ext uri="{FF2B5EF4-FFF2-40B4-BE49-F238E27FC236}">
                <a16:creationId xmlns:a16="http://schemas.microsoft.com/office/drawing/2014/main" id="{AE19BB20-C23D-008A-6FAB-EFE02AB56C43}"/>
              </a:ext>
            </a:extLst>
          </p:cNvPr>
          <p:cNvSpPr txBox="1">
            <a:spLocks noChangeArrowheads="1"/>
          </p:cNvSpPr>
          <p:nvPr/>
        </p:nvSpPr>
        <p:spPr bwMode="auto">
          <a:xfrm>
            <a:off x="201934" y="1702057"/>
            <a:ext cx="8784976" cy="690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t>Non-functional requirements describe the quality attributes of a system, such as its performance, accessibility, and security. </a:t>
            </a:r>
          </a:p>
          <a:p>
            <a:r>
              <a:rPr lang="en-GB" sz="1800" dirty="0"/>
              <a:t>They ensure the system is usable, reliable, and scalable.</a:t>
            </a:r>
          </a:p>
          <a:p>
            <a:pPr marL="0" indent="0">
              <a:buNone/>
            </a:pPr>
            <a:endParaRPr lang="en-GB" sz="1800" kern="0" dirty="0"/>
          </a:p>
        </p:txBody>
      </p:sp>
    </p:spTree>
    <p:extLst>
      <p:ext uri="{BB962C8B-B14F-4D97-AF65-F5344CB8AC3E}">
        <p14:creationId xmlns:p14="http://schemas.microsoft.com/office/powerpoint/2010/main" val="1295262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E0FF0-3871-F6C3-44A9-F170565A13E1}"/>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B621744E-6897-BA47-D0FF-E60503914EC8}"/>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Measuring Performance and Scalability</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60132D22-B7A0-20C4-80E9-DC51BA62528B}"/>
              </a:ext>
            </a:extLst>
          </p:cNvPr>
          <p:cNvSpPr>
            <a:spLocks noGrp="1" noChangeArrowheads="1"/>
          </p:cNvSpPr>
          <p:nvPr>
            <p:ph idx="1"/>
          </p:nvPr>
        </p:nvSpPr>
        <p:spPr>
          <a:xfrm>
            <a:off x="287524" y="1844824"/>
            <a:ext cx="8676964" cy="1080120"/>
          </a:xfrm>
        </p:spPr>
        <p:txBody>
          <a:bodyPr/>
          <a:lstStyle/>
          <a:p>
            <a:r>
              <a:rPr lang="en-GB" sz="1800" dirty="0"/>
              <a:t>Performance and scalability metrics help ensure the software can respond quickly and grow as user demand increases. </a:t>
            </a:r>
          </a:p>
          <a:p>
            <a:endParaRPr lang="en-GB" sz="1800" dirty="0"/>
          </a:p>
          <a:p>
            <a:r>
              <a:rPr lang="en-GB" sz="1800" dirty="0"/>
              <a:t>These are key for maintaining quality under load.</a:t>
            </a:r>
          </a:p>
        </p:txBody>
      </p:sp>
      <p:sp>
        <p:nvSpPr>
          <p:cNvPr id="2" name="Content Placeholder 2">
            <a:extLst>
              <a:ext uri="{FF2B5EF4-FFF2-40B4-BE49-F238E27FC236}">
                <a16:creationId xmlns:a16="http://schemas.microsoft.com/office/drawing/2014/main" id="{F9BD4B93-06D2-A71B-6360-15AB9C073EB3}"/>
              </a:ext>
            </a:extLst>
          </p:cNvPr>
          <p:cNvSpPr txBox="1">
            <a:spLocks noChangeArrowheads="1"/>
          </p:cNvSpPr>
          <p:nvPr/>
        </p:nvSpPr>
        <p:spPr bwMode="auto">
          <a:xfrm>
            <a:off x="287524" y="3550403"/>
            <a:ext cx="5596743" cy="2493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Key Metrics Include:</a:t>
            </a:r>
            <a:endParaRPr lang="en-GB" sz="1800" dirty="0"/>
          </a:p>
          <a:p>
            <a:pPr lvl="1"/>
            <a:r>
              <a:rPr lang="en-GB" sz="1800" b="1" dirty="0"/>
              <a:t>Response Time</a:t>
            </a:r>
            <a:r>
              <a:rPr lang="en-GB" sz="1800" dirty="0"/>
              <a:t>: Time to complete a request</a:t>
            </a:r>
          </a:p>
          <a:p>
            <a:pPr lvl="1"/>
            <a:r>
              <a:rPr lang="en-GB" sz="1800" b="1" dirty="0"/>
              <a:t>Throughput</a:t>
            </a:r>
            <a:r>
              <a:rPr lang="en-GB" sz="1800" dirty="0"/>
              <a:t>: Requests per second</a:t>
            </a:r>
          </a:p>
          <a:p>
            <a:pPr lvl="1"/>
            <a:r>
              <a:rPr lang="en-GB" sz="1800" b="1" dirty="0"/>
              <a:t>System Load</a:t>
            </a:r>
            <a:r>
              <a:rPr lang="en-GB" sz="1800" dirty="0"/>
              <a:t>: CPU, memory usage</a:t>
            </a:r>
          </a:p>
          <a:p>
            <a:pPr lvl="1"/>
            <a:r>
              <a:rPr lang="en-GB" sz="1800" b="1" dirty="0"/>
              <a:t>Uptime</a:t>
            </a:r>
            <a:r>
              <a:rPr lang="en-GB" sz="1800" dirty="0"/>
              <a:t>: Target availability (e.g., 99.9%)</a:t>
            </a:r>
          </a:p>
          <a:p>
            <a:pPr lvl="1"/>
            <a:r>
              <a:rPr lang="en-GB" sz="1800" b="1" dirty="0"/>
              <a:t>Elasticity</a:t>
            </a:r>
            <a:r>
              <a:rPr lang="en-GB" sz="1800" dirty="0"/>
              <a:t>: Can the system scale up/down as needed?</a:t>
            </a:r>
          </a:p>
          <a:p>
            <a:pPr lvl="1"/>
            <a:endParaRPr lang="en-GB" sz="1800" dirty="0"/>
          </a:p>
        </p:txBody>
      </p:sp>
      <p:pic>
        <p:nvPicPr>
          <p:cNvPr id="7170" name="Picture 2" descr="How to Test the Scalability of Software Systems: Best Practices">
            <a:extLst>
              <a:ext uri="{FF2B5EF4-FFF2-40B4-BE49-F238E27FC236}">
                <a16:creationId xmlns:a16="http://schemas.microsoft.com/office/drawing/2014/main" id="{A9B54C7E-8F9F-90AF-575C-D03AC3819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418" y="2443460"/>
            <a:ext cx="2648173" cy="148959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Scalability of Software Systems ...">
            <a:extLst>
              <a:ext uri="{FF2B5EF4-FFF2-40B4-BE49-F238E27FC236}">
                <a16:creationId xmlns:a16="http://schemas.microsoft.com/office/drawing/2014/main" id="{6595EEDB-DCE3-343F-D079-9EBC45BB2B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6988" y="4622651"/>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769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4D9A2-B121-2565-0383-3A68853D9B37}"/>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F072A253-E182-E95D-CADF-32AE814307ED}"/>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Security Considerations in Non-Functional Requirements</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CB88598D-D472-656D-F9EC-E79EE7FE7FDE}"/>
              </a:ext>
            </a:extLst>
          </p:cNvPr>
          <p:cNvSpPr>
            <a:spLocks noGrp="1" noChangeArrowheads="1"/>
          </p:cNvSpPr>
          <p:nvPr>
            <p:ph idx="1"/>
          </p:nvPr>
        </p:nvSpPr>
        <p:spPr>
          <a:xfrm>
            <a:off x="287524" y="1844824"/>
            <a:ext cx="8568952" cy="939800"/>
          </a:xfrm>
        </p:spPr>
        <p:txBody>
          <a:bodyPr/>
          <a:lstStyle/>
          <a:p>
            <a:r>
              <a:rPr lang="en-GB" sz="1800" dirty="0"/>
              <a:t>Security is a critical non-functional requirement.</a:t>
            </a:r>
          </a:p>
          <a:p>
            <a:endParaRPr lang="en-GB" sz="1800" dirty="0"/>
          </a:p>
          <a:p>
            <a:r>
              <a:rPr lang="en-GB" sz="1800" dirty="0"/>
              <a:t>It involves protecting data, managing access, and ensuring secure interactions with external systems and users.</a:t>
            </a:r>
          </a:p>
        </p:txBody>
      </p:sp>
      <p:sp>
        <p:nvSpPr>
          <p:cNvPr id="2" name="Content Placeholder 2">
            <a:extLst>
              <a:ext uri="{FF2B5EF4-FFF2-40B4-BE49-F238E27FC236}">
                <a16:creationId xmlns:a16="http://schemas.microsoft.com/office/drawing/2014/main" id="{A0D470E3-75A2-B65A-CBE1-0582D5F095AC}"/>
              </a:ext>
            </a:extLst>
          </p:cNvPr>
          <p:cNvSpPr txBox="1">
            <a:spLocks noChangeArrowheads="1"/>
          </p:cNvSpPr>
          <p:nvPr/>
        </p:nvSpPr>
        <p:spPr bwMode="auto">
          <a:xfrm>
            <a:off x="308032" y="3447097"/>
            <a:ext cx="5544616" cy="2702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kern="0" dirty="0"/>
              <a:t>Security considerations in non-functional requirement are:</a:t>
            </a:r>
          </a:p>
          <a:p>
            <a:pPr lvl="1"/>
            <a:r>
              <a:rPr lang="en-GB" sz="1800" dirty="0"/>
              <a:t>Secure communication protocols (e.g., HTTPS, TLS)</a:t>
            </a:r>
          </a:p>
          <a:p>
            <a:pPr lvl="1"/>
            <a:r>
              <a:rPr lang="en-GB" sz="1800" dirty="0"/>
              <a:t>Role-based access and least privilege</a:t>
            </a:r>
          </a:p>
          <a:p>
            <a:pPr lvl="1"/>
            <a:r>
              <a:rPr lang="en-GB" sz="1800" dirty="0"/>
              <a:t>Input validation and protection from injection attacks</a:t>
            </a:r>
          </a:p>
          <a:p>
            <a:pPr lvl="1"/>
            <a:r>
              <a:rPr lang="en-GB" sz="1800" dirty="0"/>
              <a:t>Regular updates and patching policy</a:t>
            </a:r>
          </a:p>
          <a:p>
            <a:pPr lvl="1"/>
            <a:r>
              <a:rPr lang="en-GB" sz="1800" dirty="0"/>
              <a:t>Logging and monitoring for intrusion detection</a:t>
            </a:r>
          </a:p>
        </p:txBody>
      </p:sp>
      <p:pic>
        <p:nvPicPr>
          <p:cNvPr id="4" name="Picture 3">
            <a:extLst>
              <a:ext uri="{FF2B5EF4-FFF2-40B4-BE49-F238E27FC236}">
                <a16:creationId xmlns:a16="http://schemas.microsoft.com/office/drawing/2014/main" id="{709FC567-654D-7276-1C45-B2755ABE1BC3}"/>
              </a:ext>
            </a:extLst>
          </p:cNvPr>
          <p:cNvPicPr>
            <a:picLocks noChangeAspect="1"/>
          </p:cNvPicPr>
          <p:nvPr/>
        </p:nvPicPr>
        <p:blipFill>
          <a:blip r:embed="rId3"/>
          <a:stretch>
            <a:fillRect/>
          </a:stretch>
        </p:blipFill>
        <p:spPr>
          <a:xfrm>
            <a:off x="5824158" y="3391491"/>
            <a:ext cx="3011810" cy="2007873"/>
          </a:xfrm>
          <a:prstGeom prst="rect">
            <a:avLst/>
          </a:prstGeom>
        </p:spPr>
      </p:pic>
    </p:spTree>
    <p:extLst>
      <p:ext uri="{BB962C8B-B14F-4D97-AF65-F5344CB8AC3E}">
        <p14:creationId xmlns:p14="http://schemas.microsoft.com/office/powerpoint/2010/main" val="1173358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5B308-B297-5CDF-D717-E1F9C6A8DD4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505E6637-22A6-287E-484D-240009D92E60}"/>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Accessibility and Inclusivity</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0E66DF12-EF0A-A7C9-E827-2341AAF482D9}"/>
              </a:ext>
            </a:extLst>
          </p:cNvPr>
          <p:cNvSpPr>
            <a:spLocks noGrp="1" noChangeArrowheads="1"/>
          </p:cNvSpPr>
          <p:nvPr>
            <p:ph idx="1"/>
          </p:nvPr>
        </p:nvSpPr>
        <p:spPr>
          <a:xfrm>
            <a:off x="287524" y="1844824"/>
            <a:ext cx="8676964" cy="1080120"/>
          </a:xfrm>
        </p:spPr>
        <p:txBody>
          <a:bodyPr/>
          <a:lstStyle/>
          <a:p>
            <a:r>
              <a:rPr lang="en-GB" sz="1800" dirty="0"/>
              <a:t>Accessibility ensures that software can be used by people with a wide range of abilities. </a:t>
            </a:r>
          </a:p>
          <a:p>
            <a:r>
              <a:rPr lang="en-GB" sz="1800" dirty="0"/>
              <a:t>It’s both a usability requirement and a legal/ethical obligation in many domains.</a:t>
            </a:r>
          </a:p>
        </p:txBody>
      </p:sp>
      <p:sp>
        <p:nvSpPr>
          <p:cNvPr id="2" name="Content Placeholder 2">
            <a:extLst>
              <a:ext uri="{FF2B5EF4-FFF2-40B4-BE49-F238E27FC236}">
                <a16:creationId xmlns:a16="http://schemas.microsoft.com/office/drawing/2014/main" id="{5133DF02-25C2-EF1B-56CB-9434535CD3BC}"/>
              </a:ext>
            </a:extLst>
          </p:cNvPr>
          <p:cNvSpPr txBox="1">
            <a:spLocks noChangeArrowheads="1"/>
          </p:cNvSpPr>
          <p:nvPr/>
        </p:nvSpPr>
        <p:spPr bwMode="auto">
          <a:xfrm>
            <a:off x="303718" y="2956409"/>
            <a:ext cx="5544616" cy="2502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dirty="0"/>
              <a:t>Accessibility and Inclusivity should focus on:</a:t>
            </a:r>
          </a:p>
          <a:p>
            <a:pPr lvl="1"/>
            <a:r>
              <a:rPr lang="en-GB" sz="1800" dirty="0"/>
              <a:t>Support for assistive technologies</a:t>
            </a:r>
          </a:p>
          <a:p>
            <a:pPr lvl="1"/>
            <a:r>
              <a:rPr lang="en-GB" sz="1800" dirty="0"/>
              <a:t>High contrast modes, text-to-speech</a:t>
            </a:r>
          </a:p>
          <a:p>
            <a:pPr lvl="1"/>
            <a:r>
              <a:rPr lang="en-GB" sz="1800" dirty="0"/>
              <a:t>Multilingual options</a:t>
            </a:r>
          </a:p>
          <a:p>
            <a:pPr lvl="1"/>
            <a:r>
              <a:rPr lang="en-GB" sz="1800" dirty="0"/>
              <a:t>Clear and consistent navigation</a:t>
            </a:r>
          </a:p>
          <a:p>
            <a:pPr lvl="1"/>
            <a:r>
              <a:rPr lang="en-GB" sz="1800" dirty="0"/>
              <a:t>Test for accessibility across devices</a:t>
            </a:r>
          </a:p>
        </p:txBody>
      </p:sp>
      <p:pic>
        <p:nvPicPr>
          <p:cNvPr id="5" name="Picture 4">
            <a:extLst>
              <a:ext uri="{FF2B5EF4-FFF2-40B4-BE49-F238E27FC236}">
                <a16:creationId xmlns:a16="http://schemas.microsoft.com/office/drawing/2014/main" id="{D7F42F6E-9569-D19A-B4B3-F04E04416914}"/>
              </a:ext>
            </a:extLst>
          </p:cNvPr>
          <p:cNvPicPr>
            <a:picLocks noChangeAspect="1"/>
          </p:cNvPicPr>
          <p:nvPr/>
        </p:nvPicPr>
        <p:blipFill>
          <a:blip r:embed="rId3"/>
          <a:stretch>
            <a:fillRect/>
          </a:stretch>
        </p:blipFill>
        <p:spPr>
          <a:xfrm>
            <a:off x="504814" y="5182958"/>
            <a:ext cx="2571212" cy="1445593"/>
          </a:xfrm>
          <a:prstGeom prst="rect">
            <a:avLst/>
          </a:prstGeom>
        </p:spPr>
      </p:pic>
      <p:pic>
        <p:nvPicPr>
          <p:cNvPr id="7" name="Picture 6">
            <a:extLst>
              <a:ext uri="{FF2B5EF4-FFF2-40B4-BE49-F238E27FC236}">
                <a16:creationId xmlns:a16="http://schemas.microsoft.com/office/drawing/2014/main" id="{63458363-C8BE-684C-7D79-596FBF96DAD2}"/>
              </a:ext>
            </a:extLst>
          </p:cNvPr>
          <p:cNvPicPr>
            <a:picLocks noChangeAspect="1"/>
          </p:cNvPicPr>
          <p:nvPr/>
        </p:nvPicPr>
        <p:blipFill>
          <a:blip r:embed="rId4"/>
          <a:stretch>
            <a:fillRect/>
          </a:stretch>
        </p:blipFill>
        <p:spPr>
          <a:xfrm>
            <a:off x="6320269" y="3140968"/>
            <a:ext cx="2043023" cy="2852936"/>
          </a:xfrm>
          <a:prstGeom prst="rect">
            <a:avLst/>
          </a:prstGeom>
        </p:spPr>
      </p:pic>
      <p:pic>
        <p:nvPicPr>
          <p:cNvPr id="6150" name="Picture 6" descr="Accessibility Guidelines and Best practices">
            <a:extLst>
              <a:ext uri="{FF2B5EF4-FFF2-40B4-BE49-F238E27FC236}">
                <a16:creationId xmlns:a16="http://schemas.microsoft.com/office/drawing/2014/main" id="{92A3D901-B50C-4AE0-C0DA-CEEF280D1F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5876" y="5112875"/>
            <a:ext cx="2484543" cy="15297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83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9F7BB-803F-A03D-33C9-3FBCC801AA89}"/>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A9E05C5D-950F-3CE5-1B00-F97DC4C90CA0}"/>
              </a:ext>
            </a:extLst>
          </p:cNvPr>
          <p:cNvSpPr>
            <a:spLocks noGrp="1" noChangeArrowheads="1"/>
          </p:cNvSpPr>
          <p:nvPr>
            <p:ph type="title"/>
          </p:nvPr>
        </p:nvSpPr>
        <p:spPr>
          <a:xfrm>
            <a:off x="1475656" y="446193"/>
            <a:ext cx="7668344" cy="939800"/>
          </a:xfrm>
        </p:spPr>
        <p:txBody>
          <a:bodyPr/>
          <a:lstStyle/>
          <a:p>
            <a:r>
              <a:rPr lang="en-GB" sz="3200" b="1" dirty="0">
                <a:solidFill>
                  <a:srgbClr val="0070C0"/>
                </a:solidFill>
              </a:rPr>
              <a:t>Defining User Acceptance Criteria</a:t>
            </a:r>
            <a:endParaRPr lang="en-US" altLang="en-US" sz="3200" b="1" dirty="0">
              <a:solidFill>
                <a:srgbClr val="0070C0"/>
              </a:solidFill>
            </a:endParaRPr>
          </a:p>
        </p:txBody>
      </p:sp>
      <p:sp>
        <p:nvSpPr>
          <p:cNvPr id="18435" name="Content Placeholder 2">
            <a:extLst>
              <a:ext uri="{FF2B5EF4-FFF2-40B4-BE49-F238E27FC236}">
                <a16:creationId xmlns:a16="http://schemas.microsoft.com/office/drawing/2014/main" id="{4DF8CF75-29F4-9D4A-7107-9D137E3B0A31}"/>
              </a:ext>
            </a:extLst>
          </p:cNvPr>
          <p:cNvSpPr>
            <a:spLocks noGrp="1" noChangeArrowheads="1"/>
          </p:cNvSpPr>
          <p:nvPr>
            <p:ph idx="1"/>
          </p:nvPr>
        </p:nvSpPr>
        <p:spPr>
          <a:xfrm>
            <a:off x="287524" y="1844824"/>
            <a:ext cx="6156684" cy="1224136"/>
          </a:xfrm>
        </p:spPr>
        <p:txBody>
          <a:bodyPr/>
          <a:lstStyle/>
          <a:p>
            <a:r>
              <a:rPr lang="en-GB" sz="1800" dirty="0"/>
              <a:t>User acceptance criteria are measurable conditions that must be met for the software to be considered complete. </a:t>
            </a:r>
          </a:p>
          <a:p>
            <a:r>
              <a:rPr lang="en-GB" sz="1800" dirty="0"/>
              <a:t>They validate that both functional and non-functional expectations have been fulfilled.</a:t>
            </a:r>
          </a:p>
        </p:txBody>
      </p:sp>
      <p:sp>
        <p:nvSpPr>
          <p:cNvPr id="2" name="Content Placeholder 2">
            <a:extLst>
              <a:ext uri="{FF2B5EF4-FFF2-40B4-BE49-F238E27FC236}">
                <a16:creationId xmlns:a16="http://schemas.microsoft.com/office/drawing/2014/main" id="{06007766-4779-03C9-A229-A651991BCB10}"/>
              </a:ext>
            </a:extLst>
          </p:cNvPr>
          <p:cNvSpPr txBox="1">
            <a:spLocks noChangeArrowheads="1"/>
          </p:cNvSpPr>
          <p:nvPr/>
        </p:nvSpPr>
        <p:spPr bwMode="auto">
          <a:xfrm>
            <a:off x="286328" y="3500888"/>
            <a:ext cx="5725797"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Defining User Acceptance Criteria should:</a:t>
            </a:r>
            <a:endParaRPr lang="en-GB" sz="1800" dirty="0"/>
          </a:p>
          <a:p>
            <a:pPr lvl="1"/>
            <a:r>
              <a:rPr lang="en-GB" sz="1800" dirty="0"/>
              <a:t>Clearly defined success measures</a:t>
            </a:r>
          </a:p>
          <a:p>
            <a:pPr lvl="1"/>
            <a:r>
              <a:rPr lang="en-GB" sz="1800" dirty="0"/>
              <a:t>Includes functional correctness and performance benchmarks</a:t>
            </a:r>
          </a:p>
          <a:p>
            <a:pPr lvl="1"/>
            <a:endParaRPr lang="en-GB" sz="1800" dirty="0"/>
          </a:p>
        </p:txBody>
      </p:sp>
      <p:pic>
        <p:nvPicPr>
          <p:cNvPr id="4" name="Picture 3">
            <a:extLst>
              <a:ext uri="{FF2B5EF4-FFF2-40B4-BE49-F238E27FC236}">
                <a16:creationId xmlns:a16="http://schemas.microsoft.com/office/drawing/2014/main" id="{8AFA7E3D-C425-49D3-E2A0-0348C511AB0F}"/>
              </a:ext>
            </a:extLst>
          </p:cNvPr>
          <p:cNvPicPr>
            <a:picLocks noChangeAspect="1"/>
          </p:cNvPicPr>
          <p:nvPr/>
        </p:nvPicPr>
        <p:blipFill>
          <a:blip r:embed="rId3"/>
          <a:stretch>
            <a:fillRect/>
          </a:stretch>
        </p:blipFill>
        <p:spPr>
          <a:xfrm>
            <a:off x="6552220" y="1709809"/>
            <a:ext cx="1919907" cy="1439930"/>
          </a:xfrm>
          <a:prstGeom prst="rect">
            <a:avLst/>
          </a:prstGeom>
        </p:spPr>
      </p:pic>
      <p:sp>
        <p:nvSpPr>
          <p:cNvPr id="5" name="Content Placeholder 2">
            <a:extLst>
              <a:ext uri="{FF2B5EF4-FFF2-40B4-BE49-F238E27FC236}">
                <a16:creationId xmlns:a16="http://schemas.microsoft.com/office/drawing/2014/main" id="{55A83490-9A61-2288-17D3-776D8A4DECA6}"/>
              </a:ext>
            </a:extLst>
          </p:cNvPr>
          <p:cNvSpPr txBox="1">
            <a:spLocks noChangeArrowheads="1"/>
          </p:cNvSpPr>
          <p:nvPr/>
        </p:nvSpPr>
        <p:spPr bwMode="auto">
          <a:xfrm>
            <a:off x="286328" y="5048901"/>
            <a:ext cx="5184576" cy="156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pPr lvl="1"/>
            <a:r>
              <a:rPr lang="en-GB" sz="1800" dirty="0"/>
              <a:t>Examples:</a:t>
            </a:r>
          </a:p>
          <a:p>
            <a:pPr lvl="2"/>
            <a:r>
              <a:rPr lang="en-GB" sz="1400" dirty="0"/>
              <a:t>“User can complete registration in &lt; 2 minutes”</a:t>
            </a:r>
          </a:p>
          <a:p>
            <a:pPr lvl="2"/>
            <a:r>
              <a:rPr lang="en-GB" sz="1400" dirty="0"/>
              <a:t>“System must support 100 concurrent users with &lt; 2s response time”</a:t>
            </a:r>
          </a:p>
          <a:p>
            <a:pPr lvl="1"/>
            <a:r>
              <a:rPr lang="en-GB" sz="1800" dirty="0"/>
              <a:t>Basis for sign-off and release readiness</a:t>
            </a:r>
          </a:p>
          <a:p>
            <a:pPr lvl="1"/>
            <a:endParaRPr lang="en-GB" sz="1800" dirty="0"/>
          </a:p>
        </p:txBody>
      </p:sp>
      <p:pic>
        <p:nvPicPr>
          <p:cNvPr id="7" name="Picture 6">
            <a:extLst>
              <a:ext uri="{FF2B5EF4-FFF2-40B4-BE49-F238E27FC236}">
                <a16:creationId xmlns:a16="http://schemas.microsoft.com/office/drawing/2014/main" id="{AEF0D120-F866-58A3-F295-F869915E6053}"/>
              </a:ext>
            </a:extLst>
          </p:cNvPr>
          <p:cNvPicPr>
            <a:picLocks noChangeAspect="1"/>
          </p:cNvPicPr>
          <p:nvPr/>
        </p:nvPicPr>
        <p:blipFill>
          <a:blip r:embed="rId4"/>
          <a:stretch>
            <a:fillRect/>
          </a:stretch>
        </p:blipFill>
        <p:spPr>
          <a:xfrm>
            <a:off x="6660232" y="3325404"/>
            <a:ext cx="1776198" cy="1332149"/>
          </a:xfrm>
          <a:prstGeom prst="rect">
            <a:avLst/>
          </a:prstGeom>
        </p:spPr>
      </p:pic>
      <p:pic>
        <p:nvPicPr>
          <p:cNvPr id="9" name="Picture 8">
            <a:extLst>
              <a:ext uri="{FF2B5EF4-FFF2-40B4-BE49-F238E27FC236}">
                <a16:creationId xmlns:a16="http://schemas.microsoft.com/office/drawing/2014/main" id="{DB10374C-B7A1-A3DC-E777-BDE73CE6F9CF}"/>
              </a:ext>
            </a:extLst>
          </p:cNvPr>
          <p:cNvPicPr>
            <a:picLocks noChangeAspect="1"/>
          </p:cNvPicPr>
          <p:nvPr/>
        </p:nvPicPr>
        <p:blipFill>
          <a:blip r:embed="rId5"/>
          <a:stretch>
            <a:fillRect/>
          </a:stretch>
        </p:blipFill>
        <p:spPr>
          <a:xfrm>
            <a:off x="6695928" y="4839658"/>
            <a:ext cx="1776199" cy="1776199"/>
          </a:xfrm>
          <a:prstGeom prst="rect">
            <a:avLst/>
          </a:prstGeom>
        </p:spPr>
      </p:pic>
    </p:spTree>
    <p:extLst>
      <p:ext uri="{BB962C8B-B14F-4D97-AF65-F5344CB8AC3E}">
        <p14:creationId xmlns:p14="http://schemas.microsoft.com/office/powerpoint/2010/main" val="3668961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744A9-412A-DDEC-6D81-0F159558B4BE}"/>
            </a:ext>
          </a:extLst>
        </p:cNvPr>
        <p:cNvGrpSpPr/>
        <p:nvPr/>
      </p:nvGrpSpPr>
      <p:grpSpPr>
        <a:xfrm>
          <a:off x="0" y="0"/>
          <a:ext cx="0" cy="0"/>
          <a:chOff x="0" y="0"/>
          <a:chExt cx="0" cy="0"/>
        </a:xfrm>
      </p:grpSpPr>
      <p:sp>
        <p:nvSpPr>
          <p:cNvPr id="18434" name="Title 1">
            <a:extLst>
              <a:ext uri="{FF2B5EF4-FFF2-40B4-BE49-F238E27FC236}">
                <a16:creationId xmlns:a16="http://schemas.microsoft.com/office/drawing/2014/main" id="{442D9429-998B-ED22-D210-791FAFD08C54}"/>
              </a:ext>
            </a:extLst>
          </p:cNvPr>
          <p:cNvSpPr>
            <a:spLocks noGrp="1" noChangeArrowheads="1"/>
          </p:cNvSpPr>
          <p:nvPr>
            <p:ph type="title"/>
          </p:nvPr>
        </p:nvSpPr>
        <p:spPr>
          <a:xfrm>
            <a:off x="1475656" y="446193"/>
            <a:ext cx="7668344" cy="939800"/>
          </a:xfrm>
        </p:spPr>
        <p:txBody>
          <a:bodyPr/>
          <a:lstStyle/>
          <a:p>
            <a:r>
              <a:rPr lang="en-GB" sz="3600" b="1" dirty="0">
                <a:solidFill>
                  <a:srgbClr val="0070C0"/>
                </a:solidFill>
              </a:rPr>
              <a:t>Spike Testing</a:t>
            </a:r>
            <a:endParaRPr lang="en-US" altLang="en-US" sz="3600" b="1" dirty="0">
              <a:solidFill>
                <a:srgbClr val="0070C0"/>
              </a:solidFill>
            </a:endParaRPr>
          </a:p>
        </p:txBody>
      </p:sp>
      <p:sp>
        <p:nvSpPr>
          <p:cNvPr id="18435" name="Content Placeholder 2">
            <a:extLst>
              <a:ext uri="{FF2B5EF4-FFF2-40B4-BE49-F238E27FC236}">
                <a16:creationId xmlns:a16="http://schemas.microsoft.com/office/drawing/2014/main" id="{19C17EE5-6003-9022-1C7D-DC1C37362360}"/>
              </a:ext>
            </a:extLst>
          </p:cNvPr>
          <p:cNvSpPr>
            <a:spLocks noGrp="1" noChangeArrowheads="1"/>
          </p:cNvSpPr>
          <p:nvPr>
            <p:ph idx="1"/>
          </p:nvPr>
        </p:nvSpPr>
        <p:spPr>
          <a:xfrm>
            <a:off x="179512" y="1842865"/>
            <a:ext cx="8676964" cy="670634"/>
          </a:xfrm>
        </p:spPr>
        <p:txBody>
          <a:bodyPr/>
          <a:lstStyle/>
          <a:p>
            <a:r>
              <a:rPr lang="en-GB" sz="1800" dirty="0"/>
              <a:t>Spike testing is a quick investigation to explore a risky or unknown part of a project. </a:t>
            </a:r>
          </a:p>
        </p:txBody>
      </p:sp>
      <p:sp>
        <p:nvSpPr>
          <p:cNvPr id="2" name="Content Placeholder 2">
            <a:extLst>
              <a:ext uri="{FF2B5EF4-FFF2-40B4-BE49-F238E27FC236}">
                <a16:creationId xmlns:a16="http://schemas.microsoft.com/office/drawing/2014/main" id="{859EA296-EBBB-3348-7555-674195720ABB}"/>
              </a:ext>
            </a:extLst>
          </p:cNvPr>
          <p:cNvSpPr txBox="1">
            <a:spLocks noChangeArrowheads="1"/>
          </p:cNvSpPr>
          <p:nvPr/>
        </p:nvSpPr>
        <p:spPr bwMode="auto">
          <a:xfrm>
            <a:off x="287524" y="4437112"/>
            <a:ext cx="3420380" cy="1872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Benefits:</a:t>
            </a:r>
            <a:endParaRPr lang="en-GB" sz="1800" dirty="0"/>
          </a:p>
          <a:p>
            <a:pPr lvl="1"/>
            <a:r>
              <a:rPr lang="en-GB" sz="1800" dirty="0"/>
              <a:t>Helps estimate effort</a:t>
            </a:r>
          </a:p>
          <a:p>
            <a:pPr lvl="1"/>
            <a:r>
              <a:rPr lang="en-GB" sz="1800" dirty="0"/>
              <a:t>Clarifies the scope</a:t>
            </a:r>
          </a:p>
          <a:p>
            <a:pPr lvl="1"/>
            <a:r>
              <a:rPr lang="en-GB" sz="1800" dirty="0"/>
              <a:t>Informs architecture and requirement decisions</a:t>
            </a:r>
          </a:p>
          <a:p>
            <a:pPr lvl="1"/>
            <a:endParaRPr lang="en-GB" sz="1800" dirty="0"/>
          </a:p>
        </p:txBody>
      </p:sp>
      <p:sp>
        <p:nvSpPr>
          <p:cNvPr id="5" name="Content Placeholder 2">
            <a:extLst>
              <a:ext uri="{FF2B5EF4-FFF2-40B4-BE49-F238E27FC236}">
                <a16:creationId xmlns:a16="http://schemas.microsoft.com/office/drawing/2014/main" id="{90AC72C7-EEA5-DC08-4BD1-C5177D33CBFD}"/>
              </a:ext>
            </a:extLst>
          </p:cNvPr>
          <p:cNvSpPr txBox="1">
            <a:spLocks noChangeArrowheads="1"/>
          </p:cNvSpPr>
          <p:nvPr/>
        </p:nvSpPr>
        <p:spPr bwMode="auto">
          <a:xfrm>
            <a:off x="3856056" y="2960078"/>
            <a:ext cx="5108432" cy="295406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600" b="1" dirty="0"/>
              <a:t>Example – Spike Testing in Action</a:t>
            </a:r>
          </a:p>
          <a:p>
            <a:r>
              <a:rPr lang="en-GB" sz="1600" b="1" dirty="0"/>
              <a:t>Scenario</a:t>
            </a:r>
            <a:r>
              <a:rPr lang="en-GB" sz="1600" dirty="0"/>
              <a:t>: </a:t>
            </a:r>
          </a:p>
          <a:p>
            <a:pPr lvl="1"/>
            <a:r>
              <a:rPr lang="en-GB" sz="1600" dirty="0"/>
              <a:t>A New API integration with unknown rate limits</a:t>
            </a:r>
          </a:p>
          <a:p>
            <a:r>
              <a:rPr lang="en-GB" sz="1600" b="1" dirty="0"/>
              <a:t>Testing</a:t>
            </a:r>
            <a:endParaRPr lang="en-GB" sz="1600" dirty="0"/>
          </a:p>
          <a:p>
            <a:pPr lvl="1"/>
            <a:r>
              <a:rPr lang="en-GB" sz="1600" dirty="0"/>
              <a:t>Conduct a spike test to simulate multiple requests</a:t>
            </a:r>
          </a:p>
          <a:p>
            <a:pPr lvl="1"/>
            <a:r>
              <a:rPr lang="en-GB" sz="1600" dirty="0"/>
              <a:t>Observe system limits and bottlenecks</a:t>
            </a:r>
          </a:p>
          <a:p>
            <a:pPr lvl="1"/>
            <a:r>
              <a:rPr lang="en-GB" sz="1600" dirty="0"/>
              <a:t>Use results to define realistic performance and scalability requirements</a:t>
            </a:r>
            <a:endParaRPr lang="en-GB" sz="1600" kern="0" dirty="0"/>
          </a:p>
        </p:txBody>
      </p:sp>
      <p:sp>
        <p:nvSpPr>
          <p:cNvPr id="6" name="Content Placeholder 2">
            <a:extLst>
              <a:ext uri="{FF2B5EF4-FFF2-40B4-BE49-F238E27FC236}">
                <a16:creationId xmlns:a16="http://schemas.microsoft.com/office/drawing/2014/main" id="{242C7B56-1D78-569E-1EB3-5A38B61C9AFE}"/>
              </a:ext>
            </a:extLst>
          </p:cNvPr>
          <p:cNvSpPr txBox="1">
            <a:spLocks noChangeArrowheads="1"/>
          </p:cNvSpPr>
          <p:nvPr/>
        </p:nvSpPr>
        <p:spPr bwMode="auto">
          <a:xfrm>
            <a:off x="179512" y="2695579"/>
            <a:ext cx="3561137"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kern="0" dirty="0"/>
              <a:t>Purpose</a:t>
            </a:r>
          </a:p>
          <a:p>
            <a:pPr lvl="1"/>
            <a:r>
              <a:rPr lang="en-GB" sz="1800" kern="0" dirty="0"/>
              <a:t>To help identify technical challenges early and informs more accurate requirement gathering.</a:t>
            </a:r>
          </a:p>
        </p:txBody>
      </p:sp>
      <p:pic>
        <p:nvPicPr>
          <p:cNvPr id="8" name="Picture 7">
            <a:extLst>
              <a:ext uri="{FF2B5EF4-FFF2-40B4-BE49-F238E27FC236}">
                <a16:creationId xmlns:a16="http://schemas.microsoft.com/office/drawing/2014/main" id="{A937F032-AF24-FE3F-4277-90F71CE18F36}"/>
              </a:ext>
            </a:extLst>
          </p:cNvPr>
          <p:cNvPicPr>
            <a:picLocks noChangeAspect="1"/>
          </p:cNvPicPr>
          <p:nvPr/>
        </p:nvPicPr>
        <p:blipFill>
          <a:blip r:embed="rId3"/>
          <a:stretch>
            <a:fillRect/>
          </a:stretch>
        </p:blipFill>
        <p:spPr>
          <a:xfrm>
            <a:off x="6156176" y="200341"/>
            <a:ext cx="2390403" cy="1285122"/>
          </a:xfrm>
          <a:prstGeom prst="rect">
            <a:avLst/>
          </a:prstGeom>
        </p:spPr>
      </p:pic>
    </p:spTree>
    <p:extLst>
      <p:ext uri="{BB962C8B-B14F-4D97-AF65-F5344CB8AC3E}">
        <p14:creationId xmlns:p14="http://schemas.microsoft.com/office/powerpoint/2010/main" val="1462574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a:extLst>
              <a:ext uri="{FF2B5EF4-FFF2-40B4-BE49-F238E27FC236}">
                <a16:creationId xmlns:a16="http://schemas.microsoft.com/office/drawing/2014/main" id="{F210E2E1-F807-700C-30B1-A33B9B10A76C}"/>
              </a:ext>
            </a:extLst>
          </p:cNvPr>
          <p:cNvSpPr>
            <a:spLocks noGrp="1" noChangeArrowheads="1"/>
          </p:cNvSpPr>
          <p:nvPr>
            <p:ph type="title"/>
          </p:nvPr>
        </p:nvSpPr>
        <p:spPr>
          <a:xfrm>
            <a:off x="1258888" y="404813"/>
            <a:ext cx="7650162" cy="939800"/>
          </a:xfrm>
        </p:spPr>
        <p:txBody>
          <a:bodyPr/>
          <a:lstStyle/>
          <a:p>
            <a:r>
              <a:rPr lang="en-GB" altLang="en-US" sz="3200" b="1" dirty="0">
                <a:solidFill>
                  <a:srgbClr val="FF0000"/>
                </a:solidFill>
              </a:rPr>
              <a:t>Activity - </a:t>
            </a:r>
            <a:r>
              <a:rPr lang="en-GB" sz="3200" b="1" dirty="0">
                <a:solidFill>
                  <a:srgbClr val="FF0000"/>
                </a:solidFill>
              </a:rPr>
              <a:t>Understanding Software Requirements</a:t>
            </a:r>
            <a:endParaRPr lang="en-GB" altLang="en-US" sz="3200" b="1" dirty="0">
              <a:solidFill>
                <a:srgbClr val="FF0000"/>
              </a:solidFill>
            </a:endParaRPr>
          </a:p>
        </p:txBody>
      </p:sp>
      <p:sp>
        <p:nvSpPr>
          <p:cNvPr id="65539" name="Content Placeholder 2">
            <a:extLst>
              <a:ext uri="{FF2B5EF4-FFF2-40B4-BE49-F238E27FC236}">
                <a16:creationId xmlns:a16="http://schemas.microsoft.com/office/drawing/2014/main" id="{0A20891C-9E00-C865-E628-3C620C30D8BE}"/>
              </a:ext>
            </a:extLst>
          </p:cNvPr>
          <p:cNvSpPr>
            <a:spLocks noGrp="1" noChangeArrowheads="1"/>
          </p:cNvSpPr>
          <p:nvPr>
            <p:ph idx="1"/>
          </p:nvPr>
        </p:nvSpPr>
        <p:spPr>
          <a:xfrm>
            <a:off x="395536" y="1909993"/>
            <a:ext cx="8513514" cy="1663767"/>
          </a:xfrm>
        </p:spPr>
        <p:txBody>
          <a:bodyPr/>
          <a:lstStyle/>
          <a:p>
            <a:r>
              <a:rPr lang="en-GB" sz="1800" dirty="0"/>
              <a:t>You’ll work in your teams to analyse a real-world software scenario and define its:</a:t>
            </a:r>
          </a:p>
          <a:p>
            <a:pPr lvl="1"/>
            <a:r>
              <a:rPr lang="en-GB" sz="1800" dirty="0"/>
              <a:t>Functional Requirements</a:t>
            </a:r>
          </a:p>
          <a:p>
            <a:pPr lvl="1"/>
            <a:r>
              <a:rPr lang="en-GB" sz="1800" dirty="0"/>
              <a:t>Non-Functional Requirements</a:t>
            </a:r>
          </a:p>
          <a:p>
            <a:pPr lvl="1"/>
            <a:r>
              <a:rPr lang="en-GB" sz="1800" dirty="0"/>
              <a:t>Security Features using the </a:t>
            </a:r>
            <a:r>
              <a:rPr lang="en-GB" sz="1800" b="1" dirty="0"/>
              <a:t>Secure by Design </a:t>
            </a:r>
            <a:r>
              <a:rPr lang="en-GB" sz="1800" dirty="0"/>
              <a:t>principle</a:t>
            </a:r>
          </a:p>
          <a:p>
            <a:endParaRPr lang="en-GB" altLang="en-US" sz="1800" dirty="0"/>
          </a:p>
        </p:txBody>
      </p:sp>
      <p:sp>
        <p:nvSpPr>
          <p:cNvPr id="2" name="Content Placeholder 2">
            <a:extLst>
              <a:ext uri="{FF2B5EF4-FFF2-40B4-BE49-F238E27FC236}">
                <a16:creationId xmlns:a16="http://schemas.microsoft.com/office/drawing/2014/main" id="{6F2EB119-8F31-2D86-2C8F-FCF8E0977943}"/>
              </a:ext>
            </a:extLst>
          </p:cNvPr>
          <p:cNvSpPr txBox="1">
            <a:spLocks noChangeArrowheads="1"/>
          </p:cNvSpPr>
          <p:nvPr/>
        </p:nvSpPr>
        <p:spPr bwMode="auto">
          <a:xfrm>
            <a:off x="449895" y="3717032"/>
            <a:ext cx="8244210" cy="134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Your Task:</a:t>
            </a:r>
          </a:p>
          <a:p>
            <a:pPr lvl="1"/>
            <a:r>
              <a:rPr lang="en-GB" sz="1800" dirty="0"/>
              <a:t>Each team member will focus on one aspect of the requirements.</a:t>
            </a:r>
          </a:p>
          <a:p>
            <a:pPr lvl="1"/>
            <a:r>
              <a:rPr lang="en-GB" sz="1800" dirty="0"/>
              <a:t>You'll collaborate to build a full picture of what the system must do, how it will perform, and how it will remain secure and scalable.</a:t>
            </a:r>
            <a:br>
              <a:rPr lang="en-GB" sz="1400" dirty="0"/>
            </a:br>
            <a:endParaRPr lang="en-GB" altLang="en-US" sz="1400" kern="0" dirty="0"/>
          </a:p>
        </p:txBody>
      </p:sp>
      <p:sp>
        <p:nvSpPr>
          <p:cNvPr id="3" name="Content Placeholder 2">
            <a:extLst>
              <a:ext uri="{FF2B5EF4-FFF2-40B4-BE49-F238E27FC236}">
                <a16:creationId xmlns:a16="http://schemas.microsoft.com/office/drawing/2014/main" id="{F1AF9056-45A8-82E4-4DF9-B56527B0FE47}"/>
              </a:ext>
            </a:extLst>
          </p:cNvPr>
          <p:cNvSpPr txBox="1">
            <a:spLocks noChangeArrowheads="1"/>
          </p:cNvSpPr>
          <p:nvPr/>
        </p:nvSpPr>
        <p:spPr bwMode="auto">
          <a:xfrm>
            <a:off x="449895" y="5298762"/>
            <a:ext cx="4689884" cy="1151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cs typeface="+mn-cs"/>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cs typeface="+mn-cs"/>
              </a:defRPr>
            </a:lvl9pPr>
          </a:lstStyle>
          <a:p>
            <a:r>
              <a:rPr lang="en-GB" sz="1800" b="1" dirty="0"/>
              <a:t>Goal:</a:t>
            </a:r>
          </a:p>
          <a:p>
            <a:pPr lvl="1"/>
            <a:r>
              <a:rPr lang="en-GB" sz="1800" dirty="0"/>
              <a:t>Deliver a structured requirement document and a 5-minute presentation outlining your solution.</a:t>
            </a:r>
            <a:br>
              <a:rPr lang="en-GB" sz="1800" dirty="0"/>
            </a:br>
            <a:endParaRPr lang="en-GB" altLang="en-US" sz="1800" kern="0" dirty="0"/>
          </a:p>
        </p:txBody>
      </p:sp>
      <p:pic>
        <p:nvPicPr>
          <p:cNvPr id="10242" name="Picture 2" descr="Software Requirements for Software Testing">
            <a:extLst>
              <a:ext uri="{FF2B5EF4-FFF2-40B4-BE49-F238E27FC236}">
                <a16:creationId xmlns:a16="http://schemas.microsoft.com/office/drawing/2014/main" id="{D69B2D74-9890-87CB-1C86-3F4DEDEF6D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2305" y="5298762"/>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Arial"/>
      </a:majorFont>
      <a:minorFont>
        <a:latin typeface="Tahom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C646F5E18B7F644AA5B880758D99BE0" ma:contentTypeVersion="0" ma:contentTypeDescription="Create a new document." ma:contentTypeScope="" ma:versionID="5dd15dd6ca134e1876e3a61e71abe859">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8D297A0-FCC6-4491-9EE5-688ADC287B0F}"/>
</file>

<file path=customXml/itemProps2.xml><?xml version="1.0" encoding="utf-8"?>
<ds:datastoreItem xmlns:ds="http://schemas.openxmlformats.org/officeDocument/2006/customXml" ds:itemID="{785E166A-42F8-405E-83F4-94AB653AD911}"/>
</file>

<file path=customXml/itemProps3.xml><?xml version="1.0" encoding="utf-8"?>
<ds:datastoreItem xmlns:ds="http://schemas.openxmlformats.org/officeDocument/2006/customXml" ds:itemID="{74AA3317-F15B-4FD5-9373-1867E746D2A7}"/>
</file>

<file path=docProps/app.xml><?xml version="1.0" encoding="utf-8"?>
<Properties xmlns="http://schemas.openxmlformats.org/officeDocument/2006/extended-properties" xmlns:vt="http://schemas.openxmlformats.org/officeDocument/2006/docPropsVTypes">
  <Template/>
  <TotalTime>3309</TotalTime>
  <Words>2325</Words>
  <Application>Microsoft Office PowerPoint</Application>
  <PresentationFormat>On-screen Show (4:3)</PresentationFormat>
  <Paragraphs>257</Paragraphs>
  <Slides>13</Slides>
  <Notes>13</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13</vt:i4>
      </vt:variant>
    </vt:vector>
  </HeadingPairs>
  <TitlesOfParts>
    <vt:vector size="18" baseType="lpstr">
      <vt:lpstr>Arial</vt:lpstr>
      <vt:lpstr>Tahoma</vt:lpstr>
      <vt:lpstr>Wingdings</vt:lpstr>
      <vt:lpstr>Blends</vt:lpstr>
      <vt:lpstr>1_Blends</vt:lpstr>
      <vt:lpstr>Occupational Specialist Component Content: Digital Production, Design  and Development</vt:lpstr>
      <vt:lpstr>The unit outcomes</vt:lpstr>
      <vt:lpstr>Learning Objectives</vt:lpstr>
      <vt:lpstr>What Are Software Requirements?</vt:lpstr>
      <vt:lpstr>Secure by Design</vt:lpstr>
      <vt:lpstr>Defining  Functional Requirements</vt:lpstr>
      <vt:lpstr>Understanding  Non-Functional Requirements</vt:lpstr>
      <vt:lpstr>Measuring Performance and Scalability</vt:lpstr>
      <vt:lpstr>Security Considerations in Non-Functional Requirements</vt:lpstr>
      <vt:lpstr>Accessibility and Inclusivity</vt:lpstr>
      <vt:lpstr>Defining User Acceptance Criteria</vt:lpstr>
      <vt:lpstr>Spike Testing</vt:lpstr>
      <vt:lpstr>Activity - Understanding Software Requirements</vt:lpstr>
    </vt:vector>
  </TitlesOfParts>
  <Company>dabs.com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Introduction to Programming and Visual Basic</dc:title>
  <dc:creator>Hamish</dc:creator>
  <cp:lastModifiedBy>Hamish Spencer</cp:lastModifiedBy>
  <cp:revision>528</cp:revision>
  <dcterms:created xsi:type="dcterms:W3CDTF">2010-11-28T12:04:27Z</dcterms:created>
  <dcterms:modified xsi:type="dcterms:W3CDTF">2025-07-31T13:41:50Z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0x0101001C646F5E18B7F644AA5B880758D99BE0</vt:lpwstr>
  </property>
</Properties>
</file>