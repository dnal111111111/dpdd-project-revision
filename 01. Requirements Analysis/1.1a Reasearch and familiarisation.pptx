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5"/>
  </p:notesMasterIdLst>
  <p:sldIdLst>
    <p:sldId id="345" r:id="rId3"/>
    <p:sldId id="322" r:id="rId4"/>
    <p:sldId id="339" r:id="rId5"/>
    <p:sldId id="359" r:id="rId6"/>
    <p:sldId id="360" r:id="rId7"/>
    <p:sldId id="361" r:id="rId8"/>
    <p:sldId id="362" r:id="rId9"/>
    <p:sldId id="363" r:id="rId10"/>
    <p:sldId id="364" r:id="rId11"/>
    <p:sldId id="365" r:id="rId12"/>
    <p:sldId id="366" r:id="rId13"/>
    <p:sldId id="358" r:id="rId14"/>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932" autoAdjust="0"/>
  </p:normalViewPr>
  <p:slideViewPr>
    <p:cSldViewPr>
      <p:cViewPr varScale="1">
        <p:scale>
          <a:sx n="78" d="100"/>
          <a:sy n="78" d="100"/>
        </p:scale>
        <p:origin x="1608" y="8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customXml" Target="../customXml/item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FD80638-BA1A-A41F-3529-F5340DA64DD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F2053A60-1E43-04CD-F9CF-D584ADF093C8}"/>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1CE57ED9-E26A-A23E-2F61-05A1F4AF669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35286E9C-8D6C-9852-E732-774A46608F0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FF524E9D-0389-9463-F3BC-D6D8BF3E8DC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D83D4CE5-A53A-7BCB-136F-3048079FB89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764F96E-BE3A-4F41-AB37-AD693531731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FD01F86-F748-BEC8-8C20-8A6EB37021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2D0F17-56C5-46DB-9639-80156211C382}"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BB05B56-D94C-9E47-446A-044ABEF2919B}"/>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32C33907-69B0-593B-4B07-43EEB06DDA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4668945-73DA-742E-5F7A-1FD7364914B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A66FF55-358E-C373-20D1-5CEF269CD1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2D8448A5-CC05-FA38-FBC6-F282EE2200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46020-A500-C8EF-1D01-1A43735AAB90}"/>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074B275-BBB0-986B-FAD8-808E898489C9}"/>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6887AC4-FA3C-BB80-793D-43A62C23F8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FD51D297-8251-44AA-AE89-5D1E108D55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3529577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964B5-8AC1-FDC9-8FA8-F61F1B772683}"/>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FE84379-1012-99EB-B734-E2AA8F21A02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0AE27EF7-6BB8-5812-082F-D68CBF4E10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56262C6C-ECA5-BC24-8402-71ADDCFB0C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205821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D3DF0-E80D-7F05-0A31-A24C25E19586}"/>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8C5B81F-9ABE-D18C-BFE4-F3BF672042F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EA6AF03-CA3D-545F-5F6F-C79F6A4653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C214B88A-1A79-6266-6CF0-78B761685A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3221347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9DF13-23CE-4FBC-64A0-6E28EB15B50E}"/>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1EA9FF06-C376-BF96-F59E-3C8E0E2D4E9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D1967340-E6EF-93DE-DCDC-9E3626208F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36531673-D25A-A1AA-659E-5AA4A1044F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1718810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4F1B5-10C3-FF62-D315-BADFE4671637}"/>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00CECB5-19D6-1562-1E63-3EF3D16F536C}"/>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F220825-3714-EE42-5D14-370E1DA0B3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4FF19FB8-0429-975E-8F63-57101891AE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3341158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9F36-2F3E-B359-2FAE-95A8EBF6BA1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1E039CB-217C-3EF6-1B66-4A90AF00261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EBF1B75-1DFE-5B93-503D-AB5B581F58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6EDBA331-7CAD-8AFB-9783-899969D7FE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1213595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ABCDA-D5A7-7C03-9308-61B295F7FB16}"/>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8424F57-6E79-5E24-DE4D-7AB97028784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4C92466-A337-E53A-7391-75BCFD8353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0A506DA1-2073-4055-452C-7CEBBB5341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3180496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D8DF-7EB6-6C37-098A-562726C77F75}"/>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5987FD8-DDF7-44CD-1EC9-47A1F4BB15F8}"/>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DD4EDB0-86A5-E194-CB03-BF82B540DC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1" kern="1200">
                <a:solidFill>
                  <a:schemeClr val="tx1"/>
                </a:solidFill>
                <a:effectLst/>
                <a:latin typeface="Arial" pitchFamily="34" charset="0"/>
                <a:ea typeface="+mn-ea"/>
                <a:cs typeface="Arial" pitchFamily="34" charset="0"/>
              </a:rPr>
              <a:t>8 </a:t>
            </a:r>
            <a:r>
              <a:rPr lang="en-GB" sz="1200" b="1" kern="1200" dirty="0">
                <a:solidFill>
                  <a:schemeClr val="tx1"/>
                </a:solidFill>
                <a:effectLst/>
                <a:latin typeface="Arial" pitchFamily="34" charset="0"/>
                <a:ea typeface="+mn-ea"/>
                <a:cs typeface="Arial" pitchFamily="34" charset="0"/>
              </a:rPr>
              <a:t>Rules For Learning to Code in 2025...and should </a:t>
            </a:r>
            <a:r>
              <a:rPr lang="en-GB" sz="1200" b="1" kern="1200">
                <a:solidFill>
                  <a:schemeClr val="tx1"/>
                </a:solidFill>
                <a:effectLst/>
                <a:latin typeface="Arial" pitchFamily="34" charset="0"/>
                <a:ea typeface="+mn-ea"/>
                <a:cs typeface="Arial" pitchFamily="34" charset="0"/>
              </a:rPr>
              <a:t>you?</a:t>
            </a:r>
            <a:endParaRPr lang="en-US" altLang="en-US" dirty="0"/>
          </a:p>
          <a:p>
            <a:r>
              <a:rPr lang="en-US" altLang="en-US" dirty="0"/>
              <a:t>https://www.youtube.com/watch?v=EMWNZtCYg5s</a:t>
            </a:r>
          </a:p>
        </p:txBody>
      </p:sp>
      <p:sp>
        <p:nvSpPr>
          <p:cNvPr id="19460" name="Slide Number Placeholder 3">
            <a:extLst>
              <a:ext uri="{FF2B5EF4-FFF2-40B4-BE49-F238E27FC236}">
                <a16:creationId xmlns:a16="http://schemas.microsoft.com/office/drawing/2014/main" id="{EF0D2904-22FB-539A-B208-BB68F6062C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11</a:t>
            </a:fld>
            <a:endParaRPr lang="en-GB" altLang="en-US"/>
          </a:p>
        </p:txBody>
      </p:sp>
    </p:spTree>
    <p:extLst>
      <p:ext uri="{BB962C8B-B14F-4D97-AF65-F5344CB8AC3E}">
        <p14:creationId xmlns:p14="http://schemas.microsoft.com/office/powerpoint/2010/main" val="666416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8472200D-50B0-B32B-C5E3-D20CB5F2FAE2}"/>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80DAA253-C56B-B408-2592-48E95C5BBC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Time: 45–60 mins </a:t>
            </a:r>
          </a:p>
          <a:p>
            <a:r>
              <a:rPr lang="en-GB" dirty="0"/>
              <a:t>Pitch to the class</a:t>
            </a:r>
          </a:p>
          <a:p>
            <a:r>
              <a:rPr lang="en-GB" dirty="0"/>
              <a:t>Feedback after each team</a:t>
            </a:r>
            <a:endParaRPr lang="en-GB" altLang="en-US" dirty="0"/>
          </a:p>
        </p:txBody>
      </p:sp>
      <p:sp>
        <p:nvSpPr>
          <p:cNvPr id="32772" name="Slide Number Placeholder 3">
            <a:extLst>
              <a:ext uri="{FF2B5EF4-FFF2-40B4-BE49-F238E27FC236}">
                <a16:creationId xmlns:a16="http://schemas.microsoft.com/office/drawing/2014/main" id="{20FD1EEF-A2D8-EF59-36E9-F70F722E2C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A3C367-EBCF-449B-A67E-EFF5CB0F35F1}" type="slidenum">
              <a:rPr lang="en-GB" altLang="en-US" smtClean="0"/>
              <a:pPr/>
              <a:t>12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55EEFDD-F325-4D02-C618-0F7F4846F596}"/>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C2F5FC58-8928-2D7A-984A-CF2DEAC9A65E}"/>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1F11F97A-EABF-C135-7E41-758E792FF466}"/>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9DE59AE1-901E-BB87-EF56-575C7D6D4CB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7BEA20CA-9D2D-487E-1D7C-29409CB51B09}"/>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43383042-ED94-3886-C0A5-0CF48F95F567}"/>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A9B442CA-EFEB-3300-708B-A16AABD35033}"/>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AB8570B2-4D83-E20A-D0D3-F7B2ABEBE08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DC92510E-0620-E297-1D04-31EA390ACEBC}"/>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AFCA6379-8CEA-13B8-C688-D9B7A1AEC33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5A916D59-C098-DECA-9B82-D70D7FB5C155}"/>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C259CF39-267A-E4F9-D2C0-6B6BF3AB0894}"/>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5CD7C2ED-5F70-BBAE-3C26-9B75AF39EBA5}"/>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70302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09ED468D-B41F-DAA0-8F85-EA00FEECB83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8EC392C-EE0E-9214-C403-433AF9DE29F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815E6BE-230A-7B58-BF62-DCFF8B6BBCE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9C859B8-F194-4BDF-AE32-F149C8E631F3}" type="slidenum">
              <a:rPr lang="en-US" altLang="en-US"/>
              <a:pPr>
                <a:defRPr/>
              </a:pPr>
              <a:t>‹#›</a:t>
            </a:fld>
            <a:endParaRPr lang="en-US" altLang="en-US"/>
          </a:p>
        </p:txBody>
      </p:sp>
    </p:spTree>
    <p:extLst>
      <p:ext uri="{BB962C8B-B14F-4D97-AF65-F5344CB8AC3E}">
        <p14:creationId xmlns:p14="http://schemas.microsoft.com/office/powerpoint/2010/main" val="3911813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3D595EB6-42A4-8B87-7F0F-F4CC1108E17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C68C41C-1040-BFA7-E982-19C7CFC664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31BBAA5-0FFE-5875-FBFC-1111B256EDF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EDAB430-22E6-42C1-82F2-418162FA1EF7}" type="slidenum">
              <a:rPr lang="en-US" altLang="en-US"/>
              <a:pPr>
                <a:defRPr/>
              </a:pPr>
              <a:t>‹#›</a:t>
            </a:fld>
            <a:endParaRPr lang="en-US" altLang="en-US"/>
          </a:p>
        </p:txBody>
      </p:sp>
    </p:spTree>
    <p:extLst>
      <p:ext uri="{BB962C8B-B14F-4D97-AF65-F5344CB8AC3E}">
        <p14:creationId xmlns:p14="http://schemas.microsoft.com/office/powerpoint/2010/main" val="138270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DFB9CAA2-55A4-E71A-B053-F652695C741A}"/>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7F063AD-F271-A85A-9E8F-47513AFCBA30}"/>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F59C984-561A-FC5A-9C02-96E7E337C12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6696311-BD0C-466C-A8D2-3FCCB2469C71}" type="slidenum">
              <a:rPr lang="en-US" altLang="en-US"/>
              <a:pPr>
                <a:defRPr/>
              </a:pPr>
              <a:t>‹#›</a:t>
            </a:fld>
            <a:endParaRPr lang="en-US" altLang="en-US"/>
          </a:p>
        </p:txBody>
      </p:sp>
    </p:spTree>
    <p:extLst>
      <p:ext uri="{BB962C8B-B14F-4D97-AF65-F5344CB8AC3E}">
        <p14:creationId xmlns:p14="http://schemas.microsoft.com/office/powerpoint/2010/main" val="3224908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C42857DB-BBBD-7577-5CBC-FCBDC7ED1A9A}"/>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1BB0DD5-F23A-5737-434D-EF01C34C5F21}"/>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42C35A8B-47AF-A744-481D-5337DF63222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0EAAB9E-FB74-46B8-BF01-D4FFA7990E9E}" type="slidenum">
              <a:rPr lang="en-US" altLang="en-US"/>
              <a:pPr>
                <a:defRPr/>
              </a:pPr>
              <a:t>‹#›</a:t>
            </a:fld>
            <a:endParaRPr lang="en-US" altLang="en-US"/>
          </a:p>
        </p:txBody>
      </p:sp>
    </p:spTree>
    <p:extLst>
      <p:ext uri="{BB962C8B-B14F-4D97-AF65-F5344CB8AC3E}">
        <p14:creationId xmlns:p14="http://schemas.microsoft.com/office/powerpoint/2010/main" val="57599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ED9C33BB-DE2D-0EEA-30EA-4AE317C5160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8DC274FF-0C9E-F2B3-D998-FBF6B258AA1D}"/>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684891C3-BD8E-5037-2C2A-856E4888375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2A15245-CA19-44D2-83CD-0D5DD397DB62}" type="slidenum">
              <a:rPr lang="en-US" altLang="en-US"/>
              <a:pPr>
                <a:defRPr/>
              </a:pPr>
              <a:t>‹#›</a:t>
            </a:fld>
            <a:endParaRPr lang="en-US" altLang="en-US"/>
          </a:p>
        </p:txBody>
      </p:sp>
    </p:spTree>
    <p:extLst>
      <p:ext uri="{BB962C8B-B14F-4D97-AF65-F5344CB8AC3E}">
        <p14:creationId xmlns:p14="http://schemas.microsoft.com/office/powerpoint/2010/main" val="1723319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99FF5957-A563-808C-09F5-8CAE1171BD5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F84BECF5-F157-CEB5-3ACB-1E0B73940449}"/>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62EA471E-E0A8-48F4-4D62-4050C074F4B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EB4834C-ED36-4420-A794-BC3E2AB96A08}" type="slidenum">
              <a:rPr lang="en-US" altLang="en-US"/>
              <a:pPr>
                <a:defRPr/>
              </a:pPr>
              <a:t>‹#›</a:t>
            </a:fld>
            <a:endParaRPr lang="en-US" altLang="en-US"/>
          </a:p>
        </p:txBody>
      </p:sp>
    </p:spTree>
    <p:extLst>
      <p:ext uri="{BB962C8B-B14F-4D97-AF65-F5344CB8AC3E}">
        <p14:creationId xmlns:p14="http://schemas.microsoft.com/office/powerpoint/2010/main" val="2215462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F7DC602-3B37-FFE6-C00B-73CFEC6782FE}"/>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9416A0F-CD06-2D65-4DE6-4455DF1F4C2D}"/>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A666144-D08B-E4E7-9A47-788168DF9D8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6DF560C-C434-41BD-BF32-56D4E051906A}" type="slidenum">
              <a:rPr lang="en-US" altLang="en-US"/>
              <a:pPr>
                <a:defRPr/>
              </a:pPr>
              <a:t>‹#›</a:t>
            </a:fld>
            <a:endParaRPr lang="en-US" altLang="en-US"/>
          </a:p>
        </p:txBody>
      </p:sp>
    </p:spTree>
    <p:extLst>
      <p:ext uri="{BB962C8B-B14F-4D97-AF65-F5344CB8AC3E}">
        <p14:creationId xmlns:p14="http://schemas.microsoft.com/office/powerpoint/2010/main" val="275488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75F5E32B-31A9-79FC-2C79-F0DBB9D7BD8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B81973B-49F9-833E-9772-A1D75C32E5E8}"/>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A258A50B-B5FA-9A07-077A-EB476FCCF74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A4D4393-D917-478F-8E0B-3C0278D3B333}" type="slidenum">
              <a:rPr lang="en-US" altLang="en-US"/>
              <a:pPr>
                <a:defRPr/>
              </a:pPr>
              <a:t>‹#›</a:t>
            </a:fld>
            <a:endParaRPr lang="en-US" altLang="en-US"/>
          </a:p>
        </p:txBody>
      </p:sp>
    </p:spTree>
    <p:extLst>
      <p:ext uri="{BB962C8B-B14F-4D97-AF65-F5344CB8AC3E}">
        <p14:creationId xmlns:p14="http://schemas.microsoft.com/office/powerpoint/2010/main" val="3284742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AAF4B20F-50AF-9CA2-92BA-BF6C40814E5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A3E1325-C404-4C99-AB19-6E6A524DC15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8C25BC3-DE2F-C763-A30B-506CDF998A9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5BD296F-62CB-4F3E-A3BA-A03EEB2F627E}" type="slidenum">
              <a:rPr lang="en-US" altLang="en-US"/>
              <a:pPr>
                <a:defRPr/>
              </a:pPr>
              <a:t>‹#›</a:t>
            </a:fld>
            <a:endParaRPr lang="en-US" altLang="en-US"/>
          </a:p>
        </p:txBody>
      </p:sp>
    </p:spTree>
    <p:extLst>
      <p:ext uri="{BB962C8B-B14F-4D97-AF65-F5344CB8AC3E}">
        <p14:creationId xmlns:p14="http://schemas.microsoft.com/office/powerpoint/2010/main" val="296330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23E7B1D-CE7E-458D-177C-4B465CEF1BFD}"/>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9F7FE56-0BAE-F317-F11A-0F381B917503}"/>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CFB74CE-F1B2-B12B-9F40-2FD4E3DC7DF3}"/>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7B5E991-7CF0-4E4E-9675-5B8EFD515D9E}" type="slidenum">
              <a:rPr lang="en-US" altLang="en-US"/>
              <a:pPr>
                <a:defRPr/>
              </a:pPr>
              <a:t>‹#›</a:t>
            </a:fld>
            <a:endParaRPr lang="en-US" altLang="en-US"/>
          </a:p>
        </p:txBody>
      </p:sp>
    </p:spTree>
    <p:extLst>
      <p:ext uri="{BB962C8B-B14F-4D97-AF65-F5344CB8AC3E}">
        <p14:creationId xmlns:p14="http://schemas.microsoft.com/office/powerpoint/2010/main" val="109869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A84CE20-4948-223B-F755-551399580D79}"/>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1760A6FF-39F0-6B25-A5F9-8BEA9BF455B5}"/>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CC278051-7978-37CF-6B4D-0414FBD61728}"/>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E3C3C402-FA83-FC55-92AB-52D807C361ED}"/>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C738BA8-3336-AB07-1F90-CA0816815E00}"/>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A07B99AC-5E5D-3B03-E8AA-1445E3315D6E}"/>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148B1755-F328-223A-1029-82ED549EFAD3}"/>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55B307DD-EE69-F8FE-27A8-924A3A22D8EB}"/>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A6AD3AE2-D289-23B5-6C8F-10E1CED27E23}"/>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9888BDA8-BBBE-B614-6CEB-FB561C344E4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61D848DD-F5EF-3F9D-965F-32E71071F498}"/>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079C56D6-FE4A-9DFD-F1DD-66AE80B331D9}"/>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AAEEED50-0D8B-15F3-8F80-EC7A5EC610BC}"/>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A5F10E85-9841-4E2D-B997-92543CA24E88}" type="slidenum">
              <a:rPr lang="en-US" altLang="en-US"/>
              <a:pPr>
                <a:defRPr/>
              </a:pPr>
              <a:t>‹#›</a:t>
            </a:fld>
            <a:endParaRPr lang="en-US" altLang="en-US"/>
          </a:p>
        </p:txBody>
      </p:sp>
    </p:spTree>
    <p:extLst>
      <p:ext uri="{BB962C8B-B14F-4D97-AF65-F5344CB8AC3E}">
        <p14:creationId xmlns:p14="http://schemas.microsoft.com/office/powerpoint/2010/main" val="3549423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959CD1BF-7D28-DFFB-677E-2E92FDB4FC9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36981072-8492-6D82-8074-4293271D9A3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BC5683E-71C3-6859-3787-27055763D2E1}"/>
              </a:ext>
            </a:extLst>
          </p:cNvPr>
          <p:cNvSpPr>
            <a:spLocks noGrp="1" noChangeArrowheads="1"/>
          </p:cNvSpPr>
          <p:nvPr>
            <p:ph type="sldNum" sz="quarter" idx="12"/>
          </p:nvPr>
        </p:nvSpPr>
        <p:spPr>
          <a:ln/>
        </p:spPr>
        <p:txBody>
          <a:bodyPr/>
          <a:lstStyle>
            <a:lvl1pPr>
              <a:defRPr/>
            </a:lvl1pPr>
          </a:lstStyle>
          <a:p>
            <a:pPr>
              <a:defRPr/>
            </a:pPr>
            <a:fld id="{2A004D49-3C7F-47F7-B100-44D89B93E7B3}" type="slidenum">
              <a:rPr lang="en-US" altLang="en-US"/>
              <a:pPr>
                <a:defRPr/>
              </a:pPr>
              <a:t>‹#›</a:t>
            </a:fld>
            <a:endParaRPr lang="en-US" altLang="en-US"/>
          </a:p>
        </p:txBody>
      </p:sp>
    </p:spTree>
    <p:extLst>
      <p:ext uri="{BB962C8B-B14F-4D97-AF65-F5344CB8AC3E}">
        <p14:creationId xmlns:p14="http://schemas.microsoft.com/office/powerpoint/2010/main" val="871824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AAC638D-2578-9F97-05F8-2989272A7BB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547E742-CABF-B000-E809-D81C5E2FD4D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02DEAB3-9715-0243-F0AF-2033AC04611C}"/>
              </a:ext>
            </a:extLst>
          </p:cNvPr>
          <p:cNvSpPr>
            <a:spLocks noGrp="1" noChangeArrowheads="1"/>
          </p:cNvSpPr>
          <p:nvPr>
            <p:ph type="sldNum" sz="quarter" idx="12"/>
          </p:nvPr>
        </p:nvSpPr>
        <p:spPr>
          <a:ln/>
        </p:spPr>
        <p:txBody>
          <a:bodyPr/>
          <a:lstStyle>
            <a:lvl1pPr>
              <a:defRPr/>
            </a:lvl1pPr>
          </a:lstStyle>
          <a:p>
            <a:pPr>
              <a:defRPr/>
            </a:pPr>
            <a:fld id="{856F8900-2903-4AE4-8511-450250672595}" type="slidenum">
              <a:rPr lang="en-US" altLang="en-US"/>
              <a:pPr>
                <a:defRPr/>
              </a:pPr>
              <a:t>‹#›</a:t>
            </a:fld>
            <a:endParaRPr lang="en-US" altLang="en-US"/>
          </a:p>
        </p:txBody>
      </p:sp>
    </p:spTree>
    <p:extLst>
      <p:ext uri="{BB962C8B-B14F-4D97-AF65-F5344CB8AC3E}">
        <p14:creationId xmlns:p14="http://schemas.microsoft.com/office/powerpoint/2010/main" val="2262573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04F9D59C-3AC4-962B-DC11-70D987E9056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9C8C5FE-6115-913C-84A5-5BE7F661A9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B8029DC-4DCE-4C51-5A2E-4877835BA137}"/>
              </a:ext>
            </a:extLst>
          </p:cNvPr>
          <p:cNvSpPr>
            <a:spLocks noGrp="1" noChangeArrowheads="1"/>
          </p:cNvSpPr>
          <p:nvPr>
            <p:ph type="sldNum" sz="quarter" idx="12"/>
          </p:nvPr>
        </p:nvSpPr>
        <p:spPr>
          <a:ln/>
        </p:spPr>
        <p:txBody>
          <a:bodyPr/>
          <a:lstStyle>
            <a:lvl1pPr>
              <a:defRPr/>
            </a:lvl1pPr>
          </a:lstStyle>
          <a:p>
            <a:pPr>
              <a:defRPr/>
            </a:pPr>
            <a:fld id="{E9FC3C3D-2086-416F-A748-CF7D5369D377}" type="slidenum">
              <a:rPr lang="en-US" altLang="en-US"/>
              <a:pPr>
                <a:defRPr/>
              </a:pPr>
              <a:t>‹#›</a:t>
            </a:fld>
            <a:endParaRPr lang="en-US" altLang="en-US"/>
          </a:p>
        </p:txBody>
      </p:sp>
    </p:spTree>
    <p:extLst>
      <p:ext uri="{BB962C8B-B14F-4D97-AF65-F5344CB8AC3E}">
        <p14:creationId xmlns:p14="http://schemas.microsoft.com/office/powerpoint/2010/main" val="4023528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1D732604-8235-825A-2CBE-C8AE0D022C4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17C4CAAA-32FA-ECF2-8473-46DBCD5493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FB3EE07-7011-F744-8F11-A52513366135}"/>
              </a:ext>
            </a:extLst>
          </p:cNvPr>
          <p:cNvSpPr>
            <a:spLocks noGrp="1" noChangeArrowheads="1"/>
          </p:cNvSpPr>
          <p:nvPr>
            <p:ph type="sldNum" sz="quarter" idx="12"/>
          </p:nvPr>
        </p:nvSpPr>
        <p:spPr>
          <a:ln/>
        </p:spPr>
        <p:txBody>
          <a:bodyPr/>
          <a:lstStyle>
            <a:lvl1pPr>
              <a:defRPr/>
            </a:lvl1pPr>
          </a:lstStyle>
          <a:p>
            <a:pPr>
              <a:defRPr/>
            </a:pPr>
            <a:fld id="{F8594E1C-005E-4AF1-A4D8-0D95FF8A1D31}" type="slidenum">
              <a:rPr lang="en-US" altLang="en-US"/>
              <a:pPr>
                <a:defRPr/>
              </a:pPr>
              <a:t>‹#›</a:t>
            </a:fld>
            <a:endParaRPr lang="en-US" altLang="en-US"/>
          </a:p>
        </p:txBody>
      </p:sp>
    </p:spTree>
    <p:extLst>
      <p:ext uri="{BB962C8B-B14F-4D97-AF65-F5344CB8AC3E}">
        <p14:creationId xmlns:p14="http://schemas.microsoft.com/office/powerpoint/2010/main" val="4003169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E3AE5EF-5BC7-EC6D-6D52-94B0643C4BC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22E2E34-84BD-1F47-0A8D-4656BF332E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F4BEAC07-A305-DEE2-43B3-A81722ED74F6}"/>
              </a:ext>
            </a:extLst>
          </p:cNvPr>
          <p:cNvSpPr>
            <a:spLocks noGrp="1" noChangeArrowheads="1"/>
          </p:cNvSpPr>
          <p:nvPr>
            <p:ph type="sldNum" sz="quarter" idx="12"/>
          </p:nvPr>
        </p:nvSpPr>
        <p:spPr>
          <a:ln/>
        </p:spPr>
        <p:txBody>
          <a:bodyPr/>
          <a:lstStyle>
            <a:lvl1pPr>
              <a:defRPr/>
            </a:lvl1pPr>
          </a:lstStyle>
          <a:p>
            <a:pPr>
              <a:defRPr/>
            </a:pPr>
            <a:fld id="{DAAE9B05-1D8F-4939-8039-BA9D7C6DFC85}" type="slidenum">
              <a:rPr lang="en-US" altLang="en-US"/>
              <a:pPr>
                <a:defRPr/>
              </a:pPr>
              <a:t>‹#›</a:t>
            </a:fld>
            <a:endParaRPr lang="en-US" altLang="en-US"/>
          </a:p>
        </p:txBody>
      </p:sp>
    </p:spTree>
    <p:extLst>
      <p:ext uri="{BB962C8B-B14F-4D97-AF65-F5344CB8AC3E}">
        <p14:creationId xmlns:p14="http://schemas.microsoft.com/office/powerpoint/2010/main" val="23589401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16C77F43-79C4-054E-D032-62AF91E9CE8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4F86B3B9-FA35-CFCB-20BE-822EFF845A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C0BC544A-55C7-A279-1B59-B0CC3DBAB26E}"/>
              </a:ext>
            </a:extLst>
          </p:cNvPr>
          <p:cNvSpPr>
            <a:spLocks noGrp="1" noChangeArrowheads="1"/>
          </p:cNvSpPr>
          <p:nvPr>
            <p:ph type="sldNum" sz="quarter" idx="12"/>
          </p:nvPr>
        </p:nvSpPr>
        <p:spPr>
          <a:ln/>
        </p:spPr>
        <p:txBody>
          <a:bodyPr/>
          <a:lstStyle>
            <a:lvl1pPr>
              <a:defRPr/>
            </a:lvl1pPr>
          </a:lstStyle>
          <a:p>
            <a:pPr>
              <a:defRPr/>
            </a:pPr>
            <a:fld id="{53B7D5A0-AD0E-4CFF-94EB-D68C24414B22}" type="slidenum">
              <a:rPr lang="en-US" altLang="en-US"/>
              <a:pPr>
                <a:defRPr/>
              </a:pPr>
              <a:t>‹#›</a:t>
            </a:fld>
            <a:endParaRPr lang="en-US" altLang="en-US"/>
          </a:p>
        </p:txBody>
      </p:sp>
    </p:spTree>
    <p:extLst>
      <p:ext uri="{BB962C8B-B14F-4D97-AF65-F5344CB8AC3E}">
        <p14:creationId xmlns:p14="http://schemas.microsoft.com/office/powerpoint/2010/main" val="2837004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828AAAF1-FE3F-EBF0-CFE3-121220F87AE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37088E4-7E4B-6230-3398-2FCE8A1E5C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5425DAA5-F979-0128-73BE-E1ADBDD373C7}"/>
              </a:ext>
            </a:extLst>
          </p:cNvPr>
          <p:cNvSpPr>
            <a:spLocks noGrp="1" noChangeArrowheads="1"/>
          </p:cNvSpPr>
          <p:nvPr>
            <p:ph type="sldNum" sz="quarter" idx="12"/>
          </p:nvPr>
        </p:nvSpPr>
        <p:spPr>
          <a:ln/>
        </p:spPr>
        <p:txBody>
          <a:bodyPr/>
          <a:lstStyle>
            <a:lvl1pPr>
              <a:defRPr/>
            </a:lvl1pPr>
          </a:lstStyle>
          <a:p>
            <a:pPr>
              <a:defRPr/>
            </a:pPr>
            <a:fld id="{FEC7C8AF-581D-48A6-A014-D3E1560E6DC6}" type="slidenum">
              <a:rPr lang="en-US" altLang="en-US"/>
              <a:pPr>
                <a:defRPr/>
              </a:pPr>
              <a:t>‹#›</a:t>
            </a:fld>
            <a:endParaRPr lang="en-US" altLang="en-US"/>
          </a:p>
        </p:txBody>
      </p:sp>
    </p:spTree>
    <p:extLst>
      <p:ext uri="{BB962C8B-B14F-4D97-AF65-F5344CB8AC3E}">
        <p14:creationId xmlns:p14="http://schemas.microsoft.com/office/powerpoint/2010/main" val="1691820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BCEAE702-FD7A-4BB7-3567-AAAC813C222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179B355-81E5-4075-B5E1-7B4BDA8FFD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E17BEFF-97AD-CA74-9EF7-30626619B6D4}"/>
              </a:ext>
            </a:extLst>
          </p:cNvPr>
          <p:cNvSpPr>
            <a:spLocks noGrp="1" noChangeArrowheads="1"/>
          </p:cNvSpPr>
          <p:nvPr>
            <p:ph type="sldNum" sz="quarter" idx="12"/>
          </p:nvPr>
        </p:nvSpPr>
        <p:spPr>
          <a:ln/>
        </p:spPr>
        <p:txBody>
          <a:bodyPr/>
          <a:lstStyle>
            <a:lvl1pPr>
              <a:defRPr/>
            </a:lvl1pPr>
          </a:lstStyle>
          <a:p>
            <a:pPr>
              <a:defRPr/>
            </a:pPr>
            <a:fld id="{C225FB4F-1255-461B-B20E-AF4DBB798D3D}" type="slidenum">
              <a:rPr lang="en-US" altLang="en-US"/>
              <a:pPr>
                <a:defRPr/>
              </a:pPr>
              <a:t>‹#›</a:t>
            </a:fld>
            <a:endParaRPr lang="en-US" altLang="en-US"/>
          </a:p>
        </p:txBody>
      </p:sp>
    </p:spTree>
    <p:extLst>
      <p:ext uri="{BB962C8B-B14F-4D97-AF65-F5344CB8AC3E}">
        <p14:creationId xmlns:p14="http://schemas.microsoft.com/office/powerpoint/2010/main" val="37966190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C431763-F492-B4AC-FCE4-A5C34C0424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EA1F08C-F7B7-15AB-DA82-270C64C521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80DBD39-2CC0-D41D-DA72-DD1F96FB22FC}"/>
              </a:ext>
            </a:extLst>
          </p:cNvPr>
          <p:cNvSpPr>
            <a:spLocks noGrp="1" noChangeArrowheads="1"/>
          </p:cNvSpPr>
          <p:nvPr>
            <p:ph type="sldNum" sz="quarter" idx="12"/>
          </p:nvPr>
        </p:nvSpPr>
        <p:spPr>
          <a:ln/>
        </p:spPr>
        <p:txBody>
          <a:bodyPr/>
          <a:lstStyle>
            <a:lvl1pPr>
              <a:defRPr/>
            </a:lvl1pPr>
          </a:lstStyle>
          <a:p>
            <a:pPr>
              <a:defRPr/>
            </a:pPr>
            <a:fld id="{97ACD972-626E-4B43-8E03-ED4D1FED52CE}" type="slidenum">
              <a:rPr lang="en-US" altLang="en-US"/>
              <a:pPr>
                <a:defRPr/>
              </a:pPr>
              <a:t>‹#›</a:t>
            </a:fld>
            <a:endParaRPr lang="en-US" altLang="en-US"/>
          </a:p>
        </p:txBody>
      </p:sp>
    </p:spTree>
    <p:extLst>
      <p:ext uri="{BB962C8B-B14F-4D97-AF65-F5344CB8AC3E}">
        <p14:creationId xmlns:p14="http://schemas.microsoft.com/office/powerpoint/2010/main" val="17128673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7BBAB5AC-6BCA-903B-3D9D-B9A6ED6B66A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8B14301-0A0A-06E3-F05E-738EE17DEC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E2F28ADF-5DB6-D7BA-C9C1-8DC40A5F79BD}"/>
              </a:ext>
            </a:extLst>
          </p:cNvPr>
          <p:cNvSpPr>
            <a:spLocks noGrp="1" noChangeArrowheads="1"/>
          </p:cNvSpPr>
          <p:nvPr>
            <p:ph type="sldNum" sz="quarter" idx="12"/>
          </p:nvPr>
        </p:nvSpPr>
        <p:spPr>
          <a:ln/>
        </p:spPr>
        <p:txBody>
          <a:bodyPr/>
          <a:lstStyle>
            <a:lvl1pPr>
              <a:defRPr/>
            </a:lvl1pPr>
          </a:lstStyle>
          <a:p>
            <a:pPr>
              <a:defRPr/>
            </a:pPr>
            <a:fld id="{B5E7DB3E-C14E-40F7-BB4E-06BD00758D5A}" type="slidenum">
              <a:rPr lang="en-US" altLang="en-US"/>
              <a:pPr>
                <a:defRPr/>
              </a:pPr>
              <a:t>‹#›</a:t>
            </a:fld>
            <a:endParaRPr lang="en-US" altLang="en-US"/>
          </a:p>
        </p:txBody>
      </p:sp>
    </p:spTree>
    <p:extLst>
      <p:ext uri="{BB962C8B-B14F-4D97-AF65-F5344CB8AC3E}">
        <p14:creationId xmlns:p14="http://schemas.microsoft.com/office/powerpoint/2010/main" val="3623542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5E62D42-CCF5-B884-B82B-B2F03234D094}"/>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405024A5-66B6-AB32-DCF6-16F8B1D2C9C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A4A743EF-FCE5-5725-1BDA-E1F600BDDA17}"/>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E13533CA-8BEE-6426-7F15-6A6D9C191C1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4BD1276A-B6DA-790A-7E30-A343913AF1B0}"/>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337FB7BC-7B2F-2544-4382-D0A5A1F00D0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D520C129-34CF-EC99-E951-24A9080E6FE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78B4DD1E-3E6F-0555-3F0E-DE5353C9A34A}"/>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EDDB7CC5-5738-A5E7-86E5-B84DBB6A7A6D}"/>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CE878F97-B897-D17B-4B63-F76419045AB3}"/>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FFB816A-5783-E6C2-6231-F41287C4C5B9}"/>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DBD63D0-ECDF-4247-270C-738E5483DE67}"/>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DCA2B38-A8DE-8C5B-AE66-27EC5E735A80}"/>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1E48307A-6151-E300-DAB4-19F476E6E884}"/>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D1804DC7-1769-7B38-FD23-5D436567FE06}"/>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7503C87C-7B02-4D34-0F6B-0F0AA0724D0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C7B95880-5C5C-C45C-E6C2-47BC25FAC975}"/>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F306E732-8953-E1FB-33DD-C0B4493B78D2}"/>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812ED05F-5B2A-6361-79B9-CAA802544CA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5C809DF4-8361-7FAC-2266-DF603890DF9C}"/>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856DA5A5-6240-2716-2095-8A36D435BB7D}"/>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8608616-155D-0B12-CC41-3B11DEF46464}"/>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E9C6BEE5-0201-75C8-95C3-B6B39671057E}"/>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A65421AA-31D6-B8A9-67B0-ACBCC6FCE74C}"/>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8DFE0FE9-152C-4029-9D82-5E75A14567E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ideo" Target="https://www.youtube.com/embed/EMWNZtCYg5s?feature=oembed" TargetMode="Externa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F976C7E-BE4A-E7CE-18FC-91DACD0C9C96}"/>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0542D83B-8760-2A5A-CB1D-22833CB7206D}"/>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900112" y="1916113"/>
            <a:ext cx="7776343" cy="4681239"/>
          </a:xfrm>
        </p:spPr>
        <p:txBody>
          <a:bodyPr/>
          <a:lstStyle/>
          <a:p>
            <a:pPr eaLnBrk="1" hangingPunct="1">
              <a:defRPr/>
            </a:pPr>
            <a:r>
              <a:rPr lang="en-GB" sz="2000" b="1" dirty="0"/>
              <a:t>Aims:</a:t>
            </a:r>
          </a:p>
          <a:p>
            <a:pPr lvl="1" eaLnBrk="1" hangingPunct="1">
              <a:defRPr/>
            </a:pPr>
            <a:r>
              <a:rPr lang="en-GB" sz="2000" dirty="0"/>
              <a:t>To understand research an exploration</a:t>
            </a:r>
          </a:p>
          <a:p>
            <a:pPr lvl="1" eaLnBrk="1" hangingPunct="1">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explore an initial client brief with specific references to:</a:t>
            </a:r>
          </a:p>
          <a:p>
            <a:pPr lvl="2" eaLnBrk="1" hangingPunct="1">
              <a:defRPr/>
            </a:pPr>
            <a:r>
              <a:rPr lang="en-GB" sz="1600" dirty="0"/>
              <a:t>Context &amp; Market Environment</a:t>
            </a:r>
          </a:p>
          <a:p>
            <a:pPr lvl="2" eaLnBrk="1" hangingPunct="1">
              <a:defRPr/>
            </a:pPr>
            <a:r>
              <a:rPr lang="en-GB" sz="1600" dirty="0"/>
              <a:t>Common Problems and Risks</a:t>
            </a:r>
          </a:p>
          <a:p>
            <a:pPr lvl="2" eaLnBrk="1" hangingPunct="1">
              <a:defRPr/>
            </a:pPr>
            <a:r>
              <a:rPr lang="en-GB" sz="1600" dirty="0"/>
              <a:t>Current Hardware and Software Usage</a:t>
            </a:r>
          </a:p>
          <a:p>
            <a:pPr lvl="2" eaLnBrk="1" hangingPunct="1">
              <a:defRPr/>
            </a:pPr>
            <a:r>
              <a:rPr lang="en-GB" sz="1600" dirty="0"/>
              <a:t>Emerging Technologies</a:t>
            </a:r>
          </a:p>
          <a:p>
            <a:pPr lvl="2" eaLnBrk="1" hangingPunct="1">
              <a:defRPr/>
            </a:pPr>
            <a:r>
              <a:rPr lang="en-GB" sz="1600" dirty="0"/>
              <a:t>Existing and Potential Solutions</a:t>
            </a:r>
          </a:p>
          <a:p>
            <a:pPr lvl="2" eaLnBrk="1" hangingPunct="1">
              <a:defRPr/>
            </a:pPr>
            <a:r>
              <a:rPr lang="en-GB" sz="1600" dirty="0"/>
              <a:t>Guidelines and Regulations</a:t>
            </a:r>
          </a:p>
          <a:p>
            <a:pPr lvl="2" eaLnBrk="1" hangingPunct="1">
              <a:defRPr/>
            </a:pPr>
            <a:r>
              <a:rPr lang="en-GB" sz="1600" dirty="0"/>
              <a:t>Skills &amp; Knowledge Gaps</a:t>
            </a:r>
          </a:p>
          <a:p>
            <a:pPr lvl="2" eaLnBrk="1" hangingPunct="1">
              <a:defRPr/>
            </a:pPr>
            <a:r>
              <a:rPr lang="en-GB" sz="1600" dirty="0"/>
              <a:t>Learning &amp; Development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871ADF7-58D2-8339-EBB0-0AD873843B03}"/>
              </a:ext>
            </a:extLst>
          </p:cNvPr>
          <p:cNvSpPr>
            <a:spLocks noGrp="1" noChangeArrowheads="1"/>
          </p:cNvSpPr>
          <p:nvPr>
            <p:ph type="title"/>
          </p:nvPr>
        </p:nvSpPr>
        <p:spPr>
          <a:xfrm>
            <a:off x="1258888" y="404813"/>
            <a:ext cx="7650162" cy="939800"/>
          </a:xfrm>
        </p:spPr>
        <p:txBody>
          <a:bodyPr/>
          <a:lstStyle/>
          <a:p>
            <a:r>
              <a:rPr lang="en-GB" sz="3600" b="1" dirty="0">
                <a:solidFill>
                  <a:srgbClr val="0070C0"/>
                </a:solidFill>
              </a:rPr>
              <a:t>Exploring the Initial Client Brief</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DD20326B-8666-8C4D-280F-5E5ACAE14B9E}"/>
              </a:ext>
            </a:extLst>
          </p:cNvPr>
          <p:cNvSpPr>
            <a:spLocks noGrp="1" noChangeArrowheads="1"/>
          </p:cNvSpPr>
          <p:nvPr>
            <p:ph idx="1"/>
          </p:nvPr>
        </p:nvSpPr>
        <p:spPr>
          <a:xfrm>
            <a:off x="396081" y="1988840"/>
            <a:ext cx="8351838" cy="575766"/>
          </a:xfrm>
        </p:spPr>
        <p:txBody>
          <a:bodyPr/>
          <a:lstStyle/>
          <a:p>
            <a:r>
              <a:rPr lang="en-GB" sz="1800" dirty="0"/>
              <a:t>The client brief provides direction and scope for the entire project.</a:t>
            </a:r>
            <a:r>
              <a:rPr lang="en-GB" altLang="en-US" sz="1800" b="1" dirty="0"/>
              <a:t> </a:t>
            </a:r>
            <a:endParaRPr lang="en-GB" altLang="en-US" sz="1800" dirty="0"/>
          </a:p>
        </p:txBody>
      </p:sp>
      <p:sp>
        <p:nvSpPr>
          <p:cNvPr id="2" name="Content Placeholder 2">
            <a:extLst>
              <a:ext uri="{FF2B5EF4-FFF2-40B4-BE49-F238E27FC236}">
                <a16:creationId xmlns:a16="http://schemas.microsoft.com/office/drawing/2014/main" id="{C480DB7E-BF60-2242-EAB2-2FD401BF9630}"/>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break down and understand what the client is asking for.</a:t>
            </a:r>
            <a:endParaRPr lang="en-GB" altLang="en-US" sz="1800" kern="0" dirty="0"/>
          </a:p>
        </p:txBody>
      </p:sp>
      <p:sp>
        <p:nvSpPr>
          <p:cNvPr id="3" name="Content Placeholder 2">
            <a:extLst>
              <a:ext uri="{FF2B5EF4-FFF2-40B4-BE49-F238E27FC236}">
                <a16:creationId xmlns:a16="http://schemas.microsoft.com/office/drawing/2014/main" id="{6BB9867C-96B5-E0D6-9F76-8C82FA4E7E90}"/>
              </a:ext>
            </a:extLst>
          </p:cNvPr>
          <p:cNvSpPr txBox="1">
            <a:spLocks noChangeArrowheads="1"/>
          </p:cNvSpPr>
          <p:nvPr/>
        </p:nvSpPr>
        <p:spPr bwMode="auto">
          <a:xfrm>
            <a:off x="234950" y="3770301"/>
            <a:ext cx="4467072" cy="2664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Clarify project goals and vision</a:t>
            </a:r>
          </a:p>
          <a:p>
            <a:pPr lvl="1"/>
            <a:r>
              <a:rPr lang="en-GB" sz="1800" dirty="0"/>
              <a:t>Understand end-user needs and pain points</a:t>
            </a:r>
          </a:p>
          <a:p>
            <a:pPr lvl="1"/>
            <a:r>
              <a:rPr lang="en-GB" sz="1800" dirty="0"/>
              <a:t>Identify project constraints: time, budget, deliverables</a:t>
            </a:r>
          </a:p>
          <a:p>
            <a:pPr lvl="1"/>
            <a:r>
              <a:rPr lang="en-GB" sz="1800" dirty="0"/>
              <a:t>Highlight client expectations and success criteria</a:t>
            </a:r>
          </a:p>
          <a:p>
            <a:endParaRPr lang="en-GB" altLang="en-US" sz="1800" kern="0" dirty="0"/>
          </a:p>
        </p:txBody>
      </p:sp>
      <p:pic>
        <p:nvPicPr>
          <p:cNvPr id="18438" name="Picture 6" descr="Project Brief Template">
            <a:extLst>
              <a:ext uri="{FF2B5EF4-FFF2-40B4-BE49-F238E27FC236}">
                <a16:creationId xmlns:a16="http://schemas.microsoft.com/office/drawing/2014/main" id="{F2E8FCCB-0D77-F125-8A36-B3845D309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292" y="3786819"/>
            <a:ext cx="3631175" cy="24223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3C75-CE45-6096-BC72-CD4DBF03B99A}"/>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B3FE408-1C55-6E07-2B52-D2C478BAA410}"/>
              </a:ext>
            </a:extLst>
          </p:cNvPr>
          <p:cNvSpPr>
            <a:spLocks noGrp="1" noChangeArrowheads="1"/>
          </p:cNvSpPr>
          <p:nvPr>
            <p:ph type="title"/>
          </p:nvPr>
        </p:nvSpPr>
        <p:spPr>
          <a:xfrm>
            <a:off x="1258888" y="404813"/>
            <a:ext cx="7650162" cy="939800"/>
          </a:xfrm>
        </p:spPr>
        <p:txBody>
          <a:bodyPr/>
          <a:lstStyle/>
          <a:p>
            <a:r>
              <a:rPr lang="en-GB" sz="3600" b="1" dirty="0">
                <a:solidFill>
                  <a:srgbClr val="0070C0"/>
                </a:solidFill>
              </a:rPr>
              <a:t>Context &amp; Market Environment</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6F086937-992C-CC10-82F5-3A2729AF8B3B}"/>
              </a:ext>
            </a:extLst>
          </p:cNvPr>
          <p:cNvSpPr>
            <a:spLocks noGrp="1" noChangeArrowheads="1"/>
          </p:cNvSpPr>
          <p:nvPr>
            <p:ph idx="1"/>
          </p:nvPr>
        </p:nvSpPr>
        <p:spPr>
          <a:xfrm>
            <a:off x="396081" y="1988840"/>
            <a:ext cx="8351838" cy="355599"/>
          </a:xfrm>
        </p:spPr>
        <p:txBody>
          <a:bodyPr/>
          <a:lstStyle/>
          <a:p>
            <a:r>
              <a:rPr lang="en-GB" sz="1800" dirty="0"/>
              <a:t>Research into the project’s industry helps position it appropriately.</a:t>
            </a:r>
            <a:endParaRPr lang="en-GB" altLang="en-US" sz="1800" dirty="0"/>
          </a:p>
        </p:txBody>
      </p:sp>
      <p:sp>
        <p:nvSpPr>
          <p:cNvPr id="2" name="Content Placeholder 2">
            <a:extLst>
              <a:ext uri="{FF2B5EF4-FFF2-40B4-BE49-F238E27FC236}">
                <a16:creationId xmlns:a16="http://schemas.microsoft.com/office/drawing/2014/main" id="{354BD2D6-5217-C194-7B31-5D3C2C4D3D77}"/>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Explore the environment in which the solution will exist.</a:t>
            </a:r>
            <a:endParaRPr lang="en-GB" altLang="en-US" sz="1800" kern="0" dirty="0"/>
          </a:p>
        </p:txBody>
      </p:sp>
      <p:sp>
        <p:nvSpPr>
          <p:cNvPr id="3" name="Content Placeholder 2">
            <a:extLst>
              <a:ext uri="{FF2B5EF4-FFF2-40B4-BE49-F238E27FC236}">
                <a16:creationId xmlns:a16="http://schemas.microsoft.com/office/drawing/2014/main" id="{0E9C0B72-AA63-A58A-B75F-FD58335CF936}"/>
              </a:ext>
            </a:extLst>
          </p:cNvPr>
          <p:cNvSpPr txBox="1">
            <a:spLocks noChangeArrowheads="1"/>
          </p:cNvSpPr>
          <p:nvPr/>
        </p:nvSpPr>
        <p:spPr bwMode="auto">
          <a:xfrm>
            <a:off x="234950" y="3770301"/>
            <a:ext cx="4467072" cy="196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Overview of industry trends</a:t>
            </a:r>
          </a:p>
          <a:p>
            <a:pPr lvl="1"/>
            <a:r>
              <a:rPr lang="en-GB" sz="1800" dirty="0"/>
              <a:t>Key audience demographics and behaviour</a:t>
            </a:r>
          </a:p>
          <a:p>
            <a:pPr lvl="1"/>
            <a:r>
              <a:rPr lang="en-GB" sz="1800" dirty="0"/>
              <a:t>Direct and indirect competitors</a:t>
            </a:r>
          </a:p>
          <a:p>
            <a:pPr lvl="1"/>
            <a:r>
              <a:rPr lang="en-GB" sz="1800" dirty="0"/>
              <a:t>Influencing economic or social factors</a:t>
            </a:r>
          </a:p>
          <a:p>
            <a:endParaRPr lang="en-GB" altLang="en-US" sz="1800" kern="0" dirty="0"/>
          </a:p>
        </p:txBody>
      </p:sp>
      <p:pic>
        <p:nvPicPr>
          <p:cNvPr id="80899" name="Picture 3" descr="Marketing environment | Honors Marketing Class Notes | Fiveable | Fiveable">
            <a:extLst>
              <a:ext uri="{FF2B5EF4-FFF2-40B4-BE49-F238E27FC236}">
                <a16:creationId xmlns:a16="http://schemas.microsoft.com/office/drawing/2014/main" id="{C0DCB8F7-6124-0C0F-988F-03D0C8F9F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838" y="3492976"/>
            <a:ext cx="3832994" cy="3102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42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23F7D-5736-1D4D-2E0E-9EACBF283296}"/>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EE691F8-BE7A-A461-13A6-985682FCA585}"/>
              </a:ext>
            </a:extLst>
          </p:cNvPr>
          <p:cNvSpPr>
            <a:spLocks noGrp="1" noChangeArrowheads="1"/>
          </p:cNvSpPr>
          <p:nvPr>
            <p:ph type="title"/>
          </p:nvPr>
        </p:nvSpPr>
        <p:spPr>
          <a:xfrm>
            <a:off x="1258888" y="404813"/>
            <a:ext cx="7650162" cy="939800"/>
          </a:xfrm>
        </p:spPr>
        <p:txBody>
          <a:bodyPr/>
          <a:lstStyle/>
          <a:p>
            <a:r>
              <a:rPr lang="en-GB" sz="3600" b="1" dirty="0">
                <a:solidFill>
                  <a:srgbClr val="0070C0"/>
                </a:solidFill>
              </a:rPr>
              <a:t>Common Problems and Risks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D3941B81-9477-4D1E-35B3-76B9D84C9652}"/>
              </a:ext>
            </a:extLst>
          </p:cNvPr>
          <p:cNvSpPr>
            <a:spLocks noGrp="1" noChangeArrowheads="1"/>
          </p:cNvSpPr>
          <p:nvPr>
            <p:ph idx="1"/>
          </p:nvPr>
        </p:nvSpPr>
        <p:spPr>
          <a:xfrm>
            <a:off x="396081" y="1988840"/>
            <a:ext cx="8351838" cy="355599"/>
          </a:xfrm>
        </p:spPr>
        <p:txBody>
          <a:bodyPr/>
          <a:lstStyle/>
          <a:p>
            <a:r>
              <a:rPr lang="en-GB" sz="1800" dirty="0"/>
              <a:t>Identifying potential obstacles prepares the project for mitigation strategies.</a:t>
            </a:r>
            <a:endParaRPr lang="en-GB" altLang="en-US" sz="1800" dirty="0"/>
          </a:p>
        </p:txBody>
      </p:sp>
      <p:sp>
        <p:nvSpPr>
          <p:cNvPr id="2" name="Content Placeholder 2">
            <a:extLst>
              <a:ext uri="{FF2B5EF4-FFF2-40B4-BE49-F238E27FC236}">
                <a16:creationId xmlns:a16="http://schemas.microsoft.com/office/drawing/2014/main" id="{CE9FE979-E867-5EB1-BBB2-6E7E6F3549E6}"/>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Highlight challenges that may impact development and outcomes.</a:t>
            </a:r>
            <a:endParaRPr lang="en-GB" altLang="en-US" sz="1800" kern="0" dirty="0"/>
          </a:p>
        </p:txBody>
      </p:sp>
      <p:sp>
        <p:nvSpPr>
          <p:cNvPr id="3" name="Content Placeholder 2">
            <a:extLst>
              <a:ext uri="{FF2B5EF4-FFF2-40B4-BE49-F238E27FC236}">
                <a16:creationId xmlns:a16="http://schemas.microsoft.com/office/drawing/2014/main" id="{11022A77-40FD-1572-8A62-24D877715A74}"/>
              </a:ext>
            </a:extLst>
          </p:cNvPr>
          <p:cNvSpPr txBox="1">
            <a:spLocks noChangeArrowheads="1"/>
          </p:cNvSpPr>
          <p:nvPr/>
        </p:nvSpPr>
        <p:spPr bwMode="auto">
          <a:xfrm>
            <a:off x="375088" y="3717628"/>
            <a:ext cx="4467072" cy="196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Technical limitations or compatibility issues</a:t>
            </a:r>
          </a:p>
          <a:p>
            <a:pPr lvl="1"/>
            <a:r>
              <a:rPr lang="en-GB" sz="1800" dirty="0"/>
              <a:t>Budget and resource constraints</a:t>
            </a:r>
          </a:p>
          <a:p>
            <a:pPr lvl="1"/>
            <a:r>
              <a:rPr lang="en-GB" sz="1800" dirty="0"/>
              <a:t>Security and privacy vulnerabilities</a:t>
            </a:r>
          </a:p>
          <a:p>
            <a:pPr lvl="1"/>
            <a:r>
              <a:rPr lang="en-GB" sz="1800" dirty="0"/>
              <a:t>Stakeholder disagreements or shifting requirements</a:t>
            </a:r>
          </a:p>
          <a:p>
            <a:endParaRPr lang="en-GB" altLang="en-US" sz="1800" kern="0" dirty="0"/>
          </a:p>
        </p:txBody>
      </p:sp>
      <p:pic>
        <p:nvPicPr>
          <p:cNvPr id="82946" name="Picture 2" descr="7 Common Project Risks and How to Prevent Them [2025] • Asana">
            <a:extLst>
              <a:ext uri="{FF2B5EF4-FFF2-40B4-BE49-F238E27FC236}">
                <a16:creationId xmlns:a16="http://schemas.microsoft.com/office/drawing/2014/main" id="{4D029956-0B63-8105-77CD-13DA7728A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2160" y="3626822"/>
            <a:ext cx="3665077" cy="2619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228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899A-C274-41C7-69B8-AA92DCB92FBD}"/>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6006AED-F084-16C7-1C80-B8929BD5FD69}"/>
              </a:ext>
            </a:extLst>
          </p:cNvPr>
          <p:cNvSpPr>
            <a:spLocks noGrp="1" noChangeArrowheads="1"/>
          </p:cNvSpPr>
          <p:nvPr>
            <p:ph type="title"/>
          </p:nvPr>
        </p:nvSpPr>
        <p:spPr>
          <a:xfrm>
            <a:off x="1475656" y="404813"/>
            <a:ext cx="7433394" cy="939800"/>
          </a:xfrm>
        </p:spPr>
        <p:txBody>
          <a:bodyPr/>
          <a:lstStyle/>
          <a:p>
            <a:r>
              <a:rPr lang="en-GB" sz="3200" b="1" dirty="0">
                <a:solidFill>
                  <a:srgbClr val="0070C0"/>
                </a:solidFill>
              </a:rPr>
              <a:t>Current Hardware and Software Usage</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69AC8565-D55F-509E-25D0-3C87F493F80C}"/>
              </a:ext>
            </a:extLst>
          </p:cNvPr>
          <p:cNvSpPr>
            <a:spLocks noGrp="1" noChangeArrowheads="1"/>
          </p:cNvSpPr>
          <p:nvPr>
            <p:ph idx="1"/>
          </p:nvPr>
        </p:nvSpPr>
        <p:spPr>
          <a:xfrm>
            <a:off x="396081" y="1988840"/>
            <a:ext cx="8351838" cy="355599"/>
          </a:xfrm>
        </p:spPr>
        <p:txBody>
          <a:bodyPr/>
          <a:lstStyle/>
          <a:p>
            <a:r>
              <a:rPr lang="en-GB" sz="1800" dirty="0"/>
              <a:t>Understanding tools commonly in use offers a benchmark for innovation.</a:t>
            </a:r>
            <a:endParaRPr lang="en-GB" altLang="en-US" sz="1800" dirty="0"/>
          </a:p>
        </p:txBody>
      </p:sp>
      <p:sp>
        <p:nvSpPr>
          <p:cNvPr id="2" name="Content Placeholder 2">
            <a:extLst>
              <a:ext uri="{FF2B5EF4-FFF2-40B4-BE49-F238E27FC236}">
                <a16:creationId xmlns:a16="http://schemas.microsoft.com/office/drawing/2014/main" id="{0B4CFCFC-C947-4E19-7DAF-7FFA285E31C6}"/>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Map out what’s currently being used within the target environment.</a:t>
            </a:r>
            <a:endParaRPr lang="en-GB" altLang="en-US" sz="1800" kern="0" dirty="0"/>
          </a:p>
        </p:txBody>
      </p:sp>
      <p:sp>
        <p:nvSpPr>
          <p:cNvPr id="3" name="Content Placeholder 2">
            <a:extLst>
              <a:ext uri="{FF2B5EF4-FFF2-40B4-BE49-F238E27FC236}">
                <a16:creationId xmlns:a16="http://schemas.microsoft.com/office/drawing/2014/main" id="{6D71DA74-5968-93FC-AF23-BA1095C9C1A6}"/>
              </a:ext>
            </a:extLst>
          </p:cNvPr>
          <p:cNvSpPr txBox="1">
            <a:spLocks noChangeArrowheads="1"/>
          </p:cNvSpPr>
          <p:nvPr/>
        </p:nvSpPr>
        <p:spPr bwMode="auto">
          <a:xfrm>
            <a:off x="251520" y="3717628"/>
            <a:ext cx="4467072" cy="196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Popular hardware setups (e.g., mobile, desktop, sensors)</a:t>
            </a:r>
          </a:p>
          <a:p>
            <a:pPr lvl="1"/>
            <a:r>
              <a:rPr lang="en-GB" sz="1800" dirty="0"/>
              <a:t>Widely adopted software and platforms</a:t>
            </a:r>
          </a:p>
          <a:p>
            <a:pPr lvl="1"/>
            <a:r>
              <a:rPr lang="en-GB" sz="1800" dirty="0"/>
              <a:t>Integration with legacy systems</a:t>
            </a:r>
          </a:p>
          <a:p>
            <a:pPr lvl="1"/>
            <a:r>
              <a:rPr lang="en-GB" sz="1800" dirty="0"/>
              <a:t>User familiarity with existing tools</a:t>
            </a:r>
          </a:p>
          <a:p>
            <a:endParaRPr lang="en-GB" altLang="en-US" sz="1800" kern="0" dirty="0"/>
          </a:p>
        </p:txBody>
      </p:sp>
      <p:pic>
        <p:nvPicPr>
          <p:cNvPr id="84994" name="Picture 2">
            <a:extLst>
              <a:ext uri="{FF2B5EF4-FFF2-40B4-BE49-F238E27FC236}">
                <a16:creationId xmlns:a16="http://schemas.microsoft.com/office/drawing/2014/main" id="{5184C966-FD37-A8CE-11C5-787E82B14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974" y="3717628"/>
            <a:ext cx="4107506" cy="2559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70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3DE8-16F4-B653-B708-A9042895800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F01B8D2-A9F1-D9BA-E7A1-0306EDAD24AD}"/>
              </a:ext>
            </a:extLst>
          </p:cNvPr>
          <p:cNvSpPr>
            <a:spLocks noGrp="1" noChangeArrowheads="1"/>
          </p:cNvSpPr>
          <p:nvPr>
            <p:ph type="title"/>
          </p:nvPr>
        </p:nvSpPr>
        <p:spPr>
          <a:xfrm>
            <a:off x="1475656" y="404813"/>
            <a:ext cx="7433394" cy="939800"/>
          </a:xfrm>
        </p:spPr>
        <p:txBody>
          <a:bodyPr/>
          <a:lstStyle/>
          <a:p>
            <a:r>
              <a:rPr lang="en-GB" sz="3600" b="1" dirty="0">
                <a:solidFill>
                  <a:srgbClr val="0070C0"/>
                </a:solidFill>
              </a:rPr>
              <a:t>Emerging Technologies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ED90F61F-61CB-D1C3-037D-AB0C05C66358}"/>
              </a:ext>
            </a:extLst>
          </p:cNvPr>
          <p:cNvSpPr>
            <a:spLocks noGrp="1" noChangeArrowheads="1"/>
          </p:cNvSpPr>
          <p:nvPr>
            <p:ph idx="1"/>
          </p:nvPr>
        </p:nvSpPr>
        <p:spPr>
          <a:xfrm>
            <a:off x="396081" y="1988840"/>
            <a:ext cx="8351838" cy="355599"/>
          </a:xfrm>
        </p:spPr>
        <p:txBody>
          <a:bodyPr/>
          <a:lstStyle/>
          <a:p>
            <a:r>
              <a:rPr lang="en-GB" sz="1800" dirty="0"/>
              <a:t>Innovations offer new possibilities for solving problems more effectively.</a:t>
            </a:r>
            <a:endParaRPr lang="en-GB" altLang="en-US" sz="1800" dirty="0"/>
          </a:p>
        </p:txBody>
      </p:sp>
      <p:sp>
        <p:nvSpPr>
          <p:cNvPr id="2" name="Content Placeholder 2">
            <a:extLst>
              <a:ext uri="{FF2B5EF4-FFF2-40B4-BE49-F238E27FC236}">
                <a16:creationId xmlns:a16="http://schemas.microsoft.com/office/drawing/2014/main" id="{521DC5C1-62D2-CA44-31AD-DEA772CC1386}"/>
              </a:ext>
            </a:extLst>
          </p:cNvPr>
          <p:cNvSpPr txBox="1">
            <a:spLocks noChangeArrowheads="1"/>
          </p:cNvSpPr>
          <p:nvPr/>
        </p:nvSpPr>
        <p:spPr bwMode="auto">
          <a:xfrm>
            <a:off x="396081" y="2706103"/>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Explore cutting-edge tools that could enhance the project.</a:t>
            </a:r>
            <a:endParaRPr lang="en-GB" altLang="en-US" sz="1800" kern="0" dirty="0"/>
          </a:p>
        </p:txBody>
      </p:sp>
      <p:sp>
        <p:nvSpPr>
          <p:cNvPr id="3" name="Content Placeholder 2">
            <a:extLst>
              <a:ext uri="{FF2B5EF4-FFF2-40B4-BE49-F238E27FC236}">
                <a16:creationId xmlns:a16="http://schemas.microsoft.com/office/drawing/2014/main" id="{5965ABFE-D93A-3695-15E2-D4DCB8E66D4A}"/>
              </a:ext>
            </a:extLst>
          </p:cNvPr>
          <p:cNvSpPr txBox="1">
            <a:spLocks noChangeArrowheads="1"/>
          </p:cNvSpPr>
          <p:nvPr/>
        </p:nvSpPr>
        <p:spPr bwMode="auto">
          <a:xfrm>
            <a:off x="362080" y="3532084"/>
            <a:ext cx="4467072" cy="196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AI/ML, AR/VR, and automation trends</a:t>
            </a:r>
          </a:p>
          <a:p>
            <a:pPr lvl="1"/>
            <a:r>
              <a:rPr lang="en-GB" sz="1800" dirty="0"/>
              <a:t>Low-code/no-code platforms</a:t>
            </a:r>
          </a:p>
          <a:p>
            <a:pPr lvl="1"/>
            <a:r>
              <a:rPr lang="en-GB" sz="1800" dirty="0"/>
              <a:t>Edge computing and IoT</a:t>
            </a:r>
          </a:p>
          <a:p>
            <a:pPr lvl="1"/>
            <a:r>
              <a:rPr lang="en-GB" sz="1800" dirty="0"/>
              <a:t>Relevance to current and future user needs</a:t>
            </a:r>
          </a:p>
        </p:txBody>
      </p:sp>
      <p:pic>
        <p:nvPicPr>
          <p:cNvPr id="87043" name="Picture 3" descr="Virtual Reality Shopping Stock Photos ...">
            <a:extLst>
              <a:ext uri="{FF2B5EF4-FFF2-40B4-BE49-F238E27FC236}">
                <a16:creationId xmlns:a16="http://schemas.microsoft.com/office/drawing/2014/main" id="{95018CDD-C937-9003-0B69-E23480CFA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5503623"/>
            <a:ext cx="1862684" cy="1043103"/>
          </a:xfrm>
          <a:prstGeom prst="rect">
            <a:avLst/>
          </a:prstGeom>
          <a:noFill/>
          <a:extLst>
            <a:ext uri="{909E8E84-426E-40DD-AFC4-6F175D3DCCD1}">
              <a14:hiddenFill xmlns:a14="http://schemas.microsoft.com/office/drawing/2010/main">
                <a:solidFill>
                  <a:srgbClr val="FFFFFF"/>
                </a:solidFill>
              </a14:hiddenFill>
            </a:ext>
          </a:extLst>
        </p:spPr>
      </p:pic>
      <p:pic>
        <p:nvPicPr>
          <p:cNvPr id="87045" name="Picture 5" descr="Visualizing the future: holograms will ...">
            <a:extLst>
              <a:ext uri="{FF2B5EF4-FFF2-40B4-BE49-F238E27FC236}">
                <a16:creationId xmlns:a16="http://schemas.microsoft.com/office/drawing/2014/main" id="{B9F7ED47-02B3-538B-706C-17EF072891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9954" y="3279738"/>
            <a:ext cx="1671985" cy="11126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4A37B2F-AF40-58DC-A7C2-AC0A21302351}"/>
              </a:ext>
            </a:extLst>
          </p:cNvPr>
          <p:cNvPicPr>
            <a:picLocks noChangeAspect="1"/>
          </p:cNvPicPr>
          <p:nvPr/>
        </p:nvPicPr>
        <p:blipFill>
          <a:blip r:embed="rId5"/>
          <a:stretch>
            <a:fillRect/>
          </a:stretch>
        </p:blipFill>
        <p:spPr>
          <a:xfrm>
            <a:off x="5672011" y="4779971"/>
            <a:ext cx="3075908" cy="1447305"/>
          </a:xfrm>
          <a:prstGeom prst="rect">
            <a:avLst/>
          </a:prstGeom>
        </p:spPr>
      </p:pic>
    </p:spTree>
    <p:extLst>
      <p:ext uri="{BB962C8B-B14F-4D97-AF65-F5344CB8AC3E}">
        <p14:creationId xmlns:p14="http://schemas.microsoft.com/office/powerpoint/2010/main" val="3494320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C100C-4CBB-3AFE-B3A7-2FF0CE9C3EA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D1546C02-58D9-4212-5BF1-88EFD34A45ED}"/>
              </a:ext>
            </a:extLst>
          </p:cNvPr>
          <p:cNvSpPr>
            <a:spLocks noGrp="1" noChangeArrowheads="1"/>
          </p:cNvSpPr>
          <p:nvPr>
            <p:ph type="title"/>
          </p:nvPr>
        </p:nvSpPr>
        <p:spPr>
          <a:xfrm>
            <a:off x="1475656" y="404813"/>
            <a:ext cx="7433394" cy="939800"/>
          </a:xfrm>
        </p:spPr>
        <p:txBody>
          <a:bodyPr/>
          <a:lstStyle/>
          <a:p>
            <a:r>
              <a:rPr lang="en-GB" sz="3200" b="1" dirty="0">
                <a:solidFill>
                  <a:srgbClr val="0070C0"/>
                </a:solidFill>
              </a:rPr>
              <a:t>Existing and Potential Solutions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AC3C457B-400D-5D15-5932-860C8879D4D9}"/>
              </a:ext>
            </a:extLst>
          </p:cNvPr>
          <p:cNvSpPr>
            <a:spLocks noGrp="1" noChangeArrowheads="1"/>
          </p:cNvSpPr>
          <p:nvPr>
            <p:ph idx="1"/>
          </p:nvPr>
        </p:nvSpPr>
        <p:spPr>
          <a:xfrm>
            <a:off x="396081" y="1988840"/>
            <a:ext cx="8351838" cy="355599"/>
          </a:xfrm>
        </p:spPr>
        <p:txBody>
          <a:bodyPr/>
          <a:lstStyle/>
          <a:p>
            <a:r>
              <a:rPr lang="en-GB" sz="1800" dirty="0"/>
              <a:t>Evaluating current solutions reveals opportunities for improvement or differentiation.</a:t>
            </a:r>
            <a:endParaRPr lang="en-GB" altLang="en-US" sz="1800" dirty="0"/>
          </a:p>
        </p:txBody>
      </p:sp>
      <p:sp>
        <p:nvSpPr>
          <p:cNvPr id="2" name="Content Placeholder 2">
            <a:extLst>
              <a:ext uri="{FF2B5EF4-FFF2-40B4-BE49-F238E27FC236}">
                <a16:creationId xmlns:a16="http://schemas.microsoft.com/office/drawing/2014/main" id="{BCAC6DE2-C11F-DEF6-4461-AD294046CDCC}"/>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Review what's already out there and how it meets or fails user needs.</a:t>
            </a:r>
            <a:endParaRPr lang="en-GB" altLang="en-US" sz="1800" kern="0" dirty="0"/>
          </a:p>
        </p:txBody>
      </p:sp>
      <p:sp>
        <p:nvSpPr>
          <p:cNvPr id="3" name="Content Placeholder 2">
            <a:extLst>
              <a:ext uri="{FF2B5EF4-FFF2-40B4-BE49-F238E27FC236}">
                <a16:creationId xmlns:a16="http://schemas.microsoft.com/office/drawing/2014/main" id="{EFE3362E-25FD-02C6-AA72-F18084FCB018}"/>
              </a:ext>
            </a:extLst>
          </p:cNvPr>
          <p:cNvSpPr txBox="1">
            <a:spLocks noChangeArrowheads="1"/>
          </p:cNvSpPr>
          <p:nvPr/>
        </p:nvSpPr>
        <p:spPr bwMode="auto">
          <a:xfrm>
            <a:off x="251520" y="3717628"/>
            <a:ext cx="4467072" cy="196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Case studies from similar projects</a:t>
            </a:r>
          </a:p>
          <a:p>
            <a:pPr lvl="1"/>
            <a:r>
              <a:rPr lang="en-GB" sz="1800" dirty="0"/>
              <a:t>Competitor feature analysis</a:t>
            </a:r>
          </a:p>
          <a:p>
            <a:pPr lvl="1"/>
            <a:r>
              <a:rPr lang="en-GB" sz="1800" dirty="0"/>
              <a:t>What users like/dislike about existing solutions</a:t>
            </a:r>
          </a:p>
          <a:p>
            <a:pPr lvl="1"/>
            <a:r>
              <a:rPr lang="en-GB" sz="1800" dirty="0"/>
              <a:t>Gaps and opportunities for innovation</a:t>
            </a:r>
          </a:p>
        </p:txBody>
      </p:sp>
      <p:pic>
        <p:nvPicPr>
          <p:cNvPr id="89090" name="Picture 2" descr="Solution Comparison - Slide Geeks">
            <a:extLst>
              <a:ext uri="{FF2B5EF4-FFF2-40B4-BE49-F238E27FC236}">
                <a16:creationId xmlns:a16="http://schemas.microsoft.com/office/drawing/2014/main" id="{AC3FA606-DD20-AF74-0550-C09E12B82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8575" y="3429000"/>
            <a:ext cx="2778481" cy="1562896"/>
          </a:xfrm>
          <a:prstGeom prst="rect">
            <a:avLst/>
          </a:prstGeom>
          <a:noFill/>
          <a:extLst>
            <a:ext uri="{909E8E84-426E-40DD-AFC4-6F175D3DCCD1}">
              <a14:hiddenFill xmlns:a14="http://schemas.microsoft.com/office/drawing/2010/main">
                <a:solidFill>
                  <a:srgbClr val="FFFFFF"/>
                </a:solidFill>
              </a14:hiddenFill>
            </a:ext>
          </a:extLst>
        </p:spPr>
      </p:pic>
      <p:pic>
        <p:nvPicPr>
          <p:cNvPr id="89092" name="Picture 4" descr="Solution Design Matrix [Free download]">
            <a:extLst>
              <a:ext uri="{FF2B5EF4-FFF2-40B4-BE49-F238E27FC236}">
                <a16:creationId xmlns:a16="http://schemas.microsoft.com/office/drawing/2014/main" id="{0BF715B7-3B1F-193C-83E4-3D077445D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1" y="5085184"/>
            <a:ext cx="2987824" cy="1545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263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A857-240F-1F70-6D47-BAA85883A17B}"/>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C39EAEA-F783-0635-6ADC-46F09260456B}"/>
              </a:ext>
            </a:extLst>
          </p:cNvPr>
          <p:cNvSpPr>
            <a:spLocks noGrp="1" noChangeArrowheads="1"/>
          </p:cNvSpPr>
          <p:nvPr>
            <p:ph type="title"/>
          </p:nvPr>
        </p:nvSpPr>
        <p:spPr>
          <a:xfrm>
            <a:off x="1475656" y="404813"/>
            <a:ext cx="7433394" cy="939800"/>
          </a:xfrm>
        </p:spPr>
        <p:txBody>
          <a:bodyPr/>
          <a:lstStyle/>
          <a:p>
            <a:r>
              <a:rPr lang="en-GB" sz="3600" b="1" dirty="0">
                <a:solidFill>
                  <a:srgbClr val="0070C0"/>
                </a:solidFill>
              </a:rPr>
              <a:t>Guidelines and Regulations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E6BFE263-0855-7F80-8BBD-30F73DCF075E}"/>
              </a:ext>
            </a:extLst>
          </p:cNvPr>
          <p:cNvSpPr>
            <a:spLocks noGrp="1" noChangeArrowheads="1"/>
          </p:cNvSpPr>
          <p:nvPr>
            <p:ph idx="1"/>
          </p:nvPr>
        </p:nvSpPr>
        <p:spPr>
          <a:xfrm>
            <a:off x="396081" y="1988840"/>
            <a:ext cx="8351838" cy="355599"/>
          </a:xfrm>
        </p:spPr>
        <p:txBody>
          <a:bodyPr/>
          <a:lstStyle/>
          <a:p>
            <a:r>
              <a:rPr lang="en-GB" sz="1800" dirty="0"/>
              <a:t>Projects must comply with standards and ethical considerations.</a:t>
            </a:r>
            <a:endParaRPr lang="en-GB" altLang="en-US" sz="1800" dirty="0"/>
          </a:p>
        </p:txBody>
      </p:sp>
      <p:sp>
        <p:nvSpPr>
          <p:cNvPr id="2" name="Content Placeholder 2">
            <a:extLst>
              <a:ext uri="{FF2B5EF4-FFF2-40B4-BE49-F238E27FC236}">
                <a16:creationId xmlns:a16="http://schemas.microsoft.com/office/drawing/2014/main" id="{55413DC5-8275-19EB-738C-69EC9ED99C56}"/>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Ensure legal and regulatory alignment to avoid risk.</a:t>
            </a:r>
            <a:endParaRPr lang="en-GB" altLang="en-US" sz="1800" kern="0" dirty="0"/>
          </a:p>
        </p:txBody>
      </p:sp>
      <p:sp>
        <p:nvSpPr>
          <p:cNvPr id="3" name="Content Placeholder 2">
            <a:extLst>
              <a:ext uri="{FF2B5EF4-FFF2-40B4-BE49-F238E27FC236}">
                <a16:creationId xmlns:a16="http://schemas.microsoft.com/office/drawing/2014/main" id="{B4E94FBA-B72B-BC75-7392-0033A891C3A8}"/>
              </a:ext>
            </a:extLst>
          </p:cNvPr>
          <p:cNvSpPr txBox="1">
            <a:spLocks noChangeArrowheads="1"/>
          </p:cNvSpPr>
          <p:nvPr/>
        </p:nvSpPr>
        <p:spPr bwMode="auto">
          <a:xfrm>
            <a:off x="251520" y="3547245"/>
            <a:ext cx="5184576"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Data protection (e.g., GDPR, HIPAA)</a:t>
            </a:r>
          </a:p>
          <a:p>
            <a:pPr lvl="1"/>
            <a:r>
              <a:rPr lang="en-GB" sz="1800" dirty="0"/>
              <a:t>Accessibility standards (e.g., WCAG 2.1)</a:t>
            </a:r>
          </a:p>
          <a:p>
            <a:pPr lvl="1"/>
            <a:r>
              <a:rPr lang="en-GB" sz="1800" dirty="0"/>
              <a:t>Industry-specific requirements (e.g., safety, financial reporting)</a:t>
            </a:r>
          </a:p>
          <a:p>
            <a:pPr lvl="1"/>
            <a:r>
              <a:rPr lang="en-GB" sz="1800" dirty="0"/>
              <a:t>Ethical design considerations</a:t>
            </a:r>
          </a:p>
        </p:txBody>
      </p:sp>
      <p:pic>
        <p:nvPicPr>
          <p:cNvPr id="91138" name="Picture 2" descr="Compliant Stamp Royalty-Free Images ...">
            <a:extLst>
              <a:ext uri="{FF2B5EF4-FFF2-40B4-BE49-F238E27FC236}">
                <a16:creationId xmlns:a16="http://schemas.microsoft.com/office/drawing/2014/main" id="{7F29B616-EBF6-074D-3ACC-4406CF9CA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224" y="3394151"/>
            <a:ext cx="2015679" cy="1341343"/>
          </a:xfrm>
          <a:prstGeom prst="rect">
            <a:avLst/>
          </a:prstGeom>
          <a:noFill/>
          <a:extLst>
            <a:ext uri="{909E8E84-426E-40DD-AFC4-6F175D3DCCD1}">
              <a14:hiddenFill xmlns:a14="http://schemas.microsoft.com/office/drawing/2010/main">
                <a:solidFill>
                  <a:srgbClr val="FFFFFF"/>
                </a:solidFill>
              </a14:hiddenFill>
            </a:ext>
          </a:extLst>
        </p:spPr>
      </p:pic>
      <p:pic>
        <p:nvPicPr>
          <p:cNvPr id="91140" name="Picture 4" descr="Compliance with Regulations Checklist | Your Checklists">
            <a:extLst>
              <a:ext uri="{FF2B5EF4-FFF2-40B4-BE49-F238E27FC236}">
                <a16:creationId xmlns:a16="http://schemas.microsoft.com/office/drawing/2014/main" id="{20156621-FBA5-0C27-DA47-49B12A9EE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528" y="5078846"/>
            <a:ext cx="2987824" cy="1568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667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B10C-3EAB-0C86-5C20-04EB443E6D61}"/>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2C2548D-23B5-E0D1-CFBB-376A868AE40D}"/>
              </a:ext>
            </a:extLst>
          </p:cNvPr>
          <p:cNvSpPr>
            <a:spLocks noGrp="1" noChangeArrowheads="1"/>
          </p:cNvSpPr>
          <p:nvPr>
            <p:ph type="title"/>
          </p:nvPr>
        </p:nvSpPr>
        <p:spPr>
          <a:xfrm>
            <a:off x="1475656" y="404813"/>
            <a:ext cx="7433394" cy="939800"/>
          </a:xfrm>
        </p:spPr>
        <p:txBody>
          <a:bodyPr/>
          <a:lstStyle/>
          <a:p>
            <a:r>
              <a:rPr lang="en-GB" sz="3600" b="1" dirty="0">
                <a:solidFill>
                  <a:srgbClr val="0070C0"/>
                </a:solidFill>
              </a:rPr>
              <a:t>Skills &amp; Knowledge Gaps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1045BEA3-06EC-B5D6-2333-8F7D1AB02706}"/>
              </a:ext>
            </a:extLst>
          </p:cNvPr>
          <p:cNvSpPr>
            <a:spLocks noGrp="1" noChangeArrowheads="1"/>
          </p:cNvSpPr>
          <p:nvPr>
            <p:ph idx="1"/>
          </p:nvPr>
        </p:nvSpPr>
        <p:spPr>
          <a:xfrm>
            <a:off x="396081" y="1988840"/>
            <a:ext cx="8351838" cy="355599"/>
          </a:xfrm>
        </p:spPr>
        <p:txBody>
          <a:bodyPr/>
          <a:lstStyle/>
          <a:p>
            <a:r>
              <a:rPr lang="en-GB" sz="1800" dirty="0"/>
              <a:t>Self-assessment ensures you’re ready to meet project demands.</a:t>
            </a:r>
            <a:endParaRPr lang="en-GB" altLang="en-US" sz="1800" dirty="0"/>
          </a:p>
        </p:txBody>
      </p:sp>
      <p:sp>
        <p:nvSpPr>
          <p:cNvPr id="2" name="Content Placeholder 2">
            <a:extLst>
              <a:ext uri="{FF2B5EF4-FFF2-40B4-BE49-F238E27FC236}">
                <a16:creationId xmlns:a16="http://schemas.microsoft.com/office/drawing/2014/main" id="{71E1B33B-1215-BEE6-064B-3D3BB9217FD8}"/>
              </a:ext>
            </a:extLst>
          </p:cNvPr>
          <p:cNvSpPr txBox="1">
            <a:spLocks noChangeArrowheads="1"/>
          </p:cNvSpPr>
          <p:nvPr/>
        </p:nvSpPr>
        <p:spPr bwMode="auto">
          <a:xfrm>
            <a:off x="396081" y="2853234"/>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Identify areas for professional growth and development.</a:t>
            </a:r>
            <a:endParaRPr lang="en-GB" altLang="en-US" sz="1800" kern="0" dirty="0"/>
          </a:p>
        </p:txBody>
      </p:sp>
      <p:sp>
        <p:nvSpPr>
          <p:cNvPr id="3" name="Content Placeholder 2">
            <a:extLst>
              <a:ext uri="{FF2B5EF4-FFF2-40B4-BE49-F238E27FC236}">
                <a16:creationId xmlns:a16="http://schemas.microsoft.com/office/drawing/2014/main" id="{D3994562-0159-2B52-6B3E-F3B57BD344E3}"/>
              </a:ext>
            </a:extLst>
          </p:cNvPr>
          <p:cNvSpPr txBox="1">
            <a:spLocks noChangeArrowheads="1"/>
          </p:cNvSpPr>
          <p:nvPr/>
        </p:nvSpPr>
        <p:spPr bwMode="auto">
          <a:xfrm>
            <a:off x="251520" y="3547245"/>
            <a:ext cx="5184576"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Evaluate current technical and soft skills</a:t>
            </a:r>
          </a:p>
          <a:p>
            <a:pPr lvl="1"/>
            <a:r>
              <a:rPr lang="en-GB" sz="1800" dirty="0"/>
              <a:t>Identify gaps relevant to project needs</a:t>
            </a:r>
          </a:p>
          <a:p>
            <a:pPr lvl="1"/>
            <a:r>
              <a:rPr lang="en-GB" sz="1800" dirty="0"/>
              <a:t>Get feedback from mentors or peers</a:t>
            </a:r>
          </a:p>
          <a:p>
            <a:pPr lvl="1"/>
            <a:r>
              <a:rPr lang="en-GB" sz="1800" dirty="0"/>
              <a:t>Prioritize areas needing immediate improvement</a:t>
            </a:r>
          </a:p>
        </p:txBody>
      </p:sp>
      <p:pic>
        <p:nvPicPr>
          <p:cNvPr id="93186" name="Picture 2" descr="Skill Gap Calculator: An Amazing AI Tool for 2025 and Beyond">
            <a:extLst>
              <a:ext uri="{FF2B5EF4-FFF2-40B4-BE49-F238E27FC236}">
                <a16:creationId xmlns:a16="http://schemas.microsoft.com/office/drawing/2014/main" id="{34A0D73E-99BE-CCF2-A243-3EE233E41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3717628"/>
            <a:ext cx="2735199" cy="2612728"/>
          </a:xfrm>
          <a:prstGeom prst="rect">
            <a:avLst/>
          </a:prstGeom>
          <a:noFill/>
          <a:extLst>
            <a:ext uri="{909E8E84-426E-40DD-AFC4-6F175D3DCCD1}">
              <a14:hiddenFill xmlns:a14="http://schemas.microsoft.com/office/drawing/2010/main">
                <a:solidFill>
                  <a:srgbClr val="FFFFFF"/>
                </a:solidFill>
              </a14:hiddenFill>
            </a:ext>
          </a:extLst>
        </p:spPr>
      </p:pic>
      <p:pic>
        <p:nvPicPr>
          <p:cNvPr id="93188" name="Picture 4" descr="Looking Into Mirror: Over 26,962 Royalty-Free Licensable Stock  Illustrations &amp; Drawings | Shutterstock">
            <a:extLst>
              <a:ext uri="{FF2B5EF4-FFF2-40B4-BE49-F238E27FC236}">
                <a16:creationId xmlns:a16="http://schemas.microsoft.com/office/drawing/2014/main" id="{08329C4C-51CE-4CF2-C67B-789301F9E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9536" y="5067969"/>
            <a:ext cx="1852705" cy="1425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224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5AD4B-124B-6049-80A0-1D8D0CC56F77}"/>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27D94A10-EC87-A9D0-6917-A3D559C562BE}"/>
              </a:ext>
            </a:extLst>
          </p:cNvPr>
          <p:cNvSpPr>
            <a:spLocks noGrp="1" noChangeArrowheads="1"/>
          </p:cNvSpPr>
          <p:nvPr>
            <p:ph type="title"/>
          </p:nvPr>
        </p:nvSpPr>
        <p:spPr>
          <a:xfrm>
            <a:off x="1475656" y="404813"/>
            <a:ext cx="7433394" cy="939800"/>
          </a:xfrm>
        </p:spPr>
        <p:txBody>
          <a:bodyPr/>
          <a:lstStyle/>
          <a:p>
            <a:r>
              <a:rPr lang="en-GB" sz="3600" b="1" dirty="0">
                <a:solidFill>
                  <a:srgbClr val="0070C0"/>
                </a:solidFill>
              </a:rPr>
              <a:t>Learning &amp; Development Plan</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871C5799-9D88-3ED5-A52E-026988600F7C}"/>
              </a:ext>
            </a:extLst>
          </p:cNvPr>
          <p:cNvSpPr>
            <a:spLocks noGrp="1" noChangeArrowheads="1"/>
          </p:cNvSpPr>
          <p:nvPr>
            <p:ph idx="1"/>
          </p:nvPr>
        </p:nvSpPr>
        <p:spPr>
          <a:xfrm>
            <a:off x="396081" y="1988840"/>
            <a:ext cx="8351838" cy="355599"/>
          </a:xfrm>
        </p:spPr>
        <p:txBody>
          <a:bodyPr/>
          <a:lstStyle/>
          <a:p>
            <a:r>
              <a:rPr lang="en-GB" sz="1800" dirty="0"/>
              <a:t>A clear plan ensures progress toward overcoming knowledge gaps.</a:t>
            </a:r>
            <a:endParaRPr lang="en-GB" altLang="en-US" sz="1800" dirty="0"/>
          </a:p>
        </p:txBody>
      </p:sp>
      <p:sp>
        <p:nvSpPr>
          <p:cNvPr id="2" name="Content Placeholder 2">
            <a:extLst>
              <a:ext uri="{FF2B5EF4-FFF2-40B4-BE49-F238E27FC236}">
                <a16:creationId xmlns:a16="http://schemas.microsoft.com/office/drawing/2014/main" id="{60DC46DE-8127-8723-E113-BB62DA04D98C}"/>
              </a:ext>
            </a:extLst>
          </p:cNvPr>
          <p:cNvSpPr txBox="1">
            <a:spLocks noChangeArrowheads="1"/>
          </p:cNvSpPr>
          <p:nvPr/>
        </p:nvSpPr>
        <p:spPr bwMode="auto">
          <a:xfrm>
            <a:off x="396081" y="2853234"/>
            <a:ext cx="6408167"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Lay out how to acquire missing skills for successful project delivery.</a:t>
            </a:r>
            <a:endParaRPr lang="en-GB" altLang="en-US" sz="1800" kern="0" dirty="0"/>
          </a:p>
        </p:txBody>
      </p:sp>
      <p:sp>
        <p:nvSpPr>
          <p:cNvPr id="3" name="Content Placeholder 2">
            <a:extLst>
              <a:ext uri="{FF2B5EF4-FFF2-40B4-BE49-F238E27FC236}">
                <a16:creationId xmlns:a16="http://schemas.microsoft.com/office/drawing/2014/main" id="{3E920C14-8A7E-D1BC-8EDB-87CF30BB3353}"/>
              </a:ext>
            </a:extLst>
          </p:cNvPr>
          <p:cNvSpPr txBox="1">
            <a:spLocks noChangeArrowheads="1"/>
          </p:cNvSpPr>
          <p:nvPr/>
        </p:nvSpPr>
        <p:spPr bwMode="auto">
          <a:xfrm>
            <a:off x="363774" y="4108534"/>
            <a:ext cx="5184576" cy="155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Online courses, tutorials, or certifications</a:t>
            </a:r>
          </a:p>
          <a:p>
            <a:pPr lvl="1"/>
            <a:r>
              <a:rPr lang="en-GB" sz="1800" dirty="0"/>
              <a:t>Team shadowing or mentorships</a:t>
            </a:r>
          </a:p>
          <a:p>
            <a:pPr lvl="1"/>
            <a:r>
              <a:rPr lang="en-GB" sz="1800" dirty="0"/>
              <a:t>Set learning goals with deadlines</a:t>
            </a:r>
          </a:p>
          <a:p>
            <a:pPr lvl="1"/>
            <a:r>
              <a:rPr lang="en-GB" sz="1800" dirty="0"/>
              <a:t>Regular progress tracking and reflection</a:t>
            </a:r>
          </a:p>
        </p:txBody>
      </p:sp>
      <p:pic>
        <p:nvPicPr>
          <p:cNvPr id="95236" name="Picture 4">
            <a:extLst>
              <a:ext uri="{FF2B5EF4-FFF2-40B4-BE49-F238E27FC236}">
                <a16:creationId xmlns:a16="http://schemas.microsoft.com/office/drawing/2014/main" id="{3FC23715-55F7-0B5C-2BAF-0D9CC2F5D2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280" y="2602317"/>
            <a:ext cx="1386559" cy="1963912"/>
          </a:xfrm>
          <a:prstGeom prst="rect">
            <a:avLst/>
          </a:prstGeom>
          <a:noFill/>
          <a:extLst>
            <a:ext uri="{909E8E84-426E-40DD-AFC4-6F175D3DCCD1}">
              <a14:hiddenFill xmlns:a14="http://schemas.microsoft.com/office/drawing/2010/main">
                <a:solidFill>
                  <a:srgbClr val="FFFFFF"/>
                </a:solidFill>
              </a14:hiddenFill>
            </a:ext>
          </a:extLst>
        </p:spPr>
      </p:pic>
      <p:pic>
        <p:nvPicPr>
          <p:cNvPr id="4" name="Online Media 3" title="8 Rules For Learning to Code in 2025...and should you?">
            <a:hlinkClick r:id="" action="ppaction://media"/>
            <a:extLst>
              <a:ext uri="{FF2B5EF4-FFF2-40B4-BE49-F238E27FC236}">
                <a16:creationId xmlns:a16="http://schemas.microsoft.com/office/drawing/2014/main" id="{DD75CA0C-63A7-EAD2-47A3-B5D69DF300E1}"/>
              </a:ext>
            </a:extLst>
          </p:cNvPr>
          <p:cNvPicPr>
            <a:picLocks noRot="1" noChangeAspect="1"/>
          </p:cNvPicPr>
          <p:nvPr>
            <a:videoFile r:link="rId1"/>
          </p:nvPr>
        </p:nvPicPr>
        <p:blipFill>
          <a:blip r:embed="rId5"/>
          <a:stretch>
            <a:fillRect/>
          </a:stretch>
        </p:blipFill>
        <p:spPr>
          <a:xfrm>
            <a:off x="5940152" y="4824107"/>
            <a:ext cx="2968898" cy="1677222"/>
          </a:xfrm>
          <a:prstGeom prst="rect">
            <a:avLst/>
          </a:prstGeom>
        </p:spPr>
      </p:pic>
    </p:spTree>
    <p:extLst>
      <p:ext uri="{BB962C8B-B14F-4D97-AF65-F5344CB8AC3E}">
        <p14:creationId xmlns:p14="http://schemas.microsoft.com/office/powerpoint/2010/main" val="210292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D0FA66AC-051B-7F17-33D9-D60EC1D5FACE}"/>
              </a:ext>
            </a:extLst>
          </p:cNvPr>
          <p:cNvSpPr>
            <a:spLocks noGrp="1" noChangeArrowheads="1"/>
          </p:cNvSpPr>
          <p:nvPr>
            <p:ph type="title"/>
          </p:nvPr>
        </p:nvSpPr>
        <p:spPr>
          <a:xfrm>
            <a:off x="1258888" y="404813"/>
            <a:ext cx="7561584" cy="939800"/>
          </a:xfrm>
        </p:spPr>
        <p:txBody>
          <a:bodyPr/>
          <a:lstStyle/>
          <a:p>
            <a:r>
              <a:rPr lang="en-GB" altLang="en-US" sz="3200" b="1" dirty="0">
                <a:solidFill>
                  <a:srgbClr val="FF0000"/>
                </a:solidFill>
              </a:rPr>
              <a:t>Activity – “</a:t>
            </a:r>
            <a:r>
              <a:rPr lang="en-GB" sz="3200" b="1" dirty="0">
                <a:solidFill>
                  <a:srgbClr val="FF0000"/>
                </a:solidFill>
              </a:rPr>
              <a:t>Pitch &amp; Plan" Challenge</a:t>
            </a:r>
            <a:endParaRPr lang="en-GB" altLang="en-US" sz="3200" b="1" dirty="0">
              <a:solidFill>
                <a:srgbClr val="FF0000"/>
              </a:solidFill>
            </a:endParaRPr>
          </a:p>
        </p:txBody>
      </p:sp>
      <p:sp>
        <p:nvSpPr>
          <p:cNvPr id="31747" name="Content Placeholder 2">
            <a:extLst>
              <a:ext uri="{FF2B5EF4-FFF2-40B4-BE49-F238E27FC236}">
                <a16:creationId xmlns:a16="http://schemas.microsoft.com/office/drawing/2014/main" id="{BA410A33-A87D-DC02-2A40-93240526820A}"/>
              </a:ext>
            </a:extLst>
          </p:cNvPr>
          <p:cNvSpPr>
            <a:spLocks noGrp="1" noChangeArrowheads="1"/>
          </p:cNvSpPr>
          <p:nvPr>
            <p:ph idx="1"/>
          </p:nvPr>
        </p:nvSpPr>
        <p:spPr>
          <a:xfrm>
            <a:off x="395536" y="1777062"/>
            <a:ext cx="8424936" cy="615950"/>
          </a:xfrm>
        </p:spPr>
        <p:txBody>
          <a:bodyPr/>
          <a:lstStyle/>
          <a:p>
            <a:r>
              <a:rPr lang="en-GB" sz="1800" dirty="0"/>
              <a:t>Apply your research skills in a fast-paced team challenge to solve a real-world client brief. </a:t>
            </a:r>
            <a:r>
              <a:rPr lang="en-GB" sz="1800" b="1" dirty="0"/>
              <a:t>(Project_Brief_Handout_BalancePlus.docx)</a:t>
            </a:r>
            <a:endParaRPr lang="en-GB" altLang="en-US" sz="1800" b="1" dirty="0"/>
          </a:p>
        </p:txBody>
      </p:sp>
      <p:sp>
        <p:nvSpPr>
          <p:cNvPr id="2" name="Content Placeholder 2">
            <a:extLst>
              <a:ext uri="{FF2B5EF4-FFF2-40B4-BE49-F238E27FC236}">
                <a16:creationId xmlns:a16="http://schemas.microsoft.com/office/drawing/2014/main" id="{0E49CBEE-1716-3066-1427-D4126B6578EB}"/>
              </a:ext>
            </a:extLst>
          </p:cNvPr>
          <p:cNvSpPr txBox="1">
            <a:spLocks noChangeArrowheads="1"/>
          </p:cNvSpPr>
          <p:nvPr/>
        </p:nvSpPr>
        <p:spPr bwMode="auto">
          <a:xfrm>
            <a:off x="395536" y="3344984"/>
            <a:ext cx="4680520"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What You’ll Do:</a:t>
            </a:r>
          </a:p>
          <a:p>
            <a:pPr lvl="1"/>
            <a:r>
              <a:rPr lang="en-GB" sz="1800" dirty="0"/>
              <a:t>Work in teams of </a:t>
            </a:r>
            <a:r>
              <a:rPr lang="en-GB" sz="1800" b="1" dirty="0"/>
              <a:t>3 roles</a:t>
            </a:r>
            <a:r>
              <a:rPr lang="en-GB" sz="1800" dirty="0"/>
              <a:t>:</a:t>
            </a:r>
            <a:br>
              <a:rPr lang="en-GB" sz="1800" dirty="0"/>
            </a:br>
            <a:r>
              <a:rPr lang="en-GB" sz="1800" dirty="0"/>
              <a:t>🔹 Research Lead</a:t>
            </a:r>
            <a:br>
              <a:rPr lang="en-GB" sz="1800" dirty="0"/>
            </a:br>
            <a:r>
              <a:rPr lang="en-GB" sz="1800" dirty="0"/>
              <a:t>🔹 Risk &amp; Compliance Analyst</a:t>
            </a:r>
            <a:br>
              <a:rPr lang="en-GB" sz="1800" dirty="0"/>
            </a:br>
            <a:r>
              <a:rPr lang="en-GB" sz="1800" dirty="0"/>
              <a:t>🔹 Skills Strategist</a:t>
            </a:r>
          </a:p>
        </p:txBody>
      </p:sp>
      <p:sp>
        <p:nvSpPr>
          <p:cNvPr id="3" name="Content Placeholder 2">
            <a:extLst>
              <a:ext uri="{FF2B5EF4-FFF2-40B4-BE49-F238E27FC236}">
                <a16:creationId xmlns:a16="http://schemas.microsoft.com/office/drawing/2014/main" id="{DD5404BE-EF60-0AB8-C82E-A4AC50D9A007}"/>
              </a:ext>
            </a:extLst>
          </p:cNvPr>
          <p:cNvSpPr txBox="1">
            <a:spLocks noChangeArrowheads="1"/>
          </p:cNvSpPr>
          <p:nvPr/>
        </p:nvSpPr>
        <p:spPr bwMode="auto">
          <a:xfrm>
            <a:off x="396081" y="2587268"/>
            <a:ext cx="83518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consolidate knowledge through collaboration, critical thinking, and creative problem-solving.</a:t>
            </a:r>
            <a:endParaRPr lang="en-GB" altLang="en-US" sz="1800" kern="0" dirty="0"/>
          </a:p>
        </p:txBody>
      </p:sp>
      <p:sp>
        <p:nvSpPr>
          <p:cNvPr id="4" name="Content Placeholder 2">
            <a:extLst>
              <a:ext uri="{FF2B5EF4-FFF2-40B4-BE49-F238E27FC236}">
                <a16:creationId xmlns:a16="http://schemas.microsoft.com/office/drawing/2014/main" id="{91A014E8-BBA7-0454-222B-C3BF509D186C}"/>
              </a:ext>
            </a:extLst>
          </p:cNvPr>
          <p:cNvSpPr txBox="1">
            <a:spLocks noChangeArrowheads="1"/>
          </p:cNvSpPr>
          <p:nvPr/>
        </p:nvSpPr>
        <p:spPr bwMode="auto">
          <a:xfrm>
            <a:off x="539552" y="5056871"/>
            <a:ext cx="7772400"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What You’ll Gain:</a:t>
            </a:r>
          </a:p>
          <a:p>
            <a:pPr lvl="1"/>
            <a:r>
              <a:rPr lang="en-GB" sz="1800" dirty="0"/>
              <a:t>Real-world problem analysis</a:t>
            </a:r>
          </a:p>
          <a:p>
            <a:pPr lvl="1"/>
            <a:r>
              <a:rPr lang="en-GB" sz="1800" dirty="0"/>
              <a:t>Industry-aligned thinking</a:t>
            </a:r>
          </a:p>
          <a:p>
            <a:pPr lvl="1"/>
            <a:r>
              <a:rPr lang="en-GB" sz="1800" dirty="0"/>
              <a:t>Practice in teamwork and communication</a:t>
            </a:r>
          </a:p>
          <a:p>
            <a:pPr lvl="1"/>
            <a:r>
              <a:rPr lang="en-GB" sz="1800" dirty="0"/>
              <a:t>Reflection on your own learning needs</a:t>
            </a:r>
          </a:p>
        </p:txBody>
      </p:sp>
      <p:pic>
        <p:nvPicPr>
          <p:cNvPr id="1026" name="Picture 2" descr="Concept Teamwork Gears Lightbulb: Over ...">
            <a:extLst>
              <a:ext uri="{FF2B5EF4-FFF2-40B4-BE49-F238E27FC236}">
                <a16:creationId xmlns:a16="http://schemas.microsoft.com/office/drawing/2014/main" id="{68738062-4478-925A-2BC4-56FA181F7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625" y="3276807"/>
            <a:ext cx="3311823" cy="19441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CE634B-C097-4F0B-895F-17FC646FE347}"/>
</file>

<file path=customXml/itemProps2.xml><?xml version="1.0" encoding="utf-8"?>
<ds:datastoreItem xmlns:ds="http://schemas.openxmlformats.org/officeDocument/2006/customXml" ds:itemID="{A74DB097-581E-4F7B-BB34-4AF95E56298D}"/>
</file>

<file path=customXml/itemProps3.xml><?xml version="1.0" encoding="utf-8"?>
<ds:datastoreItem xmlns:ds="http://schemas.openxmlformats.org/officeDocument/2006/customXml" ds:itemID="{17A41250-0B88-48B9-BE2A-3CC4B43FC9BC}"/>
</file>

<file path=docProps/app.xml><?xml version="1.0" encoding="utf-8"?>
<Properties xmlns="http://schemas.openxmlformats.org/officeDocument/2006/extended-properties" xmlns:vt="http://schemas.openxmlformats.org/officeDocument/2006/docPropsVTypes">
  <Template/>
  <TotalTime>3303</TotalTime>
  <Words>842</Words>
  <Application>Microsoft Office PowerPoint</Application>
  <PresentationFormat>On-screen Show (4:3)</PresentationFormat>
  <Paragraphs>108</Paragraphs>
  <Slides>12</Slides>
  <Notes>12</Notes>
  <HiddenSlides>0</HiddenSlides>
  <MMClips>1</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Tahoma</vt:lpstr>
      <vt:lpstr>Wingdings</vt:lpstr>
      <vt:lpstr>Blends</vt:lpstr>
      <vt:lpstr>1_Blends</vt:lpstr>
      <vt:lpstr>Occupational Specialist Component Content: Digital Production, Design  and Development</vt:lpstr>
      <vt:lpstr>Learning Objectives</vt:lpstr>
      <vt:lpstr>Exploring the Initial Client Brief</vt:lpstr>
      <vt:lpstr>Context &amp; Market Environment</vt:lpstr>
      <vt:lpstr>Common Problems and Risks</vt:lpstr>
      <vt:lpstr>Current Hardware and Software Usage</vt:lpstr>
      <vt:lpstr>Emerging Technologies</vt:lpstr>
      <vt:lpstr>Existing and Potential Solutions</vt:lpstr>
      <vt:lpstr>Guidelines and Regulations</vt:lpstr>
      <vt:lpstr>Skills &amp; Knowledge Gaps</vt:lpstr>
      <vt:lpstr>Learning &amp; Development Plan</vt:lpstr>
      <vt:lpstr>Activity – “Pitch &amp; Plan" Challenge</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525</cp:revision>
  <dcterms:created xsi:type="dcterms:W3CDTF">2010-11-28T12:04:27Z</dcterms:created>
  <dcterms:modified xsi:type="dcterms:W3CDTF">2025-07-30T15:15:51Z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