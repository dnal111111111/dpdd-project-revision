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841" r:id="rId2"/>
  </p:sldMasterIdLst>
  <p:notesMasterIdLst>
    <p:notesMasterId r:id="rId23"/>
  </p:notesMasterIdLst>
  <p:sldIdLst>
    <p:sldId id="341" r:id="rId3"/>
    <p:sldId id="257" r:id="rId4"/>
    <p:sldId id="358" r:id="rId5"/>
    <p:sldId id="343" r:id="rId6"/>
    <p:sldId id="344" r:id="rId7"/>
    <p:sldId id="345" r:id="rId8"/>
    <p:sldId id="356" r:id="rId9"/>
    <p:sldId id="337" r:id="rId10"/>
    <p:sldId id="348" r:id="rId11"/>
    <p:sldId id="349" r:id="rId12"/>
    <p:sldId id="363" r:id="rId13"/>
    <p:sldId id="364" r:id="rId14"/>
    <p:sldId id="365" r:id="rId15"/>
    <p:sldId id="354" r:id="rId16"/>
    <p:sldId id="355" r:id="rId17"/>
    <p:sldId id="360" r:id="rId18"/>
    <p:sldId id="359" r:id="rId19"/>
    <p:sldId id="361" r:id="rId20"/>
    <p:sldId id="366" r:id="rId21"/>
    <p:sldId id="367" r:id="rId22"/>
  </p:sldIdLst>
  <p:sldSz cx="9144000" cy="6858000" type="screen4x3"/>
  <p:notesSz cx="6858000" cy="9144000"/>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341">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FF0000"/>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57" autoAdjust="0"/>
    <p:restoredTop sz="73209" autoAdjust="0"/>
  </p:normalViewPr>
  <p:slideViewPr>
    <p:cSldViewPr>
      <p:cViewPr varScale="1">
        <p:scale>
          <a:sx n="77" d="100"/>
          <a:sy n="77" d="100"/>
        </p:scale>
        <p:origin x="1638" y="84"/>
      </p:cViewPr>
      <p:guideLst>
        <p:guide orient="horz" pos="2341"/>
        <p:guide pos="2880"/>
      </p:guideLst>
    </p:cSldViewPr>
  </p:slideViewPr>
  <p:notesTextViewPr>
    <p:cViewPr>
      <p:scale>
        <a:sx n="100" d="100"/>
        <a:sy n="100" d="100"/>
      </p:scale>
      <p:origin x="0" y="0"/>
    </p:cViewPr>
  </p:notesTextViewPr>
  <p:notesViewPr>
    <p:cSldViewPr>
      <p:cViewPr>
        <p:scale>
          <a:sx n="75" d="100"/>
          <a:sy n="75" d="100"/>
        </p:scale>
        <p:origin x="-1536" y="283"/>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customXml" Target="../customXml/item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 Id="rId30"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E5DFDF44-A1AD-46B6-9AE7-38A86E847613}"/>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pitchFamily="34" charset="0"/>
                <a:cs typeface="Arial" pitchFamily="34" charset="0"/>
              </a:defRPr>
            </a:lvl1pPr>
          </a:lstStyle>
          <a:p>
            <a:pPr>
              <a:defRPr/>
            </a:pPr>
            <a:endParaRPr lang="en-GB"/>
          </a:p>
        </p:txBody>
      </p:sp>
      <p:sp>
        <p:nvSpPr>
          <p:cNvPr id="31747" name="Rectangle 3">
            <a:extLst>
              <a:ext uri="{FF2B5EF4-FFF2-40B4-BE49-F238E27FC236}">
                <a16:creationId xmlns:a16="http://schemas.microsoft.com/office/drawing/2014/main" id="{924D3F03-CF39-46FB-BB7B-3FEF68A16EC9}"/>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pitchFamily="34" charset="0"/>
                <a:cs typeface="Arial" pitchFamily="34" charset="0"/>
              </a:defRPr>
            </a:lvl1pPr>
          </a:lstStyle>
          <a:p>
            <a:pPr>
              <a:defRPr/>
            </a:pPr>
            <a:endParaRPr lang="en-GB"/>
          </a:p>
        </p:txBody>
      </p:sp>
      <p:sp>
        <p:nvSpPr>
          <p:cNvPr id="15364" name="Rectangle 4">
            <a:extLst>
              <a:ext uri="{FF2B5EF4-FFF2-40B4-BE49-F238E27FC236}">
                <a16:creationId xmlns:a16="http://schemas.microsoft.com/office/drawing/2014/main" id="{3C66DB9D-43D4-4717-98B1-D7716516049C}"/>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9" name="Rectangle 5">
            <a:extLst>
              <a:ext uri="{FF2B5EF4-FFF2-40B4-BE49-F238E27FC236}">
                <a16:creationId xmlns:a16="http://schemas.microsoft.com/office/drawing/2014/main" id="{03D47A9F-6558-4B6C-8C8E-22D8AEEDF09E}"/>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1750" name="Rectangle 6">
            <a:extLst>
              <a:ext uri="{FF2B5EF4-FFF2-40B4-BE49-F238E27FC236}">
                <a16:creationId xmlns:a16="http://schemas.microsoft.com/office/drawing/2014/main" id="{6AB3C4A1-24B3-44A9-9DC8-E427B4A6AEDD}"/>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pitchFamily="34" charset="0"/>
                <a:cs typeface="Arial" pitchFamily="34" charset="0"/>
              </a:defRPr>
            </a:lvl1pPr>
          </a:lstStyle>
          <a:p>
            <a:pPr>
              <a:defRPr/>
            </a:pPr>
            <a:endParaRPr lang="en-GB"/>
          </a:p>
        </p:txBody>
      </p:sp>
      <p:sp>
        <p:nvSpPr>
          <p:cNvPr id="31751" name="Rectangle 7">
            <a:extLst>
              <a:ext uri="{FF2B5EF4-FFF2-40B4-BE49-F238E27FC236}">
                <a16:creationId xmlns:a16="http://schemas.microsoft.com/office/drawing/2014/main" id="{42167697-9C63-4543-8555-5CFF596E0102}"/>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165323BA-7296-483C-BD7B-BDD3DD599FB2}"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burges-salmon.com/news-and-insight/legal-updates/operating-an-ecommerce-platform-in-the-uk-rules-and-regulations"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s://www.burges-salmon.com/news-and-insight/legal-updates/contracting-under-english-law"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net-aware.org.uk/news/age-content-ratings-apps-games/" TargetMode="External"/><Relationship Id="rId2" Type="http://schemas.openxmlformats.org/officeDocument/2006/relationships/slide" Target="../slides/slide5.xml"/><Relationship Id="rId1" Type="http://schemas.openxmlformats.org/officeDocument/2006/relationships/notesMaster" Target="../notesMasters/notesMaster1.xml"/><Relationship Id="rId4" Type="http://schemas.openxmlformats.org/officeDocument/2006/relationships/hyperlink" Target="https://www.gov.uk/government/news/new-rules-to-better-protect-children-from-inappropriate-video-game-content" TargetMode="Externa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gov.uk/marketing-advertising-law" TargetMode="External"/><Relationship Id="rId2" Type="http://schemas.openxmlformats.org/officeDocument/2006/relationships/slide" Target="../slides/slide6.xml"/><Relationship Id="rId1" Type="http://schemas.openxmlformats.org/officeDocument/2006/relationships/notesMaster" Target="../notesMasters/notesMaster1.xml"/><Relationship Id="rId5" Type="http://schemas.openxmlformats.org/officeDocument/2006/relationships/hyperlink" Target="https://marketinglaw.osborneclarke.com/advertising-regulation/how-are-advertising-and-marketing-regulated-in-the-uk/" TargetMode="External"/><Relationship Id="rId4" Type="http://schemas.openxmlformats.org/officeDocument/2006/relationships/hyperlink" Target="https://www.pinsentmasons.com/out-law/guides/advertisers-guide-advertising-regulation-uk"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legislation.gov.uk/ukpga/2005/19/contents"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s://www.nibusinessinfo.co.uk/content/regulation-software-and-gaming-industries" TargetMode="Externa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content.wisestep.com/employees-and-employers-rights-and-responsibilities/"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A4FEFAE8-08F3-47DC-A28A-A7F58E6951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7048C67-2AED-4691-84C7-3CAEC953A1D1}" type="slidenum">
              <a:rPr lang="en-GB" altLang="en-US" smtClean="0"/>
              <a:pPr>
                <a:spcBef>
                  <a:spcPct val="0"/>
                </a:spcBef>
              </a:pPr>
              <a:t>1</a:t>
            </a:fld>
            <a:endParaRPr lang="en-GB" altLang="en-US"/>
          </a:p>
        </p:txBody>
      </p:sp>
      <p:sp>
        <p:nvSpPr>
          <p:cNvPr id="17411" name="Rectangle 2">
            <a:extLst>
              <a:ext uri="{FF2B5EF4-FFF2-40B4-BE49-F238E27FC236}">
                <a16:creationId xmlns:a16="http://schemas.microsoft.com/office/drawing/2014/main" id="{2636C127-663C-4A8A-A774-14CD924A60DA}"/>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D16A65F2-8B25-4953-AEA8-272CE4C7F1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49662B30-0961-40A5-8C1A-8CA69B3FFE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CD4922C-932D-4199-9829-1DEBAB7778AC}" type="slidenum">
              <a:rPr lang="en-GB" altLang="en-US" smtClean="0"/>
              <a:pPr>
                <a:spcBef>
                  <a:spcPct val="0"/>
                </a:spcBef>
              </a:pPr>
              <a:t>2</a:t>
            </a:fld>
            <a:endParaRPr lang="en-GB" altLang="en-US"/>
          </a:p>
        </p:txBody>
      </p:sp>
      <p:sp>
        <p:nvSpPr>
          <p:cNvPr id="20483" name="Rectangle 2">
            <a:extLst>
              <a:ext uri="{FF2B5EF4-FFF2-40B4-BE49-F238E27FC236}">
                <a16:creationId xmlns:a16="http://schemas.microsoft.com/office/drawing/2014/main" id="{FC5C00F7-D80C-48E0-BD63-0E29BA744EA8}"/>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BFE1CC3F-9176-4254-8F22-34105A98CFA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intellectual property rights and licenses </a:t>
            </a:r>
          </a:p>
          <a:p>
            <a:r>
              <a:rPr lang="en-GB" dirty="0"/>
              <a:t>● consumer protection </a:t>
            </a:r>
          </a:p>
          <a:p>
            <a:r>
              <a:rPr lang="en-GB" dirty="0"/>
              <a:t>● age ratings and classifications </a:t>
            </a:r>
          </a:p>
          <a:p>
            <a:r>
              <a:rPr lang="en-GB" dirty="0"/>
              <a:t>● advertising laws </a:t>
            </a:r>
          </a:p>
          <a:p>
            <a:r>
              <a:rPr lang="en-GB" dirty="0"/>
              <a:t>● data protection and privacy </a:t>
            </a:r>
          </a:p>
          <a:p>
            <a:r>
              <a:rPr lang="en-GB" dirty="0"/>
              <a:t>● copyright and patent</a:t>
            </a:r>
          </a:p>
          <a:p>
            <a:r>
              <a:rPr lang="en-GB" dirty="0"/>
              <a:t>● gambling legislation </a:t>
            </a:r>
          </a:p>
          <a:p>
            <a:r>
              <a:rPr lang="en-GB" dirty="0"/>
              <a:t>● responsibilities concerning staff and employment practices</a:t>
            </a:r>
          </a:p>
          <a:p>
            <a:r>
              <a:rPr lang="en-GB" dirty="0"/>
              <a:t>● territorial restrictions </a:t>
            </a:r>
          </a:p>
          <a:p>
            <a:r>
              <a:rPr lang="en-GB" dirty="0"/>
              <a:t>● system security </a:t>
            </a:r>
          </a:p>
          <a:p>
            <a:r>
              <a:rPr lang="en-GB" dirty="0"/>
              <a:t>● equality and diversity </a:t>
            </a:r>
          </a:p>
          <a:p>
            <a:r>
              <a:rPr lang="en-GB" dirty="0"/>
              <a:t>● investigate and apply standards for software development </a:t>
            </a:r>
          </a:p>
          <a:p>
            <a:r>
              <a:rPr lang="en-GB" dirty="0"/>
              <a:t>● ISO/IEC/IEEE 90003:2018 </a:t>
            </a:r>
          </a:p>
          <a:p>
            <a:r>
              <a:rPr lang="en-GB" dirty="0"/>
              <a:t>● W3C. </a:t>
            </a:r>
          </a:p>
          <a:p>
            <a:endParaRPr lang="en-GB" dirty="0"/>
          </a:p>
          <a:p>
            <a:r>
              <a:rPr lang="en-GB" dirty="0"/>
              <a:t>Investigate and consider ethical implications that apply to software development: </a:t>
            </a:r>
          </a:p>
          <a:p>
            <a:r>
              <a:rPr lang="en-GB" dirty="0"/>
              <a:t>● code of conduct </a:t>
            </a:r>
          </a:p>
          <a:p>
            <a:r>
              <a:rPr lang="en-GB" dirty="0"/>
              <a:t>● professional practice </a:t>
            </a:r>
          </a:p>
          <a:p>
            <a:r>
              <a:rPr lang="en-GB" dirty="0"/>
              <a:t>● software licensing</a:t>
            </a:r>
          </a:p>
          <a:p>
            <a:r>
              <a:rPr lang="en-GB" dirty="0"/>
              <a:t>● inclusion and diversity.</a:t>
            </a:r>
          </a:p>
          <a:p>
            <a:pPr eaLnBrk="1" hangingPunct="1"/>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Arial" pitchFamily="34" charset="0"/>
                <a:ea typeface="+mn-ea"/>
                <a:cs typeface="Arial" pitchFamily="34" charset="0"/>
              </a:rPr>
              <a:t>https://www.burges-salmon.com/news-and-insight/legal-updates/a-guide-to-intellectual-property-rights-in-the-uk</a:t>
            </a:r>
          </a:p>
          <a:p>
            <a:endParaRPr lang="en-GB" sz="1200" b="0" i="0" kern="1200" dirty="0">
              <a:solidFill>
                <a:schemeClr val="tx1"/>
              </a:solidFill>
              <a:effectLst/>
              <a:latin typeface="Arial" pitchFamily="34" charset="0"/>
              <a:ea typeface="+mn-ea"/>
              <a:cs typeface="Arial" pitchFamily="34" charset="0"/>
            </a:endParaRPr>
          </a:p>
          <a:p>
            <a:r>
              <a:rPr lang="en-GB" sz="1200" b="0" i="0" kern="1200" dirty="0">
                <a:solidFill>
                  <a:schemeClr val="tx1"/>
                </a:solidFill>
                <a:effectLst/>
                <a:latin typeface="Arial" pitchFamily="34" charset="0"/>
                <a:ea typeface="+mn-ea"/>
                <a:cs typeface="Arial" pitchFamily="34" charset="0"/>
              </a:rPr>
              <a:t>The main types of intellectual property (IP) rights in the UK are:</a:t>
            </a:r>
          </a:p>
          <a:p>
            <a:r>
              <a:rPr lang="en-GB" sz="1200" b="0" i="0" kern="1200" dirty="0">
                <a:solidFill>
                  <a:schemeClr val="tx1"/>
                </a:solidFill>
                <a:effectLst/>
                <a:latin typeface="Arial" pitchFamily="34" charset="0"/>
                <a:ea typeface="+mn-ea"/>
                <a:cs typeface="Arial" pitchFamily="34" charset="0"/>
              </a:rPr>
              <a:t>Trade marks, both registered and unregistered</a:t>
            </a:r>
          </a:p>
          <a:p>
            <a:r>
              <a:rPr lang="en-GB" sz="1200" b="0" i="0" kern="1200" dirty="0">
                <a:solidFill>
                  <a:schemeClr val="tx1"/>
                </a:solidFill>
                <a:effectLst/>
                <a:latin typeface="Arial" pitchFamily="34" charset="0"/>
                <a:ea typeface="+mn-ea"/>
                <a:cs typeface="Arial" pitchFamily="34" charset="0"/>
              </a:rPr>
              <a:t>Patents</a:t>
            </a:r>
          </a:p>
          <a:p>
            <a:r>
              <a:rPr lang="en-GB" sz="1200" b="0" i="0" kern="1200" dirty="0">
                <a:solidFill>
                  <a:schemeClr val="tx1"/>
                </a:solidFill>
                <a:effectLst/>
                <a:latin typeface="Arial" pitchFamily="34" charset="0"/>
                <a:ea typeface="+mn-ea"/>
                <a:cs typeface="Arial" pitchFamily="34" charset="0"/>
              </a:rPr>
              <a:t>Designs, both registered and unregistered</a:t>
            </a:r>
          </a:p>
          <a:p>
            <a:r>
              <a:rPr lang="en-GB" sz="1200" b="0" i="0" kern="1200" dirty="0">
                <a:solidFill>
                  <a:schemeClr val="tx1"/>
                </a:solidFill>
                <a:effectLst/>
                <a:latin typeface="Arial" pitchFamily="34" charset="0"/>
                <a:ea typeface="+mn-ea"/>
                <a:cs typeface="Arial" pitchFamily="34" charset="0"/>
              </a:rPr>
              <a:t>Copyright</a:t>
            </a:r>
          </a:p>
          <a:p>
            <a:r>
              <a:rPr lang="en-GB" sz="1200" b="0" i="0" kern="1200" dirty="0">
                <a:solidFill>
                  <a:schemeClr val="tx1"/>
                </a:solidFill>
                <a:effectLst/>
                <a:latin typeface="Arial" pitchFamily="34" charset="0"/>
                <a:ea typeface="+mn-ea"/>
                <a:cs typeface="Arial" pitchFamily="34" charset="0"/>
              </a:rPr>
              <a:t>Trade secrets.</a:t>
            </a:r>
          </a:p>
          <a:p>
            <a:r>
              <a:rPr lang="en-GB" sz="1200" b="0" i="0" kern="1200" dirty="0">
                <a:solidFill>
                  <a:schemeClr val="tx1"/>
                </a:solidFill>
                <a:effectLst/>
                <a:latin typeface="Arial" pitchFamily="34" charset="0"/>
                <a:ea typeface="+mn-ea"/>
                <a:cs typeface="Arial" pitchFamily="34" charset="0"/>
              </a:rPr>
              <a:t>If you are launching a business in the UK, you may well want to consider some or all of these (at least to replicate the protection you have in other territories). Please note that, with effect from the end of the Brexit ‘transition period’ on 31 December 2020, EU-wide rights no longer give protection in the UK and the UK will not be deemed to form part of any relevant EU-wide regime. As noted below, this has particular implications for the UK’s trade mark and registered/unregistered designs regimes.  </a:t>
            </a:r>
          </a:p>
          <a:p>
            <a:endParaRPr lang="en-GB" sz="1200" b="0" i="0" kern="1200" dirty="0">
              <a:solidFill>
                <a:schemeClr val="tx1"/>
              </a:solidFill>
              <a:effectLst/>
              <a:latin typeface="Arial" pitchFamily="34" charset="0"/>
              <a:ea typeface="+mn-ea"/>
              <a:cs typeface="Arial" pitchFamily="34" charset="0"/>
            </a:endParaRPr>
          </a:p>
          <a:p>
            <a:r>
              <a:rPr lang="en-GB" sz="1200" b="0" i="0" kern="1200" dirty="0" err="1">
                <a:solidFill>
                  <a:schemeClr val="tx1"/>
                </a:solidFill>
                <a:effectLst/>
                <a:latin typeface="Arial" pitchFamily="34" charset="0"/>
                <a:ea typeface="+mn-ea"/>
                <a:cs typeface="Arial" pitchFamily="34" charset="0"/>
              </a:rPr>
              <a:t>rade</a:t>
            </a:r>
            <a:r>
              <a:rPr lang="en-GB" sz="1200" b="0" i="0" kern="1200" dirty="0">
                <a:solidFill>
                  <a:schemeClr val="tx1"/>
                </a:solidFill>
                <a:effectLst/>
                <a:latin typeface="Arial" pitchFamily="34" charset="0"/>
                <a:ea typeface="+mn-ea"/>
                <a:cs typeface="Arial" pitchFamily="34" charset="0"/>
              </a:rPr>
              <a:t> marks</a:t>
            </a:r>
          </a:p>
          <a:p>
            <a:r>
              <a:rPr lang="en-GB" sz="1200" b="1" i="0" kern="1200" dirty="0">
                <a:solidFill>
                  <a:schemeClr val="tx1"/>
                </a:solidFill>
                <a:effectLst/>
                <a:latin typeface="Arial" pitchFamily="34" charset="0"/>
                <a:ea typeface="+mn-ea"/>
                <a:cs typeface="Arial" pitchFamily="34" charset="0"/>
              </a:rPr>
              <a:t>Unregistered rights: </a:t>
            </a:r>
            <a:r>
              <a:rPr lang="en-GB" sz="1200" b="0" i="0" kern="1200" dirty="0">
                <a:solidFill>
                  <a:schemeClr val="tx1"/>
                </a:solidFill>
                <a:effectLst/>
                <a:latin typeface="Arial" pitchFamily="34" charset="0"/>
                <a:ea typeface="+mn-ea"/>
                <a:cs typeface="Arial" pitchFamily="34" charset="0"/>
              </a:rPr>
              <a:t>In the UK, unregistered rights in a brand may be created through use of that brand over time, as goodwill is built in it: this may enable the owner to bring a passing off action to prevent third parties from using an identical or highly similar brand. However, there are disadvantages to relying on this approach – not least its uncertainty and the heavier burden of proof.</a:t>
            </a:r>
          </a:p>
          <a:p>
            <a:r>
              <a:rPr lang="en-GB" sz="1200" b="1" i="0" kern="1200" dirty="0">
                <a:solidFill>
                  <a:schemeClr val="tx1"/>
                </a:solidFill>
                <a:effectLst/>
                <a:latin typeface="Arial" pitchFamily="34" charset="0"/>
                <a:ea typeface="+mn-ea"/>
                <a:cs typeface="Arial" pitchFamily="34" charset="0"/>
              </a:rPr>
              <a:t>Registered rights: I</a:t>
            </a:r>
            <a:r>
              <a:rPr lang="en-GB" sz="1200" b="0" i="0" kern="1200" dirty="0">
                <a:solidFill>
                  <a:schemeClr val="tx1"/>
                </a:solidFill>
                <a:effectLst/>
                <a:latin typeface="Arial" pitchFamily="34" charset="0"/>
                <a:ea typeface="+mn-ea"/>
                <a:cs typeface="Arial" pitchFamily="34" charset="0"/>
              </a:rPr>
              <a:t>f you are launching in the UK, it is strongly preferable to register your brands as trade marks. This creates both an asset and a clearer right to enforce.</a:t>
            </a:r>
          </a:p>
          <a:p>
            <a:r>
              <a:rPr lang="en-GB" sz="1200" b="1" i="0" kern="1200" dirty="0">
                <a:solidFill>
                  <a:schemeClr val="tx1"/>
                </a:solidFill>
                <a:effectLst/>
                <a:latin typeface="Arial" pitchFamily="34" charset="0"/>
                <a:ea typeface="+mn-ea"/>
                <a:cs typeface="Arial" pitchFamily="34" charset="0"/>
              </a:rPr>
              <a:t>Territory: </a:t>
            </a:r>
            <a:r>
              <a:rPr lang="en-GB" sz="1200" b="0" i="0" kern="1200" dirty="0">
                <a:solidFill>
                  <a:schemeClr val="tx1"/>
                </a:solidFill>
                <a:effectLst/>
                <a:latin typeface="Arial" pitchFamily="34" charset="0"/>
                <a:ea typeface="+mn-ea"/>
                <a:cs typeface="Arial" pitchFamily="34" charset="0"/>
              </a:rPr>
              <a:t>Trade mark protection is territorial, so that applications need to be filed in each country or territory of interest to a business. This means that even if a company has trade mark registrations elsewhere, e.g. Japan or the USA, these rights will not automatically extend to the UK.</a:t>
            </a:r>
          </a:p>
          <a:p>
            <a:r>
              <a:rPr lang="en-GB" sz="1200" b="1" i="0" kern="1200" dirty="0">
                <a:solidFill>
                  <a:schemeClr val="tx1"/>
                </a:solidFill>
                <a:effectLst/>
                <a:latin typeface="Arial" pitchFamily="34" charset="0"/>
                <a:ea typeface="+mn-ea"/>
                <a:cs typeface="Arial" pitchFamily="34" charset="0"/>
              </a:rPr>
              <a:t>Options: </a:t>
            </a:r>
            <a:r>
              <a:rPr lang="en-GB" sz="1200" b="0" i="0" kern="1200" dirty="0">
                <a:solidFill>
                  <a:schemeClr val="tx1"/>
                </a:solidFill>
                <a:effectLst/>
                <a:latin typeface="Arial" pitchFamily="34" charset="0"/>
                <a:ea typeface="+mn-ea"/>
                <a:cs typeface="Arial" pitchFamily="34" charset="0"/>
              </a:rPr>
              <a:t>In the UK, there are currently two ways of obtaining registered trade mark:</a:t>
            </a:r>
          </a:p>
          <a:p>
            <a:r>
              <a:rPr lang="en-GB" sz="1200" b="0" i="0" kern="1200" dirty="0">
                <a:solidFill>
                  <a:schemeClr val="tx1"/>
                </a:solidFill>
                <a:effectLst/>
                <a:latin typeface="Arial" pitchFamily="34" charset="0"/>
                <a:ea typeface="+mn-ea"/>
                <a:cs typeface="Arial" pitchFamily="34" charset="0"/>
              </a:rPr>
              <a:t>a UK national trade mark application; and </a:t>
            </a:r>
          </a:p>
          <a:p>
            <a:r>
              <a:rPr lang="en-GB" sz="1200" b="0" i="0" kern="1200" dirty="0">
                <a:solidFill>
                  <a:schemeClr val="tx1"/>
                </a:solidFill>
                <a:effectLst/>
                <a:latin typeface="Arial" pitchFamily="34" charset="0"/>
                <a:ea typeface="+mn-ea"/>
                <a:cs typeface="Arial" pitchFamily="34" charset="0"/>
              </a:rPr>
              <a:t>an international trade mark application designating the UK or EUTM.</a:t>
            </a:r>
          </a:p>
          <a:p>
            <a:r>
              <a:rPr lang="en-GB" sz="1200" b="0" i="0" kern="1200" dirty="0">
                <a:solidFill>
                  <a:schemeClr val="tx1"/>
                </a:solidFill>
                <a:effectLst/>
                <a:latin typeface="Arial" pitchFamily="34" charset="0"/>
                <a:ea typeface="+mn-ea"/>
                <a:cs typeface="Arial" pitchFamily="34" charset="0"/>
              </a:rPr>
              <a:t>Please note, Brexit has changed the position vis-à-vis obtaining trade marks in the UK, most notably in respect of EU trade marks (EUTMs). All EUTMs registered prior to 1 January 2021 were automatically ‘cloned’ and recorded as new (and distinct) marks on the UK trade mark register (a ‘comparable UK trade mark’). These new comparable UK marks retained the EUTM filing, priority and/or UK seniority dates associated with the underlying EUTM. In contrast, however, any EUTM applications pending as at 1 January 2021 (and therefore registered after 1 January 2021) were not subject to this cloning process. Owners of any such marks will have a nine-month period within which to register a comparable UK trade mark. Successful applications submitted within this period will retain the same filing, priority and/or UK seniority dates as the original EUTM.</a:t>
            </a:r>
          </a:p>
          <a:p>
            <a:r>
              <a:rPr lang="en-GB" sz="1200" b="0" i="0" kern="1200" dirty="0">
                <a:solidFill>
                  <a:schemeClr val="tx1"/>
                </a:solidFill>
                <a:effectLst/>
                <a:latin typeface="Arial" pitchFamily="34" charset="0"/>
                <a:ea typeface="+mn-ea"/>
                <a:cs typeface="Arial" pitchFamily="34" charset="0"/>
              </a:rPr>
              <a:t>We are happy to advise further on any of these points, including the impact of Brexit.</a:t>
            </a:r>
          </a:p>
          <a:p>
            <a:r>
              <a:rPr lang="en-GB" sz="1200" b="1" i="0" kern="1200" dirty="0">
                <a:solidFill>
                  <a:schemeClr val="tx1"/>
                </a:solidFill>
                <a:effectLst/>
                <a:latin typeface="Arial" pitchFamily="34" charset="0"/>
                <a:ea typeface="+mn-ea"/>
                <a:cs typeface="Arial" pitchFamily="34" charset="0"/>
              </a:rPr>
              <a:t>Clearance Searches:</a:t>
            </a:r>
            <a:r>
              <a:rPr lang="en-GB" sz="1200" b="0" i="0" kern="1200" dirty="0">
                <a:solidFill>
                  <a:schemeClr val="tx1"/>
                </a:solidFill>
                <a:effectLst/>
                <a:latin typeface="Arial" pitchFamily="34" charset="0"/>
                <a:ea typeface="+mn-ea"/>
                <a:cs typeface="Arial" pitchFamily="34" charset="0"/>
              </a:rPr>
              <a:t> Even if a brand is well established in another territory, it is strongly recommended to conduct clearance searches in the UK before launching or filing a new trade mark application here, to see if there are any earlier trade mark right holders that may object to the application or that you could be infringing by using your brand.</a:t>
            </a:r>
          </a:p>
          <a:p>
            <a:r>
              <a:rPr lang="en-GB" sz="1200" b="1" i="0" kern="1200" dirty="0">
                <a:solidFill>
                  <a:schemeClr val="tx1"/>
                </a:solidFill>
                <a:effectLst/>
                <a:latin typeface="Arial" pitchFamily="34" charset="0"/>
                <a:ea typeface="+mn-ea"/>
                <a:cs typeface="Arial" pitchFamily="34" charset="0"/>
              </a:rPr>
              <a:t>Classes: </a:t>
            </a:r>
            <a:r>
              <a:rPr lang="en-GB" sz="1200" b="0" i="0" kern="1200" dirty="0">
                <a:solidFill>
                  <a:schemeClr val="tx1"/>
                </a:solidFill>
                <a:effectLst/>
                <a:latin typeface="Arial" pitchFamily="34" charset="0"/>
                <a:ea typeface="+mn-ea"/>
                <a:cs typeface="Arial" pitchFamily="34" charset="0"/>
              </a:rPr>
              <a:t>When you apply to register a trade mark in the UK you have to specify the goods and services that you intend to use the brand for. These are organised into 45 different classes under the Nice classification system. Official trade mark application fees are charged on a per class basis. The UK Intellectual Property Office (IPO) accepts a broader list of goods and services than certain territories, such as the USA, so it is recommended to seek UK counsel input into a trade mark specification even if one has already been prepared and filed in another territory.</a:t>
            </a:r>
          </a:p>
          <a:p>
            <a:r>
              <a:rPr lang="en-GB" sz="1200" b="1" i="0" kern="1200" dirty="0">
                <a:solidFill>
                  <a:schemeClr val="tx1"/>
                </a:solidFill>
                <a:effectLst/>
                <a:latin typeface="Arial" pitchFamily="34" charset="0"/>
                <a:ea typeface="+mn-ea"/>
                <a:cs typeface="Arial" pitchFamily="34" charset="0"/>
              </a:rPr>
              <a:t>Application process: </a:t>
            </a:r>
            <a:r>
              <a:rPr lang="en-GB" sz="1200" b="0" i="0" kern="1200" dirty="0">
                <a:solidFill>
                  <a:schemeClr val="tx1"/>
                </a:solidFill>
                <a:effectLst/>
                <a:latin typeface="Arial" pitchFamily="34" charset="0"/>
                <a:ea typeface="+mn-ea"/>
                <a:cs typeface="Arial" pitchFamily="34" charset="0"/>
              </a:rPr>
              <a:t>Once a UK application has been filed it will be examined by the UK IPO to ensure that it complies with various registration requirements. The IPO will also conduct a search of the IPO Register for earlier rights they consider to be similar to the mark applied for – the application will not be refused on this basis, but earlier right holders will be notified of the application and it will be for them to take action if they consider there to be a conflict. Assuming there are no major issues during examination, the application will be published for opposition purposes. If no oppositions are filed by third parties the application will proceed to registration and a certificate will be issued. For a straightforward application this process typically takes around four to six months.</a:t>
            </a:r>
          </a:p>
          <a:p>
            <a:r>
              <a:rPr lang="en-GB" sz="1200" b="1" i="0" kern="1200" dirty="0">
                <a:solidFill>
                  <a:schemeClr val="tx1"/>
                </a:solidFill>
                <a:effectLst/>
                <a:latin typeface="Arial" pitchFamily="34" charset="0"/>
                <a:ea typeface="+mn-ea"/>
                <a:cs typeface="Arial" pitchFamily="34" charset="0"/>
              </a:rPr>
              <a:t>Duration of Registration: </a:t>
            </a:r>
            <a:r>
              <a:rPr lang="en-GB" sz="1200" b="0" i="0" kern="1200" dirty="0">
                <a:solidFill>
                  <a:schemeClr val="tx1"/>
                </a:solidFill>
                <a:effectLst/>
                <a:latin typeface="Arial" pitchFamily="34" charset="0"/>
                <a:ea typeface="+mn-ea"/>
                <a:cs typeface="Arial" pitchFamily="34" charset="0"/>
              </a:rPr>
              <a:t>UK registrations can be renewed every 10 years, for a fee, and can last indefinitely so long as they are used and renewed.</a:t>
            </a:r>
          </a:p>
          <a:p>
            <a:r>
              <a:rPr lang="en-GB" sz="1200" b="1" i="0" kern="1200" dirty="0">
                <a:solidFill>
                  <a:schemeClr val="tx1"/>
                </a:solidFill>
                <a:effectLst/>
                <a:latin typeface="Arial" pitchFamily="34" charset="0"/>
                <a:ea typeface="+mn-ea"/>
                <a:cs typeface="Arial" pitchFamily="34" charset="0"/>
              </a:rPr>
              <a:t>Priority: </a:t>
            </a:r>
            <a:r>
              <a:rPr lang="en-GB" sz="1200" b="0" i="0" kern="1200" dirty="0">
                <a:solidFill>
                  <a:schemeClr val="tx1"/>
                </a:solidFill>
                <a:effectLst/>
                <a:latin typeface="Arial" pitchFamily="34" charset="0"/>
                <a:ea typeface="+mn-ea"/>
                <a:cs typeface="Arial" pitchFamily="34" charset="0"/>
              </a:rPr>
              <a:t>Once an initial trade mark application has been filed in (almost) any territory the filing date may be preserved for additional applications abroad provided those application are filed within six months. This ability to back-date later applications is known as 'claiming priority' and is useful as it allows time to see how the first application progresses before any investment is made in additional territories, as well as helping to stagger costs. The UK IPO accepts priority claims from earlier applications/registrations, and UK applications can be used as priority applications. Later applications can be made after the end of this priority period, but those later applications will simply be dated at the date of the application.</a:t>
            </a:r>
          </a:p>
          <a:p>
            <a:r>
              <a:rPr lang="en-GB" sz="1200" b="1" i="0" kern="1200" dirty="0">
                <a:solidFill>
                  <a:schemeClr val="tx1"/>
                </a:solidFill>
                <a:effectLst/>
                <a:latin typeface="Arial" pitchFamily="34" charset="0"/>
                <a:ea typeface="+mn-ea"/>
                <a:cs typeface="Arial" pitchFamily="34" charset="0"/>
              </a:rPr>
              <a:t>Marking: </a:t>
            </a:r>
            <a:r>
              <a:rPr lang="en-GB" sz="1200" b="0" i="0" kern="1200" dirty="0">
                <a:solidFill>
                  <a:schemeClr val="tx1"/>
                </a:solidFill>
                <a:effectLst/>
                <a:latin typeface="Arial" pitchFamily="34" charset="0"/>
                <a:ea typeface="+mn-ea"/>
                <a:cs typeface="Arial" pitchFamily="34" charset="0"/>
              </a:rPr>
              <a:t>The trade mark registration symbol ® must only be used in the UK after a valid UK registration has been obtained. The </a:t>
            </a:r>
            <a:r>
              <a:rPr lang="en-GB" sz="1200" b="0" i="0" kern="1200" baseline="30000" dirty="0">
                <a:solidFill>
                  <a:schemeClr val="tx1"/>
                </a:solidFill>
                <a:effectLst/>
                <a:latin typeface="Arial" pitchFamily="34" charset="0"/>
                <a:ea typeface="+mn-ea"/>
                <a:cs typeface="Arial" pitchFamily="34" charset="0"/>
              </a:rPr>
              <a:t>TM</a:t>
            </a:r>
            <a:r>
              <a:rPr lang="en-GB" sz="1200" b="0" i="0" kern="1200" dirty="0">
                <a:solidFill>
                  <a:schemeClr val="tx1"/>
                </a:solidFill>
                <a:effectLst/>
                <a:latin typeface="Arial" pitchFamily="34" charset="0"/>
                <a:ea typeface="+mn-ea"/>
                <a:cs typeface="Arial" pitchFamily="34" charset="0"/>
              </a:rPr>
              <a:t> symbol can be used to indicate a trade mark before an application is filed or while it is pending. This applies to use on products or packaging, as well as on a website directed at the UK. See further </a:t>
            </a:r>
            <a:r>
              <a:rPr lang="en-GB" sz="1200" b="0" i="0" u="none" strike="noStrike" kern="1200" dirty="0">
                <a:solidFill>
                  <a:schemeClr val="tx1"/>
                </a:solidFill>
                <a:effectLst/>
                <a:latin typeface="Arial" pitchFamily="34" charset="0"/>
                <a:ea typeface="+mn-ea"/>
                <a:cs typeface="Arial" pitchFamily="34" charset="0"/>
                <a:hlinkClick r:id="rId3"/>
              </a:rPr>
              <a:t>guidance note on e-commerce.</a:t>
            </a:r>
            <a:endParaRPr lang="en-GB" sz="1200" b="0" i="0" kern="1200" dirty="0">
              <a:solidFill>
                <a:schemeClr val="tx1"/>
              </a:solidFill>
              <a:effectLst/>
              <a:latin typeface="Arial" pitchFamily="34" charset="0"/>
              <a:ea typeface="+mn-ea"/>
              <a:cs typeface="Arial" pitchFamily="34" charset="0"/>
            </a:endParaRPr>
          </a:p>
          <a:p>
            <a:r>
              <a:rPr lang="en-GB" sz="1200" b="1" i="0" kern="1200" dirty="0">
                <a:solidFill>
                  <a:schemeClr val="tx1"/>
                </a:solidFill>
                <a:effectLst/>
                <a:latin typeface="Arial" pitchFamily="34" charset="0"/>
                <a:ea typeface="+mn-ea"/>
                <a:cs typeface="Arial" pitchFamily="34" charset="0"/>
              </a:rPr>
              <a:t>Other registrations: </a:t>
            </a:r>
            <a:r>
              <a:rPr lang="en-GB" sz="1200" b="0" i="0" kern="1200" dirty="0">
                <a:solidFill>
                  <a:schemeClr val="tx1"/>
                </a:solidFill>
                <a:effectLst/>
                <a:latin typeface="Arial" pitchFamily="34" charset="0"/>
                <a:ea typeface="+mn-ea"/>
                <a:cs typeface="Arial" pitchFamily="34" charset="0"/>
              </a:rPr>
              <a:t>In the UK, neither simply registering your company name at Companies House nor owning the domain name for your website gives you rights to prevent others using your trade mark. Therefore, it is important that specific consideration of IP protection is given when launching in the UK.</a:t>
            </a:r>
          </a:p>
          <a:p>
            <a:r>
              <a:rPr lang="en-GB" sz="1200" b="0" i="0" kern="1200" dirty="0">
                <a:solidFill>
                  <a:schemeClr val="tx1"/>
                </a:solidFill>
                <a:effectLst/>
                <a:latin typeface="Arial" pitchFamily="34" charset="0"/>
                <a:ea typeface="+mn-ea"/>
                <a:cs typeface="Arial" pitchFamily="34" charset="0"/>
              </a:rPr>
              <a:t>Patents</a:t>
            </a:r>
          </a:p>
          <a:p>
            <a:r>
              <a:rPr lang="en-GB" sz="1200" b="1" i="0" kern="1200" dirty="0">
                <a:solidFill>
                  <a:schemeClr val="tx1"/>
                </a:solidFill>
                <a:effectLst/>
                <a:latin typeface="Arial" pitchFamily="34" charset="0"/>
                <a:ea typeface="+mn-ea"/>
                <a:cs typeface="Arial" pitchFamily="34" charset="0"/>
              </a:rPr>
              <a:t>What is protected? </a:t>
            </a:r>
            <a:r>
              <a:rPr lang="en-GB" sz="1200" b="0" i="0" kern="1200" dirty="0">
                <a:solidFill>
                  <a:schemeClr val="tx1"/>
                </a:solidFill>
                <a:effectLst/>
                <a:latin typeface="Arial" pitchFamily="34" charset="0"/>
                <a:ea typeface="+mn-ea"/>
                <a:cs typeface="Arial" pitchFamily="34" charset="0"/>
              </a:rPr>
              <a:t>Patents can protect inventions which are not yet in the public domain. It is important to keep inventions secret and disclose them only under a Non-Disclosure Agreement in order to preserve the ability to patent them.</a:t>
            </a:r>
          </a:p>
          <a:p>
            <a:r>
              <a:rPr lang="en-GB" sz="1200" b="1" i="0" kern="1200" dirty="0">
                <a:solidFill>
                  <a:schemeClr val="tx1"/>
                </a:solidFill>
                <a:effectLst/>
                <a:latin typeface="Arial" pitchFamily="34" charset="0"/>
                <a:ea typeface="+mn-ea"/>
                <a:cs typeface="Arial" pitchFamily="34" charset="0"/>
              </a:rPr>
              <a:t>Requirements to be registered: </a:t>
            </a:r>
            <a:r>
              <a:rPr lang="en-GB" sz="1200" b="0" i="0" kern="1200" dirty="0">
                <a:solidFill>
                  <a:schemeClr val="tx1"/>
                </a:solidFill>
                <a:effectLst/>
                <a:latin typeface="Arial" pitchFamily="34" charset="0"/>
                <a:ea typeface="+mn-ea"/>
                <a:cs typeface="Arial" pitchFamily="34" charset="0"/>
              </a:rPr>
              <a:t>Requirements for protection include that the invention is new, something that can be made or used, and not just a foreseeable modification to something already out there. The invention should not be made public before patent protection is sought (and, as set out below, an earlier application in a different country can be publication that prevents a later registration in the UK).</a:t>
            </a:r>
          </a:p>
          <a:p>
            <a:r>
              <a:rPr lang="en-GB" sz="1200" b="1" i="0" kern="1200" dirty="0">
                <a:solidFill>
                  <a:schemeClr val="tx1"/>
                </a:solidFill>
                <a:effectLst/>
                <a:latin typeface="Arial" pitchFamily="34" charset="0"/>
                <a:ea typeface="+mn-ea"/>
                <a:cs typeface="Arial" pitchFamily="34" charset="0"/>
              </a:rPr>
              <a:t>Territorial:</a:t>
            </a:r>
            <a:r>
              <a:rPr lang="en-GB" sz="1200" b="0" i="0" kern="1200" dirty="0">
                <a:solidFill>
                  <a:schemeClr val="tx1"/>
                </a:solidFill>
                <a:effectLst/>
                <a:latin typeface="Arial" pitchFamily="34" charset="0"/>
                <a:ea typeface="+mn-ea"/>
                <a:cs typeface="Arial" pitchFamily="34" charset="0"/>
              </a:rPr>
              <a:t> Like trade mark protection, patent protection is territorial – so protection in one territory will not protect in another.</a:t>
            </a:r>
          </a:p>
          <a:p>
            <a:r>
              <a:rPr lang="en-GB" sz="1200" b="1" i="0" kern="1200" dirty="0">
                <a:solidFill>
                  <a:schemeClr val="tx1"/>
                </a:solidFill>
                <a:effectLst/>
                <a:latin typeface="Arial" pitchFamily="34" charset="0"/>
                <a:ea typeface="+mn-ea"/>
                <a:cs typeface="Arial" pitchFamily="34" charset="0"/>
              </a:rPr>
              <a:t>Infringement: </a:t>
            </a:r>
            <a:r>
              <a:rPr lang="en-GB" sz="1200" b="0" i="0" kern="1200" dirty="0">
                <a:solidFill>
                  <a:schemeClr val="tx1"/>
                </a:solidFill>
                <a:effectLst/>
                <a:latin typeface="Arial" pitchFamily="34" charset="0"/>
                <a:ea typeface="+mn-ea"/>
                <a:cs typeface="Arial" pitchFamily="34" charset="0"/>
              </a:rPr>
              <a:t>You should undertake freedom to operate searches before launching an invention in the UK. This is the case even if you have already launched elsewhere (or you already have a patent registered elsewhere), as there may be different patents in the UK which are infringed by your invention.</a:t>
            </a:r>
          </a:p>
          <a:p>
            <a:r>
              <a:rPr lang="en-GB" sz="1200" b="1" i="0" kern="1200" dirty="0">
                <a:solidFill>
                  <a:schemeClr val="tx1"/>
                </a:solidFill>
                <a:effectLst/>
                <a:latin typeface="Arial" pitchFamily="34" charset="0"/>
                <a:ea typeface="+mn-ea"/>
                <a:cs typeface="Arial" pitchFamily="34" charset="0"/>
              </a:rPr>
              <a:t>Timing: </a:t>
            </a:r>
            <a:r>
              <a:rPr lang="en-GB" sz="1200" b="0" i="0" kern="1200" dirty="0">
                <a:solidFill>
                  <a:schemeClr val="tx1"/>
                </a:solidFill>
                <a:effectLst/>
                <a:latin typeface="Arial" pitchFamily="34" charset="0"/>
                <a:ea typeface="+mn-ea"/>
                <a:cs typeface="Arial" pitchFamily="34" charset="0"/>
              </a:rPr>
              <a:t>Unlike trade mark protection, there is a limited period of time in which to select the countries in which you want to file a patent application. So, if you already have a patent in one territory, it may no longer be open to you to protect the same invention in the UK. Bespoke advice may be required here.</a:t>
            </a:r>
          </a:p>
          <a:p>
            <a:r>
              <a:rPr lang="en-GB" sz="1200" b="1" i="0" kern="1200" dirty="0">
                <a:solidFill>
                  <a:schemeClr val="tx1"/>
                </a:solidFill>
                <a:effectLst/>
                <a:latin typeface="Arial" pitchFamily="34" charset="0"/>
                <a:ea typeface="+mn-ea"/>
                <a:cs typeface="Arial" pitchFamily="34" charset="0"/>
              </a:rPr>
              <a:t>UK Patents: </a:t>
            </a:r>
            <a:r>
              <a:rPr lang="en-GB" sz="1200" b="0" i="0" kern="1200" dirty="0">
                <a:solidFill>
                  <a:schemeClr val="tx1"/>
                </a:solidFill>
                <a:effectLst/>
                <a:latin typeface="Arial" pitchFamily="34" charset="0"/>
                <a:ea typeface="+mn-ea"/>
                <a:cs typeface="Arial" pitchFamily="34" charset="0"/>
              </a:rPr>
              <a:t>Patents can be registered through the UK IPO (which may be accessed through a European Patent Application (via the European Patent Office) or through an International Patent Application (via the World Intellectual Property Office). Once registered, patents can be renewed (on payment of renewal fees) for up to 20 years.</a:t>
            </a:r>
          </a:p>
          <a:p>
            <a:r>
              <a:rPr lang="en-GB" sz="1200" b="0" i="0" kern="1200" dirty="0">
                <a:solidFill>
                  <a:schemeClr val="tx1"/>
                </a:solidFill>
                <a:effectLst/>
                <a:latin typeface="Arial" pitchFamily="34" charset="0"/>
                <a:ea typeface="+mn-ea"/>
                <a:cs typeface="Arial" pitchFamily="34" charset="0"/>
              </a:rPr>
              <a:t>Designs</a:t>
            </a:r>
          </a:p>
          <a:p>
            <a:r>
              <a:rPr lang="en-GB" sz="1200" b="1" i="0" kern="1200" dirty="0">
                <a:solidFill>
                  <a:schemeClr val="tx1"/>
                </a:solidFill>
                <a:effectLst/>
                <a:latin typeface="Arial" pitchFamily="34" charset="0"/>
                <a:ea typeface="+mn-ea"/>
                <a:cs typeface="Arial" pitchFamily="34" charset="0"/>
              </a:rPr>
              <a:t>What is protected? </a:t>
            </a:r>
            <a:r>
              <a:rPr lang="en-GB" sz="1200" b="0" i="0" kern="1200" dirty="0">
                <a:solidFill>
                  <a:schemeClr val="tx1"/>
                </a:solidFill>
                <a:effectLst/>
                <a:latin typeface="Arial" pitchFamily="34" charset="0"/>
                <a:ea typeface="+mn-ea"/>
                <a:cs typeface="Arial" pitchFamily="34" charset="0"/>
              </a:rPr>
              <a:t>Designs can protect the appearance, shape, configuration or decoration of the whole or part of a product. Requirements for protection include that the design is new, and creates a different overall impression to any earlier design already in the market. The design should not be made public before registration is sought.</a:t>
            </a:r>
          </a:p>
          <a:p>
            <a:r>
              <a:rPr lang="en-GB" sz="1200" b="1" i="0" kern="1200" dirty="0">
                <a:solidFill>
                  <a:schemeClr val="tx1"/>
                </a:solidFill>
                <a:effectLst/>
                <a:latin typeface="Arial" pitchFamily="34" charset="0"/>
                <a:ea typeface="+mn-ea"/>
                <a:cs typeface="Arial" pitchFamily="34" charset="0"/>
              </a:rPr>
              <a:t>Unregistered rights:</a:t>
            </a:r>
            <a:r>
              <a:rPr lang="en-GB" sz="1200" b="0" i="0" kern="1200" dirty="0">
                <a:solidFill>
                  <a:schemeClr val="tx1"/>
                </a:solidFill>
                <a:effectLst/>
                <a:latin typeface="Arial" pitchFamily="34" charset="0"/>
                <a:ea typeface="+mn-ea"/>
                <a:cs typeface="Arial" pitchFamily="34" charset="0"/>
              </a:rPr>
              <a:t> Unregistered UK 'Design Rights' will arise automatically to protect certain shape and configuration (3D) designs. However, Design Rights provide less protection than Registered Designs and are of shorter duration (for the earlier of 10 years after it was first sold or 15 years after it was created). There are also EU Design Rights (Unregistered Community Designs (UCD)), which are of shorter duration again. UCDs existing before 1 January 2021 automatically retain UK protection as a continuing unregistered design, with protection continuing for the remainder of the three year term that attached to the UCD.</a:t>
            </a:r>
          </a:p>
          <a:p>
            <a:r>
              <a:rPr lang="en-GB" sz="1200" b="1" i="0" kern="1200" dirty="0">
                <a:solidFill>
                  <a:schemeClr val="tx1"/>
                </a:solidFill>
                <a:effectLst/>
                <a:latin typeface="Arial" pitchFamily="34" charset="0"/>
                <a:ea typeface="+mn-ea"/>
                <a:cs typeface="Arial" pitchFamily="34" charset="0"/>
              </a:rPr>
              <a:t>Registered Designs: </a:t>
            </a:r>
            <a:r>
              <a:rPr lang="en-GB" sz="1200" b="0" i="0" kern="1200" dirty="0">
                <a:solidFill>
                  <a:schemeClr val="tx1"/>
                </a:solidFill>
                <a:effectLst/>
                <a:latin typeface="Arial" pitchFamily="34" charset="0"/>
                <a:ea typeface="+mn-ea"/>
                <a:cs typeface="Arial" pitchFamily="34" charset="0"/>
              </a:rPr>
              <a:t>Designs can be registered through the UK IPO.  Before launching or applying to register a design it is advisable to conduct a clearance search. Once registered, designs can be renewed (on payment of renewal fees) every five years for up to 25 years. Since 1 January 2021, EU registered designs (Registered Community Designs (RCDs)) are no longer valid in the UK. Any RCD that existed prior to this date was automatically cloned to allow for comparable UK rights. The comparable right is a fully independent UK registered design capable of being assigned, renewed or challenged separately from the original RCD. By contrast, a comparable UK right was not created for any RCD application that was pending (i.e. not yet registered as an RCD) on 1 January 2021. Applicants in this position have a nine-month period (starting on 1 January 2021) within which they can apply for a comparable UK design right with the same filing, priority and/or UK seniority dates as their original RCD application.</a:t>
            </a:r>
          </a:p>
          <a:p>
            <a:r>
              <a:rPr lang="en-GB" sz="1200" b="0" i="0" kern="1200" dirty="0">
                <a:solidFill>
                  <a:schemeClr val="tx1"/>
                </a:solidFill>
                <a:effectLst/>
                <a:latin typeface="Arial" pitchFamily="34" charset="0"/>
                <a:ea typeface="+mn-ea"/>
                <a:cs typeface="Arial" pitchFamily="34" charset="0"/>
              </a:rPr>
              <a:t>Copyright</a:t>
            </a:r>
          </a:p>
          <a:p>
            <a:r>
              <a:rPr lang="en-GB" sz="1200" b="1" i="0" kern="1200" dirty="0">
                <a:solidFill>
                  <a:schemeClr val="tx1"/>
                </a:solidFill>
                <a:effectLst/>
                <a:latin typeface="Arial" pitchFamily="34" charset="0"/>
                <a:ea typeface="+mn-ea"/>
                <a:cs typeface="Arial" pitchFamily="34" charset="0"/>
              </a:rPr>
              <a:t>What is protected?</a:t>
            </a:r>
            <a:r>
              <a:rPr lang="en-GB" sz="1200" b="0" i="0" kern="1200" dirty="0">
                <a:solidFill>
                  <a:schemeClr val="tx1"/>
                </a:solidFill>
                <a:effectLst/>
                <a:latin typeface="Arial" pitchFamily="34" charset="0"/>
                <a:ea typeface="+mn-ea"/>
                <a:cs typeface="Arial" pitchFamily="34" charset="0"/>
              </a:rPr>
              <a:t> Copyright can protect original literary, dramatic, musical and artistic work, as well as software and databases and audio/visual recordings.</a:t>
            </a:r>
          </a:p>
          <a:p>
            <a:r>
              <a:rPr lang="en-GB" sz="1200" b="1" i="0" kern="1200" dirty="0">
                <a:solidFill>
                  <a:schemeClr val="tx1"/>
                </a:solidFill>
                <a:effectLst/>
                <a:latin typeface="Arial" pitchFamily="34" charset="0"/>
                <a:ea typeface="+mn-ea"/>
                <a:cs typeface="Arial" pitchFamily="34" charset="0"/>
              </a:rPr>
              <a:t>Unregistered rights:</a:t>
            </a:r>
            <a:r>
              <a:rPr lang="en-GB" sz="1200" b="0" i="0" kern="1200" dirty="0">
                <a:solidFill>
                  <a:schemeClr val="tx1"/>
                </a:solidFill>
                <a:effectLst/>
                <a:latin typeface="Arial" pitchFamily="34" charset="0"/>
                <a:ea typeface="+mn-ea"/>
                <a:cs typeface="Arial" pitchFamily="34" charset="0"/>
              </a:rPr>
              <a:t> Unlike trade marks, designs and patents, copyright in the UK cannot currently be registered (so there is no central register and no fee requirement). Copyright arises automatically in the UK as soon as certain requirements are met, including the need for the work to be written down or recorded.</a:t>
            </a:r>
          </a:p>
          <a:p>
            <a:r>
              <a:rPr lang="en-GB" sz="1200" b="1" i="0" kern="1200" dirty="0">
                <a:solidFill>
                  <a:schemeClr val="tx1"/>
                </a:solidFill>
                <a:effectLst/>
                <a:latin typeface="Arial" pitchFamily="34" charset="0"/>
                <a:ea typeface="+mn-ea"/>
                <a:cs typeface="Arial" pitchFamily="34" charset="0"/>
              </a:rPr>
              <a:t>Marking: </a:t>
            </a:r>
            <a:r>
              <a:rPr lang="en-GB" sz="1200" b="0" i="0" kern="1200" dirty="0">
                <a:solidFill>
                  <a:schemeClr val="tx1"/>
                </a:solidFill>
                <a:effectLst/>
                <a:latin typeface="Arial" pitchFamily="34" charset="0"/>
                <a:ea typeface="+mn-ea"/>
                <a:cs typeface="Arial" pitchFamily="34" charset="0"/>
              </a:rPr>
              <a:t>It is best practice to mark original work with the copyright symbol ©, the name of the author/creator, and the date of creation – not least so (recognising that there is no register) third parties are put on notice that the work is protected by copyright and can trace the copyright owner.</a:t>
            </a:r>
          </a:p>
          <a:p>
            <a:r>
              <a:rPr lang="en-GB" sz="1200" b="1" i="0" kern="1200" dirty="0">
                <a:solidFill>
                  <a:schemeClr val="tx1"/>
                </a:solidFill>
                <a:effectLst/>
                <a:latin typeface="Arial" pitchFamily="34" charset="0"/>
                <a:ea typeface="+mn-ea"/>
                <a:cs typeface="Arial" pitchFamily="34" charset="0"/>
              </a:rPr>
              <a:t>International protection:</a:t>
            </a:r>
            <a:r>
              <a:rPr lang="en-GB" sz="1200" b="0" i="0" kern="1200" dirty="0">
                <a:solidFill>
                  <a:schemeClr val="tx1"/>
                </a:solidFill>
                <a:effectLst/>
                <a:latin typeface="Arial" pitchFamily="34" charset="0"/>
                <a:ea typeface="+mn-ea"/>
                <a:cs typeface="Arial" pitchFamily="34" charset="0"/>
              </a:rPr>
              <a:t> The UK has signed various copyright treaties which allow the UK to provide copyright protection in respect of copyright protected in other signatory countries. If you have copyright outside the UK, those treaties may operate to provide automatic protection in the UK too.</a:t>
            </a:r>
          </a:p>
          <a:p>
            <a:r>
              <a:rPr lang="en-GB" sz="1200" b="0" i="0" kern="1200" dirty="0">
                <a:solidFill>
                  <a:schemeClr val="tx1"/>
                </a:solidFill>
                <a:effectLst/>
                <a:latin typeface="Arial" pitchFamily="34" charset="0"/>
                <a:ea typeface="+mn-ea"/>
                <a:cs typeface="Arial" pitchFamily="34" charset="0"/>
              </a:rPr>
              <a:t>Trade secrets</a:t>
            </a:r>
          </a:p>
          <a:p>
            <a:r>
              <a:rPr lang="en-GB" sz="1200" b="0" i="0" kern="1200" dirty="0">
                <a:solidFill>
                  <a:schemeClr val="tx1"/>
                </a:solidFill>
                <a:effectLst/>
                <a:latin typeface="Arial" pitchFamily="34" charset="0"/>
                <a:ea typeface="+mn-ea"/>
                <a:cs typeface="Arial" pitchFamily="34" charset="0"/>
              </a:rPr>
              <a:t>Trade secrets can protect business information such as recipes and customer lists. There is not a specific register for this. In the UK these can be protected under the common law of confidence, through keeping the information secret and through only disclosing to those that have signed non-disclosure agreements.</a:t>
            </a:r>
          </a:p>
          <a:p>
            <a:r>
              <a:rPr lang="en-GB" sz="1200" b="0" i="0" kern="1200" dirty="0">
                <a:solidFill>
                  <a:schemeClr val="tx1"/>
                </a:solidFill>
                <a:effectLst/>
                <a:latin typeface="Arial" pitchFamily="34" charset="0"/>
                <a:ea typeface="+mn-ea"/>
                <a:cs typeface="Arial" pitchFamily="34" charset="0"/>
              </a:rPr>
              <a:t>Managing your intellectual property</a:t>
            </a:r>
          </a:p>
          <a:p>
            <a:r>
              <a:rPr lang="en-GB" sz="1200" b="1" i="0" kern="1200" dirty="0">
                <a:solidFill>
                  <a:schemeClr val="tx1"/>
                </a:solidFill>
                <a:effectLst/>
                <a:latin typeface="Arial" pitchFamily="34" charset="0"/>
                <a:ea typeface="+mn-ea"/>
                <a:cs typeface="Arial" pitchFamily="34" charset="0"/>
              </a:rPr>
              <a:t>Audit: </a:t>
            </a:r>
            <a:r>
              <a:rPr lang="en-GB" sz="1200" b="0" i="0" kern="1200" dirty="0">
                <a:solidFill>
                  <a:schemeClr val="tx1"/>
                </a:solidFill>
                <a:effectLst/>
                <a:latin typeface="Arial" pitchFamily="34" charset="0"/>
                <a:ea typeface="+mn-ea"/>
                <a:cs typeface="Arial" pitchFamily="34" charset="0"/>
              </a:rPr>
              <a:t>You should regularly take stock of your IP assets. This is called an ‘IP Audit’ and it will help in ensuring your IP protection is up-to-date. Burges Salmon can work with you in conducting an IP Audit, and can advise on the scope and status of your current IP portfolio, how it compares to what IP you actually have and use, what further enforceable IP rights you might have, and the best way to protect and enforce those rights.</a:t>
            </a:r>
          </a:p>
          <a:p>
            <a:r>
              <a:rPr lang="en-GB" sz="1200" b="1" i="0" kern="1200" dirty="0">
                <a:solidFill>
                  <a:schemeClr val="tx1"/>
                </a:solidFill>
                <a:effectLst/>
                <a:latin typeface="Arial" pitchFamily="34" charset="0"/>
                <a:ea typeface="+mn-ea"/>
                <a:cs typeface="Arial" pitchFamily="34" charset="0"/>
              </a:rPr>
              <a:t>Licensing and transfer of IP rights: </a:t>
            </a:r>
            <a:r>
              <a:rPr lang="en-GB" sz="1200" b="0" i="0" kern="1200" dirty="0">
                <a:solidFill>
                  <a:schemeClr val="tx1"/>
                </a:solidFill>
                <a:effectLst/>
                <a:latin typeface="Arial" pitchFamily="34" charset="0"/>
                <a:ea typeface="+mn-ea"/>
                <a:cs typeface="Arial" pitchFamily="34" charset="0"/>
              </a:rPr>
              <a:t>IP rights can be very valuable intangible property assets. The rights can be licensed, transferred, sold, or used to secure investment. For certain IP rights, such as trade marks, it is best practice to record any such licences or transfers on the IPO Register. Please contact the Burges Salmon IP and Commercial teams to discuss your requirements regarding dealing with your IP. See also our note on </a:t>
            </a:r>
            <a:r>
              <a:rPr lang="en-GB" sz="1200" b="0" i="0" u="none" strike="noStrike" kern="1200" dirty="0">
                <a:solidFill>
                  <a:schemeClr val="tx1"/>
                </a:solidFill>
                <a:effectLst/>
                <a:latin typeface="Arial" pitchFamily="34" charset="0"/>
                <a:ea typeface="+mn-ea"/>
                <a:cs typeface="Arial" pitchFamily="34" charset="0"/>
                <a:hlinkClick r:id="rId4"/>
              </a:rPr>
              <a:t>Contracting Under English Law.</a:t>
            </a:r>
            <a:endParaRPr lang="en-GB" sz="1200" b="0" i="0" kern="1200" dirty="0">
              <a:solidFill>
                <a:schemeClr val="tx1"/>
              </a:solidFill>
              <a:effectLst/>
              <a:latin typeface="Arial" pitchFamily="34" charset="0"/>
              <a:ea typeface="+mn-ea"/>
              <a:cs typeface="Arial" pitchFamily="34" charset="0"/>
            </a:endParaRPr>
          </a:p>
          <a:p>
            <a:r>
              <a:rPr lang="en-GB" sz="1200" b="1" i="0" kern="1200" dirty="0">
                <a:solidFill>
                  <a:schemeClr val="tx1"/>
                </a:solidFill>
                <a:effectLst/>
                <a:latin typeface="Arial" pitchFamily="34" charset="0"/>
                <a:ea typeface="+mn-ea"/>
                <a:cs typeface="Arial" pitchFamily="34" charset="0"/>
              </a:rPr>
              <a:t>Enforcement: </a:t>
            </a:r>
            <a:r>
              <a:rPr lang="en-GB" sz="1200" b="0" i="0" kern="1200" dirty="0">
                <a:solidFill>
                  <a:schemeClr val="tx1"/>
                </a:solidFill>
                <a:effectLst/>
                <a:latin typeface="Arial" pitchFamily="34" charset="0"/>
                <a:ea typeface="+mn-ea"/>
                <a:cs typeface="Arial" pitchFamily="34" charset="0"/>
              </a:rPr>
              <a:t>You may also wish to use your IP to enforce your rights against others.</a:t>
            </a:r>
          </a:p>
          <a:p>
            <a:endParaRPr lang="en-GB" sz="1200" b="0" i="0" kern="1200" dirty="0">
              <a:solidFill>
                <a:schemeClr val="tx1"/>
              </a:solidFill>
              <a:effectLst/>
              <a:latin typeface="Arial" pitchFamily="34" charset="0"/>
              <a:ea typeface="+mn-ea"/>
              <a:cs typeface="Arial" pitchFamily="34" charset="0"/>
            </a:endParaRPr>
          </a:p>
          <a:p>
            <a:endParaRPr lang="en-GB" dirty="0"/>
          </a:p>
        </p:txBody>
      </p:sp>
      <p:sp>
        <p:nvSpPr>
          <p:cNvPr id="4" name="Slide Number Placeholder 3"/>
          <p:cNvSpPr>
            <a:spLocks noGrp="1"/>
          </p:cNvSpPr>
          <p:nvPr>
            <p:ph type="sldNum" sz="quarter" idx="5"/>
          </p:nvPr>
        </p:nvSpPr>
        <p:spPr/>
        <p:txBody>
          <a:bodyPr/>
          <a:lstStyle/>
          <a:p>
            <a:pPr>
              <a:defRPr/>
            </a:pPr>
            <a:fld id="{165323BA-7296-483C-BD7B-BDD3DD599FB2}" type="slidenum">
              <a:rPr lang="en-GB" altLang="en-US" smtClean="0"/>
              <a:pPr>
                <a:defRPr/>
              </a:pPr>
              <a:t>3</a:t>
            </a:fld>
            <a:endParaRPr lang="en-GB" altLang="en-US"/>
          </a:p>
        </p:txBody>
      </p:sp>
    </p:spTree>
    <p:extLst>
      <p:ext uri="{BB962C8B-B14F-4D97-AF65-F5344CB8AC3E}">
        <p14:creationId xmlns:p14="http://schemas.microsoft.com/office/powerpoint/2010/main" val="3477755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https://www.legislation.gov.uk/ukpga/1987/43/contents</a:t>
            </a:r>
          </a:p>
          <a:p>
            <a:r>
              <a:rPr lang="en-GB" dirty="0"/>
              <a:t>https://www.thecpa.co.uk/news/breaking-down-consumer-protection-act-1987/</a:t>
            </a:r>
          </a:p>
          <a:p>
            <a:endParaRPr lang="en-GB" dirty="0"/>
          </a:p>
          <a:p>
            <a:endParaRPr lang="en-GB" dirty="0"/>
          </a:p>
          <a:p>
            <a:pPr fontAlgn="base"/>
            <a:r>
              <a:rPr lang="en-GB" sz="1200" b="1" i="0" kern="1200" cap="all" dirty="0">
                <a:solidFill>
                  <a:schemeClr val="tx1"/>
                </a:solidFill>
                <a:effectLst/>
                <a:latin typeface="Arial" pitchFamily="34" charset="0"/>
                <a:ea typeface="+mn-ea"/>
                <a:cs typeface="Arial" pitchFamily="34" charset="0"/>
              </a:rPr>
              <a:t>KEY POINTS ABOUT THE CONSUMER PROTECTION ACT 1987</a:t>
            </a:r>
          </a:p>
          <a:p>
            <a:pPr fontAlgn="base"/>
            <a:r>
              <a:rPr lang="en-GB" sz="1200" b="0" i="0" kern="1200" dirty="0">
                <a:solidFill>
                  <a:schemeClr val="tx1"/>
                </a:solidFill>
                <a:effectLst/>
                <a:latin typeface="Arial" pitchFamily="34" charset="0"/>
                <a:ea typeface="+mn-ea"/>
                <a:cs typeface="Arial" pitchFamily="34" charset="0"/>
              </a:rPr>
              <a:t>A claim can’t be brought if the damaged property is below £275 in value.</a:t>
            </a:r>
            <a:br>
              <a:rPr lang="en-GB" sz="1200" b="0" i="0" kern="1200" dirty="0">
                <a:solidFill>
                  <a:schemeClr val="tx1"/>
                </a:solidFill>
                <a:effectLst/>
                <a:latin typeface="Arial" pitchFamily="34" charset="0"/>
                <a:ea typeface="+mn-ea"/>
                <a:cs typeface="Arial" pitchFamily="34" charset="0"/>
              </a:rPr>
            </a:br>
            <a:endParaRPr lang="en-GB" sz="1200" b="0" i="0" kern="1200" dirty="0">
              <a:solidFill>
                <a:schemeClr val="tx1"/>
              </a:solidFill>
              <a:effectLst/>
              <a:latin typeface="Arial" pitchFamily="34" charset="0"/>
              <a:ea typeface="+mn-ea"/>
              <a:cs typeface="Arial" pitchFamily="34" charset="0"/>
            </a:endParaRPr>
          </a:p>
          <a:p>
            <a:pPr fontAlgn="base"/>
            <a:r>
              <a:rPr lang="en-GB" sz="1200" b="0" i="0" kern="1200" dirty="0">
                <a:solidFill>
                  <a:schemeClr val="tx1"/>
                </a:solidFill>
                <a:effectLst/>
                <a:latin typeface="Arial" pitchFamily="34" charset="0"/>
                <a:ea typeface="+mn-ea"/>
                <a:cs typeface="Arial" pitchFamily="34" charset="0"/>
              </a:rPr>
              <a:t>A claim can’t be brought for damage due to business products that are not ordinarily intended for personal use</a:t>
            </a:r>
            <a:br>
              <a:rPr lang="en-GB" sz="1200" b="0" i="0" kern="1200" dirty="0">
                <a:solidFill>
                  <a:schemeClr val="tx1"/>
                </a:solidFill>
                <a:effectLst/>
                <a:latin typeface="Arial" pitchFamily="34" charset="0"/>
                <a:ea typeface="+mn-ea"/>
                <a:cs typeface="Arial" pitchFamily="34" charset="0"/>
              </a:rPr>
            </a:br>
            <a:endParaRPr lang="en-GB" sz="1200" b="0" i="0" kern="1200" dirty="0">
              <a:solidFill>
                <a:schemeClr val="tx1"/>
              </a:solidFill>
              <a:effectLst/>
              <a:latin typeface="Arial" pitchFamily="34" charset="0"/>
              <a:ea typeface="+mn-ea"/>
              <a:cs typeface="Arial" pitchFamily="34" charset="0"/>
            </a:endParaRPr>
          </a:p>
          <a:p>
            <a:pPr fontAlgn="base"/>
            <a:r>
              <a:rPr lang="en-GB" sz="1200" b="0" i="0" kern="1200" dirty="0">
                <a:solidFill>
                  <a:schemeClr val="tx1"/>
                </a:solidFill>
                <a:effectLst/>
                <a:latin typeface="Arial" pitchFamily="34" charset="0"/>
                <a:ea typeface="+mn-ea"/>
                <a:cs typeface="Arial" pitchFamily="34" charset="0"/>
              </a:rPr>
              <a:t>The Act doesn’t just cover the consumer that purchased the faulty product. Anyone who suffers damage is entitled to a claim.</a:t>
            </a:r>
            <a:br>
              <a:rPr lang="en-GB" sz="1200" b="0" i="0" kern="1200" dirty="0">
                <a:solidFill>
                  <a:schemeClr val="tx1"/>
                </a:solidFill>
                <a:effectLst/>
                <a:latin typeface="Arial" pitchFamily="34" charset="0"/>
                <a:ea typeface="+mn-ea"/>
                <a:cs typeface="Arial" pitchFamily="34" charset="0"/>
              </a:rPr>
            </a:br>
            <a:endParaRPr lang="en-GB" sz="1200" b="0" i="0" kern="1200" dirty="0">
              <a:solidFill>
                <a:schemeClr val="tx1"/>
              </a:solidFill>
              <a:effectLst/>
              <a:latin typeface="Arial" pitchFamily="34" charset="0"/>
              <a:ea typeface="+mn-ea"/>
              <a:cs typeface="Arial" pitchFamily="34" charset="0"/>
            </a:endParaRPr>
          </a:p>
          <a:p>
            <a:pPr fontAlgn="base"/>
            <a:r>
              <a:rPr lang="en-GB" sz="1200" b="0" i="0" kern="1200" dirty="0">
                <a:solidFill>
                  <a:schemeClr val="tx1"/>
                </a:solidFill>
                <a:effectLst/>
                <a:latin typeface="Arial" pitchFamily="34" charset="0"/>
                <a:ea typeface="+mn-ea"/>
                <a:cs typeface="Arial" pitchFamily="34" charset="0"/>
              </a:rPr>
              <a:t>Consumers can begin court cases up to 3 years from the initial date of the injury</a:t>
            </a:r>
            <a:br>
              <a:rPr lang="en-GB" sz="1200" b="0" i="0" kern="1200" dirty="0">
                <a:solidFill>
                  <a:schemeClr val="tx1"/>
                </a:solidFill>
                <a:effectLst/>
                <a:latin typeface="Arial" pitchFamily="34" charset="0"/>
                <a:ea typeface="+mn-ea"/>
                <a:cs typeface="Arial" pitchFamily="34" charset="0"/>
              </a:rPr>
            </a:br>
            <a:endParaRPr lang="en-GB" sz="1200" b="0" i="0" kern="1200" dirty="0">
              <a:solidFill>
                <a:schemeClr val="tx1"/>
              </a:solidFill>
              <a:effectLst/>
              <a:latin typeface="Arial" pitchFamily="34" charset="0"/>
              <a:ea typeface="+mn-ea"/>
              <a:cs typeface="Arial" pitchFamily="34" charset="0"/>
            </a:endParaRPr>
          </a:p>
          <a:p>
            <a:pPr fontAlgn="base"/>
            <a:r>
              <a:rPr lang="en-GB" sz="1200" b="0" i="0" kern="1200" dirty="0">
                <a:solidFill>
                  <a:schemeClr val="tx1"/>
                </a:solidFill>
                <a:effectLst/>
                <a:latin typeface="Arial" pitchFamily="34" charset="0"/>
                <a:ea typeface="+mn-ea"/>
                <a:cs typeface="Arial" pitchFamily="34" charset="0"/>
              </a:rPr>
              <a:t>No claim can be submitted more than 10 years since the product was last sold</a:t>
            </a:r>
            <a:br>
              <a:rPr lang="en-GB" sz="1200" b="0" i="0" kern="1200" dirty="0">
                <a:solidFill>
                  <a:schemeClr val="tx1"/>
                </a:solidFill>
                <a:effectLst/>
                <a:latin typeface="Arial" pitchFamily="34" charset="0"/>
                <a:ea typeface="+mn-ea"/>
                <a:cs typeface="Arial" pitchFamily="34" charset="0"/>
              </a:rPr>
            </a:br>
            <a:endParaRPr lang="en-GB" sz="1200" b="0" i="0" kern="1200" dirty="0">
              <a:solidFill>
                <a:schemeClr val="tx1"/>
              </a:solidFill>
              <a:effectLst/>
              <a:latin typeface="Arial" pitchFamily="34" charset="0"/>
              <a:ea typeface="+mn-ea"/>
              <a:cs typeface="Arial" pitchFamily="34" charset="0"/>
            </a:endParaRPr>
          </a:p>
          <a:p>
            <a:pPr fontAlgn="base"/>
            <a:r>
              <a:rPr lang="en-GB" sz="1200" b="0" i="0" kern="1200" dirty="0">
                <a:solidFill>
                  <a:schemeClr val="tx1"/>
                </a:solidFill>
                <a:effectLst/>
                <a:latin typeface="Arial" pitchFamily="34" charset="0"/>
                <a:ea typeface="+mn-ea"/>
                <a:cs typeface="Arial" pitchFamily="34" charset="0"/>
              </a:rPr>
              <a:t>Should a product be declared faulty; the Act gives local authorities the right to seize unsafe goods and suspend retailers from selling them</a:t>
            </a:r>
          </a:p>
          <a:p>
            <a:endParaRPr lang="en-GB" dirty="0"/>
          </a:p>
        </p:txBody>
      </p:sp>
      <p:sp>
        <p:nvSpPr>
          <p:cNvPr id="4" name="Slide Number Placeholder 3"/>
          <p:cNvSpPr>
            <a:spLocks noGrp="1"/>
          </p:cNvSpPr>
          <p:nvPr>
            <p:ph type="sldNum" sz="quarter" idx="5"/>
          </p:nvPr>
        </p:nvSpPr>
        <p:spPr/>
        <p:txBody>
          <a:bodyPr/>
          <a:lstStyle/>
          <a:p>
            <a:pPr>
              <a:defRPr/>
            </a:pPr>
            <a:fld id="{165323BA-7296-483C-BD7B-BDD3DD599FB2}" type="slidenum">
              <a:rPr lang="en-GB" altLang="en-US" smtClean="0"/>
              <a:pPr>
                <a:defRPr/>
              </a:pPr>
              <a:t>4</a:t>
            </a:fld>
            <a:endParaRPr lang="en-GB" altLang="en-US"/>
          </a:p>
        </p:txBody>
      </p:sp>
    </p:spTree>
    <p:extLst>
      <p:ext uri="{BB962C8B-B14F-4D97-AF65-F5344CB8AC3E}">
        <p14:creationId xmlns:p14="http://schemas.microsoft.com/office/powerpoint/2010/main" val="29831222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Arial" pitchFamily="34" charset="0"/>
                <a:ea typeface="+mn-ea"/>
                <a:cs typeface="Arial" pitchFamily="34" charset="0"/>
              </a:rPr>
              <a:t>Age ratings are </a:t>
            </a:r>
            <a:r>
              <a:rPr lang="en-GB" sz="1200" b="1" i="0" kern="1200" dirty="0">
                <a:solidFill>
                  <a:schemeClr val="tx1"/>
                </a:solidFill>
                <a:effectLst/>
                <a:latin typeface="Arial" pitchFamily="34" charset="0"/>
                <a:ea typeface="+mn-ea"/>
                <a:cs typeface="Arial" pitchFamily="34" charset="0"/>
              </a:rPr>
              <a:t>systems used to ensure that entertainment content</a:t>
            </a:r>
            <a:r>
              <a:rPr lang="en-GB" sz="1200" b="0" i="0" kern="1200" dirty="0">
                <a:solidFill>
                  <a:schemeClr val="tx1"/>
                </a:solidFill>
                <a:effectLst/>
                <a:latin typeface="Arial" pitchFamily="34" charset="0"/>
                <a:ea typeface="+mn-ea"/>
                <a:cs typeface="Arial" pitchFamily="34" charset="0"/>
              </a:rPr>
              <a:t>, such as games, but also films, tv shows or mobile apps, is clearly labelled with a minimum age recommendation based on the content they have.</a:t>
            </a:r>
          </a:p>
          <a:p>
            <a:endParaRPr lang="en-GB" sz="1200" b="0" i="0" kern="1200" dirty="0">
              <a:solidFill>
                <a:schemeClr val="tx1"/>
              </a:solidFill>
              <a:effectLst/>
              <a:latin typeface="Arial" pitchFamily="34" charset="0"/>
              <a:ea typeface="+mn-ea"/>
              <a:cs typeface="Arial" pitchFamily="34" charset="0"/>
            </a:endParaRPr>
          </a:p>
          <a:p>
            <a:r>
              <a:rPr lang="en-GB" dirty="0">
                <a:hlinkClick r:id="rId3"/>
              </a:rPr>
              <a:t>Age and content ratings on apps and games (net-aware.org.uk)</a:t>
            </a:r>
            <a:endParaRPr lang="en-GB" dirty="0"/>
          </a:p>
          <a:p>
            <a:r>
              <a:rPr lang="en-GB" dirty="0">
                <a:hlinkClick r:id="rId4"/>
              </a:rPr>
              <a:t>New rules to better protect children from inappropriate video game content - GOV.UK (www.gov.uk)</a:t>
            </a:r>
            <a:endParaRPr lang="en-GB" dirty="0"/>
          </a:p>
          <a:p>
            <a:endParaRPr lang="en-GB" dirty="0"/>
          </a:p>
          <a:p>
            <a:r>
              <a:rPr lang="en-GB" sz="1200" b="0" i="0" kern="1200" dirty="0">
                <a:solidFill>
                  <a:schemeClr val="tx1"/>
                </a:solidFill>
                <a:effectLst/>
                <a:latin typeface="Arial" pitchFamily="34" charset="0"/>
                <a:ea typeface="+mn-ea"/>
                <a:cs typeface="Arial" pitchFamily="34" charset="0"/>
              </a:rPr>
              <a:t>Most apps will give their own ratings, but app stores, like Apple, Google and Amazon, have different ways of rating. There’s also the PEGI age rating system, which is used in a lot of European countries.</a:t>
            </a:r>
          </a:p>
          <a:p>
            <a:endParaRPr lang="en-GB" dirty="0"/>
          </a:p>
        </p:txBody>
      </p:sp>
      <p:sp>
        <p:nvSpPr>
          <p:cNvPr id="4" name="Slide Number Placeholder 3"/>
          <p:cNvSpPr>
            <a:spLocks noGrp="1"/>
          </p:cNvSpPr>
          <p:nvPr>
            <p:ph type="sldNum" sz="quarter" idx="5"/>
          </p:nvPr>
        </p:nvSpPr>
        <p:spPr/>
        <p:txBody>
          <a:bodyPr/>
          <a:lstStyle/>
          <a:p>
            <a:pPr>
              <a:defRPr/>
            </a:pPr>
            <a:fld id="{165323BA-7296-483C-BD7B-BDD3DD599FB2}" type="slidenum">
              <a:rPr lang="en-GB" altLang="en-US" smtClean="0"/>
              <a:pPr>
                <a:defRPr/>
              </a:pPr>
              <a:t>5</a:t>
            </a:fld>
            <a:endParaRPr lang="en-GB" altLang="en-US"/>
          </a:p>
        </p:txBody>
      </p:sp>
    </p:spTree>
    <p:extLst>
      <p:ext uri="{BB962C8B-B14F-4D97-AF65-F5344CB8AC3E}">
        <p14:creationId xmlns:p14="http://schemas.microsoft.com/office/powerpoint/2010/main" val="14565937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a:rPr>
              <a:t>Marketing and advertising: the law - GOV.UK (www.gov.uk)</a:t>
            </a:r>
            <a:endParaRPr lang="en-GB" dirty="0"/>
          </a:p>
          <a:p>
            <a:r>
              <a:rPr lang="en-GB" dirty="0">
                <a:hlinkClick r:id="rId4"/>
              </a:rPr>
              <a:t>Advertisers: a guide to advertising regulation in the UK (pinsentmasons.com)</a:t>
            </a:r>
            <a:endParaRPr lang="en-GB" dirty="0"/>
          </a:p>
          <a:p>
            <a:r>
              <a:rPr lang="en-GB" dirty="0">
                <a:hlinkClick r:id="rId5"/>
              </a:rPr>
              <a:t>How are advertising and marketing regulated in the UK? | </a:t>
            </a:r>
            <a:r>
              <a:rPr lang="en-GB" dirty="0" err="1">
                <a:hlinkClick r:id="rId5"/>
              </a:rPr>
              <a:t>marketinglaw</a:t>
            </a:r>
            <a:r>
              <a:rPr lang="en-GB" dirty="0">
                <a:hlinkClick r:id="rId5"/>
              </a:rPr>
              <a:t> (osborneclarke.com)</a:t>
            </a:r>
            <a:endParaRPr lang="en-GB" dirty="0"/>
          </a:p>
        </p:txBody>
      </p:sp>
      <p:sp>
        <p:nvSpPr>
          <p:cNvPr id="4" name="Slide Number Placeholder 3"/>
          <p:cNvSpPr>
            <a:spLocks noGrp="1"/>
          </p:cNvSpPr>
          <p:nvPr>
            <p:ph type="sldNum" sz="quarter" idx="5"/>
          </p:nvPr>
        </p:nvSpPr>
        <p:spPr/>
        <p:txBody>
          <a:bodyPr/>
          <a:lstStyle/>
          <a:p>
            <a:pPr>
              <a:defRPr/>
            </a:pPr>
            <a:fld id="{165323BA-7296-483C-BD7B-BDD3DD599FB2}" type="slidenum">
              <a:rPr lang="en-GB" altLang="en-US" smtClean="0"/>
              <a:pPr>
                <a:defRPr/>
              </a:pPr>
              <a:t>6</a:t>
            </a:fld>
            <a:endParaRPr lang="en-GB" altLang="en-US"/>
          </a:p>
        </p:txBody>
      </p:sp>
    </p:spTree>
    <p:extLst>
      <p:ext uri="{BB962C8B-B14F-4D97-AF65-F5344CB8AC3E}">
        <p14:creationId xmlns:p14="http://schemas.microsoft.com/office/powerpoint/2010/main" val="24887531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C0D9477D-65CC-403A-BC8C-344C5BFB3013}"/>
              </a:ext>
            </a:extLst>
          </p:cNvPr>
          <p:cNvSpPr>
            <a:spLocks noGrp="1" noRot="1" noChangeAspect="1" noChangeArrowheads="1" noTextEdit="1"/>
          </p:cNvSpPr>
          <p:nvPr>
            <p:ph type="sldImg"/>
          </p:nvPr>
        </p:nvSpPr>
        <p:spPr>
          <a:ln/>
        </p:spPr>
      </p:sp>
      <p:sp>
        <p:nvSpPr>
          <p:cNvPr id="23555" name="Notes Placeholder 2">
            <a:extLst>
              <a:ext uri="{FF2B5EF4-FFF2-40B4-BE49-F238E27FC236}">
                <a16:creationId xmlns:a16="http://schemas.microsoft.com/office/drawing/2014/main" id="{EC98E629-E2E2-4F74-A526-DE0237E931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3556" name="Slide Number Placeholder 3">
            <a:extLst>
              <a:ext uri="{FF2B5EF4-FFF2-40B4-BE49-F238E27FC236}">
                <a16:creationId xmlns:a16="http://schemas.microsoft.com/office/drawing/2014/main" id="{38291AF3-BAC0-4BE3-B183-BA81033C51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DAFC5BA-60C2-4569-BE93-3BA1D654EFDF}" type="slidenum">
              <a:rPr lang="en-GB" altLang="en-US"/>
              <a:pPr/>
              <a:t>7</a:t>
            </a:fld>
            <a:endParaRPr lang="en-GB"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BD25CF52-965C-4204-A3A1-DBB08E5E8A96}"/>
              </a:ext>
            </a:extLst>
          </p:cNvPr>
          <p:cNvSpPr>
            <a:spLocks noGrp="1" noRot="1" noChangeAspect="1" noChangeArrowheads="1" noTextEdit="1"/>
          </p:cNvSpPr>
          <p:nvPr>
            <p:ph type="sldImg"/>
          </p:nvPr>
        </p:nvSpPr>
        <p:spPr>
          <a:ln/>
        </p:spPr>
      </p:sp>
      <p:sp>
        <p:nvSpPr>
          <p:cNvPr id="27651" name="Notes Placeholder 2">
            <a:extLst>
              <a:ext uri="{FF2B5EF4-FFF2-40B4-BE49-F238E27FC236}">
                <a16:creationId xmlns:a16="http://schemas.microsoft.com/office/drawing/2014/main" id="{EE38804F-565E-46E6-965B-CA14F68E6AD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7652" name="Slide Number Placeholder 3">
            <a:extLst>
              <a:ext uri="{FF2B5EF4-FFF2-40B4-BE49-F238E27FC236}">
                <a16:creationId xmlns:a16="http://schemas.microsoft.com/office/drawing/2014/main" id="{603B064F-2502-4200-A2DD-99A1E91105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1BE035A-3C23-4547-BAA8-F299550D81B8}" type="slidenum">
              <a:rPr lang="en-GB" altLang="en-US"/>
              <a:pPr/>
              <a:t>8</a:t>
            </a:fld>
            <a:endParaRPr lang="en-GB"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a:rPr>
              <a:t>Gambling Act 2005 (legislation.gov.uk)</a:t>
            </a:r>
            <a:endParaRPr lang="en-GB" dirty="0"/>
          </a:p>
          <a:p>
            <a:r>
              <a:rPr lang="en-GB" dirty="0">
                <a:hlinkClick r:id="rId4"/>
              </a:rPr>
              <a:t>Regulation in the software and gaming industries | nibusinessinfo.co.uk</a:t>
            </a:r>
            <a:endParaRPr lang="en-GB" dirty="0"/>
          </a:p>
          <a:p>
            <a:r>
              <a:rPr lang="en-GB" dirty="0"/>
              <a:t>https://www.legislation.gov.uk/ukpga/2005/19/contents</a:t>
            </a:r>
          </a:p>
          <a:p>
            <a:endParaRPr lang="en-GB" dirty="0"/>
          </a:p>
          <a:p>
            <a:endParaRPr lang="en-GB" dirty="0"/>
          </a:p>
        </p:txBody>
      </p:sp>
      <p:sp>
        <p:nvSpPr>
          <p:cNvPr id="4" name="Slide Number Placeholder 3"/>
          <p:cNvSpPr>
            <a:spLocks noGrp="1"/>
          </p:cNvSpPr>
          <p:nvPr>
            <p:ph type="sldNum" sz="quarter" idx="5"/>
          </p:nvPr>
        </p:nvSpPr>
        <p:spPr/>
        <p:txBody>
          <a:bodyPr/>
          <a:lstStyle/>
          <a:p>
            <a:pPr>
              <a:defRPr/>
            </a:pPr>
            <a:fld id="{165323BA-7296-483C-BD7B-BDD3DD599FB2}" type="slidenum">
              <a:rPr lang="en-GB" altLang="en-US" smtClean="0"/>
              <a:pPr>
                <a:defRPr/>
              </a:pPr>
              <a:t>9</a:t>
            </a:fld>
            <a:endParaRPr lang="en-GB" altLang="en-US"/>
          </a:p>
        </p:txBody>
      </p:sp>
    </p:spTree>
    <p:extLst>
      <p:ext uri="{BB962C8B-B14F-4D97-AF65-F5344CB8AC3E}">
        <p14:creationId xmlns:p14="http://schemas.microsoft.com/office/powerpoint/2010/main" val="15017422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a:rPr>
              <a:t>26 Employees and Employers Rights and Responsibilities - </a:t>
            </a:r>
            <a:r>
              <a:rPr lang="en-GB" dirty="0" err="1">
                <a:hlinkClick r:id="rId3"/>
              </a:rPr>
              <a:t>WiseStep</a:t>
            </a:r>
            <a:endParaRPr lang="en-GB" dirty="0"/>
          </a:p>
        </p:txBody>
      </p:sp>
      <p:sp>
        <p:nvSpPr>
          <p:cNvPr id="4" name="Slide Number Placeholder 3"/>
          <p:cNvSpPr>
            <a:spLocks noGrp="1"/>
          </p:cNvSpPr>
          <p:nvPr>
            <p:ph type="sldNum" sz="quarter" idx="5"/>
          </p:nvPr>
        </p:nvSpPr>
        <p:spPr/>
        <p:txBody>
          <a:bodyPr/>
          <a:lstStyle/>
          <a:p>
            <a:pPr>
              <a:defRPr/>
            </a:pPr>
            <a:fld id="{165323BA-7296-483C-BD7B-BDD3DD599FB2}" type="slidenum">
              <a:rPr lang="en-GB" altLang="en-US" smtClean="0"/>
              <a:pPr>
                <a:defRPr/>
              </a:pPr>
              <a:t>10</a:t>
            </a:fld>
            <a:endParaRPr lang="en-GB" altLang="en-US"/>
          </a:p>
        </p:txBody>
      </p:sp>
    </p:spTree>
    <p:extLst>
      <p:ext uri="{BB962C8B-B14F-4D97-AF65-F5344CB8AC3E}">
        <p14:creationId xmlns:p14="http://schemas.microsoft.com/office/powerpoint/2010/main" val="12343674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4F796-56BB-D991-AA15-76B2A3FB05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1BDAFF-2653-D46F-91BA-DE5F4A846D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5C4CE6-5928-F2B6-3DC2-1BF9D1172EFF}"/>
              </a:ext>
            </a:extLst>
          </p:cNvPr>
          <p:cNvSpPr>
            <a:spLocks noGrp="1"/>
          </p:cNvSpPr>
          <p:nvPr>
            <p:ph type="body" idx="1"/>
          </p:nvPr>
        </p:nvSpPr>
        <p:spPr/>
        <p:txBody>
          <a:bodyPr/>
          <a:lstStyle/>
          <a:p>
            <a:r>
              <a:rPr lang="en-GB" dirty="0"/>
              <a:t>https://www.gov.uk/guidance/export-controls-dual-use-items-software-and-technology-goods-for-torture-and-radioactive-sources</a:t>
            </a:r>
          </a:p>
          <a:p>
            <a:r>
              <a:rPr lang="en-GB" dirty="0"/>
              <a:t>https://www.dpocentre.com/gdpr-advice-for-saas-companies-entering-eu-uk-markets/</a:t>
            </a:r>
          </a:p>
          <a:p>
            <a:r>
              <a:rPr lang="en-GB" dirty="0"/>
              <a:t>https://incountry.com/blog/the-uk-data-sovereignty-framework-requirements-and-solutions/</a:t>
            </a:r>
          </a:p>
          <a:p>
            <a:endParaRPr lang="en-GB" dirty="0"/>
          </a:p>
          <a:p>
            <a:endParaRPr lang="en-GB" dirty="0"/>
          </a:p>
        </p:txBody>
      </p:sp>
      <p:sp>
        <p:nvSpPr>
          <p:cNvPr id="4" name="Slide Number Placeholder 3">
            <a:extLst>
              <a:ext uri="{FF2B5EF4-FFF2-40B4-BE49-F238E27FC236}">
                <a16:creationId xmlns:a16="http://schemas.microsoft.com/office/drawing/2014/main" id="{8851618D-E07E-4A9D-098A-F00CF1DAD29F}"/>
              </a:ext>
            </a:extLst>
          </p:cNvPr>
          <p:cNvSpPr>
            <a:spLocks noGrp="1"/>
          </p:cNvSpPr>
          <p:nvPr>
            <p:ph type="sldNum" sz="quarter" idx="5"/>
          </p:nvPr>
        </p:nvSpPr>
        <p:spPr/>
        <p:txBody>
          <a:bodyPr/>
          <a:lstStyle/>
          <a:p>
            <a:pPr>
              <a:defRPr/>
            </a:pPr>
            <a:fld id="{165323BA-7296-483C-BD7B-BDD3DD599FB2}" type="slidenum">
              <a:rPr lang="en-GB" altLang="en-US" smtClean="0"/>
              <a:pPr>
                <a:defRPr/>
              </a:pPr>
              <a:t>11</a:t>
            </a:fld>
            <a:endParaRPr lang="en-GB" altLang="en-US"/>
          </a:p>
        </p:txBody>
      </p:sp>
    </p:spTree>
    <p:extLst>
      <p:ext uri="{BB962C8B-B14F-4D97-AF65-F5344CB8AC3E}">
        <p14:creationId xmlns:p14="http://schemas.microsoft.com/office/powerpoint/2010/main" val="9690624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57D91-6657-7519-4208-983FB55E50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FE99C5-61B4-AA29-3FC8-FDACB624E4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179F8D-DFD5-E431-F843-CA3A9119E0DB}"/>
              </a:ext>
            </a:extLst>
          </p:cNvPr>
          <p:cNvSpPr>
            <a:spLocks noGrp="1"/>
          </p:cNvSpPr>
          <p:nvPr>
            <p:ph type="body" idx="1"/>
          </p:nvPr>
        </p:nvSpPr>
        <p:spPr/>
        <p:txBody>
          <a:bodyPr/>
          <a:lstStyle/>
          <a:p>
            <a:endParaRPr lang="en-GB" dirty="0"/>
          </a:p>
          <a:p>
            <a:r>
              <a:rPr lang="en-GB" dirty="0"/>
              <a:t>https://my.infotex.com/four-basic-truths/</a:t>
            </a:r>
          </a:p>
        </p:txBody>
      </p:sp>
      <p:sp>
        <p:nvSpPr>
          <p:cNvPr id="4" name="Slide Number Placeholder 3">
            <a:extLst>
              <a:ext uri="{FF2B5EF4-FFF2-40B4-BE49-F238E27FC236}">
                <a16:creationId xmlns:a16="http://schemas.microsoft.com/office/drawing/2014/main" id="{2DC39D93-84B9-B2AC-CB84-926D77C02DDF}"/>
              </a:ext>
            </a:extLst>
          </p:cNvPr>
          <p:cNvSpPr>
            <a:spLocks noGrp="1"/>
          </p:cNvSpPr>
          <p:nvPr>
            <p:ph type="sldNum" sz="quarter" idx="5"/>
          </p:nvPr>
        </p:nvSpPr>
        <p:spPr/>
        <p:txBody>
          <a:bodyPr/>
          <a:lstStyle/>
          <a:p>
            <a:pPr>
              <a:defRPr/>
            </a:pPr>
            <a:fld id="{165323BA-7296-483C-BD7B-BDD3DD599FB2}" type="slidenum">
              <a:rPr lang="en-GB" altLang="en-US" smtClean="0"/>
              <a:pPr>
                <a:defRPr/>
              </a:pPr>
              <a:t>12</a:t>
            </a:fld>
            <a:endParaRPr lang="en-GB" altLang="en-US"/>
          </a:p>
        </p:txBody>
      </p:sp>
    </p:spTree>
    <p:extLst>
      <p:ext uri="{BB962C8B-B14F-4D97-AF65-F5344CB8AC3E}">
        <p14:creationId xmlns:p14="http://schemas.microsoft.com/office/powerpoint/2010/main" val="20542517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FFB76-5A48-E443-C106-87A73F899D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904B29-5889-F5AA-0F34-A081BD51E7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A7DFCF-4273-584A-45C7-1B89648D097A}"/>
              </a:ext>
            </a:extLst>
          </p:cNvPr>
          <p:cNvSpPr>
            <a:spLocks noGrp="1"/>
          </p:cNvSpPr>
          <p:nvPr>
            <p:ph type="body" idx="1"/>
          </p:nvPr>
        </p:nvSpPr>
        <p:spPr/>
        <p:txBody>
          <a:bodyPr/>
          <a:lstStyle/>
          <a:p>
            <a:r>
              <a:rPr lang="en-GB" dirty="0"/>
              <a:t>https://cmsvoc.co.uk/blog/a-guide-to-equality-and-diversity/</a:t>
            </a:r>
          </a:p>
          <a:p>
            <a:r>
              <a:rPr lang="en-GB" dirty="0"/>
              <a:t>https://www.bbc.co.uk/bitesize/guides/zdnjhbk/revision/2</a:t>
            </a:r>
          </a:p>
        </p:txBody>
      </p:sp>
      <p:sp>
        <p:nvSpPr>
          <p:cNvPr id="4" name="Slide Number Placeholder 3">
            <a:extLst>
              <a:ext uri="{FF2B5EF4-FFF2-40B4-BE49-F238E27FC236}">
                <a16:creationId xmlns:a16="http://schemas.microsoft.com/office/drawing/2014/main" id="{3B373954-13D0-81E9-CDD4-46F83B57CE8F}"/>
              </a:ext>
            </a:extLst>
          </p:cNvPr>
          <p:cNvSpPr>
            <a:spLocks noGrp="1"/>
          </p:cNvSpPr>
          <p:nvPr>
            <p:ph type="sldNum" sz="quarter" idx="5"/>
          </p:nvPr>
        </p:nvSpPr>
        <p:spPr/>
        <p:txBody>
          <a:bodyPr/>
          <a:lstStyle/>
          <a:p>
            <a:pPr>
              <a:defRPr/>
            </a:pPr>
            <a:fld id="{165323BA-7296-483C-BD7B-BDD3DD599FB2}" type="slidenum">
              <a:rPr lang="en-GB" altLang="en-US" smtClean="0"/>
              <a:pPr>
                <a:defRPr/>
              </a:pPr>
              <a:t>13</a:t>
            </a:fld>
            <a:endParaRPr lang="en-GB" altLang="en-US"/>
          </a:p>
        </p:txBody>
      </p:sp>
    </p:spTree>
    <p:extLst>
      <p:ext uri="{BB962C8B-B14F-4D97-AF65-F5344CB8AC3E}">
        <p14:creationId xmlns:p14="http://schemas.microsoft.com/office/powerpoint/2010/main" val="9056598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https://www.iso.org/standard/74348.html</a:t>
            </a:r>
          </a:p>
        </p:txBody>
      </p:sp>
      <p:sp>
        <p:nvSpPr>
          <p:cNvPr id="4" name="Slide Number Placeholder 3"/>
          <p:cNvSpPr>
            <a:spLocks noGrp="1"/>
          </p:cNvSpPr>
          <p:nvPr>
            <p:ph type="sldNum" sz="quarter" idx="5"/>
          </p:nvPr>
        </p:nvSpPr>
        <p:spPr/>
        <p:txBody>
          <a:bodyPr/>
          <a:lstStyle/>
          <a:p>
            <a:pPr>
              <a:defRPr/>
            </a:pPr>
            <a:fld id="{165323BA-7296-483C-BD7B-BDD3DD599FB2}" type="slidenum">
              <a:rPr lang="en-GB" altLang="en-US" smtClean="0"/>
              <a:pPr>
                <a:defRPr/>
              </a:pPr>
              <a:t>14</a:t>
            </a:fld>
            <a:endParaRPr lang="en-GB" altLang="en-US"/>
          </a:p>
        </p:txBody>
      </p:sp>
    </p:spTree>
    <p:extLst>
      <p:ext uri="{BB962C8B-B14F-4D97-AF65-F5344CB8AC3E}">
        <p14:creationId xmlns:p14="http://schemas.microsoft.com/office/powerpoint/2010/main" val="34765262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https://www.w3.org/</a:t>
            </a:r>
          </a:p>
        </p:txBody>
      </p:sp>
      <p:sp>
        <p:nvSpPr>
          <p:cNvPr id="4" name="Slide Number Placeholder 3"/>
          <p:cNvSpPr>
            <a:spLocks noGrp="1"/>
          </p:cNvSpPr>
          <p:nvPr>
            <p:ph type="sldNum" sz="quarter" idx="5"/>
          </p:nvPr>
        </p:nvSpPr>
        <p:spPr/>
        <p:txBody>
          <a:bodyPr/>
          <a:lstStyle/>
          <a:p>
            <a:pPr>
              <a:defRPr/>
            </a:pPr>
            <a:fld id="{165323BA-7296-483C-BD7B-BDD3DD599FB2}" type="slidenum">
              <a:rPr lang="en-GB" altLang="en-US" smtClean="0"/>
              <a:pPr>
                <a:defRPr/>
              </a:pPr>
              <a:t>15</a:t>
            </a:fld>
            <a:endParaRPr lang="en-GB" altLang="en-US"/>
          </a:p>
        </p:txBody>
      </p:sp>
    </p:spTree>
    <p:extLst>
      <p:ext uri="{BB962C8B-B14F-4D97-AF65-F5344CB8AC3E}">
        <p14:creationId xmlns:p14="http://schemas.microsoft.com/office/powerpoint/2010/main" val="20524387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https://ieeecsbdc.org/</a:t>
            </a:r>
          </a:p>
          <a:p>
            <a:r>
              <a:rPr lang="en-GB" dirty="0"/>
              <a:t>https://en.wikipedia.org/wiki/British_Computer_Society</a:t>
            </a:r>
          </a:p>
          <a:p>
            <a:r>
              <a:rPr lang="en-GB" dirty="0"/>
              <a:t>https://www.bcs.org/membership-and-registrations/become-a-member/</a:t>
            </a:r>
          </a:p>
        </p:txBody>
      </p:sp>
      <p:sp>
        <p:nvSpPr>
          <p:cNvPr id="4" name="Slide Number Placeholder 3"/>
          <p:cNvSpPr>
            <a:spLocks noGrp="1"/>
          </p:cNvSpPr>
          <p:nvPr>
            <p:ph type="sldNum" sz="quarter" idx="5"/>
          </p:nvPr>
        </p:nvSpPr>
        <p:spPr/>
        <p:txBody>
          <a:bodyPr/>
          <a:lstStyle/>
          <a:p>
            <a:pPr>
              <a:defRPr/>
            </a:pPr>
            <a:fld id="{165323BA-7296-483C-BD7B-BDD3DD599FB2}" type="slidenum">
              <a:rPr lang="en-GB" altLang="en-US" smtClean="0"/>
              <a:pPr>
                <a:defRPr/>
              </a:pPr>
              <a:t>16</a:t>
            </a:fld>
            <a:endParaRPr lang="en-GB" altLang="en-US"/>
          </a:p>
        </p:txBody>
      </p:sp>
    </p:spTree>
    <p:extLst>
      <p:ext uri="{BB962C8B-B14F-4D97-AF65-F5344CB8AC3E}">
        <p14:creationId xmlns:p14="http://schemas.microsoft.com/office/powerpoint/2010/main" val="17700531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https://www.bcs.org/media/2211/bcs-code-of-conduct.pdf</a:t>
            </a:r>
          </a:p>
          <a:p>
            <a:r>
              <a:rPr lang="en-GB" dirty="0"/>
              <a:t>https://www.ieee.org/content/dam/ieee-org/ieee/web/org/about/ieee_code_of_conduct.pdf</a:t>
            </a:r>
          </a:p>
          <a:p>
            <a:r>
              <a:rPr lang="en-GB" dirty="0"/>
              <a:t>https://www.acm.org/code-of-ethics</a:t>
            </a:r>
          </a:p>
        </p:txBody>
      </p:sp>
      <p:sp>
        <p:nvSpPr>
          <p:cNvPr id="4" name="Slide Number Placeholder 3"/>
          <p:cNvSpPr>
            <a:spLocks noGrp="1"/>
          </p:cNvSpPr>
          <p:nvPr>
            <p:ph type="sldNum" sz="quarter" idx="5"/>
          </p:nvPr>
        </p:nvSpPr>
        <p:spPr/>
        <p:txBody>
          <a:bodyPr/>
          <a:lstStyle/>
          <a:p>
            <a:pPr>
              <a:defRPr/>
            </a:pPr>
            <a:fld id="{165323BA-7296-483C-BD7B-BDD3DD599FB2}" type="slidenum">
              <a:rPr lang="en-GB" altLang="en-US" smtClean="0"/>
              <a:pPr>
                <a:defRPr/>
              </a:pPr>
              <a:t>17</a:t>
            </a:fld>
            <a:endParaRPr lang="en-GB" altLang="en-US"/>
          </a:p>
        </p:txBody>
      </p:sp>
    </p:spTree>
    <p:extLst>
      <p:ext uri="{BB962C8B-B14F-4D97-AF65-F5344CB8AC3E}">
        <p14:creationId xmlns:p14="http://schemas.microsoft.com/office/powerpoint/2010/main" val="29948899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https://easydigitaldownloads.com/downloads/software-licensing/</a:t>
            </a:r>
          </a:p>
          <a:p>
            <a:r>
              <a:rPr lang="en-GB" dirty="0"/>
              <a:t>https://snyk.io/articles/navigating-software-license/</a:t>
            </a:r>
          </a:p>
          <a:p>
            <a:endParaRPr lang="en-GB" dirty="0"/>
          </a:p>
        </p:txBody>
      </p:sp>
      <p:sp>
        <p:nvSpPr>
          <p:cNvPr id="4" name="Slide Number Placeholder 3"/>
          <p:cNvSpPr>
            <a:spLocks noGrp="1"/>
          </p:cNvSpPr>
          <p:nvPr>
            <p:ph type="sldNum" sz="quarter" idx="5"/>
          </p:nvPr>
        </p:nvSpPr>
        <p:spPr/>
        <p:txBody>
          <a:bodyPr/>
          <a:lstStyle/>
          <a:p>
            <a:pPr>
              <a:defRPr/>
            </a:pPr>
            <a:fld id="{165323BA-7296-483C-BD7B-BDD3DD599FB2}" type="slidenum">
              <a:rPr lang="en-GB" altLang="en-US" smtClean="0"/>
              <a:pPr>
                <a:defRPr/>
              </a:pPr>
              <a:t>18</a:t>
            </a:fld>
            <a:endParaRPr lang="en-GB" altLang="en-US"/>
          </a:p>
        </p:txBody>
      </p:sp>
    </p:spTree>
    <p:extLst>
      <p:ext uri="{BB962C8B-B14F-4D97-AF65-F5344CB8AC3E}">
        <p14:creationId xmlns:p14="http://schemas.microsoft.com/office/powerpoint/2010/main" val="22154460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https://www.linkedin.com/pulse/building-diverse-inclusive-software-development-team-verbatltd-4yxsc</a:t>
            </a:r>
          </a:p>
          <a:p>
            <a:r>
              <a:rPr lang="en-GB" dirty="0"/>
              <a:t>https://resources.scrumalliance.org/Article/what-agile-software-development-can-teach-us-about-diversity-and-inclusion</a:t>
            </a:r>
          </a:p>
          <a:p>
            <a:endParaRPr lang="en-GB" dirty="0"/>
          </a:p>
        </p:txBody>
      </p:sp>
      <p:sp>
        <p:nvSpPr>
          <p:cNvPr id="4" name="Slide Number Placeholder 3"/>
          <p:cNvSpPr>
            <a:spLocks noGrp="1"/>
          </p:cNvSpPr>
          <p:nvPr>
            <p:ph type="sldNum" sz="quarter" idx="5"/>
          </p:nvPr>
        </p:nvSpPr>
        <p:spPr/>
        <p:txBody>
          <a:bodyPr/>
          <a:lstStyle/>
          <a:p>
            <a:pPr>
              <a:defRPr/>
            </a:pPr>
            <a:fld id="{165323BA-7296-483C-BD7B-BDD3DD599FB2}" type="slidenum">
              <a:rPr lang="en-GB" altLang="en-US" smtClean="0"/>
              <a:pPr>
                <a:defRPr/>
              </a:pPr>
              <a:t>19</a:t>
            </a:fld>
            <a:endParaRPr lang="en-GB" altLang="en-US"/>
          </a:p>
        </p:txBody>
      </p:sp>
    </p:spTree>
    <p:extLst>
      <p:ext uri="{BB962C8B-B14F-4D97-AF65-F5344CB8AC3E}">
        <p14:creationId xmlns:p14="http://schemas.microsoft.com/office/powerpoint/2010/main" val="23806941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45–60 minutes total</a:t>
            </a:r>
            <a:br>
              <a:rPr lang="en-GB" dirty="0"/>
            </a:br>
            <a:r>
              <a:rPr lang="en-GB" dirty="0"/>
              <a:t>(30 mins research, 15 mins prepare summary, 5–10 mins present)</a:t>
            </a:r>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pPr>
              <a:defRPr/>
            </a:pPr>
            <a:fld id="{165323BA-7296-483C-BD7B-BDD3DD599FB2}" type="slidenum">
              <a:rPr lang="en-GB" altLang="en-US" smtClean="0"/>
              <a:pPr>
                <a:defRPr/>
              </a:pPr>
              <a:t>20</a:t>
            </a:fld>
            <a:endParaRPr lang="en-GB" altLang="en-US"/>
          </a:p>
        </p:txBody>
      </p:sp>
    </p:spTree>
    <p:extLst>
      <p:ext uri="{BB962C8B-B14F-4D97-AF65-F5344CB8AC3E}">
        <p14:creationId xmlns:p14="http://schemas.microsoft.com/office/powerpoint/2010/main" val="16906184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96CE5594-48DC-45B7-A88D-4F7DEF1842A7}"/>
              </a:ext>
            </a:extLst>
          </p:cNvPr>
          <p:cNvGrpSpPr>
            <a:grpSpLocks/>
          </p:cNvGrpSpPr>
          <p:nvPr/>
        </p:nvGrpSpPr>
        <p:grpSpPr bwMode="auto">
          <a:xfrm>
            <a:off x="0" y="2438400"/>
            <a:ext cx="9009063" cy="1052513"/>
            <a:chOff x="0" y="1536"/>
            <a:chExt cx="5675" cy="663"/>
          </a:xfrm>
        </p:grpSpPr>
        <p:grpSp>
          <p:nvGrpSpPr>
            <p:cNvPr id="5" name="Group 3">
              <a:extLst>
                <a:ext uri="{FF2B5EF4-FFF2-40B4-BE49-F238E27FC236}">
                  <a16:creationId xmlns:a16="http://schemas.microsoft.com/office/drawing/2014/main" id="{BFB81880-29F5-4C4D-89A9-401FEDC6841F}"/>
                </a:ext>
              </a:extLst>
            </p:cNvPr>
            <p:cNvGrpSpPr>
              <a:grpSpLocks/>
            </p:cNvGrpSpPr>
            <p:nvPr/>
          </p:nvGrpSpPr>
          <p:grpSpPr bwMode="auto">
            <a:xfrm>
              <a:off x="183" y="1604"/>
              <a:ext cx="448" cy="299"/>
              <a:chOff x="720" y="336"/>
              <a:chExt cx="624" cy="432"/>
            </a:xfrm>
          </p:grpSpPr>
          <p:sp>
            <p:nvSpPr>
              <p:cNvPr id="12" name="Rectangle 4">
                <a:extLst>
                  <a:ext uri="{FF2B5EF4-FFF2-40B4-BE49-F238E27FC236}">
                    <a16:creationId xmlns:a16="http://schemas.microsoft.com/office/drawing/2014/main" id="{8E33E0C4-1613-4900-8E11-9055DCCCE59C}"/>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13" name="Rectangle 5">
                <a:extLst>
                  <a:ext uri="{FF2B5EF4-FFF2-40B4-BE49-F238E27FC236}">
                    <a16:creationId xmlns:a16="http://schemas.microsoft.com/office/drawing/2014/main" id="{F7EBB658-D305-4175-9B76-5405B180DF06}"/>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grpSp>
          <p:nvGrpSpPr>
            <p:cNvPr id="6" name="Group 6">
              <a:extLst>
                <a:ext uri="{FF2B5EF4-FFF2-40B4-BE49-F238E27FC236}">
                  <a16:creationId xmlns:a16="http://schemas.microsoft.com/office/drawing/2014/main" id="{B6BE3314-AA97-4AF2-8EC4-848C95D362BD}"/>
                </a:ext>
              </a:extLst>
            </p:cNvPr>
            <p:cNvGrpSpPr>
              <a:grpSpLocks/>
            </p:cNvGrpSpPr>
            <p:nvPr/>
          </p:nvGrpSpPr>
          <p:grpSpPr bwMode="auto">
            <a:xfrm>
              <a:off x="261" y="1870"/>
              <a:ext cx="465" cy="299"/>
              <a:chOff x="912" y="2640"/>
              <a:chExt cx="672" cy="432"/>
            </a:xfrm>
          </p:grpSpPr>
          <p:sp>
            <p:nvSpPr>
              <p:cNvPr id="10" name="Rectangle 7">
                <a:extLst>
                  <a:ext uri="{FF2B5EF4-FFF2-40B4-BE49-F238E27FC236}">
                    <a16:creationId xmlns:a16="http://schemas.microsoft.com/office/drawing/2014/main" id="{6C7F4189-F42D-4D7D-A322-EB89F904A89C}"/>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11" name="Rectangle 8">
                <a:extLst>
                  <a:ext uri="{FF2B5EF4-FFF2-40B4-BE49-F238E27FC236}">
                    <a16:creationId xmlns:a16="http://schemas.microsoft.com/office/drawing/2014/main" id="{C39C83AA-B127-4AE6-B21C-BE5DCADFD96C}"/>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sp>
          <p:nvSpPr>
            <p:cNvPr id="7" name="Rectangle 9">
              <a:extLst>
                <a:ext uri="{FF2B5EF4-FFF2-40B4-BE49-F238E27FC236}">
                  <a16:creationId xmlns:a16="http://schemas.microsoft.com/office/drawing/2014/main" id="{FF34FE4B-8458-4C63-92C4-72419E1FE37E}"/>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8" name="Rectangle 10">
              <a:extLst>
                <a:ext uri="{FF2B5EF4-FFF2-40B4-BE49-F238E27FC236}">
                  <a16:creationId xmlns:a16="http://schemas.microsoft.com/office/drawing/2014/main" id="{15E18C60-3A79-4103-A238-8C529312B762}"/>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9" name="Rectangle 11">
              <a:extLst>
                <a:ext uri="{FF2B5EF4-FFF2-40B4-BE49-F238E27FC236}">
                  <a16:creationId xmlns:a16="http://schemas.microsoft.com/office/drawing/2014/main" id="{7F1F5193-AC79-4D57-93F5-C839EB8018CC}"/>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sp>
        <p:nvSpPr>
          <p:cNvPr id="14" name="TextBox 17">
            <a:extLst>
              <a:ext uri="{FF2B5EF4-FFF2-40B4-BE49-F238E27FC236}">
                <a16:creationId xmlns:a16="http://schemas.microsoft.com/office/drawing/2014/main" id="{3341A0FC-67D6-4FC7-9AFA-D9E204F44D61}"/>
              </a:ext>
            </a:extLst>
          </p:cNvPr>
          <p:cNvSpPr txBox="1"/>
          <p:nvPr userDrawn="1"/>
        </p:nvSpPr>
        <p:spPr>
          <a:xfrm>
            <a:off x="7235825" y="6611938"/>
            <a:ext cx="1908175" cy="246062"/>
          </a:xfrm>
          <a:prstGeom prst="rect">
            <a:avLst/>
          </a:prstGeom>
          <a:noFill/>
        </p:spPr>
        <p:txBody>
          <a:bodyPr>
            <a:spAutoFit/>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defRPr/>
            </a:pPr>
            <a:r>
              <a:rPr lang="en-US" sz="1000" dirty="0"/>
              <a:t>Prepared by Hamish Spencer</a:t>
            </a:r>
            <a:endParaRPr lang="en-GB" sz="1000" dirty="0"/>
          </a:p>
        </p:txBody>
      </p:sp>
      <p:sp>
        <p:nvSpPr>
          <p:cNvPr id="25612" name="Rectangle 12"/>
          <p:cNvSpPr>
            <a:spLocks noGrp="1" noChangeArrowheads="1"/>
          </p:cNvSpPr>
          <p:nvPr>
            <p:ph type="ctrTitle"/>
          </p:nvPr>
        </p:nvSpPr>
        <p:spPr>
          <a:xfrm>
            <a:off x="990600" y="1828800"/>
            <a:ext cx="7772400" cy="1143000"/>
          </a:xfrm>
        </p:spPr>
        <p:txBody>
          <a:bodyPr/>
          <a:lstStyle>
            <a:lvl1pPr>
              <a:defRPr/>
            </a:lvl1pPr>
          </a:lstStyle>
          <a:p>
            <a:r>
              <a:rPr lang="en-US"/>
              <a:t>Click to edit Master title style</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5" name="Date Placeholder 14">
            <a:extLst>
              <a:ext uri="{FF2B5EF4-FFF2-40B4-BE49-F238E27FC236}">
                <a16:creationId xmlns:a16="http://schemas.microsoft.com/office/drawing/2014/main" id="{F93FFE49-4CBD-4A08-8C86-C5047F172FA2}"/>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p>
        </p:txBody>
      </p:sp>
      <p:sp>
        <p:nvSpPr>
          <p:cNvPr id="16" name="Footer Placeholder 15">
            <a:extLst>
              <a:ext uri="{FF2B5EF4-FFF2-40B4-BE49-F238E27FC236}">
                <a16:creationId xmlns:a16="http://schemas.microsoft.com/office/drawing/2014/main" id="{DDC64452-3127-4E45-83BF-08500AD377CB}"/>
              </a:ext>
            </a:extLst>
          </p:cNvPr>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p>
        </p:txBody>
      </p:sp>
    </p:spTree>
    <p:extLst>
      <p:ext uri="{BB962C8B-B14F-4D97-AF65-F5344CB8AC3E}">
        <p14:creationId xmlns:p14="http://schemas.microsoft.com/office/powerpoint/2010/main" val="8717774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2AC72EC4-05DC-4353-8C11-FD09585BA91B}"/>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9E78C1C7-499F-4D5F-BA48-ACB60E52424E}"/>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30C813A2-AD6A-4AEF-9A93-3D650867FB07}"/>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22F8A468-B2BB-4967-837D-7D8C83C09A48}" type="slidenum">
              <a:rPr lang="en-US" altLang="en-US"/>
              <a:pPr>
                <a:defRPr/>
              </a:pPr>
              <a:t>‹#›</a:t>
            </a:fld>
            <a:endParaRPr lang="en-US" altLang="en-US"/>
          </a:p>
        </p:txBody>
      </p:sp>
    </p:spTree>
    <p:extLst>
      <p:ext uri="{BB962C8B-B14F-4D97-AF65-F5344CB8AC3E}">
        <p14:creationId xmlns:p14="http://schemas.microsoft.com/office/powerpoint/2010/main" val="23263894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F916C416-A095-4CBB-9FF3-BFB673DEA5FE}"/>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DD7A0633-3D0E-4703-8D7B-E1DA30F35DBE}"/>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3C613920-5899-48FF-9438-6298BDEB904F}"/>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A9B60E1E-804A-46A3-A2D7-10317F8E3A54}" type="slidenum">
              <a:rPr lang="en-US" altLang="en-US"/>
              <a:pPr>
                <a:defRPr/>
              </a:pPr>
              <a:t>‹#›</a:t>
            </a:fld>
            <a:endParaRPr lang="en-US" altLang="en-US"/>
          </a:p>
        </p:txBody>
      </p:sp>
    </p:spTree>
    <p:extLst>
      <p:ext uri="{BB962C8B-B14F-4D97-AF65-F5344CB8AC3E}">
        <p14:creationId xmlns:p14="http://schemas.microsoft.com/office/powerpoint/2010/main" val="18760810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826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50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a:extLst>
              <a:ext uri="{FF2B5EF4-FFF2-40B4-BE49-F238E27FC236}">
                <a16:creationId xmlns:a16="http://schemas.microsoft.com/office/drawing/2014/main" id="{E89EB659-C2C9-46EB-8C2B-E1F76DB15E1B}"/>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FE1C49DE-842C-41B2-B1AC-D48711FEB344}"/>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0BD4FAF4-37DE-46EA-84A9-17DCF953A6A5}"/>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147EE280-46E6-48DE-8C0D-B2A7EC806A0C}" type="slidenum">
              <a:rPr lang="en-US" altLang="en-US"/>
              <a:pPr>
                <a:defRPr/>
              </a:pPr>
              <a:t>‹#›</a:t>
            </a:fld>
            <a:endParaRPr lang="en-US" altLang="en-US"/>
          </a:p>
        </p:txBody>
      </p:sp>
    </p:spTree>
    <p:extLst>
      <p:ext uri="{BB962C8B-B14F-4D97-AF65-F5344CB8AC3E}">
        <p14:creationId xmlns:p14="http://schemas.microsoft.com/office/powerpoint/2010/main" val="3350154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a:extLst>
              <a:ext uri="{FF2B5EF4-FFF2-40B4-BE49-F238E27FC236}">
                <a16:creationId xmlns:a16="http://schemas.microsoft.com/office/drawing/2014/main" id="{6F3810F0-F635-4683-AD41-F83BA50E7E69}"/>
              </a:ext>
            </a:extLst>
          </p:cNvPr>
          <p:cNvSpPr>
            <a:spLocks noGrp="1" noChangeArrowheads="1"/>
          </p:cNvSpPr>
          <p:nvPr>
            <p:ph type="dt" sz="half" idx="10"/>
          </p:nvPr>
        </p:nvSpPr>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528FD012-4D1B-4336-83B5-4AC69628FA5C}"/>
              </a:ext>
            </a:extLst>
          </p:cNvPr>
          <p:cNvSpPr>
            <a:spLocks noGrp="1" noChangeArrowheads="1"/>
          </p:cNvSpPr>
          <p:nvPr>
            <p:ph type="ftr" sz="quarter" idx="11"/>
          </p:nvPr>
        </p:nvSpPr>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7EF6A06D-FA60-44FE-A968-0AB4823BD960}"/>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F20BAD44-3B89-495C-899A-B2793C695D9E}" type="slidenum">
              <a:rPr lang="en-US" altLang="en-US"/>
              <a:pPr>
                <a:defRPr/>
              </a:pPr>
              <a:t>‹#›</a:t>
            </a:fld>
            <a:endParaRPr lang="en-US" altLang="en-US"/>
          </a:p>
        </p:txBody>
      </p:sp>
    </p:spTree>
    <p:extLst>
      <p:ext uri="{BB962C8B-B14F-4D97-AF65-F5344CB8AC3E}">
        <p14:creationId xmlns:p14="http://schemas.microsoft.com/office/powerpoint/2010/main" val="2812308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a:extLst>
              <a:ext uri="{FF2B5EF4-FFF2-40B4-BE49-F238E27FC236}">
                <a16:creationId xmlns:a16="http://schemas.microsoft.com/office/drawing/2014/main" id="{6A591F7D-7AE9-4B5E-99F8-070366D15CD1}"/>
              </a:ext>
            </a:extLst>
          </p:cNvPr>
          <p:cNvSpPr>
            <a:spLocks noGrp="1" noChangeArrowheads="1"/>
          </p:cNvSpPr>
          <p:nvPr>
            <p:ph type="dt" sz="half" idx="10"/>
          </p:nvPr>
        </p:nvSpPr>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B44EE704-78C7-4A46-9221-78A6587B9A74}"/>
              </a:ext>
            </a:extLst>
          </p:cNvPr>
          <p:cNvSpPr>
            <a:spLocks noGrp="1" noChangeArrowheads="1"/>
          </p:cNvSpPr>
          <p:nvPr>
            <p:ph type="ftr" sz="quarter" idx="11"/>
          </p:nvPr>
        </p:nvSpPr>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B7280801-DF3A-43CE-8874-F0AB11134446}"/>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87DBBB3C-3540-4284-9C03-58446440D93A}" type="slidenum">
              <a:rPr lang="en-US" altLang="en-US"/>
              <a:pPr>
                <a:defRPr/>
              </a:pPr>
              <a:t>‹#›</a:t>
            </a:fld>
            <a:endParaRPr lang="en-US" altLang="en-US"/>
          </a:p>
        </p:txBody>
      </p:sp>
    </p:spTree>
    <p:extLst>
      <p:ext uri="{BB962C8B-B14F-4D97-AF65-F5344CB8AC3E}">
        <p14:creationId xmlns:p14="http://schemas.microsoft.com/office/powerpoint/2010/main" val="1304138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DCDE1AA5-71C4-486D-9292-33738F568199}"/>
              </a:ext>
            </a:extLst>
          </p:cNvPr>
          <p:cNvSpPr>
            <a:spLocks noGrp="1" noChangeArrowheads="1"/>
          </p:cNvSpPr>
          <p:nvPr>
            <p:ph type="dt" sz="half" idx="10"/>
          </p:nvPr>
        </p:nvSpPr>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F29ABBC3-2E41-40B7-9E30-F563D997A8C1}"/>
              </a:ext>
            </a:extLst>
          </p:cNvPr>
          <p:cNvSpPr>
            <a:spLocks noGrp="1" noChangeArrowheads="1"/>
          </p:cNvSpPr>
          <p:nvPr>
            <p:ph type="ftr" sz="quarter" idx="11"/>
          </p:nvPr>
        </p:nvSpPr>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384AEB07-060A-4A75-A08C-ACC84E385E70}"/>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D831D421-0C6C-4F24-846A-381F156B39AE}" type="slidenum">
              <a:rPr lang="en-US" altLang="en-US"/>
              <a:pPr>
                <a:defRPr/>
              </a:pPr>
              <a:t>‹#›</a:t>
            </a:fld>
            <a:endParaRPr lang="en-US" altLang="en-US"/>
          </a:p>
        </p:txBody>
      </p:sp>
    </p:spTree>
    <p:extLst>
      <p:ext uri="{BB962C8B-B14F-4D97-AF65-F5344CB8AC3E}">
        <p14:creationId xmlns:p14="http://schemas.microsoft.com/office/powerpoint/2010/main" val="1284077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FECDC640-CBFD-4F1B-80EB-92D9CCA5DCC5}"/>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85D7A32D-14CE-4AA3-A501-937046090DED}"/>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663B5697-0C07-4F25-A46F-F8AEEB9C710A}"/>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B677A9C4-3410-4575-8C5C-731EF398E123}" type="slidenum">
              <a:rPr lang="en-US" altLang="en-US"/>
              <a:pPr>
                <a:defRPr/>
              </a:pPr>
              <a:t>‹#›</a:t>
            </a:fld>
            <a:endParaRPr lang="en-US" altLang="en-US"/>
          </a:p>
        </p:txBody>
      </p:sp>
    </p:spTree>
    <p:extLst>
      <p:ext uri="{BB962C8B-B14F-4D97-AF65-F5344CB8AC3E}">
        <p14:creationId xmlns:p14="http://schemas.microsoft.com/office/powerpoint/2010/main" val="3019218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1AD5A3F4-B4CD-4B72-9E83-5CB58A4E9B37}"/>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2F253D63-BAA8-486D-8F09-F44FEBDAA817}"/>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FD307129-F176-4335-986F-26D796E925C5}"/>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487A71C7-F88E-4A4C-BD6F-10813CDFD9D1}" type="slidenum">
              <a:rPr lang="en-US" altLang="en-US"/>
              <a:pPr>
                <a:defRPr/>
              </a:pPr>
              <a:t>‹#›</a:t>
            </a:fld>
            <a:endParaRPr lang="en-US" altLang="en-US"/>
          </a:p>
        </p:txBody>
      </p:sp>
    </p:spTree>
    <p:extLst>
      <p:ext uri="{BB962C8B-B14F-4D97-AF65-F5344CB8AC3E}">
        <p14:creationId xmlns:p14="http://schemas.microsoft.com/office/powerpoint/2010/main" val="2614989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5FD8443A-8B17-46B9-AC6F-BF907CE50763}"/>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D061DFDC-ED12-4952-9BB1-147757706524}"/>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F95D47F1-BF53-4A14-A4CF-B91CF5137E2D}"/>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0B7BC7EB-7EB0-4434-9563-E7ECAF095E6B}" type="slidenum">
              <a:rPr lang="en-US" altLang="en-US"/>
              <a:pPr>
                <a:defRPr/>
              </a:pPr>
              <a:t>‹#›</a:t>
            </a:fld>
            <a:endParaRPr lang="en-US" altLang="en-US"/>
          </a:p>
        </p:txBody>
      </p:sp>
    </p:spTree>
    <p:extLst>
      <p:ext uri="{BB962C8B-B14F-4D97-AF65-F5344CB8AC3E}">
        <p14:creationId xmlns:p14="http://schemas.microsoft.com/office/powerpoint/2010/main" val="1412748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96113" y="404813"/>
            <a:ext cx="1958975" cy="57277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16013" y="404813"/>
            <a:ext cx="5727700" cy="5727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279ED983-B700-45D8-9AF6-54814619806B}"/>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196ABF31-FB1D-45A5-A0CB-6D0CDF78B2B8}"/>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3D4988FE-28EF-496A-9A1D-781730540B97}"/>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6CBD0EF1-8588-40FB-8943-0D4B18A81BD5}" type="slidenum">
              <a:rPr lang="en-US" altLang="en-US"/>
              <a:pPr>
                <a:defRPr/>
              </a:pPr>
              <a:t>‹#›</a:t>
            </a:fld>
            <a:endParaRPr lang="en-US" altLang="en-US"/>
          </a:p>
        </p:txBody>
      </p:sp>
    </p:spTree>
    <p:extLst>
      <p:ext uri="{BB962C8B-B14F-4D97-AF65-F5344CB8AC3E}">
        <p14:creationId xmlns:p14="http://schemas.microsoft.com/office/powerpoint/2010/main" val="23136936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4CE40BBD-6427-47C8-BECF-B2375DACA6E6}"/>
              </a:ext>
            </a:extLst>
          </p:cNvPr>
          <p:cNvGrpSpPr>
            <a:grpSpLocks/>
          </p:cNvGrpSpPr>
          <p:nvPr/>
        </p:nvGrpSpPr>
        <p:grpSpPr bwMode="auto">
          <a:xfrm>
            <a:off x="0" y="2438400"/>
            <a:ext cx="9009063" cy="1052513"/>
            <a:chOff x="0" y="1536"/>
            <a:chExt cx="5675" cy="663"/>
          </a:xfrm>
        </p:grpSpPr>
        <p:grpSp>
          <p:nvGrpSpPr>
            <p:cNvPr id="5" name="Group 3">
              <a:extLst>
                <a:ext uri="{FF2B5EF4-FFF2-40B4-BE49-F238E27FC236}">
                  <a16:creationId xmlns:a16="http://schemas.microsoft.com/office/drawing/2014/main" id="{C2B5BE5A-7BA5-43B1-9184-3478346ADB76}"/>
                </a:ext>
              </a:extLst>
            </p:cNvPr>
            <p:cNvGrpSpPr>
              <a:grpSpLocks/>
            </p:cNvGrpSpPr>
            <p:nvPr/>
          </p:nvGrpSpPr>
          <p:grpSpPr bwMode="auto">
            <a:xfrm>
              <a:off x="183" y="1604"/>
              <a:ext cx="448" cy="299"/>
              <a:chOff x="720" y="336"/>
              <a:chExt cx="624" cy="432"/>
            </a:xfrm>
          </p:grpSpPr>
          <p:sp>
            <p:nvSpPr>
              <p:cNvPr id="12" name="Rectangle 4">
                <a:extLst>
                  <a:ext uri="{FF2B5EF4-FFF2-40B4-BE49-F238E27FC236}">
                    <a16:creationId xmlns:a16="http://schemas.microsoft.com/office/drawing/2014/main" id="{50DEFDB4-06F6-4D71-92E2-5740FBCC1CE7}"/>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13" name="Rectangle 5">
                <a:extLst>
                  <a:ext uri="{FF2B5EF4-FFF2-40B4-BE49-F238E27FC236}">
                    <a16:creationId xmlns:a16="http://schemas.microsoft.com/office/drawing/2014/main" id="{7C0481A1-C4D1-431D-B45B-FEBD293E3E56}"/>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grpSp>
          <p:nvGrpSpPr>
            <p:cNvPr id="6" name="Group 6">
              <a:extLst>
                <a:ext uri="{FF2B5EF4-FFF2-40B4-BE49-F238E27FC236}">
                  <a16:creationId xmlns:a16="http://schemas.microsoft.com/office/drawing/2014/main" id="{4DFC3424-9B91-4D68-82CA-65C78E220535}"/>
                </a:ext>
              </a:extLst>
            </p:cNvPr>
            <p:cNvGrpSpPr>
              <a:grpSpLocks/>
            </p:cNvGrpSpPr>
            <p:nvPr/>
          </p:nvGrpSpPr>
          <p:grpSpPr bwMode="auto">
            <a:xfrm>
              <a:off x="261" y="1870"/>
              <a:ext cx="465" cy="299"/>
              <a:chOff x="912" y="2640"/>
              <a:chExt cx="672" cy="432"/>
            </a:xfrm>
          </p:grpSpPr>
          <p:sp>
            <p:nvSpPr>
              <p:cNvPr id="10" name="Rectangle 7">
                <a:extLst>
                  <a:ext uri="{FF2B5EF4-FFF2-40B4-BE49-F238E27FC236}">
                    <a16:creationId xmlns:a16="http://schemas.microsoft.com/office/drawing/2014/main" id="{2F581F19-BB3F-4F9E-BD16-97A8E0E20EB8}"/>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11" name="Rectangle 8">
                <a:extLst>
                  <a:ext uri="{FF2B5EF4-FFF2-40B4-BE49-F238E27FC236}">
                    <a16:creationId xmlns:a16="http://schemas.microsoft.com/office/drawing/2014/main" id="{930A6698-C9E1-4541-BB01-67C78D0289B0}"/>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sp>
          <p:nvSpPr>
            <p:cNvPr id="7" name="Rectangle 9">
              <a:extLst>
                <a:ext uri="{FF2B5EF4-FFF2-40B4-BE49-F238E27FC236}">
                  <a16:creationId xmlns:a16="http://schemas.microsoft.com/office/drawing/2014/main" id="{031286AF-EFFD-4E49-8819-E560776E7294}"/>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8" name="Rectangle 10">
              <a:extLst>
                <a:ext uri="{FF2B5EF4-FFF2-40B4-BE49-F238E27FC236}">
                  <a16:creationId xmlns:a16="http://schemas.microsoft.com/office/drawing/2014/main" id="{880A6E02-62B8-444B-BA02-38209C2BDAB5}"/>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9" name="Rectangle 11">
              <a:extLst>
                <a:ext uri="{FF2B5EF4-FFF2-40B4-BE49-F238E27FC236}">
                  <a16:creationId xmlns:a16="http://schemas.microsoft.com/office/drawing/2014/main" id="{8EC79549-41EA-4B9C-AAB2-CF61499E6B40}"/>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sp>
        <p:nvSpPr>
          <p:cNvPr id="25612" name="Rectangle 12"/>
          <p:cNvSpPr>
            <a:spLocks noGrp="1" noChangeArrowheads="1"/>
          </p:cNvSpPr>
          <p:nvPr>
            <p:ph type="ctrTitle"/>
          </p:nvPr>
        </p:nvSpPr>
        <p:spPr>
          <a:xfrm>
            <a:off x="990600" y="1828800"/>
            <a:ext cx="7772400" cy="1143000"/>
          </a:xfrm>
        </p:spPr>
        <p:txBody>
          <a:bodyPr/>
          <a:lstStyle>
            <a:lvl1pPr>
              <a:defRPr/>
            </a:lvl1pPr>
          </a:lstStyle>
          <a:p>
            <a:pPr lvl="0"/>
            <a:r>
              <a:rPr lang="en-US" noProof="0"/>
              <a:t>Click to edit Master title style</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en-US" noProof="0"/>
              <a:t>Click to edit Master subtitle style</a:t>
            </a:r>
          </a:p>
        </p:txBody>
      </p:sp>
      <p:sp>
        <p:nvSpPr>
          <p:cNvPr id="14" name="Rectangle 14">
            <a:extLst>
              <a:ext uri="{FF2B5EF4-FFF2-40B4-BE49-F238E27FC236}">
                <a16:creationId xmlns:a16="http://schemas.microsoft.com/office/drawing/2014/main" id="{4B9491C9-63E2-4DBE-AF93-69FC03ED3534}"/>
              </a:ext>
            </a:extLst>
          </p:cNvPr>
          <p:cNvSpPr>
            <a:spLocks noGrp="1" noChangeArrowheads="1"/>
          </p:cNvSpPr>
          <p:nvPr>
            <p:ph type="dt" sz="half" idx="10"/>
          </p:nvPr>
        </p:nvSpPr>
        <p:spPr>
          <a:xfrm>
            <a:off x="990600" y="6248400"/>
            <a:ext cx="1905000" cy="457200"/>
          </a:xfrm>
        </p:spPr>
        <p:txBody>
          <a:bodyPr/>
          <a:lstStyle>
            <a:lvl1pPr>
              <a:defRPr>
                <a:solidFill>
                  <a:srgbClr val="1C1C1C"/>
                </a:solidFill>
              </a:defRPr>
            </a:lvl1pPr>
          </a:lstStyle>
          <a:p>
            <a:pPr>
              <a:defRPr/>
            </a:pPr>
            <a:endParaRPr lang="en-US"/>
          </a:p>
        </p:txBody>
      </p:sp>
      <p:sp>
        <p:nvSpPr>
          <p:cNvPr id="15" name="Rectangle 15">
            <a:extLst>
              <a:ext uri="{FF2B5EF4-FFF2-40B4-BE49-F238E27FC236}">
                <a16:creationId xmlns:a16="http://schemas.microsoft.com/office/drawing/2014/main" id="{F9529577-9090-4121-9DA4-31D377E4153C}"/>
              </a:ext>
            </a:extLst>
          </p:cNvPr>
          <p:cNvSpPr>
            <a:spLocks noGrp="1" noChangeArrowheads="1"/>
          </p:cNvSpPr>
          <p:nvPr>
            <p:ph type="ftr" sz="quarter" idx="11"/>
          </p:nvPr>
        </p:nvSpPr>
        <p:spPr>
          <a:xfrm>
            <a:off x="3429000" y="6248400"/>
            <a:ext cx="2895600" cy="457200"/>
          </a:xfrm>
        </p:spPr>
        <p:txBody>
          <a:bodyPr/>
          <a:lstStyle>
            <a:lvl1pPr>
              <a:defRPr>
                <a:solidFill>
                  <a:srgbClr val="1C1C1C"/>
                </a:solidFill>
              </a:defRPr>
            </a:lvl1pPr>
          </a:lstStyle>
          <a:p>
            <a:pPr>
              <a:defRPr/>
            </a:pPr>
            <a:endParaRPr lang="en-US"/>
          </a:p>
        </p:txBody>
      </p:sp>
      <p:sp>
        <p:nvSpPr>
          <p:cNvPr id="16" name="Rectangle 16">
            <a:extLst>
              <a:ext uri="{FF2B5EF4-FFF2-40B4-BE49-F238E27FC236}">
                <a16:creationId xmlns:a16="http://schemas.microsoft.com/office/drawing/2014/main" id="{AD0B52B9-542C-4662-9838-DD322C676A91}"/>
              </a:ext>
            </a:extLst>
          </p:cNvPr>
          <p:cNvSpPr>
            <a:spLocks noGrp="1" noChangeArrowheads="1"/>
          </p:cNvSpPr>
          <p:nvPr>
            <p:ph type="sldNum" sz="quarter" idx="12"/>
          </p:nvPr>
        </p:nvSpPr>
        <p:spPr>
          <a:xfrm>
            <a:off x="6858000" y="6248400"/>
            <a:ext cx="1905000" cy="457200"/>
          </a:xfrm>
        </p:spPr>
        <p:txBody>
          <a:bodyPr/>
          <a:lstStyle>
            <a:lvl1pPr>
              <a:defRPr>
                <a:solidFill>
                  <a:srgbClr val="1C1C1C"/>
                </a:solidFill>
              </a:defRPr>
            </a:lvl1pPr>
          </a:lstStyle>
          <a:p>
            <a:pPr>
              <a:defRPr/>
            </a:pPr>
            <a:fld id="{6AB9B022-1F12-4492-BBCF-5F5DAAD86C1B}" type="slidenum">
              <a:rPr lang="en-US" altLang="en-US"/>
              <a:pPr>
                <a:defRPr/>
              </a:pPr>
              <a:t>‹#›</a:t>
            </a:fld>
            <a:endParaRPr lang="en-US" altLang="en-US"/>
          </a:p>
        </p:txBody>
      </p:sp>
    </p:spTree>
    <p:extLst>
      <p:ext uri="{BB962C8B-B14F-4D97-AF65-F5344CB8AC3E}">
        <p14:creationId xmlns:p14="http://schemas.microsoft.com/office/powerpoint/2010/main" val="699632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470336B7-7818-4574-B4E3-58D111CBD2A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F88CF639-B3B0-440E-8771-B356B6A4B7B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556C3919-3AF1-453A-B17F-9D815B341393}"/>
              </a:ext>
            </a:extLst>
          </p:cNvPr>
          <p:cNvSpPr>
            <a:spLocks noGrp="1" noChangeArrowheads="1"/>
          </p:cNvSpPr>
          <p:nvPr>
            <p:ph type="sldNum" sz="quarter" idx="12"/>
          </p:nvPr>
        </p:nvSpPr>
        <p:spPr>
          <a:ln/>
        </p:spPr>
        <p:txBody>
          <a:bodyPr/>
          <a:lstStyle>
            <a:lvl1pPr>
              <a:defRPr/>
            </a:lvl1pPr>
          </a:lstStyle>
          <a:p>
            <a:pPr>
              <a:defRPr/>
            </a:pPr>
            <a:fld id="{A5DF2E5D-AAEE-4B27-9965-0FD61E7DA928}" type="slidenum">
              <a:rPr lang="en-US" altLang="en-US"/>
              <a:pPr>
                <a:defRPr/>
              </a:pPr>
              <a:t>‹#›</a:t>
            </a:fld>
            <a:endParaRPr lang="en-US" altLang="en-US"/>
          </a:p>
        </p:txBody>
      </p:sp>
    </p:spTree>
    <p:extLst>
      <p:ext uri="{BB962C8B-B14F-4D97-AF65-F5344CB8AC3E}">
        <p14:creationId xmlns:p14="http://schemas.microsoft.com/office/powerpoint/2010/main" val="1381853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0DB5B7EA-A501-4947-BD3E-13C2BD0BBFF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E08C5AFA-D340-40CE-A27E-9434E5E11A6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766F38A9-0B7F-411E-9B5F-A5AB1F4914C1}"/>
              </a:ext>
            </a:extLst>
          </p:cNvPr>
          <p:cNvSpPr>
            <a:spLocks noGrp="1" noChangeArrowheads="1"/>
          </p:cNvSpPr>
          <p:nvPr>
            <p:ph type="sldNum" sz="quarter" idx="12"/>
          </p:nvPr>
        </p:nvSpPr>
        <p:spPr>
          <a:ln/>
        </p:spPr>
        <p:txBody>
          <a:bodyPr/>
          <a:lstStyle>
            <a:lvl1pPr>
              <a:defRPr/>
            </a:lvl1pPr>
          </a:lstStyle>
          <a:p>
            <a:pPr>
              <a:defRPr/>
            </a:pPr>
            <a:fld id="{E5A222FF-3865-4A28-A7D0-2D8F6AB1E947}" type="slidenum">
              <a:rPr lang="en-US" altLang="en-US"/>
              <a:pPr>
                <a:defRPr/>
              </a:pPr>
              <a:t>‹#›</a:t>
            </a:fld>
            <a:endParaRPr lang="en-US" altLang="en-US"/>
          </a:p>
        </p:txBody>
      </p:sp>
    </p:spTree>
    <p:extLst>
      <p:ext uri="{BB962C8B-B14F-4D97-AF65-F5344CB8AC3E}">
        <p14:creationId xmlns:p14="http://schemas.microsoft.com/office/powerpoint/2010/main" val="1975284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11826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1450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11">
            <a:extLst>
              <a:ext uri="{FF2B5EF4-FFF2-40B4-BE49-F238E27FC236}">
                <a16:creationId xmlns:a16="http://schemas.microsoft.com/office/drawing/2014/main" id="{68464C2B-C30A-4F2E-9092-F6DAE35A041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88E35A69-9E7C-4E65-A087-26F031BCDAD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C9948DC6-C07C-41F1-A959-CF8FDAFD83B1}"/>
              </a:ext>
            </a:extLst>
          </p:cNvPr>
          <p:cNvSpPr>
            <a:spLocks noGrp="1" noChangeArrowheads="1"/>
          </p:cNvSpPr>
          <p:nvPr>
            <p:ph type="sldNum" sz="quarter" idx="12"/>
          </p:nvPr>
        </p:nvSpPr>
        <p:spPr>
          <a:ln/>
        </p:spPr>
        <p:txBody>
          <a:bodyPr/>
          <a:lstStyle>
            <a:lvl1pPr>
              <a:defRPr/>
            </a:lvl1pPr>
          </a:lstStyle>
          <a:p>
            <a:pPr>
              <a:defRPr/>
            </a:pPr>
            <a:fld id="{687C70DF-26E3-4344-B855-8F13A39D196C}" type="slidenum">
              <a:rPr lang="en-US" altLang="en-US"/>
              <a:pPr>
                <a:defRPr/>
              </a:pPr>
              <a:t>‹#›</a:t>
            </a:fld>
            <a:endParaRPr lang="en-US" altLang="en-US"/>
          </a:p>
        </p:txBody>
      </p:sp>
    </p:spTree>
    <p:extLst>
      <p:ext uri="{BB962C8B-B14F-4D97-AF65-F5344CB8AC3E}">
        <p14:creationId xmlns:p14="http://schemas.microsoft.com/office/powerpoint/2010/main" val="14861124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11">
            <a:extLst>
              <a:ext uri="{FF2B5EF4-FFF2-40B4-BE49-F238E27FC236}">
                <a16:creationId xmlns:a16="http://schemas.microsoft.com/office/drawing/2014/main" id="{E9869A8A-E22E-4CB3-9E5A-356D75CE884C}"/>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DB3779CD-02DD-471D-B84E-B6A19183B1D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B3B952ED-F41F-4245-8296-CF239D8D17CA}"/>
              </a:ext>
            </a:extLst>
          </p:cNvPr>
          <p:cNvSpPr>
            <a:spLocks noGrp="1" noChangeArrowheads="1"/>
          </p:cNvSpPr>
          <p:nvPr>
            <p:ph type="sldNum" sz="quarter" idx="12"/>
          </p:nvPr>
        </p:nvSpPr>
        <p:spPr>
          <a:ln/>
        </p:spPr>
        <p:txBody>
          <a:bodyPr/>
          <a:lstStyle>
            <a:lvl1pPr>
              <a:defRPr/>
            </a:lvl1pPr>
          </a:lstStyle>
          <a:p>
            <a:pPr>
              <a:defRPr/>
            </a:pPr>
            <a:fld id="{DE55DE4D-2E87-41AB-B139-7834F5AF6FAA}" type="slidenum">
              <a:rPr lang="en-US" altLang="en-US"/>
              <a:pPr>
                <a:defRPr/>
              </a:pPr>
              <a:t>‹#›</a:t>
            </a:fld>
            <a:endParaRPr lang="en-US" altLang="en-US"/>
          </a:p>
        </p:txBody>
      </p:sp>
    </p:spTree>
    <p:extLst>
      <p:ext uri="{BB962C8B-B14F-4D97-AF65-F5344CB8AC3E}">
        <p14:creationId xmlns:p14="http://schemas.microsoft.com/office/powerpoint/2010/main" val="4135761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11">
            <a:extLst>
              <a:ext uri="{FF2B5EF4-FFF2-40B4-BE49-F238E27FC236}">
                <a16:creationId xmlns:a16="http://schemas.microsoft.com/office/drawing/2014/main" id="{B2BCABF2-C502-4FC5-9D40-040BC56C8048}"/>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1B6384BA-E865-4CA6-8FEE-082383CC92C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11265EA0-1FD1-44D7-A8E5-6242F2F34415}"/>
              </a:ext>
            </a:extLst>
          </p:cNvPr>
          <p:cNvSpPr>
            <a:spLocks noGrp="1" noChangeArrowheads="1"/>
          </p:cNvSpPr>
          <p:nvPr>
            <p:ph type="sldNum" sz="quarter" idx="12"/>
          </p:nvPr>
        </p:nvSpPr>
        <p:spPr>
          <a:ln/>
        </p:spPr>
        <p:txBody>
          <a:bodyPr/>
          <a:lstStyle>
            <a:lvl1pPr>
              <a:defRPr/>
            </a:lvl1pPr>
          </a:lstStyle>
          <a:p>
            <a:pPr>
              <a:defRPr/>
            </a:pPr>
            <a:fld id="{A6EBAE0D-FC6F-491B-AABF-097F619DBF6F}" type="slidenum">
              <a:rPr lang="en-US" altLang="en-US"/>
              <a:pPr>
                <a:defRPr/>
              </a:pPr>
              <a:t>‹#›</a:t>
            </a:fld>
            <a:endParaRPr lang="en-US" altLang="en-US"/>
          </a:p>
        </p:txBody>
      </p:sp>
    </p:spTree>
    <p:extLst>
      <p:ext uri="{BB962C8B-B14F-4D97-AF65-F5344CB8AC3E}">
        <p14:creationId xmlns:p14="http://schemas.microsoft.com/office/powerpoint/2010/main" val="12914902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A8A23D2B-6FFC-40FF-9ADD-FB408990FAA9}"/>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D4FE1632-53A6-4721-95D7-B4CAD999FAF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B7215BDD-9EFA-4243-A844-0FEEB9A9BF4F}"/>
              </a:ext>
            </a:extLst>
          </p:cNvPr>
          <p:cNvSpPr>
            <a:spLocks noGrp="1" noChangeArrowheads="1"/>
          </p:cNvSpPr>
          <p:nvPr>
            <p:ph type="sldNum" sz="quarter" idx="12"/>
          </p:nvPr>
        </p:nvSpPr>
        <p:spPr>
          <a:ln/>
        </p:spPr>
        <p:txBody>
          <a:bodyPr/>
          <a:lstStyle>
            <a:lvl1pPr>
              <a:defRPr/>
            </a:lvl1pPr>
          </a:lstStyle>
          <a:p>
            <a:pPr>
              <a:defRPr/>
            </a:pPr>
            <a:fld id="{9C4FEBBC-B91E-4A97-89F1-3524B3BD4F86}" type="slidenum">
              <a:rPr lang="en-US" altLang="en-US"/>
              <a:pPr>
                <a:defRPr/>
              </a:pPr>
              <a:t>‹#›</a:t>
            </a:fld>
            <a:endParaRPr lang="en-US" altLang="en-US"/>
          </a:p>
        </p:txBody>
      </p:sp>
    </p:spTree>
    <p:extLst>
      <p:ext uri="{BB962C8B-B14F-4D97-AF65-F5344CB8AC3E}">
        <p14:creationId xmlns:p14="http://schemas.microsoft.com/office/powerpoint/2010/main" val="1988220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1253AD25-6DE2-4AEF-916D-C4848052B5C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1F1CB958-2E97-4958-B419-543DA2FB043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8B4576D3-44A9-4A51-B972-B5BD0C6B96EB}"/>
              </a:ext>
            </a:extLst>
          </p:cNvPr>
          <p:cNvSpPr>
            <a:spLocks noGrp="1" noChangeArrowheads="1"/>
          </p:cNvSpPr>
          <p:nvPr>
            <p:ph type="sldNum" sz="quarter" idx="12"/>
          </p:nvPr>
        </p:nvSpPr>
        <p:spPr>
          <a:ln/>
        </p:spPr>
        <p:txBody>
          <a:bodyPr/>
          <a:lstStyle>
            <a:lvl1pPr>
              <a:defRPr/>
            </a:lvl1pPr>
          </a:lstStyle>
          <a:p>
            <a:pPr>
              <a:defRPr/>
            </a:pPr>
            <a:fld id="{88EF491C-4B18-47D4-A59B-BB3D9353BC61}" type="slidenum">
              <a:rPr lang="en-US" altLang="en-US"/>
              <a:pPr>
                <a:defRPr/>
              </a:pPr>
              <a:t>‹#›</a:t>
            </a:fld>
            <a:endParaRPr lang="en-US" altLang="en-US"/>
          </a:p>
        </p:txBody>
      </p:sp>
    </p:spTree>
    <p:extLst>
      <p:ext uri="{BB962C8B-B14F-4D97-AF65-F5344CB8AC3E}">
        <p14:creationId xmlns:p14="http://schemas.microsoft.com/office/powerpoint/2010/main" val="24259109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AEA0DE70-78E9-4A57-B44F-DAD622366598}"/>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2D03C440-FBB3-48F9-A2CC-F22F4B7B9C0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3DCF29F2-B35A-4230-8942-25A4BBDB0CD6}"/>
              </a:ext>
            </a:extLst>
          </p:cNvPr>
          <p:cNvSpPr>
            <a:spLocks noGrp="1" noChangeArrowheads="1"/>
          </p:cNvSpPr>
          <p:nvPr>
            <p:ph type="sldNum" sz="quarter" idx="12"/>
          </p:nvPr>
        </p:nvSpPr>
        <p:spPr>
          <a:ln/>
        </p:spPr>
        <p:txBody>
          <a:bodyPr/>
          <a:lstStyle>
            <a:lvl1pPr>
              <a:defRPr/>
            </a:lvl1pPr>
          </a:lstStyle>
          <a:p>
            <a:pPr>
              <a:defRPr/>
            </a:pPr>
            <a:fld id="{093A0FCE-36C2-4FCE-A90D-68B5D004A932}" type="slidenum">
              <a:rPr lang="en-US" altLang="en-US"/>
              <a:pPr>
                <a:defRPr/>
              </a:pPr>
              <a:t>‹#›</a:t>
            </a:fld>
            <a:endParaRPr lang="en-US" altLang="en-US"/>
          </a:p>
        </p:txBody>
      </p:sp>
    </p:spTree>
    <p:extLst>
      <p:ext uri="{BB962C8B-B14F-4D97-AF65-F5344CB8AC3E}">
        <p14:creationId xmlns:p14="http://schemas.microsoft.com/office/powerpoint/2010/main" val="36075330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012C21D6-09FD-4EFD-A401-98199644D22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072BD382-9D00-4F02-A553-1A9E0A22110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DDF162B4-FC81-4FA2-8127-05A302688CCD}"/>
              </a:ext>
            </a:extLst>
          </p:cNvPr>
          <p:cNvSpPr>
            <a:spLocks noGrp="1" noChangeArrowheads="1"/>
          </p:cNvSpPr>
          <p:nvPr>
            <p:ph type="sldNum" sz="quarter" idx="12"/>
          </p:nvPr>
        </p:nvSpPr>
        <p:spPr>
          <a:ln/>
        </p:spPr>
        <p:txBody>
          <a:bodyPr/>
          <a:lstStyle>
            <a:lvl1pPr>
              <a:defRPr/>
            </a:lvl1pPr>
          </a:lstStyle>
          <a:p>
            <a:pPr>
              <a:defRPr/>
            </a:pPr>
            <a:fld id="{3D32E707-2359-457B-8FF8-8B1FFB60E5C2}" type="slidenum">
              <a:rPr lang="en-US" altLang="en-US"/>
              <a:pPr>
                <a:defRPr/>
              </a:pPr>
              <a:t>‹#›</a:t>
            </a:fld>
            <a:endParaRPr lang="en-US" altLang="en-US"/>
          </a:p>
        </p:txBody>
      </p:sp>
    </p:spTree>
    <p:extLst>
      <p:ext uri="{BB962C8B-B14F-4D97-AF65-F5344CB8AC3E}">
        <p14:creationId xmlns:p14="http://schemas.microsoft.com/office/powerpoint/2010/main" val="2602817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96113" y="404813"/>
            <a:ext cx="1958975" cy="57277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116013" y="404813"/>
            <a:ext cx="5727700" cy="5727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B940FAA0-0C12-4C96-A1D4-B26CBD8B0B0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23B14F8B-C345-4899-8446-CBE9026A019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2F896202-CB74-4D26-8506-288BA55A62A1}"/>
              </a:ext>
            </a:extLst>
          </p:cNvPr>
          <p:cNvSpPr>
            <a:spLocks noGrp="1" noChangeArrowheads="1"/>
          </p:cNvSpPr>
          <p:nvPr>
            <p:ph type="sldNum" sz="quarter" idx="12"/>
          </p:nvPr>
        </p:nvSpPr>
        <p:spPr>
          <a:ln/>
        </p:spPr>
        <p:txBody>
          <a:bodyPr/>
          <a:lstStyle>
            <a:lvl1pPr>
              <a:defRPr/>
            </a:lvl1pPr>
          </a:lstStyle>
          <a:p>
            <a:pPr>
              <a:defRPr/>
            </a:pPr>
            <a:fld id="{03934D74-1372-4E00-AA6A-4BC9003B19FC}" type="slidenum">
              <a:rPr lang="en-US" altLang="en-US"/>
              <a:pPr>
                <a:defRPr/>
              </a:pPr>
              <a:t>‹#›</a:t>
            </a:fld>
            <a:endParaRPr lang="en-US" altLang="en-US"/>
          </a:p>
        </p:txBody>
      </p:sp>
    </p:spTree>
    <p:extLst>
      <p:ext uri="{BB962C8B-B14F-4D97-AF65-F5344CB8AC3E}">
        <p14:creationId xmlns:p14="http://schemas.microsoft.com/office/powerpoint/2010/main" val="2297371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909EF3AC-6403-4665-8AE8-252DD5FEA345}"/>
              </a:ext>
            </a:extLst>
          </p:cNvPr>
          <p:cNvSpPr>
            <a:spLocks noChangeArrowheads="1"/>
          </p:cNvSpPr>
          <p:nvPr/>
        </p:nvSpPr>
        <p:spPr bwMode="ltGray">
          <a:xfrm>
            <a:off x="442913" y="801688"/>
            <a:ext cx="438150" cy="47466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7" name="Rectangle 3">
            <a:extLst>
              <a:ext uri="{FF2B5EF4-FFF2-40B4-BE49-F238E27FC236}">
                <a16:creationId xmlns:a16="http://schemas.microsoft.com/office/drawing/2014/main" id="{CA4C9C56-EC7F-4D2B-8310-3592A019E559}"/>
              </a:ext>
            </a:extLst>
          </p:cNvPr>
          <p:cNvSpPr>
            <a:spLocks noChangeArrowheads="1"/>
          </p:cNvSpPr>
          <p:nvPr/>
        </p:nvSpPr>
        <p:spPr bwMode="ltGray">
          <a:xfrm>
            <a:off x="825500" y="801688"/>
            <a:ext cx="328613" cy="47466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8" name="Rectangle 4">
            <a:extLst>
              <a:ext uri="{FF2B5EF4-FFF2-40B4-BE49-F238E27FC236}">
                <a16:creationId xmlns:a16="http://schemas.microsoft.com/office/drawing/2014/main" id="{169E3AB6-B49F-442B-AD50-BA47FCE25B9A}"/>
              </a:ext>
            </a:extLst>
          </p:cNvPr>
          <p:cNvSpPr>
            <a:spLocks noChangeArrowheads="1"/>
          </p:cNvSpPr>
          <p:nvPr/>
        </p:nvSpPr>
        <p:spPr bwMode="ltGray">
          <a:xfrm>
            <a:off x="566738" y="1223963"/>
            <a:ext cx="422275" cy="47466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9" name="Rectangle 5">
            <a:extLst>
              <a:ext uri="{FF2B5EF4-FFF2-40B4-BE49-F238E27FC236}">
                <a16:creationId xmlns:a16="http://schemas.microsoft.com/office/drawing/2014/main" id="{088C46D7-A73B-42EE-B3E1-FCD17B2B963D}"/>
              </a:ext>
            </a:extLst>
          </p:cNvPr>
          <p:cNvSpPr>
            <a:spLocks noChangeArrowheads="1"/>
          </p:cNvSpPr>
          <p:nvPr/>
        </p:nvSpPr>
        <p:spPr bwMode="ltGray">
          <a:xfrm>
            <a:off x="936625" y="1223963"/>
            <a:ext cx="368300" cy="47466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0" name="Rectangle 6">
            <a:extLst>
              <a:ext uri="{FF2B5EF4-FFF2-40B4-BE49-F238E27FC236}">
                <a16:creationId xmlns:a16="http://schemas.microsoft.com/office/drawing/2014/main" id="{997AE8C0-8B19-42BD-B474-667B72EC34DD}"/>
              </a:ext>
            </a:extLst>
          </p:cNvPr>
          <p:cNvSpPr>
            <a:spLocks noChangeArrowheads="1"/>
          </p:cNvSpPr>
          <p:nvPr/>
        </p:nvSpPr>
        <p:spPr bwMode="ltGray">
          <a:xfrm>
            <a:off x="152400" y="1150938"/>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1" name="Rectangle 7">
            <a:extLst>
              <a:ext uri="{FF2B5EF4-FFF2-40B4-BE49-F238E27FC236}">
                <a16:creationId xmlns:a16="http://schemas.microsoft.com/office/drawing/2014/main" id="{CEA58EAA-94D0-4F3A-8D65-B99682DB8405}"/>
              </a:ext>
            </a:extLst>
          </p:cNvPr>
          <p:cNvSpPr>
            <a:spLocks noChangeArrowheads="1"/>
          </p:cNvSpPr>
          <p:nvPr/>
        </p:nvSpPr>
        <p:spPr bwMode="gray">
          <a:xfrm>
            <a:off x="787400" y="693738"/>
            <a:ext cx="31750" cy="1052512"/>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2" name="Rectangle 8">
            <a:extLst>
              <a:ext uri="{FF2B5EF4-FFF2-40B4-BE49-F238E27FC236}">
                <a16:creationId xmlns:a16="http://schemas.microsoft.com/office/drawing/2014/main" id="{E58D7B56-198C-44A0-A254-484367CFC16F}"/>
              </a:ext>
            </a:extLst>
          </p:cNvPr>
          <p:cNvSpPr>
            <a:spLocks noChangeArrowheads="1"/>
          </p:cNvSpPr>
          <p:nvPr/>
        </p:nvSpPr>
        <p:spPr bwMode="gray">
          <a:xfrm>
            <a:off x="468313" y="1484313"/>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3" name="Rectangle 9">
            <a:extLst>
              <a:ext uri="{FF2B5EF4-FFF2-40B4-BE49-F238E27FC236}">
                <a16:creationId xmlns:a16="http://schemas.microsoft.com/office/drawing/2014/main" id="{68AE4BE9-E0E2-4F1E-8EE3-0297D549990E}"/>
              </a:ext>
            </a:extLst>
          </p:cNvPr>
          <p:cNvSpPr>
            <a:spLocks noGrp="1" noChangeArrowheads="1"/>
          </p:cNvSpPr>
          <p:nvPr>
            <p:ph type="title"/>
          </p:nvPr>
        </p:nvSpPr>
        <p:spPr bwMode="auto">
          <a:xfrm>
            <a:off x="1116013" y="404813"/>
            <a:ext cx="7793037"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34" name="Rectangle 10">
            <a:extLst>
              <a:ext uri="{FF2B5EF4-FFF2-40B4-BE49-F238E27FC236}">
                <a16:creationId xmlns:a16="http://schemas.microsoft.com/office/drawing/2014/main" id="{198F58C7-8709-464C-B4A9-A447F607030B}"/>
              </a:ext>
            </a:extLst>
          </p:cNvPr>
          <p:cNvSpPr>
            <a:spLocks noGrp="1" noChangeArrowheads="1"/>
          </p:cNvSpPr>
          <p:nvPr>
            <p:ph type="body" idx="1"/>
          </p:nvPr>
        </p:nvSpPr>
        <p:spPr bwMode="auto">
          <a:xfrm>
            <a:off x="1182688" y="1628775"/>
            <a:ext cx="7772400" cy="450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587" name="Rectangle 11">
            <a:extLst>
              <a:ext uri="{FF2B5EF4-FFF2-40B4-BE49-F238E27FC236}">
                <a16:creationId xmlns:a16="http://schemas.microsoft.com/office/drawing/2014/main" id="{603F942A-C61F-4C61-99AA-1DAC3F0331F7}"/>
              </a:ext>
            </a:extLst>
          </p:cNvPr>
          <p:cNvSpPr>
            <a:spLocks noGrp="1" noChangeArrowheads="1"/>
          </p:cNvSpPr>
          <p:nvPr>
            <p:ph type="dt" sz="half" idx="2"/>
          </p:nvPr>
        </p:nvSpPr>
        <p:spPr bwMode="auto">
          <a:xfrm>
            <a:off x="9144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latin typeface="+mn-lt"/>
                <a:cs typeface="Arial" pitchFamily="34" charset="0"/>
              </a:defRPr>
            </a:lvl1pPr>
          </a:lstStyle>
          <a:p>
            <a:pPr>
              <a:defRPr/>
            </a:pPr>
            <a:endParaRPr lang="en-US"/>
          </a:p>
        </p:txBody>
      </p:sp>
      <p:sp>
        <p:nvSpPr>
          <p:cNvPr id="24588" name="Rectangle 12">
            <a:extLst>
              <a:ext uri="{FF2B5EF4-FFF2-40B4-BE49-F238E27FC236}">
                <a16:creationId xmlns:a16="http://schemas.microsoft.com/office/drawing/2014/main" id="{C942909B-94AB-4C63-8F2A-1F124A39F3D1}"/>
              </a:ext>
            </a:extLst>
          </p:cNvPr>
          <p:cNvSpPr>
            <a:spLocks noGrp="1" noChangeArrowheads="1"/>
          </p:cNvSpPr>
          <p:nvPr>
            <p:ph type="ftr" sz="quarter" idx="3"/>
          </p:nvPr>
        </p:nvSpPr>
        <p:spPr bwMode="auto">
          <a:xfrm>
            <a:off x="3352800" y="63246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atin typeface="+mn-lt"/>
                <a:cs typeface="Arial" pitchFamily="34" charset="0"/>
              </a:defRPr>
            </a:lvl1pPr>
          </a:lstStyle>
          <a:p>
            <a:pPr>
              <a:defRPr/>
            </a:pPr>
            <a:endParaRPr lang="en-US"/>
          </a:p>
        </p:txBody>
      </p:sp>
      <p:sp>
        <p:nvSpPr>
          <p:cNvPr id="14" name="TextBox 17">
            <a:extLst>
              <a:ext uri="{FF2B5EF4-FFF2-40B4-BE49-F238E27FC236}">
                <a16:creationId xmlns:a16="http://schemas.microsoft.com/office/drawing/2014/main" id="{5117D5C4-8F52-4AB4-89E1-0A62DA4CE5D5}"/>
              </a:ext>
            </a:extLst>
          </p:cNvPr>
          <p:cNvSpPr txBox="1"/>
          <p:nvPr userDrawn="1"/>
        </p:nvSpPr>
        <p:spPr>
          <a:xfrm>
            <a:off x="7235825" y="6611938"/>
            <a:ext cx="1908175" cy="246062"/>
          </a:xfrm>
          <a:prstGeom prst="rect">
            <a:avLst/>
          </a:prstGeom>
          <a:noFill/>
        </p:spPr>
        <p:txBody>
          <a:bodyPr>
            <a:spAutoFit/>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defRPr/>
            </a:pPr>
            <a:r>
              <a:rPr lang="en-US" sz="1000" dirty="0"/>
              <a:t>Prepared by Hamish Spencer</a:t>
            </a:r>
            <a:endParaRPr lang="en-GB" sz="1000" dirty="0"/>
          </a:p>
        </p:txBody>
      </p:sp>
    </p:spTree>
  </p:cSld>
  <p:clrMap bg1="lt1" tx1="dk1" bg2="lt2" tx2="dk2" accent1="accent1" accent2="accent2" accent3="accent3" accent4="accent4" accent5="accent5" accent6="accent6" hlink="hlink" folHlink="folHlink"/>
  <p:sldLayoutIdLst>
    <p:sldLayoutId id="2147484694" r:id="rId1"/>
    <p:sldLayoutId id="2147484695" r:id="rId2"/>
    <p:sldLayoutId id="2147484696" r:id="rId3"/>
    <p:sldLayoutId id="2147484697" r:id="rId4"/>
    <p:sldLayoutId id="2147484698" r:id="rId5"/>
    <p:sldLayoutId id="2147484699" r:id="rId6"/>
    <p:sldLayoutId id="2147484700" r:id="rId7"/>
    <p:sldLayoutId id="2147484701" r:id="rId8"/>
    <p:sldLayoutId id="2147484702" r:id="rId9"/>
    <p:sldLayoutId id="2147484703" r:id="rId10"/>
    <p:sldLayoutId id="2147484704"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cs typeface="Arial" pitchFamily="34" charset="0"/>
        </a:defRPr>
      </a:lvl2pPr>
      <a:lvl3pPr algn="l" rtl="0" eaLnBrk="0" fontAlgn="base" hangingPunct="0">
        <a:spcBef>
          <a:spcPct val="0"/>
        </a:spcBef>
        <a:spcAft>
          <a:spcPct val="0"/>
        </a:spcAft>
        <a:defRPr sz="4400">
          <a:solidFill>
            <a:schemeClr val="tx2"/>
          </a:solidFill>
          <a:latin typeface="Tahoma" pitchFamily="34" charset="0"/>
          <a:cs typeface="Arial" pitchFamily="34" charset="0"/>
        </a:defRPr>
      </a:lvl3pPr>
      <a:lvl4pPr algn="l" rtl="0" eaLnBrk="0" fontAlgn="base" hangingPunct="0">
        <a:spcBef>
          <a:spcPct val="0"/>
        </a:spcBef>
        <a:spcAft>
          <a:spcPct val="0"/>
        </a:spcAft>
        <a:defRPr sz="4400">
          <a:solidFill>
            <a:schemeClr val="tx2"/>
          </a:solidFill>
          <a:latin typeface="Tahoma" pitchFamily="34" charset="0"/>
          <a:cs typeface="Arial" pitchFamily="34" charset="0"/>
        </a:defRPr>
      </a:lvl4pPr>
      <a:lvl5pPr algn="l" rtl="0" eaLnBrk="0" fontAlgn="base" hangingPunct="0">
        <a:spcBef>
          <a:spcPct val="0"/>
        </a:spcBef>
        <a:spcAft>
          <a:spcPct val="0"/>
        </a:spcAft>
        <a:defRPr sz="4400">
          <a:solidFill>
            <a:schemeClr val="tx2"/>
          </a:solidFill>
          <a:latin typeface="Tahoma" pitchFamily="34" charset="0"/>
          <a:cs typeface="Arial" pitchFamily="34" charset="0"/>
        </a:defRPr>
      </a:lvl5pPr>
      <a:lvl6pPr marL="457200" algn="l" rtl="0" fontAlgn="base">
        <a:spcBef>
          <a:spcPct val="0"/>
        </a:spcBef>
        <a:spcAft>
          <a:spcPct val="0"/>
        </a:spcAft>
        <a:defRPr sz="4400">
          <a:solidFill>
            <a:schemeClr val="tx2"/>
          </a:solidFill>
          <a:latin typeface="Tahoma" pitchFamily="34" charset="0"/>
          <a:cs typeface="Arial" pitchFamily="34" charset="0"/>
        </a:defRPr>
      </a:lvl6pPr>
      <a:lvl7pPr marL="914400" algn="l" rtl="0" fontAlgn="base">
        <a:spcBef>
          <a:spcPct val="0"/>
        </a:spcBef>
        <a:spcAft>
          <a:spcPct val="0"/>
        </a:spcAft>
        <a:defRPr sz="4400">
          <a:solidFill>
            <a:schemeClr val="tx2"/>
          </a:solidFill>
          <a:latin typeface="Tahoma" pitchFamily="34" charset="0"/>
          <a:cs typeface="Arial" pitchFamily="34" charset="0"/>
        </a:defRPr>
      </a:lvl7pPr>
      <a:lvl8pPr marL="1371600" algn="l" rtl="0" fontAlgn="base">
        <a:spcBef>
          <a:spcPct val="0"/>
        </a:spcBef>
        <a:spcAft>
          <a:spcPct val="0"/>
        </a:spcAft>
        <a:defRPr sz="4400">
          <a:solidFill>
            <a:schemeClr val="tx2"/>
          </a:solidFill>
          <a:latin typeface="Tahoma" pitchFamily="34" charset="0"/>
          <a:cs typeface="Arial" pitchFamily="34" charset="0"/>
        </a:defRPr>
      </a:lvl8pPr>
      <a:lvl9pPr marL="1828800" algn="l" rtl="0" fontAlgn="base">
        <a:spcBef>
          <a:spcPct val="0"/>
        </a:spcBef>
        <a:spcAft>
          <a:spcPct val="0"/>
        </a:spcAft>
        <a:defRPr sz="4400">
          <a:solidFill>
            <a:schemeClr val="tx2"/>
          </a:solidFill>
          <a:latin typeface="Tahoma" pitchFamily="34" charset="0"/>
          <a:cs typeface="Arial"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DDA145C-392C-4739-9214-884DD6CAFF8A}"/>
              </a:ext>
            </a:extLst>
          </p:cNvPr>
          <p:cNvSpPr>
            <a:spLocks noChangeArrowheads="1"/>
          </p:cNvSpPr>
          <p:nvPr/>
        </p:nvSpPr>
        <p:spPr bwMode="ltGray">
          <a:xfrm>
            <a:off x="442913" y="801688"/>
            <a:ext cx="438150" cy="47466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1" name="Rectangle 3">
            <a:extLst>
              <a:ext uri="{FF2B5EF4-FFF2-40B4-BE49-F238E27FC236}">
                <a16:creationId xmlns:a16="http://schemas.microsoft.com/office/drawing/2014/main" id="{D42909FF-9555-4D88-B3C1-500F1F17E778}"/>
              </a:ext>
            </a:extLst>
          </p:cNvPr>
          <p:cNvSpPr>
            <a:spLocks noChangeArrowheads="1"/>
          </p:cNvSpPr>
          <p:nvPr/>
        </p:nvSpPr>
        <p:spPr bwMode="ltGray">
          <a:xfrm>
            <a:off x="825500" y="801688"/>
            <a:ext cx="328613" cy="47466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2" name="Rectangle 4">
            <a:extLst>
              <a:ext uri="{FF2B5EF4-FFF2-40B4-BE49-F238E27FC236}">
                <a16:creationId xmlns:a16="http://schemas.microsoft.com/office/drawing/2014/main" id="{CED1CBC7-0E73-4D51-BFF4-141D24EE42F9}"/>
              </a:ext>
            </a:extLst>
          </p:cNvPr>
          <p:cNvSpPr>
            <a:spLocks noChangeArrowheads="1"/>
          </p:cNvSpPr>
          <p:nvPr/>
        </p:nvSpPr>
        <p:spPr bwMode="ltGray">
          <a:xfrm>
            <a:off x="566738" y="1223963"/>
            <a:ext cx="422275" cy="47466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3" name="Rectangle 5">
            <a:extLst>
              <a:ext uri="{FF2B5EF4-FFF2-40B4-BE49-F238E27FC236}">
                <a16:creationId xmlns:a16="http://schemas.microsoft.com/office/drawing/2014/main" id="{232841DF-E042-4420-8F56-261659AA878B}"/>
              </a:ext>
            </a:extLst>
          </p:cNvPr>
          <p:cNvSpPr>
            <a:spLocks noChangeArrowheads="1"/>
          </p:cNvSpPr>
          <p:nvPr/>
        </p:nvSpPr>
        <p:spPr bwMode="ltGray">
          <a:xfrm>
            <a:off x="936625" y="1223963"/>
            <a:ext cx="368300" cy="47466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4" name="Rectangle 6">
            <a:extLst>
              <a:ext uri="{FF2B5EF4-FFF2-40B4-BE49-F238E27FC236}">
                <a16:creationId xmlns:a16="http://schemas.microsoft.com/office/drawing/2014/main" id="{17B8B4C4-B908-4A17-892A-31C4A5974207}"/>
              </a:ext>
            </a:extLst>
          </p:cNvPr>
          <p:cNvSpPr>
            <a:spLocks noChangeArrowheads="1"/>
          </p:cNvSpPr>
          <p:nvPr/>
        </p:nvSpPr>
        <p:spPr bwMode="ltGray">
          <a:xfrm>
            <a:off x="152400" y="1150938"/>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5" name="Rectangle 7">
            <a:extLst>
              <a:ext uri="{FF2B5EF4-FFF2-40B4-BE49-F238E27FC236}">
                <a16:creationId xmlns:a16="http://schemas.microsoft.com/office/drawing/2014/main" id="{0F54A57C-5168-40DD-A20B-2D73EBEB65FF}"/>
              </a:ext>
            </a:extLst>
          </p:cNvPr>
          <p:cNvSpPr>
            <a:spLocks noChangeArrowheads="1"/>
          </p:cNvSpPr>
          <p:nvPr/>
        </p:nvSpPr>
        <p:spPr bwMode="gray">
          <a:xfrm>
            <a:off x="787400" y="693738"/>
            <a:ext cx="31750" cy="1052512"/>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6" name="Rectangle 8">
            <a:extLst>
              <a:ext uri="{FF2B5EF4-FFF2-40B4-BE49-F238E27FC236}">
                <a16:creationId xmlns:a16="http://schemas.microsoft.com/office/drawing/2014/main" id="{11A32EE3-4892-4DF4-989A-989F18005B32}"/>
              </a:ext>
            </a:extLst>
          </p:cNvPr>
          <p:cNvSpPr>
            <a:spLocks noChangeArrowheads="1"/>
          </p:cNvSpPr>
          <p:nvPr/>
        </p:nvSpPr>
        <p:spPr bwMode="gray">
          <a:xfrm>
            <a:off x="468313" y="1484313"/>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7" name="Rectangle 9">
            <a:extLst>
              <a:ext uri="{FF2B5EF4-FFF2-40B4-BE49-F238E27FC236}">
                <a16:creationId xmlns:a16="http://schemas.microsoft.com/office/drawing/2014/main" id="{7DF34177-40F0-452F-871F-8F10A67A133B}"/>
              </a:ext>
            </a:extLst>
          </p:cNvPr>
          <p:cNvSpPr>
            <a:spLocks noGrp="1" noChangeArrowheads="1"/>
          </p:cNvSpPr>
          <p:nvPr>
            <p:ph type="title"/>
          </p:nvPr>
        </p:nvSpPr>
        <p:spPr bwMode="auto">
          <a:xfrm>
            <a:off x="1116013" y="404813"/>
            <a:ext cx="7793037"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2058" name="Rectangle 10">
            <a:extLst>
              <a:ext uri="{FF2B5EF4-FFF2-40B4-BE49-F238E27FC236}">
                <a16:creationId xmlns:a16="http://schemas.microsoft.com/office/drawing/2014/main" id="{AD690E2F-DBF5-49BB-A925-0341A8FE73C4}"/>
              </a:ext>
            </a:extLst>
          </p:cNvPr>
          <p:cNvSpPr>
            <a:spLocks noGrp="1" noChangeArrowheads="1"/>
          </p:cNvSpPr>
          <p:nvPr>
            <p:ph type="body" idx="1"/>
          </p:nvPr>
        </p:nvSpPr>
        <p:spPr bwMode="auto">
          <a:xfrm>
            <a:off x="1182688" y="1628775"/>
            <a:ext cx="7772400" cy="450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587" name="Rectangle 11">
            <a:extLst>
              <a:ext uri="{FF2B5EF4-FFF2-40B4-BE49-F238E27FC236}">
                <a16:creationId xmlns:a16="http://schemas.microsoft.com/office/drawing/2014/main" id="{D6CFD7FB-31C8-4BF4-989D-10B53F986DE2}"/>
              </a:ext>
            </a:extLst>
          </p:cNvPr>
          <p:cNvSpPr>
            <a:spLocks noGrp="1" noChangeArrowheads="1"/>
          </p:cNvSpPr>
          <p:nvPr>
            <p:ph type="dt" sz="half" idx="2"/>
          </p:nvPr>
        </p:nvSpPr>
        <p:spPr bwMode="auto">
          <a:xfrm>
            <a:off x="914400" y="63246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400">
                <a:solidFill>
                  <a:srgbClr val="000000"/>
                </a:solidFill>
                <a:latin typeface="+mn-lt"/>
                <a:cs typeface="Arial" charset="0"/>
              </a:defRPr>
            </a:lvl1pPr>
          </a:lstStyle>
          <a:p>
            <a:pPr>
              <a:defRPr/>
            </a:pPr>
            <a:endParaRPr lang="en-US"/>
          </a:p>
        </p:txBody>
      </p:sp>
      <p:sp>
        <p:nvSpPr>
          <p:cNvPr id="24588" name="Rectangle 12">
            <a:extLst>
              <a:ext uri="{FF2B5EF4-FFF2-40B4-BE49-F238E27FC236}">
                <a16:creationId xmlns:a16="http://schemas.microsoft.com/office/drawing/2014/main" id="{28576282-EB60-4129-9DB2-9802317413AD}"/>
              </a:ext>
            </a:extLst>
          </p:cNvPr>
          <p:cNvSpPr>
            <a:spLocks noGrp="1" noChangeArrowheads="1"/>
          </p:cNvSpPr>
          <p:nvPr>
            <p:ph type="ftr" sz="quarter" idx="3"/>
          </p:nvPr>
        </p:nvSpPr>
        <p:spPr bwMode="auto">
          <a:xfrm>
            <a:off x="3352800" y="6324600"/>
            <a:ext cx="2895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eaLnBrk="1" hangingPunct="1">
              <a:defRPr sz="1400">
                <a:solidFill>
                  <a:srgbClr val="000000"/>
                </a:solidFill>
                <a:latin typeface="+mn-lt"/>
                <a:cs typeface="Arial" charset="0"/>
              </a:defRPr>
            </a:lvl1pPr>
          </a:lstStyle>
          <a:p>
            <a:pPr>
              <a:defRPr/>
            </a:pPr>
            <a:endParaRPr lang="en-US"/>
          </a:p>
        </p:txBody>
      </p:sp>
      <p:sp>
        <p:nvSpPr>
          <p:cNvPr id="24589" name="Rectangle 13">
            <a:extLst>
              <a:ext uri="{FF2B5EF4-FFF2-40B4-BE49-F238E27FC236}">
                <a16:creationId xmlns:a16="http://schemas.microsoft.com/office/drawing/2014/main" id="{18AB5DA0-7B63-4C1F-AA8E-2DD08F4A2289}"/>
              </a:ext>
            </a:extLst>
          </p:cNvPr>
          <p:cNvSpPr>
            <a:spLocks noGrp="1" noChangeArrowheads="1"/>
          </p:cNvSpPr>
          <p:nvPr>
            <p:ph type="sldNum" sz="quarter" idx="4"/>
          </p:nvPr>
        </p:nvSpPr>
        <p:spPr bwMode="auto">
          <a:xfrm>
            <a:off x="6781800" y="63246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400">
                <a:solidFill>
                  <a:srgbClr val="000000"/>
                </a:solidFill>
                <a:latin typeface="Tahoma" panose="020B0604030504040204" pitchFamily="34" charset="0"/>
              </a:defRPr>
            </a:lvl1pPr>
          </a:lstStyle>
          <a:p>
            <a:pPr>
              <a:defRPr/>
            </a:pPr>
            <a:fld id="{9C442451-9A92-4C5C-AE90-DD8125861C79}"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705" r:id="rId1"/>
    <p:sldLayoutId id="2147484684" r:id="rId2"/>
    <p:sldLayoutId id="2147484685" r:id="rId3"/>
    <p:sldLayoutId id="2147484686" r:id="rId4"/>
    <p:sldLayoutId id="2147484687" r:id="rId5"/>
    <p:sldLayoutId id="2147484688" r:id="rId6"/>
    <p:sldLayoutId id="2147484689" r:id="rId7"/>
    <p:sldLayoutId id="2147484690" r:id="rId8"/>
    <p:sldLayoutId id="2147484691" r:id="rId9"/>
    <p:sldLayoutId id="2147484692" r:id="rId10"/>
    <p:sldLayoutId id="2147484693"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cs typeface="Arial" charset="0"/>
        </a:defRPr>
      </a:lvl2pPr>
      <a:lvl3pPr algn="l" rtl="0" eaLnBrk="0" fontAlgn="base" hangingPunct="0">
        <a:spcBef>
          <a:spcPct val="0"/>
        </a:spcBef>
        <a:spcAft>
          <a:spcPct val="0"/>
        </a:spcAft>
        <a:defRPr sz="4400">
          <a:solidFill>
            <a:schemeClr val="tx2"/>
          </a:solidFill>
          <a:latin typeface="Tahoma" pitchFamily="34" charset="0"/>
          <a:cs typeface="Arial" charset="0"/>
        </a:defRPr>
      </a:lvl3pPr>
      <a:lvl4pPr algn="l" rtl="0" eaLnBrk="0" fontAlgn="base" hangingPunct="0">
        <a:spcBef>
          <a:spcPct val="0"/>
        </a:spcBef>
        <a:spcAft>
          <a:spcPct val="0"/>
        </a:spcAft>
        <a:defRPr sz="4400">
          <a:solidFill>
            <a:schemeClr val="tx2"/>
          </a:solidFill>
          <a:latin typeface="Tahoma" pitchFamily="34" charset="0"/>
          <a:cs typeface="Arial" charset="0"/>
        </a:defRPr>
      </a:lvl4pPr>
      <a:lvl5pPr algn="l" rtl="0" eaLnBrk="0" fontAlgn="base" hangingPunct="0">
        <a:spcBef>
          <a:spcPct val="0"/>
        </a:spcBef>
        <a:spcAft>
          <a:spcPct val="0"/>
        </a:spcAft>
        <a:defRPr sz="4400">
          <a:solidFill>
            <a:schemeClr val="tx2"/>
          </a:solidFill>
          <a:latin typeface="Tahoma" pitchFamily="34" charset="0"/>
          <a:cs typeface="Arial" charset="0"/>
        </a:defRPr>
      </a:lvl5pPr>
      <a:lvl6pPr marL="457200" algn="l" rtl="0" fontAlgn="base">
        <a:spcBef>
          <a:spcPct val="0"/>
        </a:spcBef>
        <a:spcAft>
          <a:spcPct val="0"/>
        </a:spcAft>
        <a:defRPr sz="4400">
          <a:solidFill>
            <a:schemeClr val="tx2"/>
          </a:solidFill>
          <a:latin typeface="Tahoma" pitchFamily="34" charset="0"/>
          <a:cs typeface="Arial" charset="0"/>
        </a:defRPr>
      </a:lvl6pPr>
      <a:lvl7pPr marL="914400" algn="l" rtl="0" fontAlgn="base">
        <a:spcBef>
          <a:spcPct val="0"/>
        </a:spcBef>
        <a:spcAft>
          <a:spcPct val="0"/>
        </a:spcAft>
        <a:defRPr sz="4400">
          <a:solidFill>
            <a:schemeClr val="tx2"/>
          </a:solidFill>
          <a:latin typeface="Tahoma" pitchFamily="34" charset="0"/>
          <a:cs typeface="Arial" charset="0"/>
        </a:defRPr>
      </a:lvl7pPr>
      <a:lvl8pPr marL="1371600" algn="l" rtl="0" fontAlgn="base">
        <a:spcBef>
          <a:spcPct val="0"/>
        </a:spcBef>
        <a:spcAft>
          <a:spcPct val="0"/>
        </a:spcAft>
        <a:defRPr sz="4400">
          <a:solidFill>
            <a:schemeClr val="tx2"/>
          </a:solidFill>
          <a:latin typeface="Tahoma" pitchFamily="34" charset="0"/>
          <a:cs typeface="Arial" charset="0"/>
        </a:defRPr>
      </a:lvl8pPr>
      <a:lvl9pPr marL="1828800" algn="l" rtl="0" fontAlgn="base">
        <a:spcBef>
          <a:spcPct val="0"/>
        </a:spcBef>
        <a:spcAft>
          <a:spcPct val="0"/>
        </a:spcAft>
        <a:defRPr sz="4400">
          <a:solidFill>
            <a:schemeClr val="tx2"/>
          </a:solidFill>
          <a:latin typeface="Tahoma" pitchFamily="34" charset="0"/>
          <a:cs typeface="Arial"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fi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ideo" Target="https://www.youtube.com/embed/J-neePPM6JA?feature=oembed" TargetMode="Externa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ideo" Target="https://www.youtube.com/embed/aYXTuDB1J_M?feature=oembed" TargetMode="External"/><Relationship Id="rId5" Type="http://schemas.openxmlformats.org/officeDocument/2006/relationships/image" Target="../media/image7.jpeg"/><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ideo" Target="https://www.youtube.com/embed/oTv2VNLxxYs?feature=oembed" TargetMode="External"/><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ideo" Target="https://www.youtube.com/embed/6Sud7kkpjQM?feature=oembed" TargetMode="External"/><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video" Target="https://www.youtube.com/embed/NUBHXXLg7xc?feature=oembed" TargetMode="External"/><Relationship Id="rId5" Type="http://schemas.openxmlformats.org/officeDocument/2006/relationships/image" Target="../media/image13.jpeg"/><Relationship Id="rId4" Type="http://schemas.openxmlformats.org/officeDocument/2006/relationships/hyperlink" Target="https://www.iso.org/standard/74348.html" TargetMode="Externa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ideo" Target="https://www.youtube.com/embed/iFKbwS_3CZo?feature=oembed" TargetMode="External"/><Relationship Id="rId5" Type="http://schemas.openxmlformats.org/officeDocument/2006/relationships/hyperlink" Target="https://www.w3.org/" TargetMode="External"/><Relationship Id="rId4" Type="http://schemas.openxmlformats.org/officeDocument/2006/relationships/image" Target="../media/image14.jpe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https://www.youtube.com/embed/3vOYbKz4xCE?feature=oembed" TargetMode="External"/><Relationship Id="rId1" Type="http://schemas.openxmlformats.org/officeDocument/2006/relationships/video" Target="https://www.youtube.com/embed/dYtoBTvtUJg?feature=oembed" TargetMode="Externa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hyperlink" Target="https://www.acm.org/code-of-ethics" TargetMode="External"/><Relationship Id="rId5" Type="http://schemas.openxmlformats.org/officeDocument/2006/relationships/hyperlink" Target="https://www.ieee.org/content/dam/ieee-org/ieee/web/org/about/ieee_code_of_conduct.pdf" TargetMode="External"/><Relationship Id="rId4" Type="http://schemas.openxmlformats.org/officeDocument/2006/relationships/hyperlink" Target="https://www.bcs.org/media/2211/bcs-code-of-conduct.pdf"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84A0FF4B-A473-4A6D-917B-731EF3101A28}"/>
              </a:ext>
            </a:extLst>
          </p:cNvPr>
          <p:cNvSpPr>
            <a:spLocks noGrp="1" noChangeArrowheads="1"/>
          </p:cNvSpPr>
          <p:nvPr>
            <p:ph type="ctrTitle"/>
          </p:nvPr>
        </p:nvSpPr>
        <p:spPr>
          <a:xfrm>
            <a:off x="990600" y="1828800"/>
            <a:ext cx="7541840" cy="1143000"/>
          </a:xfrm>
        </p:spPr>
        <p:txBody>
          <a:bodyPr/>
          <a:lstStyle/>
          <a:p>
            <a:pPr algn="l"/>
            <a:r>
              <a:rPr lang="en-GB" sz="2800" b="1" i="0" u="none" strike="noStrike" baseline="0" dirty="0">
                <a:solidFill>
                  <a:srgbClr val="0070C0"/>
                </a:solidFill>
              </a:rPr>
              <a:t>TLDU06 - Occupational Specialist Component Content: Digital Production, Design  and Development</a:t>
            </a:r>
            <a:endParaRPr lang="en-GB" altLang="en-US" sz="2800" b="1" dirty="0">
              <a:solidFill>
                <a:srgbClr val="0070C0"/>
              </a:solidFill>
            </a:endParaRPr>
          </a:p>
        </p:txBody>
      </p:sp>
      <p:sp>
        <p:nvSpPr>
          <p:cNvPr id="4" name="TextBox 4">
            <a:extLst>
              <a:ext uri="{FF2B5EF4-FFF2-40B4-BE49-F238E27FC236}">
                <a16:creationId xmlns:a16="http://schemas.microsoft.com/office/drawing/2014/main" id="{A6B8EB1F-0C6E-404F-B5DE-EE88FE151636}"/>
              </a:ext>
            </a:extLst>
          </p:cNvPr>
          <p:cNvSpPr txBox="1">
            <a:spLocks noChangeArrowheads="1"/>
          </p:cNvSpPr>
          <p:nvPr/>
        </p:nvSpPr>
        <p:spPr bwMode="auto">
          <a:xfrm>
            <a:off x="265044" y="3645024"/>
            <a:ext cx="8613911" cy="2952328"/>
          </a:xfrm>
          <a:prstGeom prst="rect">
            <a:avLst/>
          </a:prstGeom>
          <a:noFill/>
          <a:ln>
            <a:noFill/>
          </a:ln>
        </p:spPr>
        <p:txBody>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en-GB" sz="1400" b="0" i="0" u="none" strike="noStrike" baseline="0" dirty="0">
                <a:solidFill>
                  <a:srgbClr val="000000"/>
                </a:solidFill>
                <a:latin typeface="+mn-lt"/>
              </a:rPr>
              <a:t>The T Level T Level Technical Qualification in Digital: Digital Production, Design and Development includes a single Occupational Specialist Component. Therefore, there is a single synoptic assessment for the Occupational Specialist Component, which is an extended ‘design, development and implementation’ project. The synoptic element of the project is important in order to ensure that students are able to demonstrate threshold competence: this is the principal reason why the Occupational Specialism is assessed via a single extended project assessment to ensure that students are able to evidence all the skills required by the Performance Outcomes. </a:t>
            </a:r>
          </a:p>
          <a:p>
            <a:r>
              <a:rPr lang="en-GB" sz="1400" b="0" i="0" u="none" strike="noStrike" baseline="0" dirty="0">
                <a:solidFill>
                  <a:srgbClr val="000000"/>
                </a:solidFill>
                <a:latin typeface="+mn-lt"/>
              </a:rPr>
              <a:t>The T Level Technical Qualification in Digital: Digital Production, Design and Development Occupational Specialist Component consists of several activities grouped into four substantive tasks. </a:t>
            </a:r>
          </a:p>
          <a:p>
            <a:r>
              <a:rPr lang="en-GB" sz="1400" b="0" i="0" u="none" strike="noStrike" baseline="0" dirty="0">
                <a:solidFill>
                  <a:srgbClr val="000000"/>
                </a:solidFill>
                <a:latin typeface="+mn-lt"/>
              </a:rPr>
              <a:t>Each task will be completed during a window set by Pearson during which you will schedule supervised assessment sessions. In some cases, tasks will also involve opportunities for unsupervised activities where the requirements of the skills being assessed make this necessary.</a:t>
            </a:r>
            <a:endParaRPr lang="en-GB" altLang="en-US" sz="1400" dirty="0">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58B29101-E458-4999-AB1F-0DDCEE6400B5}"/>
              </a:ext>
            </a:extLst>
          </p:cNvPr>
          <p:cNvSpPr>
            <a:spLocks noGrp="1" noChangeArrowheads="1"/>
          </p:cNvSpPr>
          <p:nvPr>
            <p:ph type="title"/>
          </p:nvPr>
        </p:nvSpPr>
        <p:spPr>
          <a:xfrm>
            <a:off x="1403350" y="404813"/>
            <a:ext cx="7505700" cy="939800"/>
          </a:xfrm>
        </p:spPr>
        <p:txBody>
          <a:bodyPr/>
          <a:lstStyle/>
          <a:p>
            <a:pPr eaLnBrk="1" hangingPunct="1">
              <a:defRPr/>
            </a:pPr>
            <a:r>
              <a:rPr lang="en-GB" altLang="en-US" sz="3600" b="1" dirty="0">
                <a:solidFill>
                  <a:srgbClr val="0070C0"/>
                </a:solidFill>
                <a:latin typeface="+mn-lt"/>
              </a:rPr>
              <a:t>Learning Objective</a:t>
            </a:r>
            <a:r>
              <a:rPr lang="en-GB" altLang="en-US" sz="3600" b="1" dirty="0">
                <a:solidFill>
                  <a:srgbClr val="0070C0"/>
                </a:solidFill>
              </a:rPr>
              <a:t>s</a:t>
            </a:r>
          </a:p>
        </p:txBody>
      </p:sp>
      <p:sp>
        <p:nvSpPr>
          <p:cNvPr id="4099" name="Rectangle 3">
            <a:extLst>
              <a:ext uri="{FF2B5EF4-FFF2-40B4-BE49-F238E27FC236}">
                <a16:creationId xmlns:a16="http://schemas.microsoft.com/office/drawing/2014/main" id="{7DB3D3F9-BEED-428F-A8CE-878CE2C540AD}"/>
              </a:ext>
            </a:extLst>
          </p:cNvPr>
          <p:cNvSpPr>
            <a:spLocks noGrp="1" noChangeArrowheads="1"/>
          </p:cNvSpPr>
          <p:nvPr>
            <p:ph type="body" idx="1"/>
          </p:nvPr>
        </p:nvSpPr>
        <p:spPr>
          <a:xfrm>
            <a:off x="827584" y="2204864"/>
            <a:ext cx="7772400" cy="3781325"/>
          </a:xfrm>
        </p:spPr>
        <p:txBody>
          <a:bodyPr/>
          <a:lstStyle/>
          <a:p>
            <a:pPr eaLnBrk="1" hangingPunct="1">
              <a:defRPr/>
            </a:pPr>
            <a:r>
              <a:rPr lang="en-GB" sz="2000" b="1" dirty="0">
                <a:latin typeface="Arial" pitchFamily="34" charset="0"/>
              </a:rPr>
              <a:t>Aims:</a:t>
            </a:r>
          </a:p>
          <a:p>
            <a:pPr lvl="1" eaLnBrk="1" hangingPunct="1">
              <a:defRPr/>
            </a:pPr>
            <a:r>
              <a:rPr lang="en-GB" sz="2000" dirty="0"/>
              <a:t>To investigate the legal and regulatory requirements that apply to developing software.</a:t>
            </a:r>
          </a:p>
          <a:p>
            <a:pPr lvl="1" eaLnBrk="1" hangingPunct="1">
              <a:defRPr/>
            </a:pPr>
            <a:endParaRPr lang="en-GB" sz="2000" dirty="0"/>
          </a:p>
          <a:p>
            <a:pPr marL="457200" lvl="1" indent="0" eaLnBrk="1" hangingPunct="1">
              <a:buFont typeface="Wingdings" panose="05000000000000000000" pitchFamily="2" charset="2"/>
              <a:buNone/>
              <a:defRPr/>
            </a:pPr>
            <a:endParaRPr lang="en-GB" sz="2000" dirty="0">
              <a:latin typeface="Arial" pitchFamily="34" charset="0"/>
            </a:endParaRPr>
          </a:p>
          <a:p>
            <a:pPr eaLnBrk="1" hangingPunct="1">
              <a:defRPr/>
            </a:pPr>
            <a:r>
              <a:rPr lang="en-GB" sz="2000" b="1" dirty="0">
                <a:latin typeface="Arial" pitchFamily="34" charset="0"/>
              </a:rPr>
              <a:t>Objectives</a:t>
            </a:r>
            <a:r>
              <a:rPr lang="en-US" sz="2000" b="1" dirty="0">
                <a:latin typeface="Arial" pitchFamily="34" charset="0"/>
              </a:rPr>
              <a:t>:</a:t>
            </a:r>
          </a:p>
          <a:p>
            <a:pPr lvl="1" eaLnBrk="1" hangingPunct="1">
              <a:defRPr/>
            </a:pPr>
            <a:r>
              <a:rPr lang="en-US" sz="2000" dirty="0"/>
              <a:t>To understand </a:t>
            </a:r>
            <a:r>
              <a:rPr lang="en-GB" sz="2000" dirty="0"/>
              <a:t>legal and regulatory requirements that apply to developing software.</a:t>
            </a:r>
          </a:p>
          <a:p>
            <a:pPr lvl="1"/>
            <a:r>
              <a:rPr lang="en-GB" sz="2000" dirty="0"/>
              <a:t>To understand the ethical implications that apply to software development</a:t>
            </a:r>
          </a:p>
          <a:p>
            <a:pPr lvl="1" eaLnBrk="1" hangingPunct="1">
              <a:defRPr/>
            </a:pPr>
            <a:endParaRPr lang="en-US" sz="1800" dirty="0"/>
          </a:p>
          <a:p>
            <a:pPr eaLnBrk="1" hangingPunct="1">
              <a:defRPr/>
            </a:pPr>
            <a:endParaRPr lang="en-US" sz="1800" b="1" dirty="0"/>
          </a:p>
          <a:p>
            <a:pPr lvl="1" eaLnBrk="1" hangingPunct="1">
              <a:defRPr/>
            </a:pPr>
            <a:endParaRPr lang="en-GB" sz="2000" dirty="0"/>
          </a:p>
          <a:p>
            <a:pPr lvl="1" eaLnBrk="1" hangingPunct="1">
              <a:defRPr/>
            </a:pPr>
            <a:endParaRPr lang="en-GB" sz="2000" dirty="0"/>
          </a:p>
          <a:p>
            <a:pPr marL="457200" lvl="1" indent="0" eaLnBrk="1" hangingPunct="1">
              <a:buFont typeface="Wingdings" panose="05000000000000000000" pitchFamily="2" charset="2"/>
              <a:buNone/>
              <a:defRPr/>
            </a:pPr>
            <a:endParaRPr lang="en-GB"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4C0A4-BF10-46F6-A9C6-B3CBB942560C}"/>
              </a:ext>
            </a:extLst>
          </p:cNvPr>
          <p:cNvSpPr>
            <a:spLocks noGrp="1"/>
          </p:cNvSpPr>
          <p:nvPr>
            <p:ph type="title"/>
          </p:nvPr>
        </p:nvSpPr>
        <p:spPr>
          <a:xfrm>
            <a:off x="1350963" y="476672"/>
            <a:ext cx="6965453" cy="939800"/>
          </a:xfrm>
        </p:spPr>
        <p:txBody>
          <a:bodyPr/>
          <a:lstStyle/>
          <a:p>
            <a:r>
              <a:rPr lang="en-GB" sz="3200" b="1" dirty="0">
                <a:solidFill>
                  <a:srgbClr val="0070C0"/>
                </a:solidFill>
              </a:rPr>
              <a:t>Intellectual Property Rights and Licenses</a:t>
            </a:r>
          </a:p>
        </p:txBody>
      </p:sp>
      <p:sp>
        <p:nvSpPr>
          <p:cNvPr id="3" name="Content Placeholder 2">
            <a:extLst>
              <a:ext uri="{FF2B5EF4-FFF2-40B4-BE49-F238E27FC236}">
                <a16:creationId xmlns:a16="http://schemas.microsoft.com/office/drawing/2014/main" id="{CFD68367-D5DC-4107-9EE1-4D656D9F5796}"/>
              </a:ext>
            </a:extLst>
          </p:cNvPr>
          <p:cNvSpPr>
            <a:spLocks noGrp="1"/>
          </p:cNvSpPr>
          <p:nvPr>
            <p:ph idx="1"/>
          </p:nvPr>
        </p:nvSpPr>
        <p:spPr>
          <a:xfrm>
            <a:off x="323528" y="1870267"/>
            <a:ext cx="7772400" cy="766645"/>
          </a:xfrm>
        </p:spPr>
        <p:txBody>
          <a:bodyPr/>
          <a:lstStyle/>
          <a:p>
            <a:r>
              <a:rPr lang="en-GB" sz="1800" dirty="0"/>
              <a:t>Legal rights that protect creators of original software, designs, and inventions.</a:t>
            </a:r>
          </a:p>
        </p:txBody>
      </p:sp>
      <p:sp>
        <p:nvSpPr>
          <p:cNvPr id="4" name="Content Placeholder 2">
            <a:extLst>
              <a:ext uri="{FF2B5EF4-FFF2-40B4-BE49-F238E27FC236}">
                <a16:creationId xmlns:a16="http://schemas.microsoft.com/office/drawing/2014/main" id="{1A70F664-A948-560E-E614-AE8B13ACB0FE}"/>
              </a:ext>
            </a:extLst>
          </p:cNvPr>
          <p:cNvSpPr txBox="1">
            <a:spLocks/>
          </p:cNvSpPr>
          <p:nvPr/>
        </p:nvSpPr>
        <p:spPr bwMode="auto">
          <a:xfrm>
            <a:off x="327143" y="2707384"/>
            <a:ext cx="777240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To ensure developers and organizations can protect and monetize their creations while respecting the rights of others.</a:t>
            </a:r>
            <a:endParaRPr lang="en-GB" sz="1800" kern="0" dirty="0"/>
          </a:p>
        </p:txBody>
      </p:sp>
      <p:sp>
        <p:nvSpPr>
          <p:cNvPr id="5" name="Content Placeholder 2">
            <a:extLst>
              <a:ext uri="{FF2B5EF4-FFF2-40B4-BE49-F238E27FC236}">
                <a16:creationId xmlns:a16="http://schemas.microsoft.com/office/drawing/2014/main" id="{A4F344B7-8841-31CF-2013-9E1214A7F891}"/>
              </a:ext>
            </a:extLst>
          </p:cNvPr>
          <p:cNvSpPr txBox="1">
            <a:spLocks/>
          </p:cNvSpPr>
          <p:nvPr/>
        </p:nvSpPr>
        <p:spPr bwMode="auto">
          <a:xfrm>
            <a:off x="323528" y="3927824"/>
            <a:ext cx="4968552" cy="173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Key Features:</a:t>
            </a:r>
            <a:endParaRPr lang="en-GB" sz="1800" dirty="0"/>
          </a:p>
          <a:p>
            <a:pPr lvl="1"/>
            <a:r>
              <a:rPr lang="en-GB" sz="1800" dirty="0"/>
              <a:t>Copyright protects source code and creative elements</a:t>
            </a:r>
          </a:p>
          <a:p>
            <a:pPr lvl="1"/>
            <a:r>
              <a:rPr lang="en-GB" sz="1800" dirty="0"/>
              <a:t>Patents protect inventions (e.g., unique algorithms)</a:t>
            </a:r>
          </a:p>
          <a:p>
            <a:pPr lvl="1"/>
            <a:r>
              <a:rPr lang="en-GB" sz="1800" dirty="0"/>
              <a:t>Licenses (GPL, MIT, Apache) dictate how software can be used, modified, and distributed</a:t>
            </a:r>
          </a:p>
        </p:txBody>
      </p:sp>
      <p:pic>
        <p:nvPicPr>
          <p:cNvPr id="1028" name="Picture 4" descr="Intellectual property: A Guide to ...">
            <a:extLst>
              <a:ext uri="{FF2B5EF4-FFF2-40B4-BE49-F238E27FC236}">
                <a16:creationId xmlns:a16="http://schemas.microsoft.com/office/drawing/2014/main" id="{10FC38C4-A961-C350-9EA6-491EE96A1D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2085" y="3940100"/>
            <a:ext cx="3218387" cy="22089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7655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ABD9C-9B84-4584-AE2F-A4C893EFA799}"/>
              </a:ext>
            </a:extLst>
          </p:cNvPr>
          <p:cNvSpPr>
            <a:spLocks noGrp="1"/>
          </p:cNvSpPr>
          <p:nvPr>
            <p:ph type="title"/>
          </p:nvPr>
        </p:nvSpPr>
        <p:spPr>
          <a:xfrm>
            <a:off x="1403648" y="404813"/>
            <a:ext cx="7505402" cy="939800"/>
          </a:xfrm>
        </p:spPr>
        <p:txBody>
          <a:bodyPr/>
          <a:lstStyle/>
          <a:p>
            <a:r>
              <a:rPr lang="en-GB" sz="3600" b="1" dirty="0">
                <a:solidFill>
                  <a:srgbClr val="0070C0"/>
                </a:solidFill>
              </a:rPr>
              <a:t>Consumer protection </a:t>
            </a:r>
          </a:p>
        </p:txBody>
      </p:sp>
      <p:sp>
        <p:nvSpPr>
          <p:cNvPr id="3" name="Content Placeholder 2">
            <a:extLst>
              <a:ext uri="{FF2B5EF4-FFF2-40B4-BE49-F238E27FC236}">
                <a16:creationId xmlns:a16="http://schemas.microsoft.com/office/drawing/2014/main" id="{4BA570B6-4991-4792-9E51-1971264455D9}"/>
              </a:ext>
            </a:extLst>
          </p:cNvPr>
          <p:cNvSpPr>
            <a:spLocks noGrp="1"/>
          </p:cNvSpPr>
          <p:nvPr>
            <p:ph idx="1"/>
          </p:nvPr>
        </p:nvSpPr>
        <p:spPr>
          <a:xfrm>
            <a:off x="382417" y="1772816"/>
            <a:ext cx="8366048" cy="1479551"/>
          </a:xfrm>
        </p:spPr>
        <p:txBody>
          <a:bodyPr/>
          <a:lstStyle/>
          <a:p>
            <a:r>
              <a:rPr lang="en-GB" sz="1800" dirty="0"/>
              <a:t>Laws ensuring that users are treated fairly when purchasing and using software.</a:t>
            </a:r>
          </a:p>
          <a:p>
            <a:endParaRPr lang="en-GB" sz="1800" dirty="0"/>
          </a:p>
          <a:p>
            <a:r>
              <a:rPr lang="en-GB" sz="1800" b="1" dirty="0"/>
              <a:t>Intent: </a:t>
            </a:r>
            <a:r>
              <a:rPr lang="en-GB" sz="1800" dirty="0"/>
              <a:t>To prevent deceptive practices, ensure software quality, and guarantee access to redress if issues arise.</a:t>
            </a:r>
          </a:p>
        </p:txBody>
      </p:sp>
      <p:pic>
        <p:nvPicPr>
          <p:cNvPr id="5" name="Picture 4">
            <a:extLst>
              <a:ext uri="{FF2B5EF4-FFF2-40B4-BE49-F238E27FC236}">
                <a16:creationId xmlns:a16="http://schemas.microsoft.com/office/drawing/2014/main" id="{2C26F107-6C1D-4B67-A1AD-8E8B9AB57E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68144" y="3605634"/>
            <a:ext cx="2736304" cy="2049587"/>
          </a:xfrm>
          <a:prstGeom prst="rect">
            <a:avLst/>
          </a:prstGeom>
        </p:spPr>
      </p:pic>
      <p:sp>
        <p:nvSpPr>
          <p:cNvPr id="6" name="Content Placeholder 2">
            <a:extLst>
              <a:ext uri="{FF2B5EF4-FFF2-40B4-BE49-F238E27FC236}">
                <a16:creationId xmlns:a16="http://schemas.microsoft.com/office/drawing/2014/main" id="{8DDD41B7-DA32-41B6-B5BF-9A7CB670165A}"/>
              </a:ext>
            </a:extLst>
          </p:cNvPr>
          <p:cNvSpPr txBox="1">
            <a:spLocks/>
          </p:cNvSpPr>
          <p:nvPr/>
        </p:nvSpPr>
        <p:spPr bwMode="auto">
          <a:xfrm>
            <a:off x="414232" y="4077072"/>
            <a:ext cx="5629744" cy="177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Key Features:</a:t>
            </a:r>
            <a:endParaRPr lang="en-GB" sz="1800" dirty="0"/>
          </a:p>
          <a:p>
            <a:pPr lvl="1"/>
            <a:r>
              <a:rPr lang="en-GB" sz="1800" dirty="0"/>
              <a:t>Clear terms and refund policies</a:t>
            </a:r>
          </a:p>
          <a:p>
            <a:pPr lvl="1"/>
            <a:r>
              <a:rPr lang="en-GB" sz="1800" dirty="0"/>
              <a:t>Prevention of false claims</a:t>
            </a:r>
          </a:p>
          <a:p>
            <a:pPr lvl="1"/>
            <a:r>
              <a:rPr lang="en-GB" sz="1800" dirty="0"/>
              <a:t>Obligation to deliver functioning, secure products</a:t>
            </a:r>
            <a:endParaRPr lang="en-GB" sz="1800" kern="0" dirty="0"/>
          </a:p>
          <a:p>
            <a:endParaRPr lang="en-GB" sz="1600" kern="0" dirty="0"/>
          </a:p>
        </p:txBody>
      </p:sp>
    </p:spTree>
    <p:extLst>
      <p:ext uri="{BB962C8B-B14F-4D97-AF65-F5344CB8AC3E}">
        <p14:creationId xmlns:p14="http://schemas.microsoft.com/office/powerpoint/2010/main" val="122105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ABD9C-9B84-4584-AE2F-A4C893EFA799}"/>
              </a:ext>
            </a:extLst>
          </p:cNvPr>
          <p:cNvSpPr>
            <a:spLocks noGrp="1"/>
          </p:cNvSpPr>
          <p:nvPr>
            <p:ph type="title"/>
          </p:nvPr>
        </p:nvSpPr>
        <p:spPr>
          <a:xfrm>
            <a:off x="1331640" y="421587"/>
            <a:ext cx="7505402" cy="939800"/>
          </a:xfrm>
        </p:spPr>
        <p:txBody>
          <a:bodyPr/>
          <a:lstStyle/>
          <a:p>
            <a:r>
              <a:rPr lang="en-GB" sz="3200" b="1" dirty="0">
                <a:solidFill>
                  <a:srgbClr val="0070C0"/>
                </a:solidFill>
              </a:rPr>
              <a:t>Age ratings and classifications </a:t>
            </a:r>
          </a:p>
        </p:txBody>
      </p:sp>
      <p:sp>
        <p:nvSpPr>
          <p:cNvPr id="3" name="Content Placeholder 2">
            <a:extLst>
              <a:ext uri="{FF2B5EF4-FFF2-40B4-BE49-F238E27FC236}">
                <a16:creationId xmlns:a16="http://schemas.microsoft.com/office/drawing/2014/main" id="{4BA570B6-4991-4792-9E51-1971264455D9}"/>
              </a:ext>
            </a:extLst>
          </p:cNvPr>
          <p:cNvSpPr>
            <a:spLocks noGrp="1"/>
          </p:cNvSpPr>
          <p:nvPr>
            <p:ph idx="1"/>
          </p:nvPr>
        </p:nvSpPr>
        <p:spPr>
          <a:xfrm>
            <a:off x="539552" y="1916832"/>
            <a:ext cx="7992888" cy="720105"/>
          </a:xfrm>
        </p:spPr>
        <p:txBody>
          <a:bodyPr/>
          <a:lstStyle/>
          <a:p>
            <a:r>
              <a:rPr lang="en-GB" sz="1800" dirty="0"/>
              <a:t>Regulations that assign age-appropriate ratings to digital products based on content.</a:t>
            </a:r>
          </a:p>
        </p:txBody>
      </p:sp>
      <p:sp>
        <p:nvSpPr>
          <p:cNvPr id="4" name="Content Placeholder 2">
            <a:extLst>
              <a:ext uri="{FF2B5EF4-FFF2-40B4-BE49-F238E27FC236}">
                <a16:creationId xmlns:a16="http://schemas.microsoft.com/office/drawing/2014/main" id="{3EDC27FA-A150-7358-A93F-35760329DC13}"/>
              </a:ext>
            </a:extLst>
          </p:cNvPr>
          <p:cNvSpPr txBox="1">
            <a:spLocks/>
          </p:cNvSpPr>
          <p:nvPr/>
        </p:nvSpPr>
        <p:spPr bwMode="auto">
          <a:xfrm>
            <a:off x="539552" y="2852936"/>
            <a:ext cx="7992888" cy="720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To prevent children and young users from accessing unsuitable or harmful material.</a:t>
            </a:r>
            <a:endParaRPr lang="en-GB" sz="1800" kern="0" dirty="0"/>
          </a:p>
        </p:txBody>
      </p:sp>
      <p:sp>
        <p:nvSpPr>
          <p:cNvPr id="5" name="Content Placeholder 2">
            <a:extLst>
              <a:ext uri="{FF2B5EF4-FFF2-40B4-BE49-F238E27FC236}">
                <a16:creationId xmlns:a16="http://schemas.microsoft.com/office/drawing/2014/main" id="{49296360-202C-6705-3CB9-11A3A58F4D43}"/>
              </a:ext>
            </a:extLst>
          </p:cNvPr>
          <p:cNvSpPr txBox="1">
            <a:spLocks/>
          </p:cNvSpPr>
          <p:nvPr/>
        </p:nvSpPr>
        <p:spPr bwMode="auto">
          <a:xfrm>
            <a:off x="539552" y="4221088"/>
            <a:ext cx="4986554" cy="165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Key Features:</a:t>
            </a:r>
            <a:endParaRPr lang="en-GB" sz="1800" dirty="0"/>
          </a:p>
          <a:p>
            <a:pPr lvl="1"/>
            <a:r>
              <a:rPr lang="en-GB" sz="1800" dirty="0"/>
              <a:t>PEGI, ESRB, and BBFC for games and media</a:t>
            </a:r>
          </a:p>
          <a:p>
            <a:pPr lvl="1"/>
            <a:r>
              <a:rPr lang="en-GB" sz="1800" dirty="0"/>
              <a:t>Mandatory disclosure of violence, gambling, adult content</a:t>
            </a:r>
          </a:p>
          <a:p>
            <a:pPr lvl="1"/>
            <a:r>
              <a:rPr lang="en-GB" sz="1800" dirty="0"/>
              <a:t>Integration with parental control systems</a:t>
            </a:r>
          </a:p>
        </p:txBody>
      </p:sp>
      <p:pic>
        <p:nvPicPr>
          <p:cNvPr id="2050" name="Picture 2" descr="Film Ratings and Classification Systems (BBFC and MPAA) Research | Penelope  Leung A2 Media Studies">
            <a:extLst>
              <a:ext uri="{FF2B5EF4-FFF2-40B4-BE49-F238E27FC236}">
                <a16:creationId xmlns:a16="http://schemas.microsoft.com/office/drawing/2014/main" id="{1C384516-73D9-A351-666A-D2EF8CC7E6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0915" y="3933056"/>
            <a:ext cx="2894482" cy="21038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649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ABD9C-9B84-4584-AE2F-A4C893EFA799}"/>
              </a:ext>
            </a:extLst>
          </p:cNvPr>
          <p:cNvSpPr>
            <a:spLocks noGrp="1"/>
          </p:cNvSpPr>
          <p:nvPr>
            <p:ph type="title"/>
          </p:nvPr>
        </p:nvSpPr>
        <p:spPr>
          <a:xfrm>
            <a:off x="1316187" y="404664"/>
            <a:ext cx="7505402" cy="939800"/>
          </a:xfrm>
        </p:spPr>
        <p:txBody>
          <a:bodyPr/>
          <a:lstStyle/>
          <a:p>
            <a:r>
              <a:rPr lang="en-GB" sz="3600" b="1" dirty="0">
                <a:solidFill>
                  <a:srgbClr val="0070C0"/>
                </a:solidFill>
              </a:rPr>
              <a:t>Advertising laws </a:t>
            </a:r>
          </a:p>
        </p:txBody>
      </p:sp>
      <p:sp>
        <p:nvSpPr>
          <p:cNvPr id="3" name="Content Placeholder 2">
            <a:extLst>
              <a:ext uri="{FF2B5EF4-FFF2-40B4-BE49-F238E27FC236}">
                <a16:creationId xmlns:a16="http://schemas.microsoft.com/office/drawing/2014/main" id="{4BA570B6-4991-4792-9E51-1971264455D9}"/>
              </a:ext>
            </a:extLst>
          </p:cNvPr>
          <p:cNvSpPr>
            <a:spLocks noGrp="1"/>
          </p:cNvSpPr>
          <p:nvPr>
            <p:ph idx="1"/>
          </p:nvPr>
        </p:nvSpPr>
        <p:spPr>
          <a:xfrm>
            <a:off x="539552" y="1916832"/>
            <a:ext cx="7920880" cy="432073"/>
          </a:xfrm>
        </p:spPr>
        <p:txBody>
          <a:bodyPr/>
          <a:lstStyle/>
          <a:p>
            <a:r>
              <a:rPr lang="en-GB" sz="1800" dirty="0"/>
              <a:t>Rules governing how software products are marketed and promoted.</a:t>
            </a:r>
          </a:p>
        </p:txBody>
      </p:sp>
      <p:sp>
        <p:nvSpPr>
          <p:cNvPr id="4" name="Content Placeholder 2">
            <a:extLst>
              <a:ext uri="{FF2B5EF4-FFF2-40B4-BE49-F238E27FC236}">
                <a16:creationId xmlns:a16="http://schemas.microsoft.com/office/drawing/2014/main" id="{1A5D34FC-6A28-4160-58DE-4BC1A29E8067}"/>
              </a:ext>
            </a:extLst>
          </p:cNvPr>
          <p:cNvSpPr txBox="1">
            <a:spLocks/>
          </p:cNvSpPr>
          <p:nvPr/>
        </p:nvSpPr>
        <p:spPr bwMode="auto">
          <a:xfrm>
            <a:off x="539552" y="2890141"/>
            <a:ext cx="7920880" cy="579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To ensure advertisements are honest, legal, and not misleading, especially for vulnerable users.</a:t>
            </a:r>
            <a:endParaRPr lang="en-GB" sz="1800" kern="0" dirty="0"/>
          </a:p>
        </p:txBody>
      </p:sp>
      <p:sp>
        <p:nvSpPr>
          <p:cNvPr id="5" name="Content Placeholder 2">
            <a:extLst>
              <a:ext uri="{FF2B5EF4-FFF2-40B4-BE49-F238E27FC236}">
                <a16:creationId xmlns:a16="http://schemas.microsoft.com/office/drawing/2014/main" id="{D5B83085-F5C9-1BCD-7805-CB5316DADF0D}"/>
              </a:ext>
            </a:extLst>
          </p:cNvPr>
          <p:cNvSpPr txBox="1">
            <a:spLocks/>
          </p:cNvSpPr>
          <p:nvPr/>
        </p:nvSpPr>
        <p:spPr bwMode="auto">
          <a:xfrm>
            <a:off x="561989" y="4077072"/>
            <a:ext cx="4370051" cy="2376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Key Features:</a:t>
            </a:r>
            <a:endParaRPr lang="en-GB" sz="1800" dirty="0"/>
          </a:p>
          <a:p>
            <a:pPr lvl="1"/>
            <a:r>
              <a:rPr lang="en-GB" sz="1800" dirty="0"/>
              <a:t>Clear disclaimers and consent for in-app ads</a:t>
            </a:r>
          </a:p>
          <a:p>
            <a:pPr lvl="1"/>
            <a:r>
              <a:rPr lang="en-GB" sz="1800" dirty="0"/>
              <a:t>Ban on deceptive performance claims</a:t>
            </a:r>
          </a:p>
          <a:p>
            <a:pPr lvl="1"/>
            <a:r>
              <a:rPr lang="en-GB" sz="1800" dirty="0"/>
              <a:t>Rules for endorsements, data collection in ads</a:t>
            </a:r>
          </a:p>
        </p:txBody>
      </p:sp>
      <p:pic>
        <p:nvPicPr>
          <p:cNvPr id="6" name="Online Media 5" title="Advertising Law in the UK - A Quick Guide to avoiding ads being banned like Ryanair's Jab &amp; Go Ad">
            <a:hlinkClick r:id="" action="ppaction://media"/>
            <a:extLst>
              <a:ext uri="{FF2B5EF4-FFF2-40B4-BE49-F238E27FC236}">
                <a16:creationId xmlns:a16="http://schemas.microsoft.com/office/drawing/2014/main" id="{5541CED3-51A8-5C1A-E3D5-831ADA16A580}"/>
              </a:ext>
            </a:extLst>
          </p:cNvPr>
          <p:cNvPicPr>
            <a:picLocks noRot="1" noChangeAspect="1"/>
          </p:cNvPicPr>
          <p:nvPr>
            <a:videoFile r:link="rId1"/>
          </p:nvPr>
        </p:nvPicPr>
        <p:blipFill>
          <a:blip r:embed="rId4"/>
          <a:stretch>
            <a:fillRect/>
          </a:stretch>
        </p:blipFill>
        <p:spPr>
          <a:xfrm>
            <a:off x="5292080" y="4049476"/>
            <a:ext cx="3424830" cy="1934791"/>
          </a:xfrm>
          <a:prstGeom prst="rect">
            <a:avLst/>
          </a:prstGeom>
        </p:spPr>
      </p:pic>
    </p:spTree>
    <p:extLst>
      <p:ext uri="{BB962C8B-B14F-4D97-AF65-F5344CB8AC3E}">
        <p14:creationId xmlns:p14="http://schemas.microsoft.com/office/powerpoint/2010/main" val="2982589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6B6C8-34CA-4E99-A0E3-10EC810DAE5C}"/>
              </a:ext>
            </a:extLst>
          </p:cNvPr>
          <p:cNvSpPr>
            <a:spLocks noGrp="1"/>
          </p:cNvSpPr>
          <p:nvPr>
            <p:ph type="title"/>
          </p:nvPr>
        </p:nvSpPr>
        <p:spPr>
          <a:xfrm>
            <a:off x="1403350" y="404813"/>
            <a:ext cx="7505700" cy="939800"/>
          </a:xfrm>
        </p:spPr>
        <p:txBody>
          <a:bodyPr/>
          <a:lstStyle/>
          <a:p>
            <a:pPr>
              <a:defRPr/>
            </a:pPr>
            <a:r>
              <a:rPr lang="en-GB" sz="3600" b="1" dirty="0">
                <a:solidFill>
                  <a:srgbClr val="0070C0"/>
                </a:solidFill>
              </a:rPr>
              <a:t>Data Protection and Privacy</a:t>
            </a:r>
            <a:endParaRPr lang="en-GB" sz="3600" b="1" dirty="0">
              <a:solidFill>
                <a:srgbClr val="0070C0"/>
              </a:solidFill>
              <a:latin typeface="+mn-lt"/>
            </a:endParaRPr>
          </a:p>
        </p:txBody>
      </p:sp>
      <p:sp>
        <p:nvSpPr>
          <p:cNvPr id="3" name="Content Placeholder 2">
            <a:extLst>
              <a:ext uri="{FF2B5EF4-FFF2-40B4-BE49-F238E27FC236}">
                <a16:creationId xmlns:a16="http://schemas.microsoft.com/office/drawing/2014/main" id="{3BDE2BF1-696A-4ACC-949A-80858AFD3EB0}"/>
              </a:ext>
            </a:extLst>
          </p:cNvPr>
          <p:cNvSpPr>
            <a:spLocks noGrp="1"/>
          </p:cNvSpPr>
          <p:nvPr>
            <p:ph idx="1"/>
          </p:nvPr>
        </p:nvSpPr>
        <p:spPr>
          <a:xfrm>
            <a:off x="406400" y="1949450"/>
            <a:ext cx="8331200" cy="615454"/>
          </a:xfrm>
        </p:spPr>
        <p:txBody>
          <a:bodyPr/>
          <a:lstStyle/>
          <a:p>
            <a:pPr>
              <a:spcBef>
                <a:spcPts val="0"/>
              </a:spcBef>
              <a:defRPr/>
            </a:pPr>
            <a:r>
              <a:rPr lang="en-GB" sz="1800" dirty="0"/>
              <a:t>Laws and policies that govern how personal data is collected, stored, and used.</a:t>
            </a:r>
            <a:endParaRPr lang="en-GB" sz="1600" b="1" kern="1200" dirty="0">
              <a:solidFill>
                <a:srgbClr val="0070C0"/>
              </a:solidFill>
            </a:endParaRPr>
          </a:p>
          <a:p>
            <a:pPr marL="0" indent="0">
              <a:buFont typeface="Wingdings" panose="05000000000000000000" pitchFamily="2" charset="2"/>
              <a:buNone/>
              <a:defRPr/>
            </a:pPr>
            <a:endParaRPr lang="en-GB" dirty="0"/>
          </a:p>
        </p:txBody>
      </p:sp>
      <p:sp>
        <p:nvSpPr>
          <p:cNvPr id="4" name="Content Placeholder 2">
            <a:extLst>
              <a:ext uri="{FF2B5EF4-FFF2-40B4-BE49-F238E27FC236}">
                <a16:creationId xmlns:a16="http://schemas.microsoft.com/office/drawing/2014/main" id="{A12EEC8F-F53A-9E0F-1A78-F4208C705D25}"/>
              </a:ext>
            </a:extLst>
          </p:cNvPr>
          <p:cNvSpPr txBox="1">
            <a:spLocks/>
          </p:cNvSpPr>
          <p:nvPr/>
        </p:nvSpPr>
        <p:spPr bwMode="auto">
          <a:xfrm>
            <a:off x="406400" y="3073039"/>
            <a:ext cx="8331200" cy="615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spcBef>
                <a:spcPts val="0"/>
              </a:spcBef>
              <a:defRPr/>
            </a:pPr>
            <a:r>
              <a:rPr lang="en-GB" sz="1800" b="1" dirty="0"/>
              <a:t>Intent: </a:t>
            </a:r>
            <a:r>
              <a:rPr lang="en-GB" sz="1800" dirty="0"/>
              <a:t>To give users control over their personal data and ensure it’s handled securely.</a:t>
            </a:r>
            <a:endParaRPr lang="en-GB" kern="0" dirty="0"/>
          </a:p>
        </p:txBody>
      </p:sp>
      <p:sp>
        <p:nvSpPr>
          <p:cNvPr id="5" name="Content Placeholder 2">
            <a:extLst>
              <a:ext uri="{FF2B5EF4-FFF2-40B4-BE49-F238E27FC236}">
                <a16:creationId xmlns:a16="http://schemas.microsoft.com/office/drawing/2014/main" id="{8A233EB7-1B80-D26D-97AB-095A9A11D235}"/>
              </a:ext>
            </a:extLst>
          </p:cNvPr>
          <p:cNvSpPr txBox="1">
            <a:spLocks/>
          </p:cNvSpPr>
          <p:nvPr/>
        </p:nvSpPr>
        <p:spPr bwMode="auto">
          <a:xfrm>
            <a:off x="429303" y="4230875"/>
            <a:ext cx="3808508" cy="1980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Key Features:</a:t>
            </a:r>
            <a:endParaRPr lang="en-GB" sz="1800" dirty="0"/>
          </a:p>
          <a:p>
            <a:pPr lvl="1"/>
            <a:r>
              <a:rPr lang="en-GB" sz="1800" dirty="0"/>
              <a:t>GDPR, CCPA, and other data protection regulations</a:t>
            </a:r>
          </a:p>
          <a:p>
            <a:pPr lvl="1"/>
            <a:r>
              <a:rPr lang="en-GB" sz="1800" dirty="0"/>
              <a:t>User consent, right to access/delete data</a:t>
            </a:r>
          </a:p>
          <a:p>
            <a:pPr lvl="1"/>
            <a:r>
              <a:rPr lang="en-GB" sz="1800" dirty="0"/>
              <a:t>Data minimization and encryption</a:t>
            </a:r>
          </a:p>
        </p:txBody>
      </p:sp>
      <p:pic>
        <p:nvPicPr>
          <p:cNvPr id="3074" name="Picture 2" descr="UK GDPR vs EU GDPR: Key Differences Explained">
            <a:extLst>
              <a:ext uri="{FF2B5EF4-FFF2-40B4-BE49-F238E27FC236}">
                <a16:creationId xmlns:a16="http://schemas.microsoft.com/office/drawing/2014/main" id="{61BAFDAC-CB39-B9DD-192D-BF19C51A84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42697" y="4311536"/>
            <a:ext cx="4572000" cy="165655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BD66F425-B918-41C0-B4AE-77F30CFA34B1}"/>
              </a:ext>
            </a:extLst>
          </p:cNvPr>
          <p:cNvSpPr>
            <a:spLocks noGrp="1" noChangeArrowheads="1"/>
          </p:cNvSpPr>
          <p:nvPr>
            <p:ph type="title"/>
          </p:nvPr>
        </p:nvSpPr>
        <p:spPr>
          <a:xfrm>
            <a:off x="1403350" y="404813"/>
            <a:ext cx="7505700" cy="939800"/>
          </a:xfrm>
        </p:spPr>
        <p:txBody>
          <a:bodyPr/>
          <a:lstStyle/>
          <a:p>
            <a:r>
              <a:rPr lang="en-GB" sz="3600" b="1" dirty="0">
                <a:solidFill>
                  <a:srgbClr val="0070C0"/>
                </a:solidFill>
              </a:rPr>
              <a:t>Copyright and Patents</a:t>
            </a:r>
            <a:endParaRPr lang="en-US" altLang="en-US" sz="3600" b="1" dirty="0">
              <a:solidFill>
                <a:srgbClr val="0070C0"/>
              </a:solidFill>
            </a:endParaRPr>
          </a:p>
        </p:txBody>
      </p:sp>
      <p:sp>
        <p:nvSpPr>
          <p:cNvPr id="26627" name="Content Placeholder 2">
            <a:extLst>
              <a:ext uri="{FF2B5EF4-FFF2-40B4-BE49-F238E27FC236}">
                <a16:creationId xmlns:a16="http://schemas.microsoft.com/office/drawing/2014/main" id="{AE99AB18-BCC5-4C72-AD24-F75D46CEF29D}"/>
              </a:ext>
            </a:extLst>
          </p:cNvPr>
          <p:cNvSpPr>
            <a:spLocks noGrp="1" noChangeArrowheads="1"/>
          </p:cNvSpPr>
          <p:nvPr>
            <p:ph idx="1"/>
          </p:nvPr>
        </p:nvSpPr>
        <p:spPr>
          <a:xfrm>
            <a:off x="588961" y="2067428"/>
            <a:ext cx="5495207" cy="539824"/>
          </a:xfrm>
        </p:spPr>
        <p:txBody>
          <a:bodyPr/>
          <a:lstStyle/>
          <a:p>
            <a:r>
              <a:rPr lang="en-GB" sz="1800" dirty="0"/>
              <a:t>Legal frameworks protecting original software works and inventions.</a:t>
            </a:r>
            <a:endParaRPr lang="en-US" altLang="en-US" sz="1800" b="1" dirty="0">
              <a:solidFill>
                <a:srgbClr val="0070C0"/>
              </a:solidFill>
            </a:endParaRPr>
          </a:p>
        </p:txBody>
      </p:sp>
      <p:pic>
        <p:nvPicPr>
          <p:cNvPr id="26628" name="Picture 2" descr="A close up of a sign&#10;&#10;Description automatically generated">
            <a:extLst>
              <a:ext uri="{FF2B5EF4-FFF2-40B4-BE49-F238E27FC236}">
                <a16:creationId xmlns:a16="http://schemas.microsoft.com/office/drawing/2014/main" id="{1CA6A004-5E7F-4A01-8F1B-F11C5E8B69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1856" y="1696457"/>
            <a:ext cx="2340915"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Content Placeholder 2">
            <a:extLst>
              <a:ext uri="{FF2B5EF4-FFF2-40B4-BE49-F238E27FC236}">
                <a16:creationId xmlns:a16="http://schemas.microsoft.com/office/drawing/2014/main" id="{0DA3E57E-28FF-CD86-D77A-0E4CCFCD04FC}"/>
              </a:ext>
            </a:extLst>
          </p:cNvPr>
          <p:cNvSpPr txBox="1">
            <a:spLocks noChangeArrowheads="1"/>
          </p:cNvSpPr>
          <p:nvPr/>
        </p:nvSpPr>
        <p:spPr bwMode="auto">
          <a:xfrm>
            <a:off x="588962" y="2904933"/>
            <a:ext cx="5135165" cy="539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To incentivize innovation and ensure fair use of others' work.</a:t>
            </a:r>
            <a:endParaRPr lang="en-US" altLang="en-US" sz="1800" b="1" kern="0" dirty="0">
              <a:solidFill>
                <a:srgbClr val="0070C0"/>
              </a:solidFill>
            </a:endParaRPr>
          </a:p>
        </p:txBody>
      </p:sp>
      <p:sp>
        <p:nvSpPr>
          <p:cNvPr id="5" name="Content Placeholder 2">
            <a:extLst>
              <a:ext uri="{FF2B5EF4-FFF2-40B4-BE49-F238E27FC236}">
                <a16:creationId xmlns:a16="http://schemas.microsoft.com/office/drawing/2014/main" id="{B18BADE1-6F15-24EE-552C-86A72AECDAC2}"/>
              </a:ext>
            </a:extLst>
          </p:cNvPr>
          <p:cNvSpPr txBox="1">
            <a:spLocks noChangeArrowheads="1"/>
          </p:cNvSpPr>
          <p:nvPr/>
        </p:nvSpPr>
        <p:spPr bwMode="auto">
          <a:xfrm>
            <a:off x="588961" y="3987765"/>
            <a:ext cx="3623000" cy="2465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Key Features:</a:t>
            </a:r>
            <a:endParaRPr lang="en-GB" sz="1800" dirty="0"/>
          </a:p>
          <a:p>
            <a:pPr lvl="1"/>
            <a:r>
              <a:rPr lang="en-GB" sz="1800" dirty="0"/>
              <a:t>Copyright for code, design, and media assets</a:t>
            </a:r>
          </a:p>
          <a:p>
            <a:pPr lvl="1"/>
            <a:r>
              <a:rPr lang="en-GB" sz="1800" dirty="0"/>
              <a:t>Patents for technical innovations</a:t>
            </a:r>
          </a:p>
          <a:p>
            <a:pPr lvl="1"/>
            <a:r>
              <a:rPr lang="en-GB" sz="1800" dirty="0"/>
              <a:t>Enforcement mechanisms for infringement</a:t>
            </a:r>
          </a:p>
        </p:txBody>
      </p:sp>
      <p:pic>
        <p:nvPicPr>
          <p:cNvPr id="6" name="Online Media 5" title="Intellectual Property: Copyright, Trademarks, and Patents">
            <a:hlinkClick r:id="" action="ppaction://media"/>
            <a:extLst>
              <a:ext uri="{FF2B5EF4-FFF2-40B4-BE49-F238E27FC236}">
                <a16:creationId xmlns:a16="http://schemas.microsoft.com/office/drawing/2014/main" id="{C91B324A-7A63-BA79-67EB-27893124B216}"/>
              </a:ext>
            </a:extLst>
          </p:cNvPr>
          <p:cNvPicPr>
            <a:picLocks noRot="1" noChangeAspect="1"/>
          </p:cNvPicPr>
          <p:nvPr>
            <a:videoFile r:link="rId1"/>
          </p:nvPr>
        </p:nvPicPr>
        <p:blipFill>
          <a:blip r:embed="rId5"/>
          <a:stretch>
            <a:fillRect/>
          </a:stretch>
        </p:blipFill>
        <p:spPr>
          <a:xfrm>
            <a:off x="5220072" y="4152570"/>
            <a:ext cx="3572023" cy="201794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ABD9C-9B84-4584-AE2F-A4C893EFA799}"/>
              </a:ext>
            </a:extLst>
          </p:cNvPr>
          <p:cNvSpPr>
            <a:spLocks noGrp="1"/>
          </p:cNvSpPr>
          <p:nvPr>
            <p:ph type="title"/>
          </p:nvPr>
        </p:nvSpPr>
        <p:spPr>
          <a:xfrm>
            <a:off x="1605332" y="404664"/>
            <a:ext cx="7505402" cy="939800"/>
          </a:xfrm>
        </p:spPr>
        <p:txBody>
          <a:bodyPr/>
          <a:lstStyle/>
          <a:p>
            <a:r>
              <a:rPr lang="en-GB" sz="3600" b="1" dirty="0">
                <a:solidFill>
                  <a:srgbClr val="0070C0"/>
                </a:solidFill>
              </a:rPr>
              <a:t>Gambling legislation </a:t>
            </a:r>
          </a:p>
        </p:txBody>
      </p:sp>
      <p:sp>
        <p:nvSpPr>
          <p:cNvPr id="3" name="Content Placeholder 2">
            <a:extLst>
              <a:ext uri="{FF2B5EF4-FFF2-40B4-BE49-F238E27FC236}">
                <a16:creationId xmlns:a16="http://schemas.microsoft.com/office/drawing/2014/main" id="{4BA570B6-4991-4792-9E51-1971264455D9}"/>
              </a:ext>
            </a:extLst>
          </p:cNvPr>
          <p:cNvSpPr>
            <a:spLocks noGrp="1"/>
          </p:cNvSpPr>
          <p:nvPr>
            <p:ph idx="1"/>
          </p:nvPr>
        </p:nvSpPr>
        <p:spPr>
          <a:xfrm>
            <a:off x="395536" y="1916832"/>
            <a:ext cx="7992888" cy="432073"/>
          </a:xfrm>
        </p:spPr>
        <p:txBody>
          <a:bodyPr/>
          <a:lstStyle/>
          <a:p>
            <a:r>
              <a:rPr lang="en-GB" sz="1800" dirty="0"/>
              <a:t>Laws regulating games or applications involving betting, chance, or monetary rewards.</a:t>
            </a:r>
          </a:p>
        </p:txBody>
      </p:sp>
      <p:sp>
        <p:nvSpPr>
          <p:cNvPr id="4" name="Content Placeholder 2">
            <a:extLst>
              <a:ext uri="{FF2B5EF4-FFF2-40B4-BE49-F238E27FC236}">
                <a16:creationId xmlns:a16="http://schemas.microsoft.com/office/drawing/2014/main" id="{25DB90DB-D178-B7E1-C8AB-CED3DC3093E1}"/>
              </a:ext>
            </a:extLst>
          </p:cNvPr>
          <p:cNvSpPr txBox="1">
            <a:spLocks/>
          </p:cNvSpPr>
          <p:nvPr/>
        </p:nvSpPr>
        <p:spPr bwMode="auto">
          <a:xfrm>
            <a:off x="395536" y="2847434"/>
            <a:ext cx="7992888" cy="579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To prevent exploitation, underage gambling, and ensure transparency.</a:t>
            </a:r>
            <a:endParaRPr lang="en-GB" sz="1800" kern="0" dirty="0"/>
          </a:p>
        </p:txBody>
      </p:sp>
      <p:sp>
        <p:nvSpPr>
          <p:cNvPr id="5" name="Content Placeholder 2">
            <a:extLst>
              <a:ext uri="{FF2B5EF4-FFF2-40B4-BE49-F238E27FC236}">
                <a16:creationId xmlns:a16="http://schemas.microsoft.com/office/drawing/2014/main" id="{22CF78AB-F479-BCE1-1B41-542F8C0D58F4}"/>
              </a:ext>
            </a:extLst>
          </p:cNvPr>
          <p:cNvSpPr txBox="1">
            <a:spLocks/>
          </p:cNvSpPr>
          <p:nvPr/>
        </p:nvSpPr>
        <p:spPr bwMode="auto">
          <a:xfrm>
            <a:off x="395536" y="3909987"/>
            <a:ext cx="4176464" cy="2111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Key Features:</a:t>
            </a:r>
            <a:endParaRPr lang="en-GB" sz="1800" dirty="0"/>
          </a:p>
          <a:p>
            <a:pPr lvl="1"/>
            <a:r>
              <a:rPr lang="en-GB" sz="1800" dirty="0"/>
              <a:t>Legal compliance for loot boxes and prize draws</a:t>
            </a:r>
          </a:p>
          <a:p>
            <a:pPr lvl="1"/>
            <a:r>
              <a:rPr lang="en-GB" sz="1800" dirty="0"/>
              <a:t>Mandatory age verification</a:t>
            </a:r>
          </a:p>
          <a:p>
            <a:pPr lvl="1"/>
            <a:r>
              <a:rPr lang="en-GB" sz="1800" dirty="0"/>
              <a:t>Regulatory approval in some jurisdictions</a:t>
            </a:r>
          </a:p>
        </p:txBody>
      </p:sp>
      <p:pic>
        <p:nvPicPr>
          <p:cNvPr id="6" name="Online Media 5" title="Gambling Act 2005: Regulating Fair Play in the UK Betting Industry">
            <a:hlinkClick r:id="" action="ppaction://media"/>
            <a:extLst>
              <a:ext uri="{FF2B5EF4-FFF2-40B4-BE49-F238E27FC236}">
                <a16:creationId xmlns:a16="http://schemas.microsoft.com/office/drawing/2014/main" id="{83E615F4-9F37-066E-B337-1E0C58AE1967}"/>
              </a:ext>
            </a:extLst>
          </p:cNvPr>
          <p:cNvPicPr>
            <a:picLocks noRot="1" noChangeAspect="1"/>
          </p:cNvPicPr>
          <p:nvPr>
            <a:videoFile r:link="rId1"/>
          </p:nvPr>
        </p:nvPicPr>
        <p:blipFill>
          <a:blip r:embed="rId4"/>
          <a:stretch>
            <a:fillRect/>
          </a:stretch>
        </p:blipFill>
        <p:spPr>
          <a:xfrm>
            <a:off x="4788024" y="3723182"/>
            <a:ext cx="4067944" cy="2298106"/>
          </a:xfrm>
          <a:prstGeom prst="rect">
            <a:avLst/>
          </a:prstGeom>
        </p:spPr>
      </p:pic>
    </p:spTree>
    <p:extLst>
      <p:ext uri="{BB962C8B-B14F-4D97-AF65-F5344CB8AC3E}">
        <p14:creationId xmlns:p14="http://schemas.microsoft.com/office/powerpoint/2010/main" val="2704060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ABD9C-9B84-4584-AE2F-A4C893EFA799}"/>
              </a:ext>
            </a:extLst>
          </p:cNvPr>
          <p:cNvSpPr>
            <a:spLocks noGrp="1"/>
          </p:cNvSpPr>
          <p:nvPr>
            <p:ph type="title"/>
          </p:nvPr>
        </p:nvSpPr>
        <p:spPr>
          <a:xfrm>
            <a:off x="1449686" y="404664"/>
            <a:ext cx="7505402" cy="939800"/>
          </a:xfrm>
        </p:spPr>
        <p:txBody>
          <a:bodyPr/>
          <a:lstStyle/>
          <a:p>
            <a:r>
              <a:rPr lang="en-GB" sz="2800" b="1" dirty="0">
                <a:solidFill>
                  <a:srgbClr val="0070C0"/>
                </a:solidFill>
              </a:rPr>
              <a:t>Responsibilities concerning staff and employment practices</a:t>
            </a:r>
          </a:p>
        </p:txBody>
      </p:sp>
      <p:sp>
        <p:nvSpPr>
          <p:cNvPr id="3" name="Content Placeholder 2">
            <a:extLst>
              <a:ext uri="{FF2B5EF4-FFF2-40B4-BE49-F238E27FC236}">
                <a16:creationId xmlns:a16="http://schemas.microsoft.com/office/drawing/2014/main" id="{4BA570B6-4991-4792-9E51-1971264455D9}"/>
              </a:ext>
            </a:extLst>
          </p:cNvPr>
          <p:cNvSpPr>
            <a:spLocks noGrp="1"/>
          </p:cNvSpPr>
          <p:nvPr>
            <p:ph idx="1"/>
          </p:nvPr>
        </p:nvSpPr>
        <p:spPr>
          <a:xfrm>
            <a:off x="685800" y="1980376"/>
            <a:ext cx="8062664" cy="576089"/>
          </a:xfrm>
        </p:spPr>
        <p:txBody>
          <a:bodyPr/>
          <a:lstStyle/>
          <a:p>
            <a:r>
              <a:rPr lang="en-GB" sz="1800" dirty="0"/>
              <a:t>Legal obligations around employment, workplace safety, and fair treatment.</a:t>
            </a:r>
          </a:p>
        </p:txBody>
      </p:sp>
      <p:sp>
        <p:nvSpPr>
          <p:cNvPr id="4" name="Content Placeholder 2">
            <a:extLst>
              <a:ext uri="{FF2B5EF4-FFF2-40B4-BE49-F238E27FC236}">
                <a16:creationId xmlns:a16="http://schemas.microsoft.com/office/drawing/2014/main" id="{D6026B6D-B957-3DFF-261A-85CF58D064E8}"/>
              </a:ext>
            </a:extLst>
          </p:cNvPr>
          <p:cNvSpPr txBox="1">
            <a:spLocks/>
          </p:cNvSpPr>
          <p:nvPr/>
        </p:nvSpPr>
        <p:spPr bwMode="auto">
          <a:xfrm>
            <a:off x="685800" y="2904332"/>
            <a:ext cx="8062664" cy="576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To create safe, equitable, and legal working environments for software teams.</a:t>
            </a:r>
            <a:endParaRPr lang="en-GB" sz="1800" kern="0" dirty="0"/>
          </a:p>
        </p:txBody>
      </p:sp>
      <p:sp>
        <p:nvSpPr>
          <p:cNvPr id="5" name="Content Placeholder 2">
            <a:extLst>
              <a:ext uri="{FF2B5EF4-FFF2-40B4-BE49-F238E27FC236}">
                <a16:creationId xmlns:a16="http://schemas.microsoft.com/office/drawing/2014/main" id="{2440FD5A-180D-3C87-E8ED-A1D1BCE1AEE8}"/>
              </a:ext>
            </a:extLst>
          </p:cNvPr>
          <p:cNvSpPr txBox="1">
            <a:spLocks/>
          </p:cNvSpPr>
          <p:nvPr/>
        </p:nvSpPr>
        <p:spPr bwMode="auto">
          <a:xfrm>
            <a:off x="685800" y="4169003"/>
            <a:ext cx="4606280" cy="2264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Key Features:</a:t>
            </a:r>
            <a:endParaRPr lang="en-GB" sz="1800" dirty="0"/>
          </a:p>
          <a:p>
            <a:pPr lvl="1"/>
            <a:r>
              <a:rPr lang="en-GB" sz="1800" dirty="0"/>
              <a:t>Employment contracts and IP ownership clauses</a:t>
            </a:r>
          </a:p>
          <a:p>
            <a:pPr lvl="1"/>
            <a:r>
              <a:rPr lang="en-GB" sz="1800" dirty="0"/>
              <a:t>Health &amp; safety, anti-harassment policies</a:t>
            </a:r>
          </a:p>
          <a:p>
            <a:pPr lvl="1"/>
            <a:r>
              <a:rPr lang="en-GB" sz="1800" dirty="0"/>
              <a:t>Fair pay, diversity, and inclusion mandates</a:t>
            </a:r>
          </a:p>
        </p:txBody>
      </p:sp>
      <p:pic>
        <p:nvPicPr>
          <p:cNvPr id="6" name="Online Media 5" title="Employment Law Updates in the UK | May 2024">
            <a:hlinkClick r:id="" action="ppaction://media"/>
            <a:extLst>
              <a:ext uri="{FF2B5EF4-FFF2-40B4-BE49-F238E27FC236}">
                <a16:creationId xmlns:a16="http://schemas.microsoft.com/office/drawing/2014/main" id="{49D4C30D-E989-4983-E5F8-0F18943EA332}"/>
              </a:ext>
            </a:extLst>
          </p:cNvPr>
          <p:cNvPicPr>
            <a:picLocks noRot="1" noChangeAspect="1"/>
          </p:cNvPicPr>
          <p:nvPr>
            <a:videoFile r:link="rId1"/>
          </p:nvPr>
        </p:nvPicPr>
        <p:blipFill>
          <a:blip r:embed="rId4"/>
          <a:stretch>
            <a:fillRect/>
          </a:stretch>
        </p:blipFill>
        <p:spPr>
          <a:xfrm>
            <a:off x="5292080" y="4045048"/>
            <a:ext cx="3635896" cy="2054029"/>
          </a:xfrm>
          <a:prstGeom prst="rect">
            <a:avLst/>
          </a:prstGeom>
        </p:spPr>
      </p:pic>
    </p:spTree>
    <p:extLst>
      <p:ext uri="{BB962C8B-B14F-4D97-AF65-F5344CB8AC3E}">
        <p14:creationId xmlns:p14="http://schemas.microsoft.com/office/powerpoint/2010/main" val="729928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D4CC3-2238-B6D9-2299-D17081990F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14A8B6-92B3-2AF4-6B83-182C36CA8624}"/>
              </a:ext>
            </a:extLst>
          </p:cNvPr>
          <p:cNvSpPr>
            <a:spLocks noGrp="1"/>
          </p:cNvSpPr>
          <p:nvPr>
            <p:ph type="title"/>
          </p:nvPr>
        </p:nvSpPr>
        <p:spPr>
          <a:xfrm>
            <a:off x="1449686" y="404664"/>
            <a:ext cx="7505402" cy="939800"/>
          </a:xfrm>
        </p:spPr>
        <p:txBody>
          <a:bodyPr/>
          <a:lstStyle/>
          <a:p>
            <a:r>
              <a:rPr lang="en-GB" sz="3600" b="1" dirty="0">
                <a:solidFill>
                  <a:srgbClr val="0070C0"/>
                </a:solidFill>
              </a:rPr>
              <a:t>Territorial Restrictions</a:t>
            </a:r>
          </a:p>
        </p:txBody>
      </p:sp>
      <p:sp>
        <p:nvSpPr>
          <p:cNvPr id="3" name="Content Placeholder 2">
            <a:extLst>
              <a:ext uri="{FF2B5EF4-FFF2-40B4-BE49-F238E27FC236}">
                <a16:creationId xmlns:a16="http://schemas.microsoft.com/office/drawing/2014/main" id="{FB52FEA0-E325-27C5-FA39-A3C9762FE0B7}"/>
              </a:ext>
            </a:extLst>
          </p:cNvPr>
          <p:cNvSpPr>
            <a:spLocks noGrp="1"/>
          </p:cNvSpPr>
          <p:nvPr>
            <p:ph idx="1"/>
          </p:nvPr>
        </p:nvSpPr>
        <p:spPr>
          <a:xfrm>
            <a:off x="685800" y="1980376"/>
            <a:ext cx="8062664" cy="576089"/>
          </a:xfrm>
        </p:spPr>
        <p:txBody>
          <a:bodyPr/>
          <a:lstStyle/>
          <a:p>
            <a:r>
              <a:rPr lang="en-GB" sz="1800" dirty="0"/>
              <a:t>Regulations limiting where software or features can be legally distributed or accessed.</a:t>
            </a:r>
          </a:p>
        </p:txBody>
      </p:sp>
      <p:sp>
        <p:nvSpPr>
          <p:cNvPr id="4" name="Content Placeholder 2">
            <a:extLst>
              <a:ext uri="{FF2B5EF4-FFF2-40B4-BE49-F238E27FC236}">
                <a16:creationId xmlns:a16="http://schemas.microsoft.com/office/drawing/2014/main" id="{0A66D323-4F52-D2BF-A07C-6042953B1610}"/>
              </a:ext>
            </a:extLst>
          </p:cNvPr>
          <p:cNvSpPr txBox="1">
            <a:spLocks/>
          </p:cNvSpPr>
          <p:nvPr/>
        </p:nvSpPr>
        <p:spPr bwMode="auto">
          <a:xfrm>
            <a:off x="685800" y="2904332"/>
            <a:ext cx="8062664" cy="576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To comply with national laws and avoid legal risks in restricted markets.</a:t>
            </a:r>
            <a:endParaRPr lang="en-GB" sz="1800" kern="0" dirty="0"/>
          </a:p>
        </p:txBody>
      </p:sp>
      <p:sp>
        <p:nvSpPr>
          <p:cNvPr id="5" name="Content Placeholder 2">
            <a:extLst>
              <a:ext uri="{FF2B5EF4-FFF2-40B4-BE49-F238E27FC236}">
                <a16:creationId xmlns:a16="http://schemas.microsoft.com/office/drawing/2014/main" id="{5EF8C5FF-13BF-635D-993D-46D51975834E}"/>
              </a:ext>
            </a:extLst>
          </p:cNvPr>
          <p:cNvSpPr txBox="1">
            <a:spLocks/>
          </p:cNvSpPr>
          <p:nvPr/>
        </p:nvSpPr>
        <p:spPr bwMode="auto">
          <a:xfrm>
            <a:off x="685800" y="4169003"/>
            <a:ext cx="4606280" cy="2264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Key Features:</a:t>
            </a:r>
            <a:endParaRPr lang="en-GB" sz="1800" dirty="0"/>
          </a:p>
          <a:p>
            <a:pPr lvl="1"/>
            <a:r>
              <a:rPr lang="en-GB" sz="1800" dirty="0"/>
              <a:t>Geofencing for restricted content</a:t>
            </a:r>
          </a:p>
          <a:p>
            <a:pPr lvl="1"/>
            <a:r>
              <a:rPr lang="en-GB" sz="1800" dirty="0"/>
              <a:t>Regional compliance (e.g., encryption laws)</a:t>
            </a:r>
          </a:p>
          <a:p>
            <a:pPr lvl="1"/>
            <a:r>
              <a:rPr lang="en-GB" sz="1800" dirty="0"/>
              <a:t>Export controls (e.g., U.S. regulations on software)</a:t>
            </a:r>
          </a:p>
        </p:txBody>
      </p:sp>
      <p:pic>
        <p:nvPicPr>
          <p:cNvPr id="4098" name="Picture 2" descr="UK Export Control Legislation">
            <a:extLst>
              <a:ext uri="{FF2B5EF4-FFF2-40B4-BE49-F238E27FC236}">
                <a16:creationId xmlns:a16="http://schemas.microsoft.com/office/drawing/2014/main" id="{DB9CFED4-2AAE-2A95-CAF8-5AFDF3BF7D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4168" y="3828288"/>
            <a:ext cx="2019300" cy="2266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70751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94B41-0119-7FBB-EF3E-13302D7F39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9F5589-82D9-1136-81C0-0930CD3D36D5}"/>
              </a:ext>
            </a:extLst>
          </p:cNvPr>
          <p:cNvSpPr>
            <a:spLocks noGrp="1"/>
          </p:cNvSpPr>
          <p:nvPr>
            <p:ph type="title"/>
          </p:nvPr>
        </p:nvSpPr>
        <p:spPr>
          <a:xfrm>
            <a:off x="1449686" y="404664"/>
            <a:ext cx="7505402" cy="939800"/>
          </a:xfrm>
        </p:spPr>
        <p:txBody>
          <a:bodyPr/>
          <a:lstStyle/>
          <a:p>
            <a:r>
              <a:rPr lang="en-GB" sz="3600" b="1" dirty="0">
                <a:solidFill>
                  <a:srgbClr val="0070C0"/>
                </a:solidFill>
              </a:rPr>
              <a:t>System Security</a:t>
            </a:r>
          </a:p>
        </p:txBody>
      </p:sp>
      <p:sp>
        <p:nvSpPr>
          <p:cNvPr id="3" name="Content Placeholder 2">
            <a:extLst>
              <a:ext uri="{FF2B5EF4-FFF2-40B4-BE49-F238E27FC236}">
                <a16:creationId xmlns:a16="http://schemas.microsoft.com/office/drawing/2014/main" id="{A6F68EF6-4199-97F4-28F5-D9C84D535AF3}"/>
              </a:ext>
            </a:extLst>
          </p:cNvPr>
          <p:cNvSpPr>
            <a:spLocks noGrp="1"/>
          </p:cNvSpPr>
          <p:nvPr>
            <p:ph idx="1"/>
          </p:nvPr>
        </p:nvSpPr>
        <p:spPr>
          <a:xfrm>
            <a:off x="685800" y="1980376"/>
            <a:ext cx="8062664" cy="576089"/>
          </a:xfrm>
        </p:spPr>
        <p:txBody>
          <a:bodyPr/>
          <a:lstStyle/>
          <a:p>
            <a:r>
              <a:rPr lang="en-GB" sz="1800" dirty="0"/>
              <a:t>Laws and best practices around the secure design and maintenance of software systems.</a:t>
            </a:r>
          </a:p>
        </p:txBody>
      </p:sp>
      <p:sp>
        <p:nvSpPr>
          <p:cNvPr id="4" name="Content Placeholder 2">
            <a:extLst>
              <a:ext uri="{FF2B5EF4-FFF2-40B4-BE49-F238E27FC236}">
                <a16:creationId xmlns:a16="http://schemas.microsoft.com/office/drawing/2014/main" id="{38F2DF94-62A5-4A6F-9CE5-085999B547B3}"/>
              </a:ext>
            </a:extLst>
          </p:cNvPr>
          <p:cNvSpPr txBox="1">
            <a:spLocks/>
          </p:cNvSpPr>
          <p:nvPr/>
        </p:nvSpPr>
        <p:spPr bwMode="auto">
          <a:xfrm>
            <a:off x="685800" y="2904332"/>
            <a:ext cx="8062664" cy="576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To protect data, prevent breaches, and ensure resilience against cyber threats.</a:t>
            </a:r>
            <a:endParaRPr lang="en-GB" sz="1800" kern="0" dirty="0"/>
          </a:p>
        </p:txBody>
      </p:sp>
      <p:sp>
        <p:nvSpPr>
          <p:cNvPr id="5" name="Content Placeholder 2">
            <a:extLst>
              <a:ext uri="{FF2B5EF4-FFF2-40B4-BE49-F238E27FC236}">
                <a16:creationId xmlns:a16="http://schemas.microsoft.com/office/drawing/2014/main" id="{E50256F3-3B06-8514-B506-26FB080CE50A}"/>
              </a:ext>
            </a:extLst>
          </p:cNvPr>
          <p:cNvSpPr txBox="1">
            <a:spLocks/>
          </p:cNvSpPr>
          <p:nvPr/>
        </p:nvSpPr>
        <p:spPr bwMode="auto">
          <a:xfrm>
            <a:off x="685800" y="4169003"/>
            <a:ext cx="4606280" cy="2264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Key Features:</a:t>
            </a:r>
            <a:endParaRPr lang="en-GB" sz="1800" dirty="0"/>
          </a:p>
          <a:p>
            <a:pPr lvl="1"/>
            <a:r>
              <a:rPr lang="en-GB" sz="1800" dirty="0"/>
              <a:t>Secure development lifecycle (SDLC)</a:t>
            </a:r>
          </a:p>
          <a:p>
            <a:pPr lvl="1"/>
            <a:r>
              <a:rPr lang="en-GB" sz="1800" dirty="0"/>
              <a:t>Regular patching and vulnerability assessments</a:t>
            </a:r>
          </a:p>
          <a:p>
            <a:pPr lvl="1"/>
            <a:r>
              <a:rPr lang="en-GB" sz="1800" dirty="0"/>
              <a:t>Incident response planning</a:t>
            </a:r>
          </a:p>
        </p:txBody>
      </p:sp>
      <p:pic>
        <p:nvPicPr>
          <p:cNvPr id="5122" name="Picture 2" descr="The Four Basic Truths of System Security - infotex">
            <a:extLst>
              <a:ext uri="{FF2B5EF4-FFF2-40B4-BE49-F238E27FC236}">
                <a16:creationId xmlns:a16="http://schemas.microsoft.com/office/drawing/2014/main" id="{B752BED6-1A87-468E-9AB2-058E565210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6136" y="3828288"/>
            <a:ext cx="2264360" cy="2264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8191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5E904-64C0-6922-4DBF-78D963CE89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57D4C3-D3D7-3999-BA7C-859407110326}"/>
              </a:ext>
            </a:extLst>
          </p:cNvPr>
          <p:cNvSpPr>
            <a:spLocks noGrp="1"/>
          </p:cNvSpPr>
          <p:nvPr>
            <p:ph type="title"/>
          </p:nvPr>
        </p:nvSpPr>
        <p:spPr>
          <a:xfrm>
            <a:off x="1449686" y="404664"/>
            <a:ext cx="7505402" cy="939800"/>
          </a:xfrm>
        </p:spPr>
        <p:txBody>
          <a:bodyPr/>
          <a:lstStyle/>
          <a:p>
            <a:r>
              <a:rPr lang="en-GB" sz="3600" b="1" dirty="0">
                <a:solidFill>
                  <a:srgbClr val="0070C0"/>
                </a:solidFill>
              </a:rPr>
              <a:t>Equality and Diversity</a:t>
            </a:r>
          </a:p>
        </p:txBody>
      </p:sp>
      <p:sp>
        <p:nvSpPr>
          <p:cNvPr id="3" name="Content Placeholder 2">
            <a:extLst>
              <a:ext uri="{FF2B5EF4-FFF2-40B4-BE49-F238E27FC236}">
                <a16:creationId xmlns:a16="http://schemas.microsoft.com/office/drawing/2014/main" id="{3F27A1EF-72A8-A80D-5F73-A87A58B9770B}"/>
              </a:ext>
            </a:extLst>
          </p:cNvPr>
          <p:cNvSpPr>
            <a:spLocks noGrp="1"/>
          </p:cNvSpPr>
          <p:nvPr>
            <p:ph idx="1"/>
          </p:nvPr>
        </p:nvSpPr>
        <p:spPr>
          <a:xfrm>
            <a:off x="685800" y="1980376"/>
            <a:ext cx="8062664" cy="576089"/>
          </a:xfrm>
        </p:spPr>
        <p:txBody>
          <a:bodyPr/>
          <a:lstStyle/>
          <a:p>
            <a:r>
              <a:rPr lang="en-GB" sz="1800" dirty="0"/>
              <a:t>Legal and ethical responsibilities to promote inclusive practices in software and the workplace.</a:t>
            </a:r>
          </a:p>
        </p:txBody>
      </p:sp>
      <p:sp>
        <p:nvSpPr>
          <p:cNvPr id="4" name="Content Placeholder 2">
            <a:extLst>
              <a:ext uri="{FF2B5EF4-FFF2-40B4-BE49-F238E27FC236}">
                <a16:creationId xmlns:a16="http://schemas.microsoft.com/office/drawing/2014/main" id="{92818D9A-1AAC-4B60-7B5A-5BF01AB271EE}"/>
              </a:ext>
            </a:extLst>
          </p:cNvPr>
          <p:cNvSpPr txBox="1">
            <a:spLocks/>
          </p:cNvSpPr>
          <p:nvPr/>
        </p:nvSpPr>
        <p:spPr bwMode="auto">
          <a:xfrm>
            <a:off x="685800" y="2904332"/>
            <a:ext cx="8062664" cy="576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To avoid discrimination and ensure access for all users and employees.</a:t>
            </a:r>
            <a:endParaRPr lang="en-GB" sz="1800" kern="0" dirty="0"/>
          </a:p>
        </p:txBody>
      </p:sp>
      <p:sp>
        <p:nvSpPr>
          <p:cNvPr id="5" name="Content Placeholder 2">
            <a:extLst>
              <a:ext uri="{FF2B5EF4-FFF2-40B4-BE49-F238E27FC236}">
                <a16:creationId xmlns:a16="http://schemas.microsoft.com/office/drawing/2014/main" id="{1A7AC2CE-3162-7A6F-C22D-28E18BFAFD7F}"/>
              </a:ext>
            </a:extLst>
          </p:cNvPr>
          <p:cNvSpPr txBox="1">
            <a:spLocks/>
          </p:cNvSpPr>
          <p:nvPr/>
        </p:nvSpPr>
        <p:spPr bwMode="auto">
          <a:xfrm>
            <a:off x="685800" y="4169003"/>
            <a:ext cx="3886200" cy="2284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Key Features:</a:t>
            </a:r>
            <a:endParaRPr lang="en-GB" sz="1800" dirty="0"/>
          </a:p>
          <a:p>
            <a:pPr lvl="1"/>
            <a:r>
              <a:rPr lang="en-GB" sz="1800" dirty="0"/>
              <a:t>Accessibility standards (e.g., WCAG 2.1)</a:t>
            </a:r>
          </a:p>
          <a:p>
            <a:pPr lvl="1"/>
            <a:r>
              <a:rPr lang="en-GB" sz="1800" dirty="0"/>
              <a:t>Anti-bias practices in AI and design</a:t>
            </a:r>
          </a:p>
          <a:p>
            <a:pPr lvl="1"/>
            <a:r>
              <a:rPr lang="en-GB" sz="1800" dirty="0"/>
              <a:t>Inclusive recruitment and leadership</a:t>
            </a:r>
          </a:p>
        </p:txBody>
      </p:sp>
      <p:pic>
        <p:nvPicPr>
          <p:cNvPr id="6148" name="Picture 4" descr="Equality, diversity and inclusion - South West Yorkshire Partnership NHS  Foundation Trust">
            <a:extLst>
              <a:ext uri="{FF2B5EF4-FFF2-40B4-BE49-F238E27FC236}">
                <a16:creationId xmlns:a16="http://schemas.microsoft.com/office/drawing/2014/main" id="{69FD9490-1DA1-10A3-7231-5B8CCBEC6C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0725" y="3481536"/>
            <a:ext cx="3810000" cy="2971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43235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ABD9C-9B84-4584-AE2F-A4C893EFA799}"/>
              </a:ext>
            </a:extLst>
          </p:cNvPr>
          <p:cNvSpPr>
            <a:spLocks noGrp="1"/>
          </p:cNvSpPr>
          <p:nvPr>
            <p:ph type="title"/>
          </p:nvPr>
        </p:nvSpPr>
        <p:spPr>
          <a:xfrm>
            <a:off x="1475655" y="404664"/>
            <a:ext cx="7345933" cy="939800"/>
          </a:xfrm>
        </p:spPr>
        <p:txBody>
          <a:bodyPr/>
          <a:lstStyle/>
          <a:p>
            <a:r>
              <a:rPr lang="en-GB" sz="3600" b="1" dirty="0">
                <a:solidFill>
                  <a:srgbClr val="0070C0"/>
                </a:solidFill>
              </a:rPr>
              <a:t>ISO/IEC/IEEE 90003:2018</a:t>
            </a:r>
          </a:p>
        </p:txBody>
      </p:sp>
      <p:sp>
        <p:nvSpPr>
          <p:cNvPr id="3" name="Content Placeholder 2">
            <a:extLst>
              <a:ext uri="{FF2B5EF4-FFF2-40B4-BE49-F238E27FC236}">
                <a16:creationId xmlns:a16="http://schemas.microsoft.com/office/drawing/2014/main" id="{4BA570B6-4991-4792-9E51-1971264455D9}"/>
              </a:ext>
            </a:extLst>
          </p:cNvPr>
          <p:cNvSpPr>
            <a:spLocks noGrp="1"/>
          </p:cNvSpPr>
          <p:nvPr>
            <p:ph idx="1"/>
          </p:nvPr>
        </p:nvSpPr>
        <p:spPr>
          <a:xfrm>
            <a:off x="467544" y="1916832"/>
            <a:ext cx="7704856" cy="720105"/>
          </a:xfrm>
        </p:spPr>
        <p:txBody>
          <a:bodyPr/>
          <a:lstStyle/>
          <a:p>
            <a:r>
              <a:rPr lang="en-GB" sz="1800" dirty="0"/>
              <a:t>International quality management guideline for applying ISO 9001 to software development.</a:t>
            </a:r>
          </a:p>
        </p:txBody>
      </p:sp>
      <p:sp>
        <p:nvSpPr>
          <p:cNvPr id="4" name="Content Placeholder 2">
            <a:extLst>
              <a:ext uri="{FF2B5EF4-FFF2-40B4-BE49-F238E27FC236}">
                <a16:creationId xmlns:a16="http://schemas.microsoft.com/office/drawing/2014/main" id="{327538EE-EE16-7A5F-B62A-4EC9D7C42054}"/>
              </a:ext>
            </a:extLst>
          </p:cNvPr>
          <p:cNvSpPr txBox="1">
            <a:spLocks/>
          </p:cNvSpPr>
          <p:nvPr/>
        </p:nvSpPr>
        <p:spPr bwMode="auto">
          <a:xfrm>
            <a:off x="467544" y="2849252"/>
            <a:ext cx="7704856" cy="720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To standardize quality assurance processes and improve development efficiency.</a:t>
            </a:r>
            <a:endParaRPr lang="en-GB" sz="1800" kern="0" dirty="0"/>
          </a:p>
        </p:txBody>
      </p:sp>
      <p:sp>
        <p:nvSpPr>
          <p:cNvPr id="5" name="Content Placeholder 2">
            <a:extLst>
              <a:ext uri="{FF2B5EF4-FFF2-40B4-BE49-F238E27FC236}">
                <a16:creationId xmlns:a16="http://schemas.microsoft.com/office/drawing/2014/main" id="{096A48D8-7D87-B313-2DC7-A008E6EA7D59}"/>
              </a:ext>
            </a:extLst>
          </p:cNvPr>
          <p:cNvSpPr txBox="1">
            <a:spLocks/>
          </p:cNvSpPr>
          <p:nvPr/>
        </p:nvSpPr>
        <p:spPr bwMode="auto">
          <a:xfrm>
            <a:off x="492663" y="4077072"/>
            <a:ext cx="4439377" cy="2016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Key Features:</a:t>
            </a:r>
            <a:endParaRPr lang="en-GB" sz="1800" dirty="0"/>
          </a:p>
          <a:p>
            <a:pPr lvl="1"/>
            <a:r>
              <a:rPr lang="en-GB" sz="1800" dirty="0"/>
              <a:t>Emphasis on documentation, process control</a:t>
            </a:r>
          </a:p>
          <a:p>
            <a:pPr lvl="1"/>
            <a:r>
              <a:rPr lang="en-GB" sz="1800" dirty="0"/>
              <a:t>Continuous improvement cycle</a:t>
            </a:r>
          </a:p>
          <a:p>
            <a:pPr lvl="1"/>
            <a:r>
              <a:rPr lang="en-GB" sz="1800" dirty="0"/>
              <a:t>Risk-based approach to software quality</a:t>
            </a:r>
          </a:p>
        </p:txBody>
      </p:sp>
      <p:sp>
        <p:nvSpPr>
          <p:cNvPr id="6" name="Content Placeholder 2">
            <a:extLst>
              <a:ext uri="{FF2B5EF4-FFF2-40B4-BE49-F238E27FC236}">
                <a16:creationId xmlns:a16="http://schemas.microsoft.com/office/drawing/2014/main" id="{08A11833-1A97-5D0B-81BF-BEA33A1C3C34}"/>
              </a:ext>
            </a:extLst>
          </p:cNvPr>
          <p:cNvSpPr txBox="1">
            <a:spLocks/>
          </p:cNvSpPr>
          <p:nvPr/>
        </p:nvSpPr>
        <p:spPr bwMode="auto">
          <a:xfrm>
            <a:off x="4067944" y="6093296"/>
            <a:ext cx="4887333"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dirty="0">
                <a:hlinkClick r:id="rId4"/>
              </a:rPr>
              <a:t>https://www.iso.org/standard/74348.html</a:t>
            </a:r>
            <a:endParaRPr lang="en-GB" sz="1800" dirty="0"/>
          </a:p>
          <a:p>
            <a:endParaRPr lang="en-GB" sz="1800" dirty="0"/>
          </a:p>
        </p:txBody>
      </p:sp>
      <p:pic>
        <p:nvPicPr>
          <p:cNvPr id="7" name="Online Media 6" title="#Introduction to Software Quality Assurance|#Softwarequality|#ISO|#Quality Management|#Data Science-">
            <a:hlinkClick r:id="" action="ppaction://media"/>
            <a:extLst>
              <a:ext uri="{FF2B5EF4-FFF2-40B4-BE49-F238E27FC236}">
                <a16:creationId xmlns:a16="http://schemas.microsoft.com/office/drawing/2014/main" id="{E8872C19-BB49-C771-551D-55688E781056}"/>
              </a:ext>
            </a:extLst>
          </p:cNvPr>
          <p:cNvPicPr>
            <a:picLocks noRot="1" noChangeAspect="1"/>
          </p:cNvPicPr>
          <p:nvPr>
            <a:videoFile r:link="rId1"/>
          </p:nvPr>
        </p:nvPicPr>
        <p:blipFill>
          <a:blip r:embed="rId5"/>
          <a:stretch>
            <a:fillRect/>
          </a:stretch>
        </p:blipFill>
        <p:spPr>
          <a:xfrm>
            <a:off x="5401716" y="3746992"/>
            <a:ext cx="3419872" cy="1931990"/>
          </a:xfrm>
          <a:prstGeom prst="rect">
            <a:avLst/>
          </a:prstGeom>
        </p:spPr>
      </p:pic>
    </p:spTree>
    <p:extLst>
      <p:ext uri="{BB962C8B-B14F-4D97-AF65-F5344CB8AC3E}">
        <p14:creationId xmlns:p14="http://schemas.microsoft.com/office/powerpoint/2010/main" val="2197625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ABD9C-9B84-4584-AE2F-A4C893EFA799}"/>
              </a:ext>
            </a:extLst>
          </p:cNvPr>
          <p:cNvSpPr>
            <a:spLocks noGrp="1"/>
          </p:cNvSpPr>
          <p:nvPr>
            <p:ph type="title"/>
          </p:nvPr>
        </p:nvSpPr>
        <p:spPr>
          <a:xfrm>
            <a:off x="1403648" y="404664"/>
            <a:ext cx="7345933" cy="939800"/>
          </a:xfrm>
        </p:spPr>
        <p:txBody>
          <a:bodyPr/>
          <a:lstStyle/>
          <a:p>
            <a:r>
              <a:rPr lang="en-GB" sz="3600" b="1" dirty="0">
                <a:solidFill>
                  <a:srgbClr val="0070C0"/>
                </a:solidFill>
              </a:rPr>
              <a:t>W3C Standards</a:t>
            </a:r>
          </a:p>
        </p:txBody>
      </p:sp>
      <p:sp>
        <p:nvSpPr>
          <p:cNvPr id="3" name="Content Placeholder 2">
            <a:extLst>
              <a:ext uri="{FF2B5EF4-FFF2-40B4-BE49-F238E27FC236}">
                <a16:creationId xmlns:a16="http://schemas.microsoft.com/office/drawing/2014/main" id="{4BA570B6-4991-4792-9E51-1971264455D9}"/>
              </a:ext>
            </a:extLst>
          </p:cNvPr>
          <p:cNvSpPr>
            <a:spLocks noGrp="1"/>
          </p:cNvSpPr>
          <p:nvPr>
            <p:ph idx="1"/>
          </p:nvPr>
        </p:nvSpPr>
        <p:spPr>
          <a:xfrm>
            <a:off x="685800" y="1844824"/>
            <a:ext cx="7772400" cy="720080"/>
          </a:xfrm>
        </p:spPr>
        <p:txBody>
          <a:bodyPr/>
          <a:lstStyle/>
          <a:p>
            <a:r>
              <a:rPr lang="en-GB" sz="1800" dirty="0"/>
              <a:t>Technical standards for web development established by the World Wide Web Consortium.</a:t>
            </a:r>
          </a:p>
        </p:txBody>
      </p:sp>
      <p:sp>
        <p:nvSpPr>
          <p:cNvPr id="4" name="Content Placeholder 2">
            <a:extLst>
              <a:ext uri="{FF2B5EF4-FFF2-40B4-BE49-F238E27FC236}">
                <a16:creationId xmlns:a16="http://schemas.microsoft.com/office/drawing/2014/main" id="{23D442C8-805C-D37C-856C-B9154AB734B7}"/>
              </a:ext>
            </a:extLst>
          </p:cNvPr>
          <p:cNvSpPr txBox="1">
            <a:spLocks/>
          </p:cNvSpPr>
          <p:nvPr/>
        </p:nvSpPr>
        <p:spPr bwMode="auto">
          <a:xfrm>
            <a:off x="685800" y="2852936"/>
            <a:ext cx="7772400" cy="720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To promote interoperability, accessibility, and best practices on the web.</a:t>
            </a:r>
            <a:endParaRPr lang="en-GB" sz="1800" kern="0" dirty="0"/>
          </a:p>
        </p:txBody>
      </p:sp>
      <p:sp>
        <p:nvSpPr>
          <p:cNvPr id="5" name="Content Placeholder 2">
            <a:extLst>
              <a:ext uri="{FF2B5EF4-FFF2-40B4-BE49-F238E27FC236}">
                <a16:creationId xmlns:a16="http://schemas.microsoft.com/office/drawing/2014/main" id="{A6A64A14-52F8-FC0F-06E3-850743EB6CA7}"/>
              </a:ext>
            </a:extLst>
          </p:cNvPr>
          <p:cNvSpPr txBox="1">
            <a:spLocks/>
          </p:cNvSpPr>
          <p:nvPr/>
        </p:nvSpPr>
        <p:spPr bwMode="auto">
          <a:xfrm>
            <a:off x="707904" y="4077072"/>
            <a:ext cx="4152128" cy="2376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Key Features:</a:t>
            </a:r>
            <a:endParaRPr lang="en-GB" sz="1800" dirty="0"/>
          </a:p>
          <a:p>
            <a:pPr lvl="1"/>
            <a:r>
              <a:rPr lang="en-GB" sz="1800" dirty="0"/>
              <a:t>HTML, CSS, JavaScript specifications</a:t>
            </a:r>
          </a:p>
          <a:p>
            <a:pPr lvl="1"/>
            <a:r>
              <a:rPr lang="en-GB" sz="1800" dirty="0"/>
              <a:t>Accessibility standards (WCAG)</a:t>
            </a:r>
          </a:p>
          <a:p>
            <a:pPr lvl="1"/>
            <a:r>
              <a:rPr lang="en-GB" sz="1800" dirty="0"/>
              <a:t>API and performance guidelines</a:t>
            </a:r>
          </a:p>
        </p:txBody>
      </p:sp>
      <p:pic>
        <p:nvPicPr>
          <p:cNvPr id="6" name="Online Media 5" title="Understanding HTML - The Role of W3C and standards">
            <a:hlinkClick r:id="" action="ppaction://media"/>
            <a:extLst>
              <a:ext uri="{FF2B5EF4-FFF2-40B4-BE49-F238E27FC236}">
                <a16:creationId xmlns:a16="http://schemas.microsoft.com/office/drawing/2014/main" id="{468DBDC1-E6AB-B2E8-B2F8-8C4F50EBA02E}"/>
              </a:ext>
            </a:extLst>
          </p:cNvPr>
          <p:cNvPicPr>
            <a:picLocks noRot="1" noChangeAspect="1"/>
          </p:cNvPicPr>
          <p:nvPr>
            <a:videoFile r:link="rId1"/>
          </p:nvPr>
        </p:nvPicPr>
        <p:blipFill>
          <a:blip r:embed="rId4"/>
          <a:stretch>
            <a:fillRect/>
          </a:stretch>
        </p:blipFill>
        <p:spPr>
          <a:xfrm>
            <a:off x="5641793" y="3573016"/>
            <a:ext cx="2843808" cy="1606554"/>
          </a:xfrm>
          <a:prstGeom prst="rect">
            <a:avLst/>
          </a:prstGeom>
        </p:spPr>
      </p:pic>
      <p:sp>
        <p:nvSpPr>
          <p:cNvPr id="7" name="Content Placeholder 2">
            <a:extLst>
              <a:ext uri="{FF2B5EF4-FFF2-40B4-BE49-F238E27FC236}">
                <a16:creationId xmlns:a16="http://schemas.microsoft.com/office/drawing/2014/main" id="{3E8189B3-53A3-4B15-4288-916F9EDFADDA}"/>
              </a:ext>
            </a:extLst>
          </p:cNvPr>
          <p:cNvSpPr txBox="1">
            <a:spLocks/>
          </p:cNvSpPr>
          <p:nvPr/>
        </p:nvSpPr>
        <p:spPr bwMode="auto">
          <a:xfrm>
            <a:off x="5641793" y="5719630"/>
            <a:ext cx="2843808"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dirty="0">
                <a:hlinkClick r:id="rId5"/>
              </a:rPr>
              <a:t>https://www.w3.org/</a:t>
            </a:r>
            <a:endParaRPr lang="en-GB" sz="1800" dirty="0"/>
          </a:p>
          <a:p>
            <a:endParaRPr lang="en-GB" sz="1800" dirty="0"/>
          </a:p>
        </p:txBody>
      </p:sp>
    </p:spTree>
    <p:extLst>
      <p:ext uri="{BB962C8B-B14F-4D97-AF65-F5344CB8AC3E}">
        <p14:creationId xmlns:p14="http://schemas.microsoft.com/office/powerpoint/2010/main" val="3807081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CEEFD-C62B-491E-AD82-81CB0D333F22}"/>
              </a:ext>
            </a:extLst>
          </p:cNvPr>
          <p:cNvSpPr>
            <a:spLocks noGrp="1"/>
          </p:cNvSpPr>
          <p:nvPr>
            <p:ph type="title"/>
          </p:nvPr>
        </p:nvSpPr>
        <p:spPr>
          <a:xfrm>
            <a:off x="1331639" y="404813"/>
            <a:ext cx="7433394" cy="939800"/>
          </a:xfrm>
        </p:spPr>
        <p:txBody>
          <a:bodyPr/>
          <a:lstStyle/>
          <a:p>
            <a:r>
              <a:rPr lang="en-GB" sz="3600" b="1" dirty="0">
                <a:solidFill>
                  <a:srgbClr val="0070C0"/>
                </a:solidFill>
              </a:rPr>
              <a:t>Professional Practice</a:t>
            </a:r>
          </a:p>
        </p:txBody>
      </p:sp>
      <p:sp>
        <p:nvSpPr>
          <p:cNvPr id="3" name="Content Placeholder 2">
            <a:extLst>
              <a:ext uri="{FF2B5EF4-FFF2-40B4-BE49-F238E27FC236}">
                <a16:creationId xmlns:a16="http://schemas.microsoft.com/office/drawing/2014/main" id="{F9E12981-E504-43C4-98D9-A84D89C498E0}"/>
              </a:ext>
            </a:extLst>
          </p:cNvPr>
          <p:cNvSpPr>
            <a:spLocks noGrp="1"/>
          </p:cNvSpPr>
          <p:nvPr>
            <p:ph idx="1"/>
          </p:nvPr>
        </p:nvSpPr>
        <p:spPr>
          <a:xfrm>
            <a:off x="371350" y="2029849"/>
            <a:ext cx="8352928" cy="720105"/>
          </a:xfrm>
        </p:spPr>
        <p:txBody>
          <a:bodyPr/>
          <a:lstStyle/>
          <a:p>
            <a:r>
              <a:rPr lang="en-GB" sz="1800" dirty="0"/>
              <a:t>Maintaining high standards of knowledge, skills, and behaviour in software roles.</a:t>
            </a:r>
          </a:p>
        </p:txBody>
      </p:sp>
      <p:sp>
        <p:nvSpPr>
          <p:cNvPr id="4" name="Content Placeholder 2">
            <a:extLst>
              <a:ext uri="{FF2B5EF4-FFF2-40B4-BE49-F238E27FC236}">
                <a16:creationId xmlns:a16="http://schemas.microsoft.com/office/drawing/2014/main" id="{A7BA69D1-6085-E748-AF32-B30409A46BE4}"/>
              </a:ext>
            </a:extLst>
          </p:cNvPr>
          <p:cNvSpPr txBox="1">
            <a:spLocks/>
          </p:cNvSpPr>
          <p:nvPr/>
        </p:nvSpPr>
        <p:spPr bwMode="auto">
          <a:xfrm>
            <a:off x="395536" y="2780953"/>
            <a:ext cx="8352928" cy="720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To ensure developers act responsibly and are competent in their field.</a:t>
            </a:r>
            <a:endParaRPr lang="en-GB" sz="1800" kern="0" dirty="0"/>
          </a:p>
        </p:txBody>
      </p:sp>
      <p:sp>
        <p:nvSpPr>
          <p:cNvPr id="5" name="Content Placeholder 2">
            <a:extLst>
              <a:ext uri="{FF2B5EF4-FFF2-40B4-BE49-F238E27FC236}">
                <a16:creationId xmlns:a16="http://schemas.microsoft.com/office/drawing/2014/main" id="{6E5E117F-2101-337F-D4A0-9E2D41808AB9}"/>
              </a:ext>
            </a:extLst>
          </p:cNvPr>
          <p:cNvSpPr txBox="1">
            <a:spLocks/>
          </p:cNvSpPr>
          <p:nvPr/>
        </p:nvSpPr>
        <p:spPr bwMode="auto">
          <a:xfrm>
            <a:off x="395536" y="3861110"/>
            <a:ext cx="4032448" cy="2304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Key Features:</a:t>
            </a:r>
            <a:endParaRPr lang="en-GB" sz="1800" dirty="0"/>
          </a:p>
          <a:p>
            <a:pPr lvl="1"/>
            <a:r>
              <a:rPr lang="en-GB" sz="1800" dirty="0"/>
              <a:t>Continuous learning and certification</a:t>
            </a:r>
          </a:p>
          <a:p>
            <a:pPr lvl="1"/>
            <a:r>
              <a:rPr lang="en-GB" sz="1800" dirty="0"/>
              <a:t>Acting within areas of expertise</a:t>
            </a:r>
          </a:p>
          <a:p>
            <a:pPr lvl="1"/>
            <a:r>
              <a:rPr lang="en-GB" sz="1800" dirty="0"/>
              <a:t>Transparent communication with stakeholders</a:t>
            </a:r>
          </a:p>
        </p:txBody>
      </p:sp>
      <p:pic>
        <p:nvPicPr>
          <p:cNvPr id="6" name="Online Media 5" title="Welcome to the IEEE Computer Society!">
            <a:hlinkClick r:id="" action="ppaction://media"/>
            <a:extLst>
              <a:ext uri="{FF2B5EF4-FFF2-40B4-BE49-F238E27FC236}">
                <a16:creationId xmlns:a16="http://schemas.microsoft.com/office/drawing/2014/main" id="{A8A63804-F44A-B751-3627-12B476D02F10}"/>
              </a:ext>
            </a:extLst>
          </p:cNvPr>
          <p:cNvPicPr>
            <a:picLocks noRot="1" noChangeAspect="1"/>
          </p:cNvPicPr>
          <p:nvPr>
            <a:videoFile r:link="rId1"/>
          </p:nvPr>
        </p:nvPicPr>
        <p:blipFill>
          <a:blip r:embed="rId5"/>
          <a:stretch>
            <a:fillRect/>
          </a:stretch>
        </p:blipFill>
        <p:spPr>
          <a:xfrm>
            <a:off x="4212027" y="3429000"/>
            <a:ext cx="2328266" cy="1315309"/>
          </a:xfrm>
          <a:prstGeom prst="rect">
            <a:avLst/>
          </a:prstGeom>
        </p:spPr>
      </p:pic>
      <p:pic>
        <p:nvPicPr>
          <p:cNvPr id="7" name="Online Media 6" title="Who is BCS?">
            <a:hlinkClick r:id="" action="ppaction://media"/>
            <a:extLst>
              <a:ext uri="{FF2B5EF4-FFF2-40B4-BE49-F238E27FC236}">
                <a16:creationId xmlns:a16="http://schemas.microsoft.com/office/drawing/2014/main" id="{C48A861A-E8C3-6251-CCD0-53AA404CCA84}"/>
              </a:ext>
            </a:extLst>
          </p:cNvPr>
          <p:cNvPicPr>
            <a:picLocks noRot="1" noChangeAspect="1"/>
          </p:cNvPicPr>
          <p:nvPr>
            <a:videoFile r:link="rId2"/>
          </p:nvPr>
        </p:nvPicPr>
        <p:blipFill>
          <a:blip r:embed="rId6"/>
          <a:stretch>
            <a:fillRect/>
          </a:stretch>
        </p:blipFill>
        <p:spPr>
          <a:xfrm>
            <a:off x="6324202" y="4940230"/>
            <a:ext cx="2483768" cy="1403156"/>
          </a:xfrm>
          <a:prstGeom prst="rect">
            <a:avLst/>
          </a:prstGeom>
        </p:spPr>
      </p:pic>
    </p:spTree>
    <p:extLst>
      <p:ext uri="{BB962C8B-B14F-4D97-AF65-F5344CB8AC3E}">
        <p14:creationId xmlns:p14="http://schemas.microsoft.com/office/powerpoint/2010/main" val="2723669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6"/>
                </p:tgtEl>
              </p:cMediaNode>
            </p:video>
            <p:seq concurrent="1" nextAc="seek">
              <p:cTn id="12" restart="whenNotActive" fill="hold" evtFilter="cancelBubble" nodeType="interactiveSeq">
                <p:stCondLst>
                  <p:cond evt="onClick" delay="0">
                    <p:tgtEl>
                      <p:spTgt spid="6"/>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6"/>
                                        </p:tgtEl>
                                      </p:cBhvr>
                                    </p:cmd>
                                  </p:childTnLst>
                                </p:cTn>
                              </p:par>
                            </p:childTnLst>
                          </p:cTn>
                        </p:par>
                      </p:childTnLst>
                    </p:cTn>
                  </p:par>
                </p:childTnLst>
              </p:cTn>
              <p:nextCondLst>
                <p:cond evt="onClick" delay="0">
                  <p:tgtEl>
                    <p:spTgt spid="6"/>
                  </p:tgtEl>
                </p:cond>
              </p:nextCondLst>
            </p:seq>
            <p:video>
              <p:cMediaNode vol="80000">
                <p:cTn id="17" fill="hold" display="0">
                  <p:stCondLst>
                    <p:cond delay="indefinite"/>
                  </p:stCondLst>
                </p:cTn>
                <p:tgtEl>
                  <p:spTgt spid="7"/>
                </p:tgtEl>
              </p:cMediaNode>
            </p:video>
            <p:seq concurrent="1" nextAc="seek">
              <p:cTn id="18" restart="whenNotActive" fill="hold" evtFilter="cancelBubble" nodeType="interactiveSeq">
                <p:stCondLst>
                  <p:cond evt="onClick" delay="0">
                    <p:tgtEl>
                      <p:spTgt spid="7"/>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A3B42-F403-443D-91F1-CB9B728CACC4}"/>
              </a:ext>
            </a:extLst>
          </p:cNvPr>
          <p:cNvSpPr>
            <a:spLocks noGrp="1"/>
          </p:cNvSpPr>
          <p:nvPr>
            <p:ph type="title"/>
          </p:nvPr>
        </p:nvSpPr>
        <p:spPr>
          <a:xfrm>
            <a:off x="1331640" y="404813"/>
            <a:ext cx="7577410" cy="939800"/>
          </a:xfrm>
        </p:spPr>
        <p:txBody>
          <a:bodyPr/>
          <a:lstStyle/>
          <a:p>
            <a:r>
              <a:rPr lang="en-GB" sz="3600" b="1" dirty="0">
                <a:solidFill>
                  <a:srgbClr val="0070C0"/>
                </a:solidFill>
              </a:rPr>
              <a:t>Codes of Conduct</a:t>
            </a:r>
          </a:p>
        </p:txBody>
      </p:sp>
      <p:sp>
        <p:nvSpPr>
          <p:cNvPr id="3" name="Content Placeholder 2">
            <a:extLst>
              <a:ext uri="{FF2B5EF4-FFF2-40B4-BE49-F238E27FC236}">
                <a16:creationId xmlns:a16="http://schemas.microsoft.com/office/drawing/2014/main" id="{6A98D641-70F6-4767-8CF6-3DA007DB4611}"/>
              </a:ext>
            </a:extLst>
          </p:cNvPr>
          <p:cNvSpPr>
            <a:spLocks noGrp="1"/>
          </p:cNvSpPr>
          <p:nvPr>
            <p:ph idx="1"/>
          </p:nvPr>
        </p:nvSpPr>
        <p:spPr>
          <a:xfrm>
            <a:off x="467544" y="1915436"/>
            <a:ext cx="7772400" cy="505452"/>
          </a:xfrm>
        </p:spPr>
        <p:txBody>
          <a:bodyPr/>
          <a:lstStyle/>
          <a:p>
            <a:r>
              <a:rPr lang="en-GB" sz="1800" dirty="0"/>
              <a:t>Ethical guidelines for professional behaviour in software development.</a:t>
            </a:r>
          </a:p>
        </p:txBody>
      </p:sp>
      <p:sp>
        <p:nvSpPr>
          <p:cNvPr id="4" name="Content Placeholder 2">
            <a:extLst>
              <a:ext uri="{FF2B5EF4-FFF2-40B4-BE49-F238E27FC236}">
                <a16:creationId xmlns:a16="http://schemas.microsoft.com/office/drawing/2014/main" id="{727E1A37-CDC5-9B24-FE37-FC8D979B2957}"/>
              </a:ext>
            </a:extLst>
          </p:cNvPr>
          <p:cNvSpPr txBox="1">
            <a:spLocks/>
          </p:cNvSpPr>
          <p:nvPr/>
        </p:nvSpPr>
        <p:spPr bwMode="auto">
          <a:xfrm>
            <a:off x="453519" y="2801667"/>
            <a:ext cx="7702624" cy="401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To promote accountability, respect, and professionalism</a:t>
            </a:r>
            <a:r>
              <a:rPr lang="en-GB" sz="1800" kern="0" dirty="0"/>
              <a:t>.</a:t>
            </a:r>
          </a:p>
        </p:txBody>
      </p:sp>
      <p:sp>
        <p:nvSpPr>
          <p:cNvPr id="5" name="Content Placeholder 2">
            <a:extLst>
              <a:ext uri="{FF2B5EF4-FFF2-40B4-BE49-F238E27FC236}">
                <a16:creationId xmlns:a16="http://schemas.microsoft.com/office/drawing/2014/main" id="{0EDF1371-12A1-DCC7-E369-69CA2D8B9251}"/>
              </a:ext>
            </a:extLst>
          </p:cNvPr>
          <p:cNvSpPr txBox="1">
            <a:spLocks/>
          </p:cNvSpPr>
          <p:nvPr/>
        </p:nvSpPr>
        <p:spPr bwMode="auto">
          <a:xfrm>
            <a:off x="433779" y="3584429"/>
            <a:ext cx="5651512" cy="1709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Key Features:</a:t>
            </a:r>
            <a:endParaRPr lang="en-GB" sz="1800" dirty="0"/>
          </a:p>
          <a:p>
            <a:pPr lvl="1"/>
            <a:r>
              <a:rPr lang="en-GB" sz="1800" dirty="0"/>
              <a:t>Integrity, honesty, and fairness</a:t>
            </a:r>
          </a:p>
          <a:p>
            <a:pPr lvl="1"/>
            <a:r>
              <a:rPr lang="en-GB" sz="1800" dirty="0"/>
              <a:t>Respect for privacy and intellectual property</a:t>
            </a:r>
          </a:p>
          <a:p>
            <a:pPr lvl="1"/>
            <a:r>
              <a:rPr lang="en-GB" sz="1800" dirty="0"/>
              <a:t>Examples: ACM, BCS, IEEE codes</a:t>
            </a:r>
            <a:r>
              <a:rPr lang="en-GB" sz="1800" kern="0" dirty="0"/>
              <a:t>.</a:t>
            </a:r>
          </a:p>
        </p:txBody>
      </p:sp>
      <p:pic>
        <p:nvPicPr>
          <p:cNvPr id="10242" name="Picture 2" descr="Employee Code of Conduct | Croner">
            <a:extLst>
              <a:ext uri="{FF2B5EF4-FFF2-40B4-BE49-F238E27FC236}">
                <a16:creationId xmlns:a16="http://schemas.microsoft.com/office/drawing/2014/main" id="{B36724D5-D80D-DF54-446B-EE7EEE8D7D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0846" y="3459064"/>
            <a:ext cx="2619375" cy="1743075"/>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2">
            <a:extLst>
              <a:ext uri="{FF2B5EF4-FFF2-40B4-BE49-F238E27FC236}">
                <a16:creationId xmlns:a16="http://schemas.microsoft.com/office/drawing/2014/main" id="{876E8B13-CAE0-963E-8E99-C0A180A4B8B1}"/>
              </a:ext>
            </a:extLst>
          </p:cNvPr>
          <p:cNvSpPr txBox="1">
            <a:spLocks/>
          </p:cNvSpPr>
          <p:nvPr/>
        </p:nvSpPr>
        <p:spPr bwMode="auto">
          <a:xfrm>
            <a:off x="467543" y="5406877"/>
            <a:ext cx="8568953" cy="1262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Professional Organisation Code of Conduct:</a:t>
            </a:r>
            <a:endParaRPr lang="en-GB" sz="1800" dirty="0"/>
          </a:p>
          <a:p>
            <a:pPr lvl="1"/>
            <a:r>
              <a:rPr lang="en-GB" sz="1400" dirty="0">
                <a:hlinkClick r:id="rId4"/>
              </a:rPr>
              <a:t>https://www.bcs.org/media/2211/bcs-code-of-conduct.pdf</a:t>
            </a:r>
            <a:endParaRPr lang="en-GB" sz="1400" dirty="0"/>
          </a:p>
          <a:p>
            <a:pPr lvl="1"/>
            <a:r>
              <a:rPr lang="en-GB" sz="1400" dirty="0">
                <a:hlinkClick r:id="rId5"/>
              </a:rPr>
              <a:t>https://www.ieee.org/content/dam/ieee-org/ieee/web/org/about/ieee_code_of_conduct.pdf</a:t>
            </a:r>
            <a:endParaRPr lang="en-GB" sz="1400" dirty="0"/>
          </a:p>
          <a:p>
            <a:pPr lvl="1"/>
            <a:r>
              <a:rPr lang="en-GB" sz="1400" dirty="0">
                <a:hlinkClick r:id="rId6"/>
              </a:rPr>
              <a:t>https://www.acm.org/code-of-ethics</a:t>
            </a:r>
            <a:endParaRPr lang="en-GB" sz="1400" dirty="0"/>
          </a:p>
        </p:txBody>
      </p:sp>
    </p:spTree>
    <p:extLst>
      <p:ext uri="{BB962C8B-B14F-4D97-AF65-F5344CB8AC3E}">
        <p14:creationId xmlns:p14="http://schemas.microsoft.com/office/powerpoint/2010/main" val="34714381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321BD-2917-4119-9852-054B2092CB9C}"/>
              </a:ext>
            </a:extLst>
          </p:cNvPr>
          <p:cNvSpPr>
            <a:spLocks noGrp="1"/>
          </p:cNvSpPr>
          <p:nvPr>
            <p:ph type="title"/>
          </p:nvPr>
        </p:nvSpPr>
        <p:spPr>
          <a:xfrm>
            <a:off x="1475656" y="404664"/>
            <a:ext cx="7500069" cy="939800"/>
          </a:xfrm>
        </p:spPr>
        <p:txBody>
          <a:bodyPr/>
          <a:lstStyle/>
          <a:p>
            <a:r>
              <a:rPr lang="en-GB" sz="3600" b="1" dirty="0">
                <a:solidFill>
                  <a:srgbClr val="0070C0"/>
                </a:solidFill>
              </a:rPr>
              <a:t>Software Licensing</a:t>
            </a:r>
          </a:p>
        </p:txBody>
      </p:sp>
      <p:sp>
        <p:nvSpPr>
          <p:cNvPr id="3" name="Content Placeholder 2">
            <a:extLst>
              <a:ext uri="{FF2B5EF4-FFF2-40B4-BE49-F238E27FC236}">
                <a16:creationId xmlns:a16="http://schemas.microsoft.com/office/drawing/2014/main" id="{C7062664-2C79-4C79-AB96-D133DF686DC5}"/>
              </a:ext>
            </a:extLst>
          </p:cNvPr>
          <p:cNvSpPr>
            <a:spLocks noGrp="1"/>
          </p:cNvSpPr>
          <p:nvPr>
            <p:ph idx="1"/>
          </p:nvPr>
        </p:nvSpPr>
        <p:spPr>
          <a:xfrm>
            <a:off x="539552" y="1937488"/>
            <a:ext cx="7772400" cy="627416"/>
          </a:xfrm>
        </p:spPr>
        <p:txBody>
          <a:bodyPr/>
          <a:lstStyle/>
          <a:p>
            <a:r>
              <a:rPr lang="en-GB" sz="1800" dirty="0"/>
              <a:t>Ensuring software and tools are used in accordance with their licensing agreements.</a:t>
            </a:r>
          </a:p>
        </p:txBody>
      </p:sp>
      <p:sp>
        <p:nvSpPr>
          <p:cNvPr id="4" name="Content Placeholder 2">
            <a:extLst>
              <a:ext uri="{FF2B5EF4-FFF2-40B4-BE49-F238E27FC236}">
                <a16:creationId xmlns:a16="http://schemas.microsoft.com/office/drawing/2014/main" id="{9D72445A-2924-C342-2FF8-4A2F953ABF4C}"/>
              </a:ext>
            </a:extLst>
          </p:cNvPr>
          <p:cNvSpPr txBox="1">
            <a:spLocks/>
          </p:cNvSpPr>
          <p:nvPr/>
        </p:nvSpPr>
        <p:spPr bwMode="auto">
          <a:xfrm>
            <a:off x="539552" y="2966368"/>
            <a:ext cx="7772400" cy="627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To respect authors' rights and prevent legal issues or unethical reuse.</a:t>
            </a:r>
            <a:endParaRPr lang="en-GB" sz="1800" kern="0" dirty="0"/>
          </a:p>
        </p:txBody>
      </p:sp>
      <p:sp>
        <p:nvSpPr>
          <p:cNvPr id="7" name="Content Placeholder 2">
            <a:extLst>
              <a:ext uri="{FF2B5EF4-FFF2-40B4-BE49-F238E27FC236}">
                <a16:creationId xmlns:a16="http://schemas.microsoft.com/office/drawing/2014/main" id="{C7B4AEF2-EB7E-5837-E229-354067185291}"/>
              </a:ext>
            </a:extLst>
          </p:cNvPr>
          <p:cNvSpPr txBox="1">
            <a:spLocks/>
          </p:cNvSpPr>
          <p:nvPr/>
        </p:nvSpPr>
        <p:spPr bwMode="auto">
          <a:xfrm>
            <a:off x="572166" y="4077072"/>
            <a:ext cx="4035063" cy="1872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Key Features:</a:t>
            </a:r>
            <a:endParaRPr lang="en-GB" sz="1800" dirty="0"/>
          </a:p>
          <a:p>
            <a:pPr lvl="1"/>
            <a:r>
              <a:rPr lang="en-GB" sz="1800" dirty="0"/>
              <a:t>Compliance with open-source licenses</a:t>
            </a:r>
          </a:p>
          <a:p>
            <a:pPr lvl="1"/>
            <a:r>
              <a:rPr lang="en-GB" sz="1800" dirty="0"/>
              <a:t>Avoiding unlicensed software use</a:t>
            </a:r>
          </a:p>
          <a:p>
            <a:pPr lvl="1"/>
            <a:r>
              <a:rPr lang="en-GB" sz="1800" dirty="0"/>
              <a:t>Attribution and redistribution rules</a:t>
            </a:r>
          </a:p>
        </p:txBody>
      </p:sp>
      <p:pic>
        <p:nvPicPr>
          <p:cNvPr id="8196" name="Picture 4" descr="5 types of software license - Public domain license, LGPL, Permissive, Copyleft and Proprietary">
            <a:extLst>
              <a:ext uri="{FF2B5EF4-FFF2-40B4-BE49-F238E27FC236}">
                <a16:creationId xmlns:a16="http://schemas.microsoft.com/office/drawing/2014/main" id="{0B700679-D410-A77C-5A5C-BDA98A3EE6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35773" y="3884335"/>
            <a:ext cx="4139952" cy="20649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49920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CC122-0BC9-9648-9922-11A1B6DE43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277BF0-CC87-F832-7159-A26034FBA86C}"/>
              </a:ext>
            </a:extLst>
          </p:cNvPr>
          <p:cNvSpPr>
            <a:spLocks noGrp="1"/>
          </p:cNvSpPr>
          <p:nvPr>
            <p:ph type="title"/>
          </p:nvPr>
        </p:nvSpPr>
        <p:spPr>
          <a:xfrm>
            <a:off x="1475656" y="404664"/>
            <a:ext cx="7500069" cy="939800"/>
          </a:xfrm>
        </p:spPr>
        <p:txBody>
          <a:bodyPr/>
          <a:lstStyle/>
          <a:p>
            <a:r>
              <a:rPr lang="en-GB" sz="3200" b="1" dirty="0">
                <a:solidFill>
                  <a:srgbClr val="0070C0"/>
                </a:solidFill>
              </a:rPr>
              <a:t>Inclusion and Diversity in Software</a:t>
            </a:r>
          </a:p>
        </p:txBody>
      </p:sp>
      <p:sp>
        <p:nvSpPr>
          <p:cNvPr id="3" name="Content Placeholder 2">
            <a:extLst>
              <a:ext uri="{FF2B5EF4-FFF2-40B4-BE49-F238E27FC236}">
                <a16:creationId xmlns:a16="http://schemas.microsoft.com/office/drawing/2014/main" id="{1B16EDA3-53A2-8028-0A6E-CA50123AEDD5}"/>
              </a:ext>
            </a:extLst>
          </p:cNvPr>
          <p:cNvSpPr>
            <a:spLocks noGrp="1"/>
          </p:cNvSpPr>
          <p:nvPr>
            <p:ph idx="1"/>
          </p:nvPr>
        </p:nvSpPr>
        <p:spPr>
          <a:xfrm>
            <a:off x="539552" y="1937488"/>
            <a:ext cx="7772400" cy="627416"/>
          </a:xfrm>
        </p:spPr>
        <p:txBody>
          <a:bodyPr/>
          <a:lstStyle/>
          <a:p>
            <a:r>
              <a:rPr lang="en-GB" sz="1800" dirty="0"/>
              <a:t>Designing and developing software that reflects and serves a diverse user base.</a:t>
            </a:r>
          </a:p>
        </p:txBody>
      </p:sp>
      <p:sp>
        <p:nvSpPr>
          <p:cNvPr id="4" name="Content Placeholder 2">
            <a:extLst>
              <a:ext uri="{FF2B5EF4-FFF2-40B4-BE49-F238E27FC236}">
                <a16:creationId xmlns:a16="http://schemas.microsoft.com/office/drawing/2014/main" id="{CE69359A-EB0A-E3E0-4BF3-65F87CA62873}"/>
              </a:ext>
            </a:extLst>
          </p:cNvPr>
          <p:cNvSpPr txBox="1">
            <a:spLocks/>
          </p:cNvSpPr>
          <p:nvPr/>
        </p:nvSpPr>
        <p:spPr bwMode="auto">
          <a:xfrm>
            <a:off x="539552" y="2966368"/>
            <a:ext cx="7772400" cy="627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To eliminate bias and promote equity in user experience and team collaboration.</a:t>
            </a:r>
            <a:endParaRPr lang="en-GB" sz="1800" kern="0" dirty="0"/>
          </a:p>
        </p:txBody>
      </p:sp>
      <p:sp>
        <p:nvSpPr>
          <p:cNvPr id="7" name="Content Placeholder 2">
            <a:extLst>
              <a:ext uri="{FF2B5EF4-FFF2-40B4-BE49-F238E27FC236}">
                <a16:creationId xmlns:a16="http://schemas.microsoft.com/office/drawing/2014/main" id="{B7A15749-65D2-8C65-5B0C-DD0A2F5B4567}"/>
              </a:ext>
            </a:extLst>
          </p:cNvPr>
          <p:cNvSpPr txBox="1">
            <a:spLocks/>
          </p:cNvSpPr>
          <p:nvPr/>
        </p:nvSpPr>
        <p:spPr bwMode="auto">
          <a:xfrm>
            <a:off x="572166" y="4077072"/>
            <a:ext cx="4035063" cy="1872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Key Features:</a:t>
            </a:r>
            <a:endParaRPr lang="en-GB" sz="1800" dirty="0"/>
          </a:p>
          <a:p>
            <a:pPr lvl="1"/>
            <a:r>
              <a:rPr lang="en-GB" sz="1800" dirty="0"/>
              <a:t>Multilingual and culturally adaptive UI</a:t>
            </a:r>
          </a:p>
          <a:p>
            <a:pPr lvl="1"/>
            <a:r>
              <a:rPr lang="en-GB" sz="1800" dirty="0"/>
              <a:t>Diverse testing groups</a:t>
            </a:r>
          </a:p>
          <a:p>
            <a:pPr lvl="1"/>
            <a:r>
              <a:rPr lang="en-GB" sz="1800" dirty="0"/>
              <a:t>Fair AI and algorithm design</a:t>
            </a:r>
          </a:p>
        </p:txBody>
      </p:sp>
      <p:pic>
        <p:nvPicPr>
          <p:cNvPr id="7170" name="Picture 2" descr="Inclusive Software Development Team">
            <a:extLst>
              <a:ext uri="{FF2B5EF4-FFF2-40B4-BE49-F238E27FC236}">
                <a16:creationId xmlns:a16="http://schemas.microsoft.com/office/drawing/2014/main" id="{B8B6C593-3AAD-0F29-1C25-240B529E8C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7478" y="3861048"/>
            <a:ext cx="3728986" cy="2088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61504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7E5BC-244F-6757-A69B-A1EB3D2EE445}"/>
              </a:ext>
            </a:extLst>
          </p:cNvPr>
          <p:cNvSpPr>
            <a:spLocks noGrp="1"/>
          </p:cNvSpPr>
          <p:nvPr>
            <p:ph type="title"/>
          </p:nvPr>
        </p:nvSpPr>
        <p:spPr>
          <a:xfrm>
            <a:off x="1475656" y="404813"/>
            <a:ext cx="7433394" cy="939800"/>
          </a:xfrm>
        </p:spPr>
        <p:txBody>
          <a:bodyPr/>
          <a:lstStyle/>
          <a:p>
            <a:r>
              <a:rPr lang="en-GB" sz="2800" b="1" dirty="0">
                <a:solidFill>
                  <a:srgbClr val="FF0000"/>
                </a:solidFill>
              </a:rPr>
              <a:t>Activity - Legal and Regulatory Requirements in Software Development</a:t>
            </a:r>
          </a:p>
        </p:txBody>
      </p:sp>
      <p:sp>
        <p:nvSpPr>
          <p:cNvPr id="3" name="Content Placeholder 2">
            <a:extLst>
              <a:ext uri="{FF2B5EF4-FFF2-40B4-BE49-F238E27FC236}">
                <a16:creationId xmlns:a16="http://schemas.microsoft.com/office/drawing/2014/main" id="{4B3BECAE-D7BF-6E07-3139-A8ED50134317}"/>
              </a:ext>
            </a:extLst>
          </p:cNvPr>
          <p:cNvSpPr>
            <a:spLocks noGrp="1"/>
          </p:cNvSpPr>
          <p:nvPr>
            <p:ph idx="1"/>
          </p:nvPr>
        </p:nvSpPr>
        <p:spPr>
          <a:xfrm>
            <a:off x="374058" y="1977461"/>
            <a:ext cx="5350070" cy="648097"/>
          </a:xfrm>
        </p:spPr>
        <p:txBody>
          <a:bodyPr/>
          <a:lstStyle/>
          <a:p>
            <a:r>
              <a:rPr lang="en-GB" sz="1800" dirty="0"/>
              <a:t>Working in teams to explore the rules that govern how software is made, sold, and used.</a:t>
            </a:r>
          </a:p>
        </p:txBody>
      </p:sp>
      <p:sp>
        <p:nvSpPr>
          <p:cNvPr id="4" name="Content Placeholder 2">
            <a:extLst>
              <a:ext uri="{FF2B5EF4-FFF2-40B4-BE49-F238E27FC236}">
                <a16:creationId xmlns:a16="http://schemas.microsoft.com/office/drawing/2014/main" id="{CA9DF65E-A1A5-ED9D-0DD4-0DB8F35BFB4C}"/>
              </a:ext>
            </a:extLst>
          </p:cNvPr>
          <p:cNvSpPr txBox="1">
            <a:spLocks/>
          </p:cNvSpPr>
          <p:nvPr/>
        </p:nvSpPr>
        <p:spPr bwMode="auto">
          <a:xfrm>
            <a:off x="367029" y="2801831"/>
            <a:ext cx="8136904" cy="1014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Goal:</a:t>
            </a:r>
            <a:br>
              <a:rPr lang="en-GB" sz="1800" dirty="0"/>
            </a:br>
            <a:r>
              <a:rPr lang="en-GB" sz="1800" dirty="0"/>
              <a:t>Explore and present key legal and regulatory requirements that apply to software development in a specific market (UK, US, EU, or global).</a:t>
            </a:r>
            <a:endParaRPr lang="en-GB" sz="1800" kern="0" dirty="0"/>
          </a:p>
        </p:txBody>
      </p:sp>
      <p:sp>
        <p:nvSpPr>
          <p:cNvPr id="5" name="Content Placeholder 2">
            <a:extLst>
              <a:ext uri="{FF2B5EF4-FFF2-40B4-BE49-F238E27FC236}">
                <a16:creationId xmlns:a16="http://schemas.microsoft.com/office/drawing/2014/main" id="{7EBE42E3-2476-8FF9-A8E3-FED7EEA72A8D}"/>
              </a:ext>
            </a:extLst>
          </p:cNvPr>
          <p:cNvSpPr txBox="1">
            <a:spLocks/>
          </p:cNvSpPr>
          <p:nvPr/>
        </p:nvSpPr>
        <p:spPr bwMode="auto">
          <a:xfrm>
            <a:off x="372659" y="4005064"/>
            <a:ext cx="4068452" cy="2734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Tasks</a:t>
            </a:r>
          </a:p>
          <a:p>
            <a:pPr lvl="1"/>
            <a:r>
              <a:rPr lang="en-GB" sz="1800" dirty="0"/>
              <a:t>Each member takes one core area:</a:t>
            </a:r>
          </a:p>
          <a:p>
            <a:pPr lvl="2"/>
            <a:r>
              <a:rPr lang="en-GB" sz="1800" b="1" dirty="0"/>
              <a:t>Legal &amp; Licensing</a:t>
            </a:r>
            <a:endParaRPr lang="en-GB" sz="1800" dirty="0"/>
          </a:p>
          <a:p>
            <a:pPr lvl="2"/>
            <a:r>
              <a:rPr lang="en-GB" sz="1800" b="1" dirty="0"/>
              <a:t>Consumer &amp; Market Compliance</a:t>
            </a:r>
            <a:endParaRPr lang="en-GB" sz="1800" dirty="0"/>
          </a:p>
          <a:p>
            <a:pPr lvl="2"/>
            <a:r>
              <a:rPr lang="en-GB" sz="1800" b="1" dirty="0"/>
              <a:t>Security &amp; Ethical Practices</a:t>
            </a:r>
            <a:endParaRPr lang="en-GB" sz="1800" dirty="0"/>
          </a:p>
        </p:txBody>
      </p:sp>
      <p:sp>
        <p:nvSpPr>
          <p:cNvPr id="6" name="Content Placeholder 2">
            <a:extLst>
              <a:ext uri="{FF2B5EF4-FFF2-40B4-BE49-F238E27FC236}">
                <a16:creationId xmlns:a16="http://schemas.microsoft.com/office/drawing/2014/main" id="{20690724-2FE3-8127-23A4-9D119CC104C9}"/>
              </a:ext>
            </a:extLst>
          </p:cNvPr>
          <p:cNvSpPr txBox="1">
            <a:spLocks/>
          </p:cNvSpPr>
          <p:nvPr/>
        </p:nvSpPr>
        <p:spPr bwMode="auto">
          <a:xfrm>
            <a:off x="4702891" y="4005064"/>
            <a:ext cx="4193034" cy="2102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Deliverables</a:t>
            </a:r>
          </a:p>
          <a:p>
            <a:pPr lvl="1"/>
            <a:r>
              <a:rPr lang="en-GB" sz="1800" dirty="0"/>
              <a:t>A brief presentation (3–5 slides) or handout summary</a:t>
            </a:r>
          </a:p>
          <a:p>
            <a:pPr lvl="1"/>
            <a:r>
              <a:rPr lang="en-GB" sz="1800" dirty="0"/>
              <a:t>Explanation of the legal and regulatory points for your assigned area</a:t>
            </a:r>
          </a:p>
          <a:p>
            <a:pPr lvl="1"/>
            <a:r>
              <a:rPr lang="en-GB" sz="1800" dirty="0"/>
              <a:t>Real-world examples (where possible)</a:t>
            </a:r>
          </a:p>
        </p:txBody>
      </p:sp>
      <p:pic>
        <p:nvPicPr>
          <p:cNvPr id="10" name="Picture 9">
            <a:extLst>
              <a:ext uri="{FF2B5EF4-FFF2-40B4-BE49-F238E27FC236}">
                <a16:creationId xmlns:a16="http://schemas.microsoft.com/office/drawing/2014/main" id="{A6043F4E-5373-612E-D49B-3ABC43C9A087}"/>
              </a:ext>
            </a:extLst>
          </p:cNvPr>
          <p:cNvPicPr>
            <a:picLocks noChangeAspect="1"/>
          </p:cNvPicPr>
          <p:nvPr/>
        </p:nvPicPr>
        <p:blipFill>
          <a:blip r:embed="rId3"/>
          <a:stretch>
            <a:fillRect/>
          </a:stretch>
        </p:blipFill>
        <p:spPr>
          <a:xfrm>
            <a:off x="6444208" y="1643415"/>
            <a:ext cx="1915709" cy="1091244"/>
          </a:xfrm>
          <a:prstGeom prst="rect">
            <a:avLst/>
          </a:prstGeom>
        </p:spPr>
      </p:pic>
    </p:spTree>
    <p:extLst>
      <p:ext uri="{BB962C8B-B14F-4D97-AF65-F5344CB8AC3E}">
        <p14:creationId xmlns:p14="http://schemas.microsoft.com/office/powerpoint/2010/main" val="2395355483"/>
      </p:ext>
    </p:extLst>
  </p:cSld>
  <p:clrMapOvr>
    <a:masterClrMapping/>
  </p:clrMapOvr>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C646F5E18B7F644AA5B880758D99BE0" ma:contentTypeVersion="3" ma:contentTypeDescription="Create a new document." ma:contentTypeScope="" ma:versionID="490448f5ae9b61370604895a2dfcc020">
  <xsd:schema xmlns:xsd="http://www.w3.org/2001/XMLSchema" xmlns:xs="http://www.w3.org/2001/XMLSchema" xmlns:p="http://schemas.microsoft.com/office/2006/metadata/properties" xmlns:ns2="021b7eaa-8cd1-456a-877c-002ddc31b99c" targetNamespace="http://schemas.microsoft.com/office/2006/metadata/properties" ma:root="true" ma:fieldsID="5339858cdf68f8c0cf5a442d1ce7046e" ns2:_="">
    <xsd:import namespace="021b7eaa-8cd1-456a-877c-002ddc31b99c"/>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21b7eaa-8cd1-456a-877c-002ddc31b99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76B0A72-3BEB-419C-A63C-53402B19DBC8}"/>
</file>

<file path=customXml/itemProps2.xml><?xml version="1.0" encoding="utf-8"?>
<ds:datastoreItem xmlns:ds="http://schemas.openxmlformats.org/officeDocument/2006/customXml" ds:itemID="{668AB061-7ED1-4236-9B18-8FFD40A01FC3}"/>
</file>

<file path=customXml/itemProps3.xml><?xml version="1.0" encoding="utf-8"?>
<ds:datastoreItem xmlns:ds="http://schemas.openxmlformats.org/officeDocument/2006/customXml" ds:itemID="{370D8027-3D9D-4740-85B1-2BC25B33238A}"/>
</file>

<file path=docProps/app.xml><?xml version="1.0" encoding="utf-8"?>
<Properties xmlns="http://schemas.openxmlformats.org/officeDocument/2006/extended-properties" xmlns:vt="http://schemas.openxmlformats.org/officeDocument/2006/docPropsVTypes">
  <Template/>
  <TotalTime>2421</TotalTime>
  <Words>4316</Words>
  <Application>Microsoft Office PowerPoint</Application>
  <PresentationFormat>On-screen Show (4:3)</PresentationFormat>
  <Paragraphs>286</Paragraphs>
  <Slides>20</Slides>
  <Notes>20</Notes>
  <HiddenSlides>0</HiddenSlides>
  <MMClips>8</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20</vt:i4>
      </vt:variant>
    </vt:vector>
  </HeadingPairs>
  <TitlesOfParts>
    <vt:vector size="25" baseType="lpstr">
      <vt:lpstr>Arial</vt:lpstr>
      <vt:lpstr>Tahoma</vt:lpstr>
      <vt:lpstr>Wingdings</vt:lpstr>
      <vt:lpstr>Blends</vt:lpstr>
      <vt:lpstr>1_Blends</vt:lpstr>
      <vt:lpstr>TLDU06 - Occupational Specialist Component Content: Digital Production, Design  and Development</vt:lpstr>
      <vt:lpstr>Learning Objectives</vt:lpstr>
      <vt:lpstr>Intellectual Property Rights and Licenses</vt:lpstr>
      <vt:lpstr>Consumer protection </vt:lpstr>
      <vt:lpstr>Age ratings and classifications </vt:lpstr>
      <vt:lpstr>Advertising laws </vt:lpstr>
      <vt:lpstr>Data Protection and Privacy</vt:lpstr>
      <vt:lpstr>Copyright and Patents</vt:lpstr>
      <vt:lpstr>Gambling legislation </vt:lpstr>
      <vt:lpstr>Responsibilities concerning staff and employment practices</vt:lpstr>
      <vt:lpstr>Territorial Restrictions</vt:lpstr>
      <vt:lpstr>System Security</vt:lpstr>
      <vt:lpstr>Equality and Diversity</vt:lpstr>
      <vt:lpstr>ISO/IEC/IEEE 90003:2018</vt:lpstr>
      <vt:lpstr>W3C Standards</vt:lpstr>
      <vt:lpstr>Professional Practice</vt:lpstr>
      <vt:lpstr>Codes of Conduct</vt:lpstr>
      <vt:lpstr>Software Licensing</vt:lpstr>
      <vt:lpstr>Inclusion and Diversity in Software</vt:lpstr>
      <vt:lpstr>Activity - Legal and Regulatory Requirements in Software Development</vt:lpstr>
    </vt:vector>
  </TitlesOfParts>
  <Company>dabs.com PLC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Introduction to Programming and Visual Basic</dc:title>
  <dc:creator>Hamish</dc:creator>
  <cp:lastModifiedBy>Hamish Spencer</cp:lastModifiedBy>
  <cp:revision>378</cp:revision>
  <dcterms:created xsi:type="dcterms:W3CDTF">2010-11-28T12:04:27Z</dcterms:created>
  <dcterms:modified xsi:type="dcterms:W3CDTF">2025-08-01T09:22:02Z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0x0101001C646F5E18B7F644AA5B880758D99BE0</vt:lpwstr>
  </property>
</Properties>
</file>